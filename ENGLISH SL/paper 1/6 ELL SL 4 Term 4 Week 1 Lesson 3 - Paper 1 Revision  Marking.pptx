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90" r:id="rId4"/>
    <p:sldMasterId id="2147483719" r:id="rId5"/>
    <p:sldMasterId id="2147483733" r:id="rId6"/>
  </p:sldMasterIdLst>
  <p:notesMasterIdLst>
    <p:notesMasterId r:id="rId23"/>
  </p:notesMasterIdLst>
  <p:sldIdLst>
    <p:sldId id="256" r:id="rId7"/>
    <p:sldId id="257" r:id="rId8"/>
    <p:sldId id="258" r:id="rId9"/>
    <p:sldId id="270" r:id="rId10"/>
    <p:sldId id="259" r:id="rId11"/>
    <p:sldId id="269" r:id="rId12"/>
    <p:sldId id="260" r:id="rId13"/>
    <p:sldId id="266" r:id="rId14"/>
    <p:sldId id="309" r:id="rId15"/>
    <p:sldId id="310" r:id="rId16"/>
    <p:sldId id="306" r:id="rId17"/>
    <p:sldId id="307" r:id="rId18"/>
    <p:sldId id="308" r:id="rId19"/>
    <p:sldId id="311" r:id="rId20"/>
    <p:sldId id="312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4"/>
    <p:restoredTop sz="93130"/>
  </p:normalViewPr>
  <p:slideViewPr>
    <p:cSldViewPr snapToGrid="0" snapToObjects="1">
      <p:cViewPr varScale="1">
        <p:scale>
          <a:sx n="65" d="100"/>
          <a:sy n="65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3A3CD-2237-EC49-ABBD-1120AC56E97F}" type="datetimeFigureOut">
              <a:rPr lang="en-US" smtClean="0"/>
              <a:t>9/17/20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AA6C9-BEA2-CF46-B725-8DE16BFEA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95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2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1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4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6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2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66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49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356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637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686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412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689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3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881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545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098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733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365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D4FE-4210-C74C-BB56-00E0623B44C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643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4A374-29B7-2549-9F69-BB0EA76824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13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81098-DFD4-DE48-A017-B4A20B753CB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882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CC64D-77FE-A64A-803F-E19F98D60B4D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7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2964-CA5C-9448-AAC1-CD7A2210F12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75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882B-71B3-124A-B7CE-A7024F712FA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482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C2F09-5DEC-D847-AEA5-DC353A80BCE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361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7544-67A0-A649-A890-5C1271C708D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773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2515B-9CAA-174D-B835-410668FA6F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107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8727-4907-7248-B94F-968B449091C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1377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158AE-C725-B448-BD3E-FE9B628D4C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95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8D0A0-9D96-CC4C-A29E-671D1725271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8281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336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104C5-BA1F-514A-9E09-A1247DEB83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815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0A8F0-FA8C-E04B-9E29-F1796B1916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9331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217" y="4572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4217" y="19812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4217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48CE7-194B-D348-A59B-1F1D66A0554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5100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454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6647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9835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46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3502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6130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368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889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7839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2323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6140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50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227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4B623-AAB8-A64A-8E12-87F7105FD20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8948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64217" y="457200"/>
            <a:ext cx="10363200" cy="5638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B89AF-C541-5E47-B368-AC21608EB53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2138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53E0F-ABBD-D944-B58B-0B89088B81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479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4B76D-F7D2-8F43-AAF5-FE2426304F9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4534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595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324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9227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4063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6544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407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1549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1131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799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198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2241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A88FC-3C43-6B43-B454-8E32A009384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94824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94485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400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83943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8680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33743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38132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12068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692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2301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22477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09186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89205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D0D74-2DA5-FB44-A6F0-3DC97A15530D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69390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887200" cy="10668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74838"/>
            <a:ext cx="5384800" cy="4525962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74838"/>
            <a:ext cx="5384800" cy="4525962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DD5FD-5D40-A044-A0E9-2ACFFB40107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9967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887200" cy="10668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874839"/>
            <a:ext cx="5384800" cy="2185987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" y="4213226"/>
            <a:ext cx="5384800" cy="2187575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874838"/>
            <a:ext cx="5384800" cy="4525962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04B2E-A7ED-4C40-BD41-A80EABE5616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56759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76200"/>
            <a:ext cx="11887200" cy="10668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74838"/>
            <a:ext cx="5384800" cy="4525962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74839"/>
            <a:ext cx="5384800" cy="2185987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213226"/>
            <a:ext cx="5384800" cy="2187575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102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102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103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3238B-297D-724A-AF70-8B56F7ECD2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762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99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5.xml"/><Relationship Id="rId17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9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8.xml"/><Relationship Id="rId14" Type="http://schemas.openxmlformats.org/officeDocument/2006/relationships/theme" Target="../theme/theme5.xml"/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theme" Target="../theme/theme6.xml"/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53A99-1583-C54C-9E90-B9AE63448093}" type="datetimeFigureOut">
              <a:rPr lang="en-US" smtClean="0"/>
              <a:t>9/17/20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8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34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charset="-128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BBF79-2763-BF4A-BFD3-32471AE9AEA8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15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43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94C9091E-70FA-8049-A879-E11D95232D55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9/17/20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64FC7787-009D-4640-B78A-C093B850092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45720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7" r:id="rId13"/>
    <p:sldLayoutId id="2147483748" r:id="rId14"/>
    <p:sldLayoutId id="2147483749" r:id="rId15"/>
    <p:sldLayoutId id="2147483750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1" Type="http://schemas.openxmlformats.org/officeDocument/2006/relationships/slideLayout" Target="../slideLayouts/slideLayout72.xml"/><Relationship Id="rId2" Type="http://schemas.openxmlformats.org/officeDocument/2006/relationships/hyperlink" Target="https://acs.fireflycloud.asia/students-survey-of-teachers/english-2020-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3147" y="338848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300" b="1" dirty="0" smtClean="0">
                <a:solidFill>
                  <a:srgbClr val="FFFF00"/>
                </a:solidFill>
                <a:latin typeface="+mn-lt"/>
              </a:rPr>
              <a:t>Welcome Back!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chemeClr val="bg1"/>
                </a:solidFill>
              </a:rPr>
              <a:t>Don’t forget to take a tissue to wipe down your desk</a:t>
            </a:r>
            <a:r>
              <a:rPr lang="mr-IN" b="1" dirty="0" smtClean="0">
                <a:solidFill>
                  <a:schemeClr val="bg1"/>
                </a:solidFill>
              </a:rPr>
              <a:t>…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/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Please do not sit at desks with boards.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25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47" y="340659"/>
            <a:ext cx="11510681" cy="31693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n-lt"/>
              </a:rPr>
              <a:t>IB English Language and Literature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6 ELL SL 4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2019 - 2020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906838"/>
            <a:ext cx="12192000" cy="2691186"/>
          </a:xfrm>
        </p:spPr>
        <p:txBody>
          <a:bodyPr>
            <a:noAutofit/>
          </a:bodyPr>
          <a:lstStyle/>
          <a:p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Shape of the Week (1):</a:t>
            </a:r>
          </a:p>
          <a:p>
            <a:r>
              <a:rPr lang="en-US" sz="3200" b="1" dirty="0" smtClean="0">
                <a:solidFill>
                  <a:prstClr val="white"/>
                </a:solidFill>
              </a:rPr>
              <a:t>Lesson 1: Paper 1 Revision</a:t>
            </a:r>
            <a:endParaRPr lang="en-US" sz="3200" b="1" dirty="0">
              <a:solidFill>
                <a:prstClr val="white"/>
              </a:solidFill>
            </a:endParaRPr>
          </a:p>
          <a:p>
            <a:r>
              <a:rPr lang="en-US" sz="3200" b="1" dirty="0" smtClean="0">
                <a:solidFill>
                  <a:prstClr val="white"/>
                </a:solidFill>
              </a:rPr>
              <a:t>Lesson 2: Paper 1 Revision </a:t>
            </a:r>
            <a:r>
              <a:rPr lang="mr-IN" sz="3200" b="1" dirty="0" smtClean="0">
                <a:solidFill>
                  <a:prstClr val="white"/>
                </a:solidFill>
              </a:rPr>
              <a:t>–</a:t>
            </a:r>
            <a:r>
              <a:rPr lang="en-US" sz="3200" b="1" dirty="0" smtClean="0">
                <a:solidFill>
                  <a:prstClr val="white"/>
                </a:solidFill>
              </a:rPr>
              <a:t> Putting it together</a:t>
            </a:r>
          </a:p>
          <a:p>
            <a:r>
              <a:rPr lang="en-US" sz="3200" b="1" dirty="0" smtClean="0">
                <a:solidFill>
                  <a:prstClr val="white"/>
                </a:solidFill>
              </a:rPr>
              <a:t>Lesson 3: Paper 1 Revision Peer Marking</a:t>
            </a:r>
            <a:endParaRPr lang="en-US" sz="3200" b="1" dirty="0">
              <a:solidFill>
                <a:prstClr val="white"/>
              </a:solidFill>
            </a:endParaRPr>
          </a:p>
          <a:p>
            <a:pPr lvl="0"/>
            <a:endParaRPr lang="en-US" sz="3200" u="sng" dirty="0" smtClean="0">
              <a:solidFill>
                <a:prstClr val="white"/>
              </a:solidFill>
            </a:endParaRP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4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charset="0"/>
                <a:ea typeface="Arial Rounded MT Bold" charset="0"/>
                <a:cs typeface="Arial Rounded MT Bold" charset="0"/>
              </a:rPr>
              <a:t>SCHOOL ASSESSMENT TERM 4</a:t>
            </a:r>
            <a:endParaRPr lang="en-US" b="1" dirty="0">
              <a:solidFill>
                <a:srgbClr val="FF0000"/>
              </a:solidFill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161" y="1745671"/>
            <a:ext cx="6578763" cy="493221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>
                <a:latin typeface="MS Mincho" charset="-128"/>
                <a:ea typeface="ＭＳ 明朝" charset="-128"/>
                <a:cs typeface="MS Mincho" charset="-128"/>
              </a:rPr>
              <a:t>☑ </a:t>
            </a:r>
            <a:r>
              <a:rPr lang="en-US" sz="3200" b="1" dirty="0" smtClean="0">
                <a:ea typeface="ＭＳ 明朝" charset="-128"/>
                <a:cs typeface="MS Mincho" charset="-128"/>
              </a:rPr>
              <a:t>NOTHING!</a:t>
            </a:r>
            <a:endParaRPr lang="en-US" sz="3200" b="1" u="sng" dirty="0" smtClean="0">
              <a:ea typeface="ＭＳ 明朝" charset="-128"/>
              <a:cs typeface="MS Mincho" charset="-128"/>
            </a:endParaRPr>
          </a:p>
          <a:p>
            <a:endParaRPr lang="en-US" sz="3600" dirty="0" smtClean="0">
              <a:solidFill>
                <a:prstClr val="black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lvl="0" indent="0">
              <a:buNone/>
            </a:pPr>
            <a:endParaRPr lang="en-US" sz="4800" dirty="0">
              <a:solidFill>
                <a:prstClr val="black"/>
              </a:solidFill>
              <a:latin typeface="Calibri" charset="0"/>
              <a:ea typeface="ＭＳ 明朝" charset="-128"/>
              <a:cs typeface="Times New Roman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54" y="1858061"/>
            <a:ext cx="3657600" cy="40562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966" y="387999"/>
            <a:ext cx="1357672" cy="13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4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66" y="562206"/>
            <a:ext cx="10333463" cy="5812573"/>
          </a:xfrm>
        </p:spPr>
      </p:pic>
    </p:spTree>
    <p:extLst>
      <p:ext uri="{BB962C8B-B14F-4D97-AF65-F5344CB8AC3E}">
        <p14:creationId xmlns:p14="http://schemas.microsoft.com/office/powerpoint/2010/main" val="200175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77" y="52892"/>
            <a:ext cx="10515600" cy="63848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4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23876" y="1109581"/>
            <a:ext cx="11505683" cy="5536546"/>
          </a:xfrm>
          <a:solidFill>
            <a:srgbClr val="FFE9EE"/>
          </a:solidFill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1: 14</a:t>
            </a:r>
            <a:r>
              <a:rPr lang="en-US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-18</a:t>
            </a:r>
            <a:r>
              <a:rPr lang="en-US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September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1: Recap ‘Big 5’ and Text Types. 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2: Planning, paper 1 structure and annotation of example. Complete past paper (HW).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3: Marking peer exam paper 1 and go through the mark schemes. 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dirty="0" smtClean="0">
              <a:highlight>
                <a:srgbClr val="FFFF00"/>
              </a:highlight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dirty="0" smtClean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2: 21-25</a:t>
            </a:r>
            <a:r>
              <a:rPr lang="en-US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September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1: Revision of main ideas/themes/issues presented in ‘1984’.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2: Revision of main ideas/themes/issues presented in ‘COADF’.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3: Structure and planning for paper 2. Complete exam questions (HW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).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258" y="119498"/>
            <a:ext cx="1709302" cy="17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2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77" y="52892"/>
            <a:ext cx="10515600" cy="63848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4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23876" y="1109581"/>
            <a:ext cx="11505683" cy="5536546"/>
          </a:xfrm>
          <a:solidFill>
            <a:srgbClr val="FFE9EE"/>
          </a:solidFill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sz="3200" dirty="0" smtClean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3: 28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Sep- 2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nd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October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1: Marking peer exam paper 2 and go through the mark schemes.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2: Exam questions spreadsheet and planning (shared doc).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3: Exam questions spreadsheet and planning (shared doc</a:t>
            </a:r>
            <a:r>
              <a:rPr lang="en-US" sz="3200" dirty="0" smtClean="0">
                <a:latin typeface="Calibri" charset="0"/>
                <a:ea typeface="Calibri" charset="0"/>
                <a:cs typeface="Times New Roman" charset="0"/>
              </a:rPr>
              <a:t>).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3200" dirty="0" smtClean="0">
              <a:highlight>
                <a:srgbClr val="FFFF00"/>
              </a:highlight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 smtClean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4: 5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-9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October</a:t>
            </a: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 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1: Final Paper </a:t>
            </a:r>
            <a:r>
              <a:rPr lang="en-US" sz="3200" dirty="0" smtClean="0">
                <a:latin typeface="Calibri" charset="0"/>
                <a:ea typeface="Calibri" charset="0"/>
                <a:cs typeface="Times New Roman" charset="0"/>
              </a:rPr>
              <a:t>1 + 2 </a:t>
            </a: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Revision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666" y="237923"/>
            <a:ext cx="1325111" cy="13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4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  <a:latin typeface="+mn-lt"/>
              </a:rPr>
              <a:t>We are still a digital classroom!</a:t>
            </a:r>
            <a:endParaRPr lang="en-US" sz="7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3" y="2022765"/>
            <a:ext cx="4835235" cy="4835235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80" y="2413794"/>
            <a:ext cx="5269575" cy="37639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2" y="36554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Review yesterday’s </a:t>
            </a:r>
            <a:r>
              <a:rPr lang="en-US" b="1" u="sng" dirty="0" err="1" smtClean="0">
                <a:solidFill>
                  <a:srgbClr val="FF0000"/>
                </a:solidFill>
              </a:rPr>
              <a:t>plannning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97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913" y="457201"/>
            <a:ext cx="11717442" cy="1143000"/>
          </a:xfrm>
        </p:spPr>
        <p:txBody>
          <a:bodyPr>
            <a:normAutofit fontScale="90000"/>
          </a:bodyPr>
          <a:lstStyle/>
          <a:p>
            <a:r>
              <a:rPr lang="en-US" b="1" dirty="0" err="1" smtClean="0">
                <a:solidFill>
                  <a:srgbClr val="FF0000"/>
                </a:solidFill>
              </a:rPr>
              <a:t>‘Tis</a:t>
            </a:r>
            <a:r>
              <a:rPr lang="en-US" b="1" dirty="0" smtClean="0">
                <a:solidFill>
                  <a:srgbClr val="FF0000"/>
                </a:solidFill>
              </a:rPr>
              <a:t> the Season</a:t>
            </a:r>
            <a:r>
              <a:rPr lang="mr-IN" b="1" dirty="0" smtClean="0">
                <a:solidFill>
                  <a:srgbClr val="FF0000"/>
                </a:solidFill>
              </a:rPr>
              <a:t>…</a:t>
            </a:r>
            <a:r>
              <a:rPr lang="en-US" b="1" dirty="0" smtClean="0">
                <a:solidFill>
                  <a:srgbClr val="FF0000"/>
                </a:solidFill>
              </a:rPr>
              <a:t> for Surveys!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u="sng" dirty="0">
                <a:hlinkClick r:id="rId2"/>
              </a:rPr>
              <a:t> https://acs.fireflycloud.asia/students-survey-of-teachers/english-2020-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39" y="2232025"/>
            <a:ext cx="3911522" cy="3894138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1" y="2232777"/>
            <a:ext cx="5954954" cy="3353014"/>
          </a:xfrm>
        </p:spPr>
      </p:pic>
    </p:spTree>
    <p:extLst>
      <p:ext uri="{BB962C8B-B14F-4D97-AF65-F5344CB8AC3E}">
        <p14:creationId xmlns:p14="http://schemas.microsoft.com/office/powerpoint/2010/main" val="1119134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8000" b="1" dirty="0" smtClean="0">
                <a:solidFill>
                  <a:srgbClr val="00B050"/>
                </a:solidFill>
                <a:latin typeface="Arial" charset="0"/>
                <a:ea typeface="Arial" charset="0"/>
                <a:cs typeface="Arial" charset="0"/>
              </a:rPr>
              <a:t>But First!</a:t>
            </a:r>
            <a:endParaRPr lang="en-US" sz="8000" b="1" dirty="0">
              <a:solidFill>
                <a:srgbClr val="00B05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59" y="1853248"/>
            <a:ext cx="11048780" cy="4612866"/>
          </a:xfrm>
        </p:spPr>
      </p:pic>
    </p:spTree>
    <p:extLst>
      <p:ext uri="{BB962C8B-B14F-4D97-AF65-F5344CB8AC3E}">
        <p14:creationId xmlns:p14="http://schemas.microsoft.com/office/powerpoint/2010/main" val="15245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334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432FF"/>
                </a:solidFill>
                <a:latin typeface="+mn-lt"/>
              </a:rPr>
              <a:t>Paper 1 SL Beach Sweatshirt and Practice Paper 1 Shape</a:t>
            </a:r>
            <a:endParaRPr lang="en-US" b="1" dirty="0">
              <a:solidFill>
                <a:srgbClr val="0432FF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9141" y="2160162"/>
            <a:ext cx="6337887" cy="4697838"/>
          </a:xfrm>
        </p:spPr>
        <p:txBody>
          <a:bodyPr>
            <a:normAutofit/>
          </a:bodyPr>
          <a:lstStyle/>
          <a:p>
            <a:r>
              <a:rPr lang="en-US" dirty="0" smtClean="0"/>
              <a:t>Complete the Practice Paper 1 Shape Activities.</a:t>
            </a:r>
          </a:p>
          <a:p>
            <a:endParaRPr lang="en-US" dirty="0"/>
          </a:p>
          <a:p>
            <a:r>
              <a:rPr lang="en-US" dirty="0" smtClean="0"/>
              <a:t>Use the other resources to review and guide you. You could also look on </a:t>
            </a:r>
            <a:r>
              <a:rPr lang="en-US" dirty="0" err="1" smtClean="0"/>
              <a:t>Managebac</a:t>
            </a:r>
            <a:r>
              <a:rPr lang="en-US" dirty="0" smtClean="0"/>
              <a:t>!</a:t>
            </a:r>
          </a:p>
          <a:p>
            <a:endParaRPr lang="en-US" dirty="0"/>
          </a:p>
          <a:p>
            <a:r>
              <a:rPr lang="en-US" dirty="0" smtClean="0"/>
              <a:t>Hand in the worksheet Practice Paper 1 Shape to Firefly by 13.35. We will review your response on the board.</a:t>
            </a:r>
          </a:p>
        </p:txBody>
      </p:sp>
      <p:pic>
        <p:nvPicPr>
          <p:cNvPr id="5" name="Content Placeholder 4" descr="http://youarebeingmanipulated.com/wp-content/uploads/2013/01/Shape-Liquid-Powder-19701.jpg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7028" y="0"/>
            <a:ext cx="5170171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219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Planning, paper 1 structure and annotation of example.</a:t>
            </a:r>
          </a:p>
        </p:txBody>
      </p:sp>
    </p:spTree>
    <p:extLst>
      <p:ext uri="{BB962C8B-B14F-4D97-AF65-F5344CB8AC3E}">
        <p14:creationId xmlns:p14="http://schemas.microsoft.com/office/powerpoint/2010/main" val="163771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  <a:latin typeface="+mn-lt"/>
              </a:rPr>
              <a:t>In pairs</a:t>
            </a:r>
            <a:r>
              <a:rPr lang="mr-IN" b="1" dirty="0" smtClean="0">
                <a:solidFill>
                  <a:srgbClr val="00B050"/>
                </a:solidFill>
                <a:latin typeface="+mn-lt"/>
              </a:rPr>
              <a:t>…</a:t>
            </a:r>
            <a:endParaRPr lang="en-US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792" y="1302027"/>
            <a:ext cx="11774556" cy="555597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charset="0"/>
                <a:ea typeface="Arial" charset="0"/>
                <a:cs typeface="Arial" charset="0"/>
              </a:rPr>
              <a:t>Go to today’s task on Firefly. Open Structural Options for Paper One.</a:t>
            </a:r>
          </a:p>
          <a:p>
            <a:endParaRPr lang="en-US" sz="36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3600" dirty="0" smtClean="0">
                <a:latin typeface="Arial" charset="0"/>
                <a:ea typeface="Arial" charset="0"/>
                <a:cs typeface="Arial" charset="0"/>
              </a:rPr>
              <a:t>Will be assigned either structural option 1 (black) or 3 (white).</a:t>
            </a:r>
          </a:p>
          <a:p>
            <a:endParaRPr lang="en-US" sz="3600" dirty="0">
              <a:latin typeface="Arial" charset="0"/>
              <a:ea typeface="Arial" charset="0"/>
              <a:cs typeface="Arial" charset="0"/>
            </a:endParaRPr>
          </a:p>
          <a:p>
            <a:r>
              <a:rPr lang="en-US" sz="3600" dirty="0" smtClean="0">
                <a:latin typeface="Arial" charset="0"/>
                <a:ea typeface="Arial" charset="0"/>
                <a:cs typeface="Arial" charset="0"/>
              </a:rPr>
              <a:t>Use your post-its to write ideas for planning each section. Put your </a:t>
            </a:r>
            <a:r>
              <a:rPr lang="en-US" sz="3600" dirty="0" smtClean="0">
                <a:latin typeface="Arial" charset="0"/>
                <a:ea typeface="Arial" charset="0"/>
                <a:cs typeface="Arial" charset="0"/>
              </a:rPr>
              <a:t>post-its in the correct section.</a:t>
            </a:r>
          </a:p>
        </p:txBody>
      </p:sp>
    </p:spTree>
    <p:extLst>
      <p:ext uri="{BB962C8B-B14F-4D97-AF65-F5344CB8AC3E}">
        <p14:creationId xmlns:p14="http://schemas.microsoft.com/office/powerpoint/2010/main" val="195812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MARKING: Read the Paper 1 text/ questions, exemplars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11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3575551"/>
              </p:ext>
            </p:extLst>
          </p:nvPr>
        </p:nvGraphicFramePr>
        <p:xfrm>
          <a:off x="377687" y="159027"/>
          <a:ext cx="11628782" cy="6819733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01471"/>
                <a:gridCol w="2528487"/>
                <a:gridCol w="219531"/>
                <a:gridCol w="1971925"/>
                <a:gridCol w="219531"/>
                <a:gridCol w="2081692"/>
                <a:gridCol w="218759"/>
                <a:gridCol w="3970906"/>
                <a:gridCol w="116480"/>
              </a:tblGrid>
              <a:tr h="576469">
                <a:tc gridSpan="9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L&amp;L P1 SL</a:t>
                      </a:r>
                      <a:endParaRPr lang="en-GB" sz="1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Student _______________________________</a:t>
                      </a:r>
                      <a:endParaRPr lang="en-GB" sz="1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DP English Language and Literature A1 SL </a:t>
                      </a:r>
                      <a:endParaRPr lang="en-GB" sz="9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Assessment Criteria for Paper 1: Textual Analysis</a:t>
                      </a:r>
                      <a:endParaRPr lang="en-GB" sz="11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615927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Criterion A: 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Understanding of the text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Criterion B: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Understanding of the use and effects of stylistic features</a:t>
                      </a:r>
                      <a:endParaRPr lang="en-GB" sz="1200" b="1" dirty="0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Criterion C: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Organization and development</a:t>
                      </a:r>
                      <a:endParaRPr lang="en-GB" sz="1200" b="1" dirty="0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</a:rPr>
                        <a:t>Criterion D: </a:t>
                      </a:r>
                      <a:br>
                        <a:rPr lang="en-US" sz="12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Language</a:t>
                      </a:r>
                      <a:endParaRPr lang="en-GB" sz="1200" b="1" dirty="0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  <a:tr h="78885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very good understanding of the text and context; perceptive comments are supported by consistently well-chosen references to the text.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very good awareness of the use of stylistic features, with good understanding of their effects.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 analysis is effectively organized and coherent. The argument is well developed.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Language is very clear, effective, carefully chosen and precise, with a high degree of accuracy in grammar, vocabulary and sentence construction; register and style are effective and appropriate to the task.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  <a:tr h="78885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good understanding of the text and context; comments are consistently supported by references to the text.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good awareness of the use of stylistic features, with adequate understanding of their effects.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 analysis is well organized and mostly coherent. The argument is adequately developed.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Language is clear and carefully chosen, with a good degree of accuracy in grammar, vocabulary and sentence construction; register and style are consistently appropriate to the task.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  <a:tr h="78885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adequate understanding of the text and context; comments are mostly supported by references to the text.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adequate awareness of the use of stylistic features, with some understanding of their effects.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 analysis is adequately organized in a generally coherent manner. There is some development of the argument.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Language is clear and carefully chosen with an adequate degree of accuracy in grammar, vocabulary and sentence construction despite some lapses; register and style are mostly appropriate to the task.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  <a:tr h="11347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some understanding of the text and context; comments are sometimes supported by references to the text.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some awareness and understanding of stylistic features.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Some organization is apparent; the analysis has some coherence but may contain elements of paraphrase, summary and simple explanation. There is little development of the argument.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Language is sometimes clear and carefully chosen; grammar, vocabulary and sentence construction are fairly accurate, although errors and inconsistencies are apparent; the register and style are to some extent appropriate to the task.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  <a:tr h="109424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little understanding of the text and context; comments are not supported by references to the text.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There is little awareness or understanding of the use of stylistic features.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>
                          <a:effectLst/>
                        </a:rPr>
                        <a:t>Little organization is apparent, with reliance on paraphrase and summary rather than analysis.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500"/>
                        </a:spcAft>
                        <a:tabLst>
                          <a:tab pos="201930" algn="l"/>
                        </a:tabLst>
                      </a:pPr>
                      <a:r>
                        <a:rPr lang="en-US" sz="1200" dirty="0">
                          <a:effectLst/>
                        </a:rPr>
                        <a:t>Language is rarely clear and appropriate; there are many errors in grammar, vocabulary and sentence construction and little sense of register and style.</a:t>
                      </a:r>
                      <a:endParaRPr lang="en-GB" sz="1200" b="1" dirty="0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  <a:tr h="2700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Level 1 is not achieved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Level 1 is not achieved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Level 1 not achieved</a:t>
                      </a:r>
                      <a:endParaRPr lang="en-GB" sz="1200" b="1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GB" sz="120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Level 1 is not achieved</a:t>
                      </a:r>
                      <a:endParaRPr lang="en-GB" sz="1200" b="1" dirty="0">
                        <a:effectLst/>
                        <a:latin typeface="Times New Roman" charset="0"/>
                      </a:endParaRPr>
                    </a:p>
                  </a:txBody>
                  <a:tcPr marL="64892" marR="64892" marT="34248" marB="34248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Times New Roman" charset="0"/>
                        <a:ea typeface="Times New Roman" charset="0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83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sz="4000" b="1" dirty="0" smtClean="0">
                <a:latin typeface="Calibri" charset="0"/>
                <a:ea typeface="MS Mincho" charset="-128"/>
                <a:cs typeface="MS Mincho" charset="-128"/>
              </a:rPr>
              <a:t>Complete the Commentary </a:t>
            </a:r>
            <a:r>
              <a:rPr lang="mr-IN" sz="4000" b="1" dirty="0" smtClean="0">
                <a:latin typeface="Calibri" charset="0"/>
                <a:ea typeface="MS Mincho" charset="-128"/>
                <a:cs typeface="MS Mincho" charset="-128"/>
              </a:rPr>
              <a:t>–</a:t>
            </a:r>
            <a:r>
              <a:rPr lang="en-US" sz="4000" b="1" dirty="0" smtClean="0">
                <a:latin typeface="Calibri" charset="0"/>
                <a:ea typeface="MS Mincho" charset="-128"/>
                <a:cs typeface="MS Mincho" charset="-128"/>
              </a:rPr>
              <a:t> on Hard-copy on FOOLSCAP, under timed conditions if possible.</a:t>
            </a:r>
          </a:p>
          <a:p>
            <a:pPr marL="0" indent="0">
              <a:buNone/>
            </a:pPr>
            <a:endParaRPr lang="en-US" sz="40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sz="40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It needs to be hard copy because we will </a:t>
            </a:r>
            <a:r>
              <a:rPr lang="en-US" sz="4000" b="1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peer mark.</a:t>
            </a:r>
            <a:endParaRPr lang="en-US" sz="40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</p:spTree>
    <p:extLst>
      <p:ext uri="{BB962C8B-B14F-4D97-AF65-F5344CB8AC3E}">
        <p14:creationId xmlns:p14="http://schemas.microsoft.com/office/powerpoint/2010/main" val="104453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903</Words>
  <Application>Microsoft Macintosh PowerPoint</Application>
  <PresentationFormat>Widescreen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Arial Rounded MT Bold</vt:lpstr>
      <vt:lpstr>Calibri</vt:lpstr>
      <vt:lpstr>Calibri Light</vt:lpstr>
      <vt:lpstr>Mangal</vt:lpstr>
      <vt:lpstr>MS Mincho</vt:lpstr>
      <vt:lpstr>ＭＳ 明朝</vt:lpstr>
      <vt:lpstr>Osaka</vt:lpstr>
      <vt:lpstr>Times New Roman</vt:lpstr>
      <vt:lpstr>Arial</vt:lpstr>
      <vt:lpstr>Office Theme</vt:lpstr>
      <vt:lpstr>2_Office Theme</vt:lpstr>
      <vt:lpstr>3_Blank Presentation</vt:lpstr>
      <vt:lpstr>8_Office Theme</vt:lpstr>
      <vt:lpstr>3_Office Theme</vt:lpstr>
      <vt:lpstr>4_Office Theme</vt:lpstr>
      <vt:lpstr>Welcome Back! Don’t forget to take a tissue to wipe down your desk…  Please do not sit at desks with boards.</vt:lpstr>
      <vt:lpstr>IB English Language and Literature 6 ELL SL 4 2019 - 2020</vt:lpstr>
      <vt:lpstr>SCHOOL ASSESSMENT TERM 4</vt:lpstr>
      <vt:lpstr>PowerPoint Presentation</vt:lpstr>
      <vt:lpstr>General Outline Term 4</vt:lpstr>
      <vt:lpstr>General Outline Term 4</vt:lpstr>
      <vt:lpstr>We are still a digital classroom!</vt:lpstr>
      <vt:lpstr>Review yesterday’s plannning</vt:lpstr>
      <vt:lpstr>‘Tis the Season… for Surveys!  https://acs.fireflycloud.asia/students-survey-of-teachers/english-2020-</vt:lpstr>
      <vt:lpstr>But First!</vt:lpstr>
      <vt:lpstr>Paper 1 SL Beach Sweatshirt and Practice Paper 1 Shape</vt:lpstr>
      <vt:lpstr>Planning, paper 1 structure and annotation of example.</vt:lpstr>
      <vt:lpstr>In pairs…</vt:lpstr>
      <vt:lpstr>MARKING: Read the Paper 1 text/ questions, exemplars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Back! Don’t forget to take a tissue to wipe down your desk…</dc:title>
  <dc:creator>Elisa Simone Zantos - Teacher of English</dc:creator>
  <cp:lastModifiedBy>Elisa Simone Zantos - Teacher of English</cp:lastModifiedBy>
  <cp:revision>22</cp:revision>
  <dcterms:created xsi:type="dcterms:W3CDTF">2020-09-14T23:26:50Z</dcterms:created>
  <dcterms:modified xsi:type="dcterms:W3CDTF">2020-09-17T18:01:59Z</dcterms:modified>
</cp:coreProperties>
</file>