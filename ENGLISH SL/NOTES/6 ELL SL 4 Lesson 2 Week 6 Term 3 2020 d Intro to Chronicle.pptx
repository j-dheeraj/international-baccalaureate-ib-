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86" r:id="rId3"/>
    <p:sldMasterId id="2147483698" r:id="rId4"/>
    <p:sldMasterId id="2147483716" r:id="rId5"/>
  </p:sldMasterIdLst>
  <p:notesMasterIdLst>
    <p:notesMasterId r:id="rId28"/>
  </p:notesMasterIdLst>
  <p:sldIdLst>
    <p:sldId id="273" r:id="rId6"/>
    <p:sldId id="274" r:id="rId7"/>
    <p:sldId id="275" r:id="rId8"/>
    <p:sldId id="276" r:id="rId9"/>
    <p:sldId id="272" r:id="rId10"/>
    <p:sldId id="270" r:id="rId11"/>
    <p:sldId id="279" r:id="rId12"/>
    <p:sldId id="257" r:id="rId13"/>
    <p:sldId id="278" r:id="rId14"/>
    <p:sldId id="259" r:id="rId15"/>
    <p:sldId id="260" r:id="rId16"/>
    <p:sldId id="290" r:id="rId17"/>
    <p:sldId id="291" r:id="rId18"/>
    <p:sldId id="292" r:id="rId19"/>
    <p:sldId id="293" r:id="rId20"/>
    <p:sldId id="280" r:id="rId21"/>
    <p:sldId id="281" r:id="rId22"/>
    <p:sldId id="282" r:id="rId23"/>
    <p:sldId id="283" r:id="rId24"/>
    <p:sldId id="284" r:id="rId25"/>
    <p:sldId id="28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4"/>
    <p:restoredTop sz="93130"/>
  </p:normalViewPr>
  <p:slideViewPr>
    <p:cSldViewPr snapToGrid="0" snapToObjects="1">
      <p:cViewPr varScale="1">
        <p:scale>
          <a:sx n="65" d="100"/>
          <a:sy n="65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2B4E1-BD7A-7D4C-9650-E10C2D0E1319}" type="datetimeFigureOut">
              <a:rPr lang="en-US" smtClean="0"/>
              <a:t>8/6/20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6BA7A-7811-0B4C-BC61-8B02DC0C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0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5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5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5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0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0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2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2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4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41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66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91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03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41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123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75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54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1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4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2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32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A88FC-3C43-6B43-B454-8E32A009384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933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47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164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13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2634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56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379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0618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158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169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004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4814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295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260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644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1625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5932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5465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9858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35889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7837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53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34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7575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8571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667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15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4522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4856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4109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452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321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254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919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6845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799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391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36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2270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2612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932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6797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339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83723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941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7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theme" Target="../theme/theme5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DAB65-6C59-704E-8344-7E62974C1E64}" type="datetimeFigureOut">
              <a:rPr lang="en-US" smtClean="0"/>
              <a:t>8/6/20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46350-D1C2-0747-8FA4-D12EB542B4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3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24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4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9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40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8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(6):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1: Exams Review plus </a:t>
            </a:r>
            <a:r>
              <a:rPr lang="en-US" sz="3200" u="sng" dirty="0" smtClean="0">
                <a:solidFill>
                  <a:prstClr val="white"/>
                </a:solidFill>
              </a:rPr>
              <a:t>COADF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2: </a:t>
            </a:r>
            <a:r>
              <a:rPr lang="en-US" sz="3200" dirty="0">
                <a:solidFill>
                  <a:prstClr val="white"/>
                </a:solidFill>
              </a:rPr>
              <a:t>Exams Review plus </a:t>
            </a:r>
            <a:r>
              <a:rPr lang="en-US" sz="3200" u="sng" dirty="0" smtClean="0">
                <a:solidFill>
                  <a:prstClr val="white"/>
                </a:solidFill>
              </a:rPr>
              <a:t>COADF</a:t>
            </a: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1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3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strike="sngStrike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strike="sngStrike" dirty="0" smtClean="0">
                <a:ea typeface="ＭＳ 明朝" charset="-128"/>
                <a:cs typeface="MS Mincho" charset="-128"/>
              </a:rPr>
              <a:t>PRELIMS!!!</a:t>
            </a:r>
            <a:endParaRPr lang="en-US" sz="3200" b="1" u="sng" strike="sngStrike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3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8200" y="1756352"/>
            <a:ext cx="9011194" cy="4949247"/>
          </a:xfrm>
          <a:solidFill>
            <a:srgbClr val="FFE9EE"/>
          </a:solidFill>
        </p:spPr>
        <p:txBody>
          <a:bodyPr/>
          <a:lstStyle/>
          <a:p>
            <a:r>
              <a:rPr lang="en-US" dirty="0" smtClean="0"/>
              <a:t>WEEK 1 Paper 2 Prelim Prep</a:t>
            </a:r>
          </a:p>
          <a:p>
            <a:r>
              <a:rPr lang="en-US" dirty="0" smtClean="0"/>
              <a:t>WEEK 2 </a:t>
            </a:r>
            <a:r>
              <a:rPr lang="en-US" dirty="0"/>
              <a:t>Paper </a:t>
            </a:r>
            <a:r>
              <a:rPr lang="en-US" dirty="0" smtClean="0"/>
              <a:t>1 </a:t>
            </a:r>
            <a:r>
              <a:rPr lang="en-US" dirty="0"/>
              <a:t>Prelim Prep</a:t>
            </a:r>
          </a:p>
          <a:p>
            <a:r>
              <a:rPr lang="en-US" dirty="0" smtClean="0"/>
              <a:t>WEEK 3 Prelims</a:t>
            </a:r>
          </a:p>
          <a:p>
            <a:r>
              <a:rPr lang="en-US" dirty="0" smtClean="0"/>
              <a:t>WEEK 4 </a:t>
            </a:r>
            <a:r>
              <a:rPr lang="en-US" dirty="0"/>
              <a:t>Prelims</a:t>
            </a:r>
          </a:p>
          <a:p>
            <a:r>
              <a:rPr lang="en-US" dirty="0" smtClean="0"/>
              <a:t>WEEK 5 WT </a:t>
            </a:r>
            <a:r>
              <a:rPr lang="en-US" dirty="0" err="1" smtClean="0"/>
              <a:t>finalisation</a:t>
            </a:r>
            <a:endParaRPr lang="en-US" dirty="0" smtClean="0"/>
          </a:p>
          <a:p>
            <a:r>
              <a:rPr lang="en-US" dirty="0"/>
              <a:t>WEEK </a:t>
            </a:r>
            <a:r>
              <a:rPr lang="en-US" dirty="0" smtClean="0"/>
              <a:t>6 Chronicle</a:t>
            </a:r>
            <a:endParaRPr lang="en-US" dirty="0"/>
          </a:p>
          <a:p>
            <a:r>
              <a:rPr lang="en-US" dirty="0"/>
              <a:t>WEEK </a:t>
            </a:r>
            <a:r>
              <a:rPr lang="en-US" dirty="0" smtClean="0"/>
              <a:t>7 </a:t>
            </a:r>
            <a:r>
              <a:rPr lang="en-US" dirty="0"/>
              <a:t>Chronicle</a:t>
            </a:r>
          </a:p>
          <a:p>
            <a:r>
              <a:rPr lang="en-US" dirty="0" smtClean="0"/>
              <a:t>WEEK 8 </a:t>
            </a:r>
            <a:r>
              <a:rPr lang="en-US" dirty="0"/>
              <a:t>Chronicle</a:t>
            </a:r>
          </a:p>
          <a:p>
            <a:r>
              <a:rPr lang="en-US" dirty="0" smtClean="0"/>
              <a:t>WEEK 9 </a:t>
            </a:r>
            <a:r>
              <a:rPr lang="en-US" dirty="0"/>
              <a:t>Chronicle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94" y="365126"/>
            <a:ext cx="1980166" cy="198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7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8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8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995" y="175254"/>
            <a:ext cx="9096782" cy="6489037"/>
          </a:xfrm>
        </p:spPr>
      </p:pic>
    </p:spTree>
    <p:extLst>
      <p:ext uri="{BB962C8B-B14F-4D97-AF65-F5344CB8AC3E}">
        <p14:creationId xmlns:p14="http://schemas.microsoft.com/office/powerpoint/2010/main" val="86728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I KNOW SOME OF YOU IN THE CLASS ARE THINKING THIS</a:t>
            </a:r>
            <a:r>
              <a:rPr lang="is-IS" dirty="0" smtClean="0">
                <a:solidFill>
                  <a:srgbClr val="00B050"/>
                </a:solidFill>
              </a:rPr>
              <a:t>…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351" y="1825625"/>
            <a:ext cx="4425298" cy="4351338"/>
          </a:xfrm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641649" y="1825625"/>
            <a:ext cx="6364821" cy="4351338"/>
          </a:xfrm>
        </p:spPr>
        <p:txBody>
          <a:bodyPr/>
          <a:lstStyle/>
          <a:p>
            <a:r>
              <a:rPr lang="en-US" dirty="0" smtClean="0"/>
              <a:t>Grade </a:t>
            </a:r>
            <a:r>
              <a:rPr lang="en-US" smtClean="0"/>
              <a:t>Boundaries P2 Last Year:</a:t>
            </a:r>
            <a:endParaRPr lang="en-US" dirty="0" smtClean="0"/>
          </a:p>
          <a:p>
            <a:r>
              <a:rPr lang="en-US" dirty="0" smtClean="0"/>
              <a:t>1 = 0-3</a:t>
            </a:r>
          </a:p>
          <a:p>
            <a:r>
              <a:rPr lang="en-US" dirty="0" smtClean="0"/>
              <a:t>2 =4-7</a:t>
            </a:r>
          </a:p>
          <a:p>
            <a:r>
              <a:rPr lang="en-US" dirty="0" smtClean="0"/>
              <a:t>3 = 8-11</a:t>
            </a:r>
          </a:p>
          <a:p>
            <a:r>
              <a:rPr lang="en-US" dirty="0" smtClean="0"/>
              <a:t>4 = 12-14</a:t>
            </a:r>
          </a:p>
          <a:p>
            <a:r>
              <a:rPr lang="en-US" dirty="0" smtClean="0"/>
              <a:t>5 = 15-17</a:t>
            </a:r>
          </a:p>
          <a:p>
            <a:r>
              <a:rPr lang="en-US" dirty="0" smtClean="0"/>
              <a:t>6 = 18-20</a:t>
            </a:r>
          </a:p>
          <a:p>
            <a:r>
              <a:rPr lang="en-US" dirty="0" smtClean="0"/>
              <a:t>7 = 21-25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2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Be prepared: Bring Chronicle</a:t>
            </a:r>
          </a:p>
          <a:p>
            <a:pPr marL="0" indent="0">
              <a:buNone/>
            </a:pP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Continue to clean up Written Task.</a:t>
            </a: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53" y="41212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COADF</a:t>
            </a:r>
          </a:p>
        </p:txBody>
      </p:sp>
    </p:spTree>
    <p:extLst>
      <p:ext uri="{BB962C8B-B14F-4D97-AF65-F5344CB8AC3E}">
        <p14:creationId xmlns:p14="http://schemas.microsoft.com/office/powerpoint/2010/main" val="97226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656346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+mn-lt"/>
              </a:rPr>
              <a:t>Chronicle of a Death Foretold </a:t>
            </a:r>
            <a:r>
              <a:rPr lang="en-US" dirty="0">
                <a:latin typeface="+mn-lt"/>
              </a:rPr>
              <a:t/>
            </a:r>
            <a:br>
              <a:rPr lang="en-US" dirty="0">
                <a:latin typeface="+mn-lt"/>
              </a:rPr>
            </a:br>
            <a:r>
              <a:rPr lang="en-US" dirty="0" smtClean="0">
                <a:latin typeface="+mn-lt"/>
              </a:rPr>
              <a:t/>
            </a:r>
            <a:br>
              <a:rPr lang="en-US" dirty="0" smtClean="0">
                <a:latin typeface="+mn-lt"/>
              </a:rPr>
            </a:br>
            <a:r>
              <a:rPr lang="en-US" dirty="0" smtClean="0">
                <a:latin typeface="+mn-lt"/>
              </a:rPr>
              <a:t>Geographical</a:t>
            </a:r>
            <a:r>
              <a:rPr lang="en-US" dirty="0">
                <a:latin typeface="+mn-lt"/>
              </a:rPr>
              <a:t>, Biographical, Political and Literary Backdrop </a:t>
            </a:r>
          </a:p>
        </p:txBody>
      </p:sp>
    </p:spTree>
    <p:extLst>
      <p:ext uri="{BB962C8B-B14F-4D97-AF65-F5344CB8AC3E}">
        <p14:creationId xmlns:p14="http://schemas.microsoft.com/office/powerpoint/2010/main" val="141074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Colombia’s Geographical Split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7139" y="2018130"/>
            <a:ext cx="3731272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7496" y="365126"/>
            <a:ext cx="6884504" cy="649287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Costeños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–  Coastal Caribbean </a:t>
            </a:r>
          </a:p>
          <a:p>
            <a:pPr marL="0" indent="0">
              <a:buNone/>
            </a:pPr>
            <a:r>
              <a:rPr lang="en-US" dirty="0"/>
              <a:t>–  Racially mixed: </a:t>
            </a:r>
            <a:r>
              <a:rPr lang="en-US" dirty="0" err="1"/>
              <a:t>descendents</a:t>
            </a:r>
            <a:r>
              <a:rPr lang="en-US" dirty="0"/>
              <a:t> of pirates, black slaves, smugglers. </a:t>
            </a:r>
          </a:p>
          <a:p>
            <a:pPr marL="0" indent="0">
              <a:buNone/>
            </a:pPr>
            <a:r>
              <a:rPr lang="en-US" dirty="0"/>
              <a:t>–  Reputation: people are outgoing, superstitious, dancers, adventurous.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• </a:t>
            </a:r>
            <a:r>
              <a:rPr lang="en-US" b="1" dirty="0" err="1"/>
              <a:t>Cachacos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–  Central Highland </a:t>
            </a:r>
          </a:p>
          <a:p>
            <a:pPr marL="0" indent="0">
              <a:buNone/>
            </a:pPr>
            <a:r>
              <a:rPr lang="en-US" dirty="0"/>
              <a:t>–  Racially “pure” </a:t>
            </a:r>
          </a:p>
          <a:p>
            <a:pPr marL="0" indent="0">
              <a:buNone/>
            </a:pPr>
            <a:r>
              <a:rPr lang="en-US" dirty="0"/>
              <a:t>–  Formal, aristocratic, speak excellent Spanish, proud of advanced cities (Bogotá)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• </a:t>
            </a:r>
            <a:r>
              <a:rPr lang="en-US" b="1" dirty="0" err="1"/>
              <a:t>Márquez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– Considers himself a mestizo </a:t>
            </a:r>
            <a:r>
              <a:rPr lang="en-US" dirty="0" err="1"/>
              <a:t>costeño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24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2379" y="528303"/>
            <a:ext cx="4997116" cy="1325563"/>
          </a:xfrm>
        </p:spPr>
        <p:txBody>
          <a:bodyPr>
            <a:normAutofit fontScale="90000"/>
          </a:bodyPr>
          <a:lstStyle/>
          <a:p>
            <a:pPr algn="r"/>
            <a:r>
              <a:rPr lang="en-US" sz="6000" dirty="0">
                <a:solidFill>
                  <a:srgbClr val="00B050"/>
                </a:solidFill>
                <a:latin typeface="+mn-lt"/>
              </a:rPr>
              <a:t>Colombia’s Political Split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947" y="365125"/>
            <a:ext cx="7026442" cy="630037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Background </a:t>
            </a:r>
          </a:p>
          <a:p>
            <a:pPr marL="0" indent="0">
              <a:buNone/>
            </a:pPr>
            <a:r>
              <a:rPr lang="en-US" dirty="0"/>
              <a:t>–  Two political parties emerged after independence from Spain in 1810. </a:t>
            </a:r>
          </a:p>
          <a:p>
            <a:pPr marL="0" indent="0">
              <a:buNone/>
            </a:pPr>
            <a:r>
              <a:rPr lang="en-US" dirty="0"/>
              <a:t>–  Neither possess firmly established ideologies and beliefs; are equally corrupt, abuse power, and are constantly at war with each other. </a:t>
            </a:r>
          </a:p>
          <a:p>
            <a:pPr marL="0" indent="0">
              <a:buNone/>
            </a:pPr>
            <a:r>
              <a:rPr lang="en-US" dirty="0"/>
              <a:t>–  It is said that Colombians don’t choose a party, they are born into one. </a:t>
            </a:r>
          </a:p>
          <a:p>
            <a:pPr marL="0" indent="0">
              <a:buNone/>
            </a:pPr>
            <a:r>
              <a:rPr lang="en-US" dirty="0"/>
              <a:t>–  Act as territorial and familial units.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• Liberals (</a:t>
            </a:r>
            <a:r>
              <a:rPr lang="en-US" b="1" dirty="0" err="1"/>
              <a:t>Partido</a:t>
            </a:r>
            <a:r>
              <a:rPr lang="en-US" b="1" dirty="0"/>
              <a:t> Liberal) </a:t>
            </a:r>
          </a:p>
          <a:p>
            <a:pPr marL="0" indent="0">
              <a:buNone/>
            </a:pPr>
            <a:r>
              <a:rPr lang="en-US" dirty="0"/>
              <a:t>– Primarily Coastal Caribbean </a:t>
            </a:r>
            <a:r>
              <a:rPr lang="en-US" dirty="0" err="1"/>
              <a:t>Costeños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• </a:t>
            </a:r>
            <a:r>
              <a:rPr lang="en-US" b="1" dirty="0"/>
              <a:t>Conservatives (</a:t>
            </a:r>
            <a:r>
              <a:rPr lang="en-US" b="1" dirty="0" err="1"/>
              <a:t>Partido</a:t>
            </a:r>
            <a:r>
              <a:rPr lang="en-US" b="1" dirty="0"/>
              <a:t> </a:t>
            </a:r>
            <a:r>
              <a:rPr lang="en-US" b="1" dirty="0" err="1"/>
              <a:t>Conservador</a:t>
            </a:r>
            <a:r>
              <a:rPr lang="en-US" b="1" dirty="0"/>
              <a:t>) </a:t>
            </a:r>
          </a:p>
          <a:p>
            <a:pPr marL="0" indent="0">
              <a:buNone/>
            </a:pPr>
            <a:r>
              <a:rPr lang="en-US" dirty="0"/>
              <a:t>– Primarily Central Highland </a:t>
            </a:r>
            <a:r>
              <a:rPr lang="en-US" dirty="0" err="1"/>
              <a:t>Cachacos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• </a:t>
            </a:r>
            <a:r>
              <a:rPr lang="en-US" b="1" dirty="0" err="1"/>
              <a:t>Márquez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–  Liberal </a:t>
            </a:r>
          </a:p>
          <a:p>
            <a:pPr marL="0" indent="0">
              <a:buNone/>
            </a:pPr>
            <a:r>
              <a:rPr lang="en-US" dirty="0"/>
              <a:t>–  Parties form the political framework of much of his fiction. 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56692" y="2017044"/>
            <a:ext cx="38735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2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DEVICES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6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176654" y="365125"/>
            <a:ext cx="4177145" cy="1325563"/>
          </a:xfrm>
        </p:spPr>
        <p:txBody>
          <a:bodyPr>
            <a:normAutofit/>
          </a:bodyPr>
          <a:lstStyle/>
          <a:p>
            <a:pPr algn="r"/>
            <a:r>
              <a:rPr lang="en-US" sz="6000" b="1" dirty="0" smtClean="0">
                <a:solidFill>
                  <a:srgbClr val="FF0000"/>
                </a:solidFill>
                <a:latin typeface="+mn-lt"/>
              </a:rPr>
              <a:t>Devices</a:t>
            </a:r>
            <a:endParaRPr lang="en-SG" sz="6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344" y="0"/>
            <a:ext cx="6338455" cy="7093527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Point of View</a:t>
            </a:r>
            <a:r>
              <a:rPr lang="en-US" sz="3200" dirty="0" smtClean="0"/>
              <a:t>: Role of the Narrator</a:t>
            </a:r>
          </a:p>
          <a:p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>
                <a:solidFill>
                  <a:srgbClr val="FF0000"/>
                </a:solidFill>
              </a:rPr>
              <a:t>Characterization: </a:t>
            </a:r>
            <a:r>
              <a:rPr lang="en-US" sz="3200" dirty="0" smtClean="0"/>
              <a:t>Behavior and dialogue</a:t>
            </a:r>
          </a:p>
          <a:p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>
                <a:solidFill>
                  <a:srgbClr val="FF0000"/>
                </a:solidFill>
              </a:rPr>
              <a:t>Narrative Structure: </a:t>
            </a:r>
            <a:r>
              <a:rPr lang="en-US" sz="3200" dirty="0" smtClean="0"/>
              <a:t>Non-chronological / differing perspectives = Search for truth</a:t>
            </a:r>
          </a:p>
          <a:p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>
                <a:solidFill>
                  <a:srgbClr val="FF0000"/>
                </a:solidFill>
              </a:rPr>
              <a:t>Journalistic Style: </a:t>
            </a:r>
            <a:r>
              <a:rPr lang="en-US" sz="3200" dirty="0" smtClean="0"/>
              <a:t>Sensational e.g. ‘Fatal door’ / 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sentence- 5 </a:t>
            </a:r>
            <a:r>
              <a:rPr lang="en-US" sz="3200" dirty="0" err="1" smtClean="0"/>
              <a:t>Ws</a:t>
            </a:r>
            <a:endParaRPr lang="en-US" sz="3200" dirty="0" smtClean="0"/>
          </a:p>
          <a:p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>
                <a:solidFill>
                  <a:srgbClr val="FF0000"/>
                </a:solidFill>
              </a:rPr>
              <a:t>Imagery: </a:t>
            </a:r>
            <a:r>
              <a:rPr lang="en-US" sz="3200" dirty="0" smtClean="0"/>
              <a:t>Rich, detailed and sometimes gruesome e.g. P119</a:t>
            </a:r>
          </a:p>
          <a:p>
            <a:endParaRPr lang="en-US" sz="3200" dirty="0" smtClean="0">
              <a:solidFill>
                <a:srgbClr val="FF0000"/>
              </a:solidFill>
            </a:endParaRPr>
          </a:p>
          <a:p>
            <a:r>
              <a:rPr lang="en-US" sz="3200" dirty="0" smtClean="0">
                <a:solidFill>
                  <a:srgbClr val="FF0000"/>
                </a:solidFill>
              </a:rPr>
              <a:t>Setting: </a:t>
            </a:r>
            <a:r>
              <a:rPr lang="en-US" sz="3200" dirty="0" smtClean="0"/>
              <a:t>Small Coastal Town – Historical Context</a:t>
            </a:r>
          </a:p>
        </p:txBody>
      </p:sp>
      <p:pic>
        <p:nvPicPr>
          <p:cNvPr id="5" name="Picture 2" descr="http://orig15.deviantart.net/13b4/f/2013/116/2/9/bloody_knife_by_moonglowlilly-d635lz0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448594"/>
            <a:ext cx="51816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93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89218" cy="1325563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  <a:latin typeface="+mn-lt"/>
              </a:rPr>
              <a:t>Devices</a:t>
            </a:r>
            <a:endParaRPr lang="en-SG" sz="6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11782" y="0"/>
            <a:ext cx="7980218" cy="6858000"/>
          </a:xfrm>
        </p:spPr>
        <p:txBody>
          <a:bodyPr>
            <a:noAutofit/>
          </a:bodyPr>
          <a:lstStyle/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Symbolism: </a:t>
            </a:r>
          </a:p>
          <a:p>
            <a:r>
              <a:rPr lang="en-US" dirty="0" smtClean="0"/>
              <a:t>The Smell of Santiago</a:t>
            </a:r>
          </a:p>
          <a:p>
            <a:r>
              <a:rPr lang="en-US" dirty="0" smtClean="0"/>
              <a:t> Animals </a:t>
            </a:r>
          </a:p>
          <a:p>
            <a:r>
              <a:rPr lang="en-US" dirty="0" smtClean="0"/>
              <a:t>Town officials a corrupt elite</a:t>
            </a:r>
          </a:p>
          <a:p>
            <a:r>
              <a:rPr lang="en-US" dirty="0" smtClean="0"/>
              <a:t>Dreams: symbolic of supernatural belief</a:t>
            </a:r>
          </a:p>
          <a:p>
            <a:r>
              <a:rPr lang="en-US" dirty="0" smtClean="0"/>
              <a:t>Prostitution - hypocrisy</a:t>
            </a:r>
          </a:p>
          <a:p>
            <a:r>
              <a:rPr lang="en-US" dirty="0" smtClean="0"/>
              <a:t>Letters, documents -  unreliable nature of communication </a:t>
            </a:r>
          </a:p>
          <a:p>
            <a:r>
              <a:rPr lang="en-US" dirty="0" smtClean="0"/>
              <a:t>Falconry – predatory </a:t>
            </a:r>
          </a:p>
          <a:p>
            <a:r>
              <a:rPr lang="en-US" dirty="0" smtClean="0"/>
              <a:t>Decrepit steamboat symbolic of Christianity</a:t>
            </a:r>
          </a:p>
        </p:txBody>
      </p:sp>
      <p:pic>
        <p:nvPicPr>
          <p:cNvPr id="5" name="Picture 2" descr="C:\Users\christopher.bossan\AppData\Local\Microsoft\Windows\Temporary Internet Files\Content.IE5\ABE1ZH5M\wordcloud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9697"/>
            <a:ext cx="3889472" cy="291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18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504708" y="365125"/>
            <a:ext cx="4849091" cy="1325563"/>
          </a:xfrm>
        </p:spPr>
        <p:txBody>
          <a:bodyPr>
            <a:normAutofit/>
          </a:bodyPr>
          <a:lstStyle/>
          <a:p>
            <a:pPr algn="r"/>
            <a:r>
              <a:rPr lang="en-US" sz="6000" b="1" dirty="0" smtClean="0">
                <a:solidFill>
                  <a:srgbClr val="FF0000"/>
                </a:solidFill>
                <a:latin typeface="+mn-lt"/>
              </a:rPr>
              <a:t>Devices</a:t>
            </a:r>
            <a:endParaRPr lang="en-SG" sz="6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3964" y="365124"/>
            <a:ext cx="7121236" cy="6492875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Irony: </a:t>
            </a:r>
            <a:r>
              <a:rPr lang="en-US" sz="2400" dirty="0"/>
              <a:t>Used to criticize the village and its flaws.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Conflict: </a:t>
            </a:r>
            <a:r>
              <a:rPr lang="en-US" sz="2400" dirty="0"/>
              <a:t>Character V Character / Character V Themselves / Character V </a:t>
            </a:r>
            <a:r>
              <a:rPr lang="en-US" sz="2400" dirty="0" smtClean="0"/>
              <a:t>Society</a:t>
            </a:r>
          </a:p>
          <a:p>
            <a:endParaRPr lang="en-US" sz="2400" dirty="0"/>
          </a:p>
          <a:p>
            <a:r>
              <a:rPr lang="en-US" sz="2400" b="1" dirty="0" smtClean="0">
                <a:solidFill>
                  <a:srgbClr val="FF0000"/>
                </a:solidFill>
              </a:rPr>
              <a:t>Foreshadowing: </a:t>
            </a:r>
            <a:r>
              <a:rPr lang="en-US" sz="2400" dirty="0" smtClean="0"/>
              <a:t>Santiago’s white clothes /‘He looked like a ghost’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Flashback &amp; </a:t>
            </a:r>
            <a:r>
              <a:rPr lang="en-US" sz="2400" b="1" dirty="0" err="1" smtClean="0">
                <a:solidFill>
                  <a:srgbClr val="FF0000"/>
                </a:solidFill>
              </a:rPr>
              <a:t>Flashforward</a:t>
            </a:r>
            <a:r>
              <a:rPr lang="en-US" sz="2400" b="1" dirty="0" smtClean="0">
                <a:solidFill>
                  <a:srgbClr val="FF0000"/>
                </a:solidFill>
              </a:rPr>
              <a:t>: </a:t>
            </a:r>
            <a:r>
              <a:rPr lang="en-US" sz="2400" dirty="0" err="1" smtClean="0"/>
              <a:t>e.g</a:t>
            </a:r>
            <a:r>
              <a:rPr lang="en-US" sz="2400" dirty="0" smtClean="0"/>
              <a:t> Santiago’s early life / </a:t>
            </a:r>
            <a:r>
              <a:rPr lang="en-US" sz="2400" dirty="0" err="1" smtClean="0"/>
              <a:t>Bayardo’s</a:t>
            </a:r>
            <a:r>
              <a:rPr lang="en-US" sz="2400" dirty="0" smtClean="0"/>
              <a:t> courtship of Angela/ Consequences of the death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Biblical Allusions: </a:t>
            </a:r>
            <a:r>
              <a:rPr lang="en-US" sz="2400" dirty="0" err="1" smtClean="0"/>
              <a:t>Nasar</a:t>
            </a:r>
            <a:r>
              <a:rPr lang="en-US" sz="2400" dirty="0" smtClean="0"/>
              <a:t> as Christ/ Stabbed as Christ/ Roosters’ crowing when the Bishop denies the people and the people betray Santiago/ </a:t>
            </a:r>
            <a:r>
              <a:rPr lang="en-US" sz="2400" dirty="0" err="1" smtClean="0"/>
              <a:t>Nasar</a:t>
            </a:r>
            <a:r>
              <a:rPr lang="en-US" sz="2400" dirty="0" smtClean="0"/>
              <a:t> a reference to Jesus the Nazarene</a:t>
            </a:r>
          </a:p>
        </p:txBody>
      </p:sp>
      <p:pic>
        <p:nvPicPr>
          <p:cNvPr id="5" name="Picture 2" descr="http://quatr.us/medieval/religion/pictures/len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918071"/>
            <a:ext cx="5181600" cy="270594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3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QUIZ 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1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7126036" cy="6500191"/>
          </a:xfrm>
        </p:spPr>
        <p:txBody>
          <a:bodyPr>
            <a:normAutofit/>
          </a:bodyPr>
          <a:lstStyle/>
          <a:p>
            <a:r>
              <a:rPr lang="en-US" dirty="0" smtClean="0"/>
              <a:t>What two significant events are mentioned in the  first sentence of the novel? How do you think they correlate?</a:t>
            </a:r>
          </a:p>
          <a:p>
            <a:r>
              <a:rPr lang="en-US" dirty="0">
                <a:solidFill>
                  <a:srgbClr val="0432FF"/>
                </a:solidFill>
              </a:rPr>
              <a:t>Santiago </a:t>
            </a:r>
            <a:r>
              <a:rPr lang="en-US" dirty="0" err="1">
                <a:solidFill>
                  <a:srgbClr val="0432FF"/>
                </a:solidFill>
              </a:rPr>
              <a:t>Nasar</a:t>
            </a:r>
            <a:r>
              <a:rPr lang="en-US" dirty="0">
                <a:solidFill>
                  <a:srgbClr val="0432FF"/>
                </a:solidFill>
              </a:rPr>
              <a:t> woke up at 5:30 in the morning due to the bishop </a:t>
            </a:r>
            <a:r>
              <a:rPr lang="en-US" dirty="0" smtClean="0">
                <a:solidFill>
                  <a:srgbClr val="0432FF"/>
                </a:solidFill>
              </a:rPr>
              <a:t>coming/ going </a:t>
            </a:r>
            <a:r>
              <a:rPr lang="en-US" dirty="0">
                <a:solidFill>
                  <a:srgbClr val="0432FF"/>
                </a:solidFill>
              </a:rPr>
              <a:t>to die that day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realism / magical</a:t>
            </a:r>
            <a:r>
              <a:rPr lang="en-US" dirty="0" smtClean="0">
                <a:solidFill>
                  <a:srgbClr val="0432FF"/>
                </a:solidFill>
              </a:rPr>
              <a:t>. Meeting member of religious (deals w/ supernatural) hierarchy/ Meeting supernatural realm.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 many years have passed since S </a:t>
            </a:r>
            <a:r>
              <a:rPr lang="en-US" dirty="0" err="1" smtClean="0"/>
              <a:t>Nasar’s</a:t>
            </a:r>
            <a:r>
              <a:rPr lang="en-US" dirty="0" smtClean="0"/>
              <a:t> death? Why do you think the narrator waits so many years to return to the village to investigate the murder?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27</a:t>
            </a:r>
            <a:r>
              <a:rPr lang="mr-IN" dirty="0" smtClean="0">
                <a:solidFill>
                  <a:srgbClr val="0432FF"/>
                </a:solidFill>
              </a:rPr>
              <a:t>…</a:t>
            </a:r>
            <a:r>
              <a:rPr lang="en-US" dirty="0" smtClean="0">
                <a:solidFill>
                  <a:srgbClr val="0432FF"/>
                </a:solidFill>
              </a:rPr>
              <a:t> explains (using TRUE STORY NOTES)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697" y="1798584"/>
            <a:ext cx="4572000" cy="3172968"/>
          </a:xfrm>
        </p:spPr>
      </p:pic>
    </p:spTree>
    <p:extLst>
      <p:ext uri="{BB962C8B-B14F-4D97-AF65-F5344CB8AC3E}">
        <p14:creationId xmlns:p14="http://schemas.microsoft.com/office/powerpoint/2010/main" val="69722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799" y="278296"/>
            <a:ext cx="5907157" cy="6579704"/>
          </a:xfrm>
        </p:spPr>
        <p:txBody>
          <a:bodyPr/>
          <a:lstStyle/>
          <a:p>
            <a:r>
              <a:rPr lang="en-US" dirty="0" smtClean="0"/>
              <a:t>Briefly </a:t>
            </a:r>
            <a:r>
              <a:rPr lang="en-US" dirty="0" err="1" smtClean="0"/>
              <a:t>summarise</a:t>
            </a:r>
            <a:r>
              <a:rPr lang="en-US" dirty="0" smtClean="0"/>
              <a:t> Santiago’s dream the morning of his death. What does his mother believe dreams about birds indicate?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Dreams of being in a grove of timber trees in drizzling rain </a:t>
            </a:r>
            <a:r>
              <a:rPr lang="mr-IN" dirty="0" smtClean="0">
                <a:solidFill>
                  <a:srgbClr val="0432FF"/>
                </a:solidFill>
              </a:rPr>
              <a:t>–</a:t>
            </a:r>
            <a:r>
              <a:rPr lang="en-US" dirty="0" smtClean="0">
                <a:solidFill>
                  <a:srgbClr val="0432FF"/>
                </a:solidFill>
              </a:rPr>
              <a:t> then bird shit.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Birds </a:t>
            </a:r>
            <a:r>
              <a:rPr lang="mr-IN" dirty="0" smtClean="0">
                <a:solidFill>
                  <a:srgbClr val="0432FF"/>
                </a:solidFill>
              </a:rPr>
              <a:t>–</a:t>
            </a:r>
            <a:r>
              <a:rPr lang="en-US" dirty="0" smtClean="0">
                <a:solidFill>
                  <a:srgbClr val="0432FF"/>
                </a:solidFill>
              </a:rPr>
              <a:t> foretell health.</a:t>
            </a:r>
          </a:p>
          <a:p>
            <a:endParaRPr lang="en-US" dirty="0"/>
          </a:p>
          <a:p>
            <a:r>
              <a:rPr lang="en-US" dirty="0" smtClean="0"/>
              <a:t>What is Santiago’s mother’s name? For what is she well known?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Placida </a:t>
            </a:r>
            <a:r>
              <a:rPr lang="en-US" dirty="0" err="1" smtClean="0">
                <a:solidFill>
                  <a:srgbClr val="0432FF"/>
                </a:solidFill>
              </a:rPr>
              <a:t>Linero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Interpreting dreams.</a:t>
            </a:r>
            <a:endParaRPr lang="en-US" dirty="0">
              <a:solidFill>
                <a:srgbClr val="0432FF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8" y="1555715"/>
            <a:ext cx="5684619" cy="1600439"/>
          </a:xfrm>
        </p:spPr>
      </p:pic>
    </p:spTree>
    <p:extLst>
      <p:ext uri="{BB962C8B-B14F-4D97-AF65-F5344CB8AC3E}">
        <p14:creationId xmlns:p14="http://schemas.microsoft.com/office/powerpoint/2010/main" val="16063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5801139" cy="6500191"/>
          </a:xfrm>
        </p:spPr>
        <p:txBody>
          <a:bodyPr/>
          <a:lstStyle/>
          <a:p>
            <a:r>
              <a:rPr lang="en-US" dirty="0" smtClean="0"/>
              <a:t>What is the Divine Face? What does Santiago do there? Symbolism?</a:t>
            </a:r>
          </a:p>
          <a:p>
            <a:r>
              <a:rPr lang="en-US" dirty="0" err="1" smtClean="0">
                <a:solidFill>
                  <a:srgbClr val="0432FF"/>
                </a:solidFill>
              </a:rPr>
              <a:t>Sanitago’s</a:t>
            </a:r>
            <a:r>
              <a:rPr lang="en-US" dirty="0" smtClean="0">
                <a:solidFill>
                  <a:srgbClr val="0432FF"/>
                </a:solidFill>
              </a:rPr>
              <a:t> inherited ranch.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Castrates (gelds) calves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>
                <a:solidFill>
                  <a:srgbClr val="0432FF"/>
                </a:solidFill>
              </a:rPr>
              <a:t>Masculine Sexuality and this </a:t>
            </a:r>
            <a:r>
              <a:rPr lang="en-US">
                <a:solidFill>
                  <a:srgbClr val="0432FF"/>
                </a:solidFill>
              </a:rPr>
              <a:t>story</a:t>
            </a:r>
            <a:r>
              <a:rPr lang="en-US" smtClean="0">
                <a:solidFill>
                  <a:srgbClr val="0432FF"/>
                </a:solidFill>
              </a:rPr>
              <a:t>!</a:t>
            </a:r>
            <a:endParaRPr lang="en-US" dirty="0" smtClean="0">
              <a:solidFill>
                <a:srgbClr val="0432FF"/>
              </a:solidFill>
            </a:endParaRP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Why does Santiago’s mother blame herself for his death?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Misinterpreted dream, shut the door on him.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632307"/>
            <a:ext cx="5334000" cy="2661920"/>
          </a:xfrm>
        </p:spPr>
      </p:pic>
    </p:spTree>
    <p:extLst>
      <p:ext uri="{BB962C8B-B14F-4D97-AF65-F5344CB8AC3E}">
        <p14:creationId xmlns:p14="http://schemas.microsoft.com/office/powerpoint/2010/main" val="35630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799" y="278296"/>
            <a:ext cx="5907157" cy="6579704"/>
          </a:xfrm>
        </p:spPr>
        <p:txBody>
          <a:bodyPr>
            <a:normAutofit/>
          </a:bodyPr>
          <a:lstStyle/>
          <a:p>
            <a:r>
              <a:rPr lang="en-US" dirty="0"/>
              <a:t>Who are Victoria Guzman and </a:t>
            </a:r>
            <a:r>
              <a:rPr lang="en-US" dirty="0" err="1"/>
              <a:t>Divina</a:t>
            </a:r>
            <a:r>
              <a:rPr lang="en-US" dirty="0"/>
              <a:t> </a:t>
            </a:r>
            <a:r>
              <a:rPr lang="en-US" dirty="0" err="1"/>
              <a:t>Flor</a:t>
            </a:r>
            <a:r>
              <a:rPr lang="en-US" dirty="0"/>
              <a:t>? How does Victoria feel about Santiago? What do you think his reaction to </a:t>
            </a:r>
            <a:r>
              <a:rPr lang="en-US" dirty="0" err="1"/>
              <a:t>Divina</a:t>
            </a:r>
            <a:r>
              <a:rPr lang="en-US" dirty="0"/>
              <a:t> indicates</a:t>
            </a:r>
            <a:r>
              <a:rPr lang="en-US" dirty="0" smtClean="0"/>
              <a:t>?</a:t>
            </a:r>
          </a:p>
          <a:p>
            <a:pPr fontAlgn="t"/>
            <a:r>
              <a:rPr lang="en-US" dirty="0" smtClean="0">
                <a:solidFill>
                  <a:srgbClr val="0432FF"/>
                </a:solidFill>
              </a:rPr>
              <a:t>They </a:t>
            </a:r>
            <a:r>
              <a:rPr lang="en-US" dirty="0">
                <a:solidFill>
                  <a:srgbClr val="0432FF"/>
                </a:solidFill>
              </a:rPr>
              <a:t>are the maids of the </a:t>
            </a:r>
            <a:r>
              <a:rPr lang="en-US" dirty="0" err="1">
                <a:solidFill>
                  <a:srgbClr val="0432FF"/>
                </a:solidFill>
              </a:rPr>
              <a:t>Nasar</a:t>
            </a:r>
            <a:r>
              <a:rPr lang="en-US" dirty="0">
                <a:solidFill>
                  <a:srgbClr val="0432FF"/>
                </a:solidFill>
              </a:rPr>
              <a:t> home; mother and daughter. Victoria hates him, and his actions toward </a:t>
            </a: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indicate that she will be what Victoria was to his father.</a:t>
            </a:r>
          </a:p>
          <a:p>
            <a:endParaRPr lang="en-US" dirty="0"/>
          </a:p>
          <a:p>
            <a:r>
              <a:rPr lang="en-US" dirty="0"/>
              <a:t>What is the Fatal Door? Why is this door important to the plot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It is the door he leaves the day of his death, but he usually never leaves through the door.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1" y="1625048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118086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6543475" cy="65001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do Victoria and </a:t>
            </a:r>
            <a:r>
              <a:rPr lang="en-US" dirty="0" err="1"/>
              <a:t>Divina</a:t>
            </a:r>
            <a:r>
              <a:rPr lang="en-US" dirty="0"/>
              <a:t> learn about the murder plot? Why don't they warn Santiago? What does </a:t>
            </a:r>
            <a:r>
              <a:rPr lang="en-US" dirty="0" err="1"/>
              <a:t>Divina</a:t>
            </a:r>
            <a:r>
              <a:rPr lang="en-US" dirty="0"/>
              <a:t> do in a futile attempt to help him? What do you think this indicates about her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A beggar told them of the murder.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>
                <a:solidFill>
                  <a:srgbClr val="0432FF"/>
                </a:solidFill>
              </a:rPr>
              <a:t>Victoria hates Santiago, </a:t>
            </a: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is too scared.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leaves the doors unbarred.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>
                <a:solidFill>
                  <a:srgbClr val="0432FF"/>
                </a:solidFill>
              </a:rPr>
              <a:t>She still cares for his life, despite his actions.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What does an unidentified person do in attempt to warn Santiago? Why does this fail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They slipped a note under the door, but no one saw it.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67" y="335589"/>
            <a:ext cx="2833313" cy="4351505"/>
          </a:xfrm>
        </p:spPr>
      </p:pic>
    </p:spTree>
    <p:extLst>
      <p:ext uri="{BB962C8B-B14F-4D97-AF65-F5344CB8AC3E}">
        <p14:creationId xmlns:p14="http://schemas.microsoft.com/office/powerpoint/2010/main" val="197140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Be prepared: Bring Chronicle</a:t>
            </a:r>
          </a:p>
          <a:p>
            <a:pPr marL="0" indent="0">
              <a:buNone/>
            </a:pPr>
            <a:endParaRPr lang="en-US" b="1" dirty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Read Context Documents on </a:t>
            </a:r>
            <a:r>
              <a:rPr lang="en-US" b="1" dirty="0" err="1" smtClean="0">
                <a:latin typeface="Calibri" charset="0"/>
                <a:ea typeface="MS Mincho" charset="-128"/>
                <a:cs typeface="MS Mincho" charset="-128"/>
              </a:rPr>
              <a:t>Managebac</a:t>
            </a:r>
            <a:r>
              <a:rPr lang="en-US" b="1" smtClean="0">
                <a:latin typeface="Calibri" charset="0"/>
                <a:ea typeface="MS Mincho" charset="-128"/>
                <a:cs typeface="MS Mincho" charset="-128"/>
              </a:rPr>
              <a:t>, Firefly.</a:t>
            </a:r>
            <a:endParaRPr lang="en-US" b="1" dirty="0" smtClean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Continue to clean up Written Task.</a:t>
            </a: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477" y="4638047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708</Words>
  <Application>Microsoft Macintosh PowerPoint</Application>
  <PresentationFormat>Widescreen</PresentationFormat>
  <Paragraphs>140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 Rounded MT Bold</vt:lpstr>
      <vt:lpstr>Calibri</vt:lpstr>
      <vt:lpstr>Calibri Light</vt:lpstr>
      <vt:lpstr>Mangal</vt:lpstr>
      <vt:lpstr>MS Mincho</vt:lpstr>
      <vt:lpstr>ＭＳ 明朝</vt:lpstr>
      <vt:lpstr>Osaka</vt:lpstr>
      <vt:lpstr>Times New Roman</vt:lpstr>
      <vt:lpstr>Arial</vt:lpstr>
      <vt:lpstr>Office Theme</vt:lpstr>
      <vt:lpstr>1_Office Theme</vt:lpstr>
      <vt:lpstr>2_Office Theme</vt:lpstr>
      <vt:lpstr>3_Blank Presentation</vt:lpstr>
      <vt:lpstr>8_Office Theme</vt:lpstr>
      <vt:lpstr>IB English Language and Literature 6 ELL SL 4 2019 - 2020</vt:lpstr>
      <vt:lpstr>SCHOOL ASSESSMENT TERM 3</vt:lpstr>
      <vt:lpstr>General Outline Term 3</vt:lpstr>
      <vt:lpstr>We are still a digital classroom!</vt:lpstr>
      <vt:lpstr>PowerPoint Presentation</vt:lpstr>
      <vt:lpstr>I KNOW SOME OF YOU IN THE CLASS ARE THINKING THIS…</vt:lpstr>
      <vt:lpstr>Homework</vt:lpstr>
      <vt:lpstr>COADF</vt:lpstr>
      <vt:lpstr>Chronicle of a Death Foretold   Geographical, Biographical, Political and Literary Backdrop </vt:lpstr>
      <vt:lpstr>Colombia’s Geographical Split </vt:lpstr>
      <vt:lpstr>Colombia’s Political Split  </vt:lpstr>
      <vt:lpstr>DEVICES</vt:lpstr>
      <vt:lpstr>Devices</vt:lpstr>
      <vt:lpstr>Devices</vt:lpstr>
      <vt:lpstr>Devices</vt:lpstr>
      <vt:lpstr>QUIZ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Elisa Simone Zantos - Teacher of English</dc:creator>
  <cp:lastModifiedBy>Elisa Simone Zantos - Teacher of English</cp:lastModifiedBy>
  <cp:revision>7</cp:revision>
  <dcterms:created xsi:type="dcterms:W3CDTF">2020-08-04T03:15:33Z</dcterms:created>
  <dcterms:modified xsi:type="dcterms:W3CDTF">2020-08-05T21:19:33Z</dcterms:modified>
</cp:coreProperties>
</file>