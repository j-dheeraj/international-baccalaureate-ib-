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8" r:id="rId2"/>
    <p:sldMasterId id="2147483691" r:id="rId3"/>
    <p:sldMasterId id="2147483703" r:id="rId4"/>
  </p:sldMasterIdLst>
  <p:sldIdLst>
    <p:sldId id="263" r:id="rId5"/>
    <p:sldId id="265" r:id="rId6"/>
    <p:sldId id="266" r:id="rId7"/>
    <p:sldId id="267" r:id="rId8"/>
    <p:sldId id="268" r:id="rId9"/>
    <p:sldId id="275" r:id="rId10"/>
    <p:sldId id="276" r:id="rId11"/>
    <p:sldId id="258" r:id="rId12"/>
    <p:sldId id="261" r:id="rId13"/>
    <p:sldId id="271" r:id="rId14"/>
    <p:sldId id="289" r:id="rId15"/>
    <p:sldId id="283" r:id="rId16"/>
    <p:sldId id="272" r:id="rId17"/>
    <p:sldId id="282" r:id="rId18"/>
    <p:sldId id="284" r:id="rId19"/>
    <p:sldId id="281" r:id="rId20"/>
    <p:sldId id="274" r:id="rId21"/>
    <p:sldId id="286" r:id="rId22"/>
    <p:sldId id="280" r:id="rId23"/>
    <p:sldId id="285" r:id="rId24"/>
    <p:sldId id="290" r:id="rId25"/>
    <p:sldId id="287" r:id="rId26"/>
    <p:sldId id="288" r:id="rId27"/>
    <p:sldId id="26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FFEE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3130"/>
  </p:normalViewPr>
  <p:slideViewPr>
    <p:cSldViewPr snapToGrid="0" snapToObjects="1">
      <p:cViewPr varScale="1">
        <p:scale>
          <a:sx n="115" d="100"/>
          <a:sy n="115" d="100"/>
        </p:scale>
        <p:origin x="472"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a:xfrm>
            <a:off x="914400" y="2286000"/>
            <a:ext cx="10363200" cy="1143000"/>
          </a:xfrm>
        </p:spPr>
        <p:txBody>
          <a:bodyPr/>
          <a:lstStyle>
            <a:lvl1pPr>
              <a:defRPr/>
            </a:lvl1pPr>
          </a:lstStyle>
          <a:p>
            <a:pPr lvl="0"/>
            <a:r>
              <a:rPr lang="en-US" noProof="0"/>
              <a:t>Click to edit Master title style</a:t>
            </a:r>
          </a:p>
        </p:txBody>
      </p:sp>
      <p:sp>
        <p:nvSpPr>
          <p:cNvPr id="23555"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F92D4FE-4210-C74C-BB56-00E0623B44CB}"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05371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874A374-29B7-2549-9F69-BB0EA7682451}"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204813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5681098-DFD4-DE48-A017-B4A20B753CB8}"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798206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F5CC64D-77FE-A64A-803F-E19F98D60B4D}"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073738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6122964-CA5C-9448-AAC1-CD7A2210F122}"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823995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1546882B-71B3-124A-B7CE-A7024F712FA5}"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09912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CDC2F09-5DEC-D847-AEA5-DC353A80BCE1}"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876440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6437544-67A0-A649-A890-5C1271C708D0}"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85944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282515B-9CAA-174D-B835-410668FA6FBA}"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891725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E0A8727-4907-7248-B94F-968B449091CC}"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992369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AC7158AE-C725-B448-BD3E-FE9B628D4C99}"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932137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CF8D0A0-9D96-CC4C-A29E-671D17252712}"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29836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867D727-A4D9-6C4E-8315-99599BC1BF0B}"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133714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Content Placeholder 4"/>
          <p:cNvSpPr>
            <a:spLocks noGrp="1"/>
          </p:cNvSpPr>
          <p:nvPr>
            <p:ph sz="quarter" idx="3"/>
          </p:nvPr>
        </p:nvSpPr>
        <p:spPr>
          <a:xfrm>
            <a:off x="9144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Content Placeholder 5"/>
          <p:cNvSpPr>
            <a:spLocks noGrp="1"/>
          </p:cNvSpPr>
          <p:nvPr>
            <p:ph sz="quarter" idx="4"/>
          </p:nvPr>
        </p:nvSpPr>
        <p:spPr>
          <a:xfrm>
            <a:off x="61976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EF104C5-BA1F-514A-9E09-A1247DEB83C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9267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9144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half" idx="3"/>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E5A0A8F0-FA8C-E04B-9E29-F1796B19162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9438680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564217" y="457200"/>
            <a:ext cx="10363200" cy="1143000"/>
          </a:xfrm>
        </p:spPr>
        <p:txBody>
          <a:bodyPr/>
          <a:lstStyle/>
          <a:p>
            <a:r>
              <a:rPr lang="en-AU"/>
              <a:t>Click to edit Master title style</a:t>
            </a:r>
            <a:endParaRPr lang="en-US"/>
          </a:p>
        </p:txBody>
      </p:sp>
      <p:sp>
        <p:nvSpPr>
          <p:cNvPr id="3" name="Content Placeholder 2"/>
          <p:cNvSpPr>
            <a:spLocks noGrp="1"/>
          </p:cNvSpPr>
          <p:nvPr>
            <p:ph sz="half" idx="1"/>
          </p:nvPr>
        </p:nvSpPr>
        <p:spPr>
          <a:xfrm>
            <a:off x="1564217" y="1981200"/>
            <a:ext cx="103632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1564217" y="4114800"/>
            <a:ext cx="103632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27"/>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28"/>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29"/>
          <p:cNvSpPr>
            <a:spLocks noGrp="1" noChangeArrowheads="1"/>
          </p:cNvSpPr>
          <p:nvPr>
            <p:ph type="sldNum" sz="quarter" idx="12"/>
          </p:nvPr>
        </p:nvSpPr>
        <p:spPr>
          <a:ln/>
        </p:spPr>
        <p:txBody>
          <a:bodyPr/>
          <a:lstStyle>
            <a:lvl1pPr>
              <a:defRPr/>
            </a:lvl1pPr>
          </a:lstStyle>
          <a:p>
            <a:fld id="{95F48CE7-194B-D348-A59B-1F1D66A05540}"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8851140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half" idx="3"/>
          </p:nvPr>
        </p:nvSpPr>
        <p:spPr>
          <a:xfrm>
            <a:off x="914400" y="4114800"/>
            <a:ext cx="103632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C2C51C2D-0550-6747-9CF3-EED8C7DF884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230859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334D819-9F07-4261-B09B-9E467E5D9002}" type="datetimeFigureOut">
              <a:rPr lang="en-US" smtClean="0">
                <a:solidFill>
                  <a:prstClr val="black">
                    <a:tint val="75000"/>
                  </a:prstClr>
                </a:solidFill>
              </a:rPr>
              <a:pPr/>
              <a:t>7/10/20</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938877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34D819-9F07-4261-B09B-9E467E5D9002}" type="datetimeFigureOut">
              <a:rPr lang="en-US" smtClean="0">
                <a:solidFill>
                  <a:prstClr val="black">
                    <a:tint val="75000"/>
                  </a:prstClr>
                </a:solidFill>
              </a:rPr>
              <a:pPr/>
              <a:t>7/10/20</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288026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34D819-9F07-4261-B09B-9E467E5D9002}" type="datetimeFigureOut">
              <a:rPr lang="en-US" smtClean="0">
                <a:solidFill>
                  <a:prstClr val="black">
                    <a:tint val="75000"/>
                  </a:prstClr>
                </a:solidFill>
              </a:rPr>
              <a:pPr/>
              <a:t>7/10/20</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8030846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34D819-9F07-4261-B09B-9E467E5D9002}" type="datetimeFigureOut">
              <a:rPr lang="en-US" smtClean="0">
                <a:solidFill>
                  <a:prstClr val="black">
                    <a:tint val="75000"/>
                  </a:prstClr>
                </a:solidFill>
              </a:rPr>
              <a:pPr/>
              <a:t>7/10/20</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58512845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34D819-9F07-4261-B09B-9E467E5D9002}" type="datetimeFigureOut">
              <a:rPr lang="en-US" smtClean="0">
                <a:solidFill>
                  <a:prstClr val="black">
                    <a:tint val="75000"/>
                  </a:prstClr>
                </a:solidFill>
              </a:rPr>
              <a:pPr/>
              <a:t>7/10/20</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88863669"/>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34D819-9F07-4261-B09B-9E467E5D9002}" type="datetimeFigureOut">
              <a:rPr lang="en-US" smtClean="0">
                <a:solidFill>
                  <a:prstClr val="black">
                    <a:tint val="75000"/>
                  </a:prstClr>
                </a:solidFill>
              </a:rPr>
              <a:pPr/>
              <a:t>7/10/20</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581204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solidFill>
                  <a:prstClr val="black">
                    <a:tint val="75000"/>
                  </a:prstClr>
                </a:solidFill>
              </a:rPr>
              <a:pPr/>
              <a:t>7/10/20</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392472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34D819-9F07-4261-B09B-9E467E5D9002}" type="datetimeFigureOut">
              <a:rPr lang="en-US" smtClean="0">
                <a:solidFill>
                  <a:prstClr val="black">
                    <a:tint val="75000"/>
                  </a:prstClr>
                </a:solidFill>
              </a:rPr>
              <a:pPr/>
              <a:t>7/10/20</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904725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34D819-9F07-4261-B09B-9E467E5D9002}" type="datetimeFigureOut">
              <a:rPr lang="en-US" smtClean="0">
                <a:solidFill>
                  <a:prstClr val="black">
                    <a:tint val="75000"/>
                  </a:prstClr>
                </a:solidFill>
              </a:rPr>
              <a:pPr/>
              <a:t>7/10/20</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6515213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34D819-9F07-4261-B09B-9E467E5D9002}" type="datetimeFigureOut">
              <a:rPr lang="en-US" smtClean="0">
                <a:solidFill>
                  <a:prstClr val="black">
                    <a:tint val="75000"/>
                  </a:prstClr>
                </a:solidFill>
              </a:rPr>
              <a:pPr/>
              <a:t>7/10/20</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6015455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34D819-9F07-4261-B09B-9E467E5D9002}" type="datetimeFigureOut">
              <a:rPr lang="en-US" smtClean="0">
                <a:solidFill>
                  <a:prstClr val="black">
                    <a:tint val="75000"/>
                  </a:prstClr>
                </a:solidFill>
              </a:rPr>
              <a:pPr/>
              <a:t>7/10/20</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6002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0"/>
        <p:cNvGrpSpPr/>
        <p:nvPr/>
      </p:nvGrpSpPr>
      <p:grpSpPr>
        <a:xfrm>
          <a:off x="0" y="0"/>
          <a:ext cx="0" cy="0"/>
          <a:chOff x="0" y="0"/>
          <a:chExt cx="0" cy="0"/>
        </a:xfrm>
      </p:grpSpPr>
      <p:sp>
        <p:nvSpPr>
          <p:cNvPr id="11" name="Shape 11"/>
          <p:cNvSpPr txBox="1">
            <a:spLocks noGrp="1"/>
          </p:cNvSpPr>
          <p:nvPr>
            <p:ph type="title"/>
          </p:nvPr>
        </p:nvSpPr>
        <p:spPr>
          <a:xfrm>
            <a:off x="609600" y="274637"/>
            <a:ext cx="10972800" cy="1143000"/>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2" name="Shape 12"/>
          <p:cNvSpPr txBox="1">
            <a:spLocks noGrp="1"/>
          </p:cNvSpPr>
          <p:nvPr>
            <p:ph type="body" idx="1"/>
          </p:nvPr>
        </p:nvSpPr>
        <p:spPr>
          <a:xfrm>
            <a:off x="609600" y="1600200"/>
            <a:ext cx="10972800" cy="4967573"/>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Tree>
    <p:extLst>
      <p:ext uri="{BB962C8B-B14F-4D97-AF65-F5344CB8AC3E}">
        <p14:creationId xmlns:p14="http://schemas.microsoft.com/office/powerpoint/2010/main" val="20524934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7/10/20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479770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7/10/20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62469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7/10/20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496931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7/10/20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993290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2CDF082-0CFF-3948-879B-35CD2B582D06}" type="datetimeFigureOut">
              <a:rPr lang="en-US" smtClean="0">
                <a:solidFill>
                  <a:prstClr val="black">
                    <a:tint val="75000"/>
                  </a:prstClr>
                </a:solidFill>
              </a:rPr>
              <a:pPr/>
              <a:t>7/10/20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41526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2CDF082-0CFF-3948-879B-35CD2B582D06}" type="datetimeFigureOut">
              <a:rPr lang="en-US" smtClean="0">
                <a:solidFill>
                  <a:prstClr val="black">
                    <a:tint val="75000"/>
                  </a:prstClr>
                </a:solidFill>
              </a:rPr>
              <a:pPr/>
              <a:t>7/10/20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435043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CDF082-0CFF-3948-879B-35CD2B582D06}" type="datetimeFigureOut">
              <a:rPr lang="en-US" smtClean="0">
                <a:solidFill>
                  <a:prstClr val="black">
                    <a:tint val="75000"/>
                  </a:prstClr>
                </a:solidFill>
              </a:rPr>
              <a:pPr/>
              <a:t>7/10/20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079070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7/10/20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342305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7/10/20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724728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7/10/20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339803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7/10/20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229668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AU"/>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7/10/20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5716085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7/10/20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9183597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AU"/>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AU"/>
              <a:t>Click to edit Master text styles</a:t>
            </a:r>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7/10/20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241073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7/10/20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165801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AU"/>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Date Placeholder 6"/>
          <p:cNvSpPr>
            <a:spLocks noGrp="1"/>
          </p:cNvSpPr>
          <p:nvPr>
            <p:ph type="dt" sz="half" idx="10"/>
          </p:nvPr>
        </p:nvSpPr>
        <p:spPr/>
        <p:txBody>
          <a:bodyPr/>
          <a:lstStyle/>
          <a:p>
            <a:fld id="{2C1BB76E-88A9-1142-82B9-33E4469E9A60}" type="datetimeFigureOut">
              <a:rPr lang="en-US" smtClean="0">
                <a:solidFill>
                  <a:prstClr val="black">
                    <a:tint val="75000"/>
                  </a:prstClr>
                </a:solidFill>
              </a:rPr>
              <a:pPr/>
              <a:t>7/10/20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24514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Date Placeholder 2"/>
          <p:cNvSpPr>
            <a:spLocks noGrp="1"/>
          </p:cNvSpPr>
          <p:nvPr>
            <p:ph type="dt" sz="half" idx="10"/>
          </p:nvPr>
        </p:nvSpPr>
        <p:spPr/>
        <p:txBody>
          <a:bodyPr/>
          <a:lstStyle/>
          <a:p>
            <a:fld id="{2C1BB76E-88A9-1142-82B9-33E4469E9A60}" type="datetimeFigureOut">
              <a:rPr lang="en-US" smtClean="0">
                <a:solidFill>
                  <a:prstClr val="black">
                    <a:tint val="75000"/>
                  </a:prstClr>
                </a:solidFill>
              </a:rPr>
              <a:pPr/>
              <a:t>7/10/20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23141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1BB76E-88A9-1142-82B9-33E4469E9A60}" type="datetimeFigureOut">
              <a:rPr lang="en-US" smtClean="0">
                <a:solidFill>
                  <a:prstClr val="black">
                    <a:tint val="75000"/>
                  </a:prstClr>
                </a:solidFill>
              </a:rPr>
              <a:pPr/>
              <a:t>7/10/20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26497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a:t>Click to edit Master text styles</a:t>
            </a:r>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7/10/20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357880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a:t>Click to edit Master text styles</a:t>
            </a:r>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7/10/20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09655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7/10/20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288009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7/10/20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604852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28F20800-63EC-0A4C-B45E-A601CC4C780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55249108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US"/>
              <a:t>Click to edit Master title style</a:t>
            </a:r>
          </a:p>
        </p:txBody>
      </p:sp>
      <p:sp>
        <p:nvSpPr>
          <p:cNvPr id="3" name="Content Placeholder 2"/>
          <p:cNvSpPr>
            <a:spLocks noGrp="1"/>
          </p:cNvSpPr>
          <p:nvPr>
            <p:ph sz="quarter" idx="1"/>
          </p:nvPr>
        </p:nvSpPr>
        <p:spPr>
          <a:xfrm>
            <a:off x="9144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9144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9" name="Rectangle 6"/>
          <p:cNvSpPr>
            <a:spLocks noGrp="1" noChangeArrowheads="1"/>
          </p:cNvSpPr>
          <p:nvPr>
            <p:ph type="sldNum" sz="quarter" idx="12"/>
          </p:nvPr>
        </p:nvSpPr>
        <p:spPr>
          <a:ln/>
        </p:spPr>
        <p:txBody>
          <a:bodyPr/>
          <a:lstStyle>
            <a:lvl1pPr>
              <a:defRPr/>
            </a:lvl1pPr>
          </a:lstStyle>
          <a:p>
            <a:fld id="{EA94B623-AAB8-A64A-8E12-87F7105FD205}"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11871152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564217" y="457200"/>
            <a:ext cx="10363200" cy="5638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3" name="Rectangle 27"/>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4" name="Rectangle 28"/>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5" name="Rectangle 29"/>
          <p:cNvSpPr>
            <a:spLocks noGrp="1" noChangeArrowheads="1"/>
          </p:cNvSpPr>
          <p:nvPr>
            <p:ph type="sldNum" sz="quarter" idx="12"/>
          </p:nvPr>
        </p:nvSpPr>
        <p:spPr>
          <a:ln/>
        </p:spPr>
        <p:txBody>
          <a:bodyPr/>
          <a:lstStyle>
            <a:lvl1pPr>
              <a:defRPr/>
            </a:lvl1pPr>
          </a:lstStyle>
          <a:p>
            <a:fld id="{571B89AF-C541-5E47-B368-AC21608EB53C}"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20166587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Content Placeholder 4"/>
          <p:cNvSpPr>
            <a:spLocks noGrp="1"/>
          </p:cNvSpPr>
          <p:nvPr>
            <p:ph sz="quarter" idx="3"/>
          </p:nvPr>
        </p:nvSpPr>
        <p:spPr>
          <a:xfrm>
            <a:off x="61976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6"/>
          <p:cNvSpPr>
            <a:spLocks noGrp="1" noChangeArrowheads="1"/>
          </p:cNvSpPr>
          <p:nvPr>
            <p:ph type="sldNum" sz="quarter" idx="12"/>
          </p:nvPr>
        </p:nvSpPr>
        <p:spPr>
          <a:ln/>
        </p:spPr>
        <p:txBody>
          <a:bodyPr/>
          <a:lstStyle>
            <a:lvl1pPr>
              <a:defRPr/>
            </a:lvl1pPr>
          </a:lstStyle>
          <a:p>
            <a:fld id="{85853E0F-ABBD-D944-B58B-0B89088B81FA}"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185336895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794B76D-F7D2-8F43-AAF5-FE2426304F9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748451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theme" Target="../theme/theme4.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2532"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defRPr sz="1400">
                <a:latin typeface="Arial" charset="0"/>
                <a:ea typeface="+mn-ea"/>
                <a:cs typeface="+mn-cs"/>
              </a:defRPr>
            </a:lvl1pPr>
          </a:lstStyle>
          <a:p>
            <a:pPr eaLnBrk="0" fontAlgn="base" hangingPunct="0">
              <a:spcBef>
                <a:spcPct val="0"/>
              </a:spcBef>
              <a:spcAft>
                <a:spcPct val="0"/>
              </a:spcAft>
              <a:defRPr/>
            </a:pPr>
            <a:endParaRPr lang="en-US">
              <a:solidFill>
                <a:srgbClr val="000000"/>
              </a:solidFill>
            </a:endParaRPr>
          </a:p>
        </p:txBody>
      </p:sp>
      <p:sp>
        <p:nvSpPr>
          <p:cNvPr id="22533"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ctr">
              <a:defRPr sz="1400">
                <a:latin typeface="Arial" charset="0"/>
                <a:ea typeface="+mn-ea"/>
                <a:cs typeface="+mn-cs"/>
              </a:defRPr>
            </a:lvl1pPr>
          </a:lstStyle>
          <a:p>
            <a:pPr eaLnBrk="0" fontAlgn="base" hangingPunct="0">
              <a:spcBef>
                <a:spcPct val="0"/>
              </a:spcBef>
              <a:spcAft>
                <a:spcPct val="0"/>
              </a:spcAft>
              <a:defRPr/>
            </a:pPr>
            <a:endParaRPr lang="en-US">
              <a:solidFill>
                <a:srgbClr val="000000"/>
              </a:solidFill>
            </a:endParaRPr>
          </a:p>
        </p:txBody>
      </p:sp>
      <p:sp>
        <p:nvSpPr>
          <p:cNvPr id="22534"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r">
              <a:defRPr sz="1400">
                <a:latin typeface="Arial" charset="0"/>
                <a:ea typeface="Osaka" charset="-128"/>
              </a:defRPr>
            </a:lvl1pPr>
          </a:lstStyle>
          <a:p>
            <a:pPr eaLnBrk="0" fontAlgn="base" hangingPunct="0">
              <a:spcBef>
                <a:spcPct val="0"/>
              </a:spcBef>
              <a:spcAft>
                <a:spcPct val="0"/>
              </a:spcAft>
              <a:defRPr/>
            </a:pPr>
            <a:fld id="{185BBF79-2763-BF4A-BFD3-32471AE9AEA8}" type="slidenum">
              <a:rPr lang="en-US" altLang="en-US">
                <a:solidFill>
                  <a:srgbClr val="000000"/>
                </a:solidFill>
              </a:rPr>
              <a:pPr eaLnBrk="0" fontAlgn="base" hangingPunct="0">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4124913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Osaka" charset="0"/>
          <a:cs typeface="Osaka" charset="0"/>
        </a:defRPr>
      </a:lvl2pPr>
      <a:lvl3pPr algn="ctr" rtl="0" eaLnBrk="0" fontAlgn="base" hangingPunct="0">
        <a:spcBef>
          <a:spcPct val="0"/>
        </a:spcBef>
        <a:spcAft>
          <a:spcPct val="0"/>
        </a:spcAft>
        <a:defRPr sz="4400">
          <a:solidFill>
            <a:schemeClr val="tx2"/>
          </a:solidFill>
          <a:latin typeface="Arial" charset="0"/>
          <a:ea typeface="Osaka" charset="0"/>
          <a:cs typeface="Osaka" charset="0"/>
        </a:defRPr>
      </a:lvl3pPr>
      <a:lvl4pPr algn="ctr" rtl="0" eaLnBrk="0" fontAlgn="base" hangingPunct="0">
        <a:spcBef>
          <a:spcPct val="0"/>
        </a:spcBef>
        <a:spcAft>
          <a:spcPct val="0"/>
        </a:spcAft>
        <a:defRPr sz="4400">
          <a:solidFill>
            <a:schemeClr val="tx2"/>
          </a:solidFill>
          <a:latin typeface="Arial" charset="0"/>
          <a:ea typeface="Osaka" charset="0"/>
          <a:cs typeface="Osaka" charset="0"/>
        </a:defRPr>
      </a:lvl4pPr>
      <a:lvl5pPr algn="ctr" rtl="0" eaLnBrk="0" fontAlgn="base" hangingPunct="0">
        <a:spcBef>
          <a:spcPct val="0"/>
        </a:spcBef>
        <a:spcAft>
          <a:spcPct val="0"/>
        </a:spcAft>
        <a:defRPr sz="4400">
          <a:solidFill>
            <a:schemeClr val="tx2"/>
          </a:solidFill>
          <a:latin typeface="Arial" charset="0"/>
          <a:ea typeface="Osaka" charset="0"/>
          <a:cs typeface="Osaka" charset="0"/>
        </a:defRPr>
      </a:lvl5pPr>
      <a:lvl6pPr marL="457200" algn="ctr" rtl="0" fontAlgn="base">
        <a:spcBef>
          <a:spcPct val="0"/>
        </a:spcBef>
        <a:spcAft>
          <a:spcPct val="0"/>
        </a:spcAft>
        <a:defRPr sz="4400">
          <a:solidFill>
            <a:schemeClr val="tx2"/>
          </a:solidFill>
          <a:latin typeface="Arial" charset="0"/>
          <a:ea typeface="Osaka" charset="0"/>
          <a:cs typeface="Osaka" charset="0"/>
        </a:defRPr>
      </a:lvl6pPr>
      <a:lvl7pPr marL="914400" algn="ctr" rtl="0" fontAlgn="base">
        <a:spcBef>
          <a:spcPct val="0"/>
        </a:spcBef>
        <a:spcAft>
          <a:spcPct val="0"/>
        </a:spcAft>
        <a:defRPr sz="4400">
          <a:solidFill>
            <a:schemeClr val="tx2"/>
          </a:solidFill>
          <a:latin typeface="Arial" charset="0"/>
          <a:ea typeface="Osaka" charset="0"/>
          <a:cs typeface="Osaka" charset="0"/>
        </a:defRPr>
      </a:lvl7pPr>
      <a:lvl8pPr marL="1371600" algn="ctr" rtl="0" fontAlgn="base">
        <a:spcBef>
          <a:spcPct val="0"/>
        </a:spcBef>
        <a:spcAft>
          <a:spcPct val="0"/>
        </a:spcAft>
        <a:defRPr sz="4400">
          <a:solidFill>
            <a:schemeClr val="tx2"/>
          </a:solidFill>
          <a:latin typeface="Arial" charset="0"/>
          <a:ea typeface="Osaka" charset="0"/>
          <a:cs typeface="Osaka" charset="0"/>
        </a:defRPr>
      </a:lvl8pPr>
      <a:lvl9pPr marL="1828800" algn="ctr" rtl="0" fontAlgn="base">
        <a:spcBef>
          <a:spcPct val="0"/>
        </a:spcBef>
        <a:spcAft>
          <a:spcPct val="0"/>
        </a:spcAft>
        <a:defRPr sz="4400">
          <a:solidFill>
            <a:schemeClr val="tx2"/>
          </a:solidFill>
          <a:latin typeface="Arial" charset="0"/>
          <a:ea typeface="Osaka" charset="0"/>
          <a:cs typeface="Osaka"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9334D819-9F07-4261-B09B-9E467E5D9002}" type="datetimeFigureOut">
              <a:rPr lang="en-US" smtClean="0">
                <a:solidFill>
                  <a:prstClr val="black">
                    <a:tint val="75000"/>
                  </a:prstClr>
                </a:solidFill>
              </a:rPr>
              <a:pPr defTabSz="457200"/>
              <a:t>7/10/20</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71766878-3199-4EAB-94E7-2D6D11070E14}" type="slidenum">
              <a:rPr lang="en-US" smtClean="0">
                <a:solidFill>
                  <a:prstClr val="black">
                    <a:tint val="75000"/>
                  </a:prstClr>
                </a:solidFill>
              </a:rPr>
              <a:pPr defTabSz="457200"/>
              <a:t>‹#›</a:t>
            </a:fld>
            <a:endParaRPr lang="en-US" dirty="0">
              <a:solidFill>
                <a:prstClr val="black">
                  <a:tint val="75000"/>
                </a:prstClr>
              </a:solidFill>
            </a:endParaRPr>
          </a:p>
        </p:txBody>
      </p:sp>
    </p:spTree>
    <p:extLst>
      <p:ext uri="{BB962C8B-B14F-4D97-AF65-F5344CB8AC3E}">
        <p14:creationId xmlns:p14="http://schemas.microsoft.com/office/powerpoint/2010/main" val="160194518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CDF082-0CFF-3948-879B-35CD2B582D06}" type="datetimeFigureOut">
              <a:rPr lang="en-US" smtClean="0">
                <a:solidFill>
                  <a:prstClr val="black">
                    <a:tint val="75000"/>
                  </a:prstClr>
                </a:solidFill>
              </a:rPr>
              <a:pPr/>
              <a:t>7/10/20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2679772"/>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AU"/>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1BB76E-88A9-1142-82B9-33E4469E9A60}" type="datetimeFigureOut">
              <a:rPr lang="en-US" smtClean="0">
                <a:solidFill>
                  <a:prstClr val="black">
                    <a:tint val="75000"/>
                  </a:prstClr>
                </a:solidFill>
              </a:rPr>
              <a:pPr/>
              <a:t>7/10/20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0266959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2" Type="http://schemas.openxmlformats.org/officeDocument/2006/relationships/hyperlink" Target="http://www.thinkib.net/englishalanglit/paper-2/p2-sample-work.htm" TargetMode="External"/><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2B2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447" y="340659"/>
            <a:ext cx="11510681" cy="3169304"/>
          </a:xfrm>
        </p:spPr>
        <p:txBody>
          <a:bodyPr>
            <a:normAutofit/>
          </a:bodyPr>
          <a:lstStyle/>
          <a:p>
            <a:r>
              <a:rPr lang="en-US" b="1" dirty="0">
                <a:solidFill>
                  <a:schemeClr val="bg1"/>
                </a:solidFill>
                <a:latin typeface="+mn-lt"/>
              </a:rPr>
              <a:t>IB English Language and Literature</a:t>
            </a:r>
            <a:br>
              <a:rPr lang="en-US" b="1" dirty="0">
                <a:solidFill>
                  <a:schemeClr val="bg1"/>
                </a:solidFill>
                <a:latin typeface="+mn-lt"/>
              </a:rPr>
            </a:br>
            <a:r>
              <a:rPr lang="en-US" b="1" dirty="0">
                <a:solidFill>
                  <a:schemeClr val="bg1"/>
                </a:solidFill>
                <a:latin typeface="+mn-lt"/>
              </a:rPr>
              <a:t>6 ELL SL 4</a:t>
            </a:r>
            <a:br>
              <a:rPr lang="en-US" b="1" dirty="0">
                <a:solidFill>
                  <a:schemeClr val="bg1"/>
                </a:solidFill>
                <a:latin typeface="+mn-lt"/>
              </a:rPr>
            </a:br>
            <a:r>
              <a:rPr lang="en-US" b="1" dirty="0">
                <a:solidFill>
                  <a:schemeClr val="bg1"/>
                </a:solidFill>
                <a:latin typeface="+mn-lt"/>
              </a:rPr>
              <a:t>2019 - 2020</a:t>
            </a:r>
          </a:p>
        </p:txBody>
      </p:sp>
      <p:sp>
        <p:nvSpPr>
          <p:cNvPr id="3" name="Subtitle 2"/>
          <p:cNvSpPr>
            <a:spLocks noGrp="1"/>
          </p:cNvSpPr>
          <p:nvPr>
            <p:ph type="subTitle" idx="1"/>
          </p:nvPr>
        </p:nvSpPr>
        <p:spPr>
          <a:xfrm>
            <a:off x="0" y="3906838"/>
            <a:ext cx="12192000" cy="2691186"/>
          </a:xfrm>
        </p:spPr>
        <p:txBody>
          <a:bodyPr>
            <a:noAutofit/>
          </a:bodyPr>
          <a:lstStyle/>
          <a:p>
            <a:r>
              <a:rPr lang="en-US" sz="4400" b="1" u="sng" dirty="0">
                <a:solidFill>
                  <a:schemeClr val="accent1">
                    <a:lumMod val="20000"/>
                    <a:lumOff val="80000"/>
                  </a:schemeClr>
                </a:solidFill>
              </a:rPr>
              <a:t>Shape of the Week (1):</a:t>
            </a:r>
          </a:p>
          <a:p>
            <a:pPr lvl="0"/>
            <a:r>
              <a:rPr lang="en-US" sz="3200" dirty="0">
                <a:solidFill>
                  <a:prstClr val="white"/>
                </a:solidFill>
              </a:rPr>
              <a:t>Lesson 1: Prelim Prep </a:t>
            </a:r>
            <a:r>
              <a:rPr lang="mr-IN" sz="3200" dirty="0">
                <a:solidFill>
                  <a:prstClr val="white"/>
                </a:solidFill>
              </a:rPr>
              <a:t>–</a:t>
            </a:r>
            <a:r>
              <a:rPr lang="en-US" sz="3200" dirty="0">
                <a:solidFill>
                  <a:prstClr val="white"/>
                </a:solidFill>
              </a:rPr>
              <a:t> Essay Writing</a:t>
            </a:r>
          </a:p>
          <a:p>
            <a:pPr lvl="0"/>
            <a:r>
              <a:rPr lang="en-US" sz="3200" dirty="0">
                <a:solidFill>
                  <a:prstClr val="white"/>
                </a:solidFill>
              </a:rPr>
              <a:t>Lesson 2: Prelim Prep </a:t>
            </a:r>
            <a:r>
              <a:rPr lang="mr-IN" sz="3200" dirty="0">
                <a:solidFill>
                  <a:prstClr val="white"/>
                </a:solidFill>
              </a:rPr>
              <a:t>–</a:t>
            </a:r>
            <a:r>
              <a:rPr lang="en-US" sz="3200" dirty="0">
                <a:solidFill>
                  <a:prstClr val="white"/>
                </a:solidFill>
              </a:rPr>
              <a:t> Essay Writing </a:t>
            </a:r>
          </a:p>
          <a:p>
            <a:pPr lvl="0"/>
            <a:r>
              <a:rPr lang="en-US" sz="3200" dirty="0">
                <a:solidFill>
                  <a:prstClr val="white"/>
                </a:solidFill>
              </a:rPr>
              <a:t>Lesson 3: Prelim Prep </a:t>
            </a:r>
            <a:r>
              <a:rPr lang="mr-IN" sz="3200" dirty="0">
                <a:solidFill>
                  <a:prstClr val="white"/>
                </a:solidFill>
              </a:rPr>
              <a:t>–</a:t>
            </a:r>
            <a:r>
              <a:rPr lang="en-US" sz="3200" dirty="0">
                <a:solidFill>
                  <a:prstClr val="white"/>
                </a:solidFill>
              </a:rPr>
              <a:t> Essay Writing </a:t>
            </a:r>
          </a:p>
          <a:p>
            <a:pPr lvl="0"/>
            <a:endParaRPr lang="en-US" sz="3200" dirty="0">
              <a:solidFill>
                <a:schemeClr val="bg1"/>
              </a:solidFill>
            </a:endParaRPr>
          </a:p>
          <a:p>
            <a:endParaRPr lang="en-US" sz="3600" dirty="0">
              <a:solidFill>
                <a:schemeClr val="bg1"/>
              </a:solidFill>
            </a:endParaRPr>
          </a:p>
        </p:txBody>
      </p:sp>
    </p:spTree>
    <p:extLst>
      <p:ext uri="{BB962C8B-B14F-4D97-AF65-F5344CB8AC3E}">
        <p14:creationId xmlns:p14="http://schemas.microsoft.com/office/powerpoint/2010/main" val="249215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C3B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1143000"/>
          </a:xfrm>
        </p:spPr>
        <p:txBody>
          <a:bodyPr/>
          <a:lstStyle/>
          <a:p>
            <a:r>
              <a:rPr lang="en-US" b="1" dirty="0">
                <a:solidFill>
                  <a:srgbClr val="FF0000"/>
                </a:solidFill>
                <a:latin typeface="Arial Rounded MT Bold" charset="0"/>
                <a:ea typeface="Arial Rounded MT Bold" charset="0"/>
                <a:cs typeface="Arial Rounded MT Bold" charset="0"/>
              </a:rPr>
              <a:t>SCHOOL ASSESSMENT TERM 3</a:t>
            </a:r>
          </a:p>
        </p:txBody>
      </p:sp>
      <p:sp>
        <p:nvSpPr>
          <p:cNvPr id="3" name="Content Placeholder 2"/>
          <p:cNvSpPr>
            <a:spLocks noGrp="1"/>
          </p:cNvSpPr>
          <p:nvPr>
            <p:ph sz="half" idx="1"/>
          </p:nvPr>
        </p:nvSpPr>
        <p:spPr>
          <a:xfrm>
            <a:off x="534161" y="1745671"/>
            <a:ext cx="6578763" cy="4932219"/>
          </a:xfrm>
        </p:spPr>
        <p:txBody>
          <a:bodyPr/>
          <a:lstStyle/>
          <a:p>
            <a:pPr marL="0" indent="0">
              <a:buNone/>
            </a:pPr>
            <a:r>
              <a:rPr lang="en-US" sz="3200" dirty="0">
                <a:latin typeface="MS Mincho" charset="-128"/>
                <a:ea typeface="ＭＳ 明朝" charset="-128"/>
                <a:cs typeface="MS Mincho" charset="-128"/>
              </a:rPr>
              <a:t>☑ </a:t>
            </a:r>
            <a:r>
              <a:rPr lang="en-US" sz="3200" b="1" dirty="0">
                <a:ea typeface="ＭＳ 明朝" charset="-128"/>
                <a:cs typeface="MS Mincho" charset="-128"/>
              </a:rPr>
              <a:t>PRELIMS!!!</a:t>
            </a:r>
            <a:endParaRPr lang="en-US" sz="3200" b="1" u="sng" dirty="0">
              <a:ea typeface="ＭＳ 明朝" charset="-128"/>
              <a:cs typeface="MS Mincho" charset="-128"/>
            </a:endParaRPr>
          </a:p>
          <a:p>
            <a:endParaRPr lang="en-US" sz="3600" dirty="0">
              <a:solidFill>
                <a:prstClr val="black"/>
              </a:solidFill>
              <a:latin typeface="Calibri" charset="0"/>
              <a:ea typeface="MS Mincho" charset="-128"/>
              <a:cs typeface="MS Mincho" charset="-128"/>
            </a:endParaRPr>
          </a:p>
          <a:p>
            <a:pPr marL="0" lvl="0" indent="0">
              <a:buNone/>
            </a:pPr>
            <a:endParaRPr lang="en-US" sz="4800" dirty="0">
              <a:solidFill>
                <a:prstClr val="black"/>
              </a:solidFill>
              <a:latin typeface="Calibri" charset="0"/>
              <a:ea typeface="ＭＳ 明朝" charset="-128"/>
              <a:cs typeface="Times New Roman" charset="0"/>
            </a:endParaRPr>
          </a:p>
        </p:txBody>
      </p:sp>
      <p:pic>
        <p:nvPicPr>
          <p:cNvPr id="8"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989454" y="1858061"/>
            <a:ext cx="3657600" cy="405627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80966" y="387999"/>
            <a:ext cx="1357672" cy="1357672"/>
          </a:xfrm>
          <a:prstGeom prst="rect">
            <a:avLst/>
          </a:prstGeom>
        </p:spPr>
      </p:pic>
    </p:spTree>
    <p:extLst>
      <p:ext uri="{BB962C8B-B14F-4D97-AF65-F5344CB8AC3E}">
        <p14:creationId xmlns:p14="http://schemas.microsoft.com/office/powerpoint/2010/main" val="760451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6"/>
            <a:ext cx="10515600" cy="867930"/>
          </a:xfrm>
        </p:spPr>
        <p:txBody>
          <a:bodyPr/>
          <a:lstStyle/>
          <a:p>
            <a:pPr algn="ctr"/>
            <a:r>
              <a:rPr lang="en-US" b="1" dirty="0">
                <a:solidFill>
                  <a:srgbClr val="FF0000"/>
                </a:solidFill>
                <a:latin typeface="+mn-lt"/>
              </a:rPr>
              <a:t>General Outline Term 3</a:t>
            </a:r>
          </a:p>
        </p:txBody>
      </p:sp>
      <p:sp>
        <p:nvSpPr>
          <p:cNvPr id="6" name="Content Placeholder 5"/>
          <p:cNvSpPr>
            <a:spLocks noGrp="1"/>
          </p:cNvSpPr>
          <p:nvPr>
            <p:ph sz="half" idx="1"/>
          </p:nvPr>
        </p:nvSpPr>
        <p:spPr>
          <a:xfrm>
            <a:off x="838200" y="1756352"/>
            <a:ext cx="9011194" cy="4949247"/>
          </a:xfrm>
          <a:solidFill>
            <a:srgbClr val="FFE9EE"/>
          </a:solidFill>
        </p:spPr>
        <p:txBody>
          <a:bodyPr/>
          <a:lstStyle/>
          <a:p>
            <a:r>
              <a:rPr lang="en-US" dirty="0"/>
              <a:t>WEEK 1 Paper 2 Prelim Prep</a:t>
            </a:r>
          </a:p>
          <a:p>
            <a:r>
              <a:rPr lang="en-US" dirty="0"/>
              <a:t>WEEK 2 Paper 1 Prelim Prep</a:t>
            </a:r>
          </a:p>
          <a:p>
            <a:r>
              <a:rPr lang="en-US" dirty="0"/>
              <a:t>WEEK 3 Prelims</a:t>
            </a:r>
          </a:p>
          <a:p>
            <a:r>
              <a:rPr lang="en-US" dirty="0"/>
              <a:t>WEEK 4 Prelims</a:t>
            </a:r>
          </a:p>
          <a:p>
            <a:r>
              <a:rPr lang="en-US" dirty="0"/>
              <a:t>WEEK 5 WT </a:t>
            </a:r>
            <a:r>
              <a:rPr lang="en-US" dirty="0" err="1"/>
              <a:t>finalisation</a:t>
            </a:r>
            <a:endParaRPr lang="en-US" dirty="0"/>
          </a:p>
          <a:p>
            <a:r>
              <a:rPr lang="en-US" dirty="0"/>
              <a:t>WEEK 6 Chronicle</a:t>
            </a:r>
          </a:p>
          <a:p>
            <a:r>
              <a:rPr lang="en-US" dirty="0"/>
              <a:t>WEEK 7 Chronicle</a:t>
            </a:r>
          </a:p>
          <a:p>
            <a:r>
              <a:rPr lang="en-US" dirty="0"/>
              <a:t>WEEK 8 Chronicle</a:t>
            </a:r>
          </a:p>
          <a:p>
            <a:r>
              <a:rPr lang="en-US" dirty="0"/>
              <a:t>WEEK 9 Chronicle</a:t>
            </a:r>
          </a:p>
          <a:p>
            <a:endParaRPr lang="en-US" dirty="0"/>
          </a:p>
        </p:txBody>
      </p:sp>
      <p:pic>
        <p:nvPicPr>
          <p:cNvPr id="8" name="Content Placeholder 7"/>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849394" y="365126"/>
            <a:ext cx="1980166" cy="1980166"/>
          </a:xfrm>
          <a:prstGeom prst="rect">
            <a:avLst/>
          </a:prstGeom>
        </p:spPr>
      </p:pic>
    </p:spTree>
    <p:extLst>
      <p:ext uri="{BB962C8B-B14F-4D97-AF65-F5344CB8AC3E}">
        <p14:creationId xmlns:p14="http://schemas.microsoft.com/office/powerpoint/2010/main" val="1224840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p:spPr>
        <p:txBody>
          <a:bodyPr>
            <a:noAutofit/>
          </a:bodyPr>
          <a:lstStyle/>
          <a:p>
            <a:pPr algn="ctr"/>
            <a:r>
              <a:rPr lang="en-US" sz="7200" b="1" dirty="0">
                <a:solidFill>
                  <a:srgbClr val="FF0000"/>
                </a:solidFill>
                <a:latin typeface="+mn-lt"/>
              </a:rPr>
              <a:t>We are still a digital classroom!</a:t>
            </a: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63398" y="2022765"/>
            <a:ext cx="4835235" cy="4835235"/>
          </a:xfr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62080" y="2413794"/>
            <a:ext cx="5269575" cy="3763982"/>
          </a:xfr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8892" y="3655412"/>
            <a:ext cx="1362496" cy="1280746"/>
          </a:xfrm>
          <a:prstGeom prst="rect">
            <a:avLst/>
          </a:prstGeom>
        </p:spPr>
      </p:pic>
    </p:spTree>
    <p:extLst>
      <p:ext uri="{BB962C8B-B14F-4D97-AF65-F5344CB8AC3E}">
        <p14:creationId xmlns:p14="http://schemas.microsoft.com/office/powerpoint/2010/main" val="123287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138687"/>
            <a:ext cx="6898426" cy="5167312"/>
          </a:xfrm>
          <a:solidFill>
            <a:schemeClr val="bg1"/>
          </a:solidFill>
        </p:spPr>
        <p:txBody>
          <a:bodyPr>
            <a:normAutofit/>
          </a:bodyPr>
          <a:lstStyle/>
          <a:p>
            <a:pPr marL="0" indent="0">
              <a:buNone/>
            </a:pPr>
            <a:endParaRPr lang="en-US" sz="3600" b="1" dirty="0">
              <a:solidFill>
                <a:srgbClr val="000000"/>
              </a:solidFill>
              <a:latin typeface="Calibri" charset="0"/>
              <a:ea typeface="MS Mincho" charset="-128"/>
              <a:cs typeface="MS Mincho" charset="-128"/>
            </a:endParaRPr>
          </a:p>
          <a:p>
            <a:pPr marL="0" indent="0">
              <a:buNone/>
            </a:pPr>
            <a:r>
              <a:rPr lang="en-US" sz="4800" b="1" dirty="0">
                <a:solidFill>
                  <a:srgbClr val="0432FF"/>
                </a:solidFill>
                <a:latin typeface="Calibri" charset="0"/>
                <a:ea typeface="MS Mincho" charset="-128"/>
                <a:cs typeface="MS Mincho" charset="-128"/>
              </a:rPr>
              <a:t>Read </a:t>
            </a:r>
            <a:r>
              <a:rPr lang="en-US" sz="4800" b="1" dirty="0" err="1">
                <a:solidFill>
                  <a:srgbClr val="0432FF"/>
                </a:solidFill>
                <a:latin typeface="Calibri" charset="0"/>
                <a:ea typeface="MS Mincho" charset="-128"/>
                <a:cs typeface="MS Mincho" charset="-128"/>
              </a:rPr>
              <a:t>ManageBac</a:t>
            </a:r>
            <a:r>
              <a:rPr lang="en-US" sz="4800" b="1" dirty="0">
                <a:solidFill>
                  <a:srgbClr val="0432FF"/>
                </a:solidFill>
                <a:latin typeface="Calibri" charset="0"/>
                <a:ea typeface="MS Mincho" charset="-128"/>
                <a:cs typeface="MS Mincho" charset="-128"/>
              </a:rPr>
              <a:t> docs in files: July+ 1984 and  Paper 2</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34836" y="402961"/>
            <a:ext cx="4370420" cy="6070028"/>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682" y="4901797"/>
            <a:ext cx="1362496" cy="1280746"/>
          </a:xfrm>
          <a:prstGeom prst="rect">
            <a:avLst/>
          </a:prstGeom>
        </p:spPr>
      </p:pic>
    </p:spTree>
    <p:extLst>
      <p:ext uri="{BB962C8B-B14F-4D97-AF65-F5344CB8AC3E}">
        <p14:creationId xmlns:p14="http://schemas.microsoft.com/office/powerpoint/2010/main" val="1408455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4219" y="1"/>
            <a:ext cx="10515600" cy="1137424"/>
          </a:xfrm>
        </p:spPr>
        <p:txBody>
          <a:bodyPr>
            <a:normAutofit/>
          </a:bodyPr>
          <a:lstStyle/>
          <a:p>
            <a:pPr algn="ctr"/>
            <a:r>
              <a:rPr lang="en-US" sz="7200" b="1" dirty="0">
                <a:solidFill>
                  <a:srgbClr val="00B050"/>
                </a:solidFill>
                <a:latin typeface="+mn-lt"/>
              </a:rPr>
              <a:t>Tips and Tricks HW Doc</a:t>
            </a:r>
          </a:p>
        </p:txBody>
      </p:sp>
      <p:sp>
        <p:nvSpPr>
          <p:cNvPr id="3" name="Content Placeholder 2"/>
          <p:cNvSpPr>
            <a:spLocks noGrp="1"/>
          </p:cNvSpPr>
          <p:nvPr>
            <p:ph idx="1"/>
          </p:nvPr>
        </p:nvSpPr>
        <p:spPr>
          <a:xfrm>
            <a:off x="26019" y="1137425"/>
            <a:ext cx="12192000" cy="5330283"/>
          </a:xfrm>
        </p:spPr>
        <p:txBody>
          <a:bodyPr>
            <a:noAutofit/>
          </a:bodyPr>
          <a:lstStyle/>
          <a:p>
            <a:pPr marL="514350" lvl="0" indent="-514350">
              <a:buFont typeface="+mj-lt"/>
              <a:buAutoNum type="arabicPeriod"/>
            </a:pPr>
            <a:r>
              <a:rPr lang="en-US" sz="3200" dirty="0">
                <a:latin typeface="Arial" charset="0"/>
                <a:ea typeface="Arial" charset="0"/>
                <a:cs typeface="Arial" charset="0"/>
              </a:rPr>
              <a:t>Read the instructions. </a:t>
            </a:r>
          </a:p>
          <a:p>
            <a:pPr marL="514350" lvl="0" indent="-514350">
              <a:buFont typeface="+mj-lt"/>
              <a:buAutoNum type="arabicPeriod"/>
            </a:pPr>
            <a:endParaRPr lang="en-US" sz="3200" dirty="0">
              <a:latin typeface="Arial" charset="0"/>
              <a:ea typeface="Arial" charset="0"/>
              <a:cs typeface="Arial" charset="0"/>
            </a:endParaRPr>
          </a:p>
          <a:p>
            <a:pPr marL="514350" lvl="0" indent="-514350">
              <a:buFont typeface="+mj-lt"/>
              <a:buAutoNum type="arabicPeriod"/>
            </a:pPr>
            <a:r>
              <a:rPr lang="en-US" sz="3200" dirty="0">
                <a:latin typeface="Arial" charset="0"/>
                <a:ea typeface="Arial" charset="0"/>
                <a:cs typeface="Arial" charset="0"/>
              </a:rPr>
              <a:t>Remember that the Paper 2 exam is asking you to do three things. </a:t>
            </a:r>
          </a:p>
          <a:p>
            <a:pPr marL="457200" lvl="1" indent="0">
              <a:buNone/>
            </a:pPr>
            <a:r>
              <a:rPr lang="en-US" sz="3200" dirty="0">
                <a:latin typeface="Arial" charset="0"/>
                <a:ea typeface="Arial" charset="0"/>
                <a:cs typeface="Arial" charset="0"/>
              </a:rPr>
              <a:t>A) Be knowledgeable on the text </a:t>
            </a:r>
            <a:r>
              <a:rPr lang="en-US" sz="3200" i="1" dirty="0">
                <a:latin typeface="Arial" charset="0"/>
                <a:ea typeface="Arial" charset="0"/>
                <a:cs typeface="Arial" charset="0"/>
              </a:rPr>
              <a:t>and</a:t>
            </a:r>
            <a:r>
              <a:rPr lang="en-US" sz="3200" dirty="0">
                <a:latin typeface="Arial" charset="0"/>
                <a:ea typeface="Arial" charset="0"/>
                <a:cs typeface="Arial" charset="0"/>
              </a:rPr>
              <a:t> the context. </a:t>
            </a:r>
            <a:br>
              <a:rPr lang="en-US" sz="3200" dirty="0">
                <a:latin typeface="Arial" charset="0"/>
                <a:ea typeface="Arial" charset="0"/>
                <a:cs typeface="Arial" charset="0"/>
              </a:rPr>
            </a:br>
            <a:r>
              <a:rPr lang="en-US" sz="3200" dirty="0">
                <a:latin typeface="Arial" charset="0"/>
                <a:ea typeface="Arial" charset="0"/>
                <a:cs typeface="Arial" charset="0"/>
              </a:rPr>
              <a:t>B) Do not forget to answer the question. </a:t>
            </a:r>
            <a:br>
              <a:rPr lang="en-US" sz="3200" dirty="0">
                <a:latin typeface="Arial" charset="0"/>
                <a:ea typeface="Arial" charset="0"/>
                <a:cs typeface="Arial" charset="0"/>
              </a:rPr>
            </a:br>
            <a:r>
              <a:rPr lang="en-US" sz="3200" dirty="0">
                <a:latin typeface="Arial" charset="0"/>
                <a:ea typeface="Arial" charset="0"/>
                <a:cs typeface="Arial" charset="0"/>
              </a:rPr>
              <a:t>C) Remember to comment on the author's use of language, style and structure.</a:t>
            </a:r>
          </a:p>
          <a:p>
            <a:pPr marL="514350" lvl="0" indent="-514350">
              <a:buFont typeface="+mj-lt"/>
              <a:buAutoNum type="arabicPeriod"/>
            </a:pPr>
            <a:endParaRPr lang="en-GB" sz="3200" dirty="0">
              <a:latin typeface="Arial" charset="0"/>
              <a:ea typeface="Arial" charset="0"/>
              <a:cs typeface="Arial" charset="0"/>
            </a:endParaRPr>
          </a:p>
          <a:p>
            <a:pPr marL="514350" indent="-514350">
              <a:buFont typeface="+mj-lt"/>
              <a:buAutoNum type="arabicPeriod"/>
            </a:pPr>
            <a:r>
              <a:rPr lang="en-US" sz="3200" dirty="0">
                <a:latin typeface="Arial" charset="0"/>
                <a:ea typeface="Arial" charset="0"/>
                <a:cs typeface="Arial" charset="0"/>
              </a:rPr>
              <a:t>Be smart about choosing/ </a:t>
            </a:r>
            <a:r>
              <a:rPr lang="en-US" sz="3200" dirty="0" err="1">
                <a:latin typeface="Arial" charset="0"/>
                <a:ea typeface="Arial" charset="0"/>
                <a:cs typeface="Arial" charset="0"/>
              </a:rPr>
              <a:t>anssering</a:t>
            </a:r>
            <a:r>
              <a:rPr lang="en-US" sz="3200" dirty="0">
                <a:latin typeface="Arial" charset="0"/>
                <a:ea typeface="Arial" charset="0"/>
                <a:cs typeface="Arial" charset="0"/>
              </a:rPr>
              <a:t> questions! </a:t>
            </a:r>
          </a:p>
          <a:p>
            <a:pPr marL="971550" lvl="1" indent="-514350">
              <a:buFont typeface="+mj-lt"/>
              <a:buAutoNum type="arabicPeriod"/>
            </a:pPr>
            <a:r>
              <a:rPr lang="en-US" sz="3200" dirty="0" err="1">
                <a:solidFill>
                  <a:srgbClr val="0432FF"/>
                </a:solidFill>
                <a:latin typeface="Arial" charset="0"/>
                <a:ea typeface="Arial" charset="0"/>
                <a:cs typeface="Arial" charset="0"/>
              </a:rPr>
              <a:t>eg</a:t>
            </a:r>
            <a:r>
              <a:rPr lang="en-US" sz="3200" dirty="0">
                <a:solidFill>
                  <a:srgbClr val="0432FF"/>
                </a:solidFill>
                <a:latin typeface="Arial" charset="0"/>
                <a:ea typeface="Arial" charset="0"/>
                <a:cs typeface="Arial" charset="0"/>
              </a:rPr>
              <a:t>.’Timeless’ question don’t forget criteria C.</a:t>
            </a:r>
          </a:p>
        </p:txBody>
      </p:sp>
    </p:spTree>
    <p:extLst>
      <p:ext uri="{BB962C8B-B14F-4D97-AF65-F5344CB8AC3E}">
        <p14:creationId xmlns:p14="http://schemas.microsoft.com/office/powerpoint/2010/main" val="1922711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4219" y="1"/>
            <a:ext cx="10515600" cy="1137424"/>
          </a:xfrm>
        </p:spPr>
        <p:txBody>
          <a:bodyPr>
            <a:normAutofit/>
          </a:bodyPr>
          <a:lstStyle/>
          <a:p>
            <a:pPr algn="ctr"/>
            <a:r>
              <a:rPr lang="en-US" sz="7200" b="1" dirty="0">
                <a:solidFill>
                  <a:srgbClr val="00B050"/>
                </a:solidFill>
                <a:latin typeface="+mn-lt"/>
              </a:rPr>
              <a:t>Tips and Tricks HW Doc</a:t>
            </a:r>
          </a:p>
        </p:txBody>
      </p:sp>
      <p:sp>
        <p:nvSpPr>
          <p:cNvPr id="3" name="Content Placeholder 2"/>
          <p:cNvSpPr>
            <a:spLocks noGrp="1"/>
          </p:cNvSpPr>
          <p:nvPr>
            <p:ph idx="1"/>
          </p:nvPr>
        </p:nvSpPr>
        <p:spPr>
          <a:xfrm>
            <a:off x="26019" y="1137425"/>
            <a:ext cx="12192000" cy="5720575"/>
          </a:xfrm>
        </p:spPr>
        <p:txBody>
          <a:bodyPr>
            <a:noAutofit/>
          </a:bodyPr>
          <a:lstStyle/>
          <a:p>
            <a:pPr marL="0" lvl="0" indent="0">
              <a:buNone/>
            </a:pPr>
            <a:r>
              <a:rPr lang="en-US" dirty="0"/>
              <a:t>4. Practice writing outlines for questions that appeared on previous tests (or one of the Specimen Papers). </a:t>
            </a:r>
          </a:p>
          <a:p>
            <a:pPr marL="0" lvl="0" indent="0">
              <a:buNone/>
            </a:pPr>
            <a:endParaRPr lang="en-GB" dirty="0"/>
          </a:p>
          <a:p>
            <a:pPr marL="0" lvl="0" indent="0">
              <a:buNone/>
            </a:pPr>
            <a:r>
              <a:rPr lang="en-US" dirty="0"/>
              <a:t>5. Do research on the time period when the work was written and the authors that you have studied for Part 3 works. </a:t>
            </a:r>
            <a:r>
              <a:rPr lang="en-US" dirty="0">
                <a:solidFill>
                  <a:srgbClr val="0432FF"/>
                </a:solidFill>
              </a:rPr>
              <a:t>(</a:t>
            </a:r>
            <a:r>
              <a:rPr lang="en-US" i="1" dirty="0">
                <a:solidFill>
                  <a:srgbClr val="0432FF"/>
                </a:solidFill>
              </a:rPr>
              <a:t>Such, Such</a:t>
            </a:r>
            <a:r>
              <a:rPr lang="en-US" dirty="0">
                <a:solidFill>
                  <a:srgbClr val="0432FF"/>
                </a:solidFill>
              </a:rPr>
              <a:t>)</a:t>
            </a:r>
          </a:p>
          <a:p>
            <a:pPr marL="0" lvl="0" indent="0">
              <a:buNone/>
            </a:pPr>
            <a:endParaRPr lang="en-GB" dirty="0">
              <a:solidFill>
                <a:srgbClr val="0432FF"/>
              </a:solidFill>
            </a:endParaRPr>
          </a:p>
          <a:p>
            <a:pPr marL="0" indent="0">
              <a:buNone/>
            </a:pPr>
            <a:r>
              <a:rPr lang="en-US" dirty="0"/>
              <a:t>6. Have you shown how well you read the novels? </a:t>
            </a:r>
          </a:p>
          <a:p>
            <a:pPr marL="457200" lvl="1" indent="0">
              <a:buNone/>
            </a:pPr>
            <a:r>
              <a:rPr lang="en-US" sz="2800" dirty="0"/>
              <a:t>A) Setting - How is it important to understanding the context? </a:t>
            </a:r>
          </a:p>
          <a:p>
            <a:pPr marL="457200" lvl="1" indent="0">
              <a:buNone/>
            </a:pPr>
            <a:r>
              <a:rPr lang="en-US" sz="2800" dirty="0"/>
              <a:t>B) Plot - Was there a twist, a climax, a conflict?</a:t>
            </a:r>
          </a:p>
          <a:p>
            <a:pPr marL="457200" lvl="1" indent="0">
              <a:buNone/>
            </a:pPr>
            <a:r>
              <a:rPr lang="en-US" sz="2800" dirty="0"/>
              <a:t>C) Narrative technique - Who is telling the story? Why?</a:t>
            </a:r>
          </a:p>
          <a:p>
            <a:pPr marL="0" lvl="0" indent="0">
              <a:buNone/>
            </a:pPr>
            <a:endParaRPr lang="en-US" dirty="0"/>
          </a:p>
          <a:p>
            <a:pPr marL="0" lvl="0" indent="0">
              <a:buNone/>
            </a:pPr>
            <a:r>
              <a:rPr lang="en-US" dirty="0"/>
              <a:t>7. Practice using the assessment criteria by examining good + bad </a:t>
            </a:r>
            <a:r>
              <a:rPr lang="en-US" dirty="0">
                <a:hlinkClick r:id="rId2"/>
              </a:rPr>
              <a:t>samples</a:t>
            </a:r>
            <a:r>
              <a:rPr lang="en-US" dirty="0"/>
              <a:t>.</a:t>
            </a:r>
            <a:endParaRPr lang="en-GB" dirty="0"/>
          </a:p>
          <a:p>
            <a:pPr marL="0" indent="0">
              <a:buNone/>
            </a:pPr>
            <a:endParaRPr lang="en-US" sz="3200" dirty="0">
              <a:solidFill>
                <a:srgbClr val="0432FF"/>
              </a:solidFill>
              <a:latin typeface="Arial" charset="0"/>
              <a:ea typeface="Arial" charset="0"/>
              <a:cs typeface="Arial" charset="0"/>
            </a:endParaRPr>
          </a:p>
        </p:txBody>
      </p:sp>
    </p:spTree>
    <p:extLst>
      <p:ext uri="{BB962C8B-B14F-4D97-AF65-F5344CB8AC3E}">
        <p14:creationId xmlns:p14="http://schemas.microsoft.com/office/powerpoint/2010/main" val="1384444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lgn="ctr"/>
            <a:r>
              <a:rPr lang="en-US" sz="6600" b="1" dirty="0">
                <a:solidFill>
                  <a:srgbClr val="00B050"/>
                </a:solidFill>
                <a:latin typeface="+mn-lt"/>
              </a:rPr>
              <a:t>Something to get you thinking...</a:t>
            </a:r>
            <a:br>
              <a:rPr lang="en-US" dirty="0"/>
            </a:br>
            <a:endParaRPr lang="en-US" dirty="0"/>
          </a:p>
        </p:txBody>
      </p:sp>
      <p:sp>
        <p:nvSpPr>
          <p:cNvPr id="3" name="Content Placeholder 2"/>
          <p:cNvSpPr>
            <a:spLocks noGrp="1"/>
          </p:cNvSpPr>
          <p:nvPr>
            <p:ph idx="1"/>
          </p:nvPr>
        </p:nvSpPr>
        <p:spPr>
          <a:solidFill>
            <a:srgbClr val="FFD4D5"/>
          </a:solidFill>
        </p:spPr>
        <p:txBody>
          <a:bodyPr/>
          <a:lstStyle/>
          <a:p>
            <a:pPr marL="127000" lvl="0" indent="0">
              <a:spcBef>
                <a:spcPts val="0"/>
              </a:spcBef>
              <a:buClr>
                <a:srgbClr val="000000"/>
              </a:buClr>
              <a:buSzPct val="100000"/>
              <a:buNone/>
            </a:pPr>
            <a:r>
              <a:rPr lang="en-US" sz="4800" dirty="0">
                <a:ea typeface="Comic Sans MS"/>
                <a:cs typeface="Comic Sans MS"/>
                <a:sym typeface="Comic Sans MS"/>
              </a:rPr>
              <a:t>What types of </a:t>
            </a:r>
            <a:r>
              <a:rPr lang="en-US" sz="4800" b="1" dirty="0">
                <a:ea typeface="Comic Sans MS"/>
                <a:cs typeface="Comic Sans MS"/>
                <a:sym typeface="Comic Sans MS"/>
              </a:rPr>
              <a:t>themes</a:t>
            </a:r>
            <a:r>
              <a:rPr lang="en-US" sz="4800" dirty="0">
                <a:ea typeface="Comic Sans MS"/>
                <a:cs typeface="Comic Sans MS"/>
                <a:sym typeface="Comic Sans MS"/>
              </a:rPr>
              <a:t> might we encounter on the exam?</a:t>
            </a:r>
          </a:p>
          <a:p>
            <a:pPr marL="0" indent="0">
              <a:spcBef>
                <a:spcPts val="0"/>
              </a:spcBef>
              <a:buNone/>
            </a:pPr>
            <a:endParaRPr lang="en-US" sz="4800" dirty="0">
              <a:ea typeface="Comic Sans MS"/>
              <a:cs typeface="Comic Sans MS"/>
              <a:sym typeface="Comic Sans MS"/>
            </a:endParaRPr>
          </a:p>
          <a:p>
            <a:pPr marL="127000" lvl="0" indent="0">
              <a:spcBef>
                <a:spcPts val="0"/>
              </a:spcBef>
              <a:buClr>
                <a:srgbClr val="000000"/>
              </a:buClr>
              <a:buSzPct val="100000"/>
              <a:buNone/>
            </a:pPr>
            <a:r>
              <a:rPr lang="en-US" sz="4800" dirty="0">
                <a:ea typeface="Comic Sans MS"/>
                <a:cs typeface="Comic Sans MS"/>
                <a:sym typeface="Comic Sans MS"/>
              </a:rPr>
              <a:t>What types of </a:t>
            </a:r>
            <a:r>
              <a:rPr lang="en-US" sz="4800" b="1" dirty="0">
                <a:ea typeface="Comic Sans MS"/>
                <a:cs typeface="Comic Sans MS"/>
                <a:sym typeface="Comic Sans MS"/>
              </a:rPr>
              <a:t>literary concepts </a:t>
            </a:r>
            <a:r>
              <a:rPr lang="en-US" sz="4800" dirty="0">
                <a:ea typeface="Comic Sans MS"/>
                <a:cs typeface="Comic Sans MS"/>
                <a:sym typeface="Comic Sans MS"/>
              </a:rPr>
              <a:t>might we encounter on the exam? </a:t>
            </a:r>
          </a:p>
          <a:p>
            <a:endParaRPr lang="en-US" dirty="0"/>
          </a:p>
        </p:txBody>
      </p:sp>
    </p:spTree>
    <p:extLst>
      <p:ext uri="{BB962C8B-B14F-4D97-AF65-F5344CB8AC3E}">
        <p14:creationId xmlns:p14="http://schemas.microsoft.com/office/powerpoint/2010/main" val="122828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50"/>
                </a:solidFill>
              </a:rPr>
              <a:t>Open Today’s PPT and Handout</a:t>
            </a:r>
            <a:endParaRPr lang="en-US" dirty="0"/>
          </a:p>
        </p:txBody>
      </p:sp>
      <p:sp>
        <p:nvSpPr>
          <p:cNvPr id="3" name="Text Placeholder 2"/>
          <p:cNvSpPr>
            <a:spLocks noGrp="1"/>
          </p:cNvSpPr>
          <p:nvPr>
            <p:ph type="body" idx="1"/>
          </p:nvPr>
        </p:nvSpPr>
        <p:spPr/>
        <p:txBody>
          <a:bodyPr/>
          <a:lstStyle/>
          <a:p>
            <a:r>
              <a:rPr lang="en-US" sz="3600" dirty="0">
                <a:solidFill>
                  <a:srgbClr val="0432FF"/>
                </a:solidFill>
              </a:rPr>
              <a:t>Go to Firefly!</a:t>
            </a:r>
          </a:p>
        </p:txBody>
      </p:sp>
    </p:spTree>
    <p:extLst>
      <p:ext uri="{BB962C8B-B14F-4D97-AF65-F5344CB8AC3E}">
        <p14:creationId xmlns:p14="http://schemas.microsoft.com/office/powerpoint/2010/main" val="900162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EEF2"/>
        </a:solidFill>
        <a:effectLst/>
      </p:bgPr>
    </p:bg>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stretch>
            <a:fillRect/>
          </a:stretch>
        </p:blipFill>
        <p:spPr>
          <a:xfrm>
            <a:off x="0" y="279877"/>
            <a:ext cx="12088876" cy="1303596"/>
          </a:xfrm>
          <a:prstGeom prst="rect">
            <a:avLst/>
          </a:prstGeom>
        </p:spPr>
      </p:pic>
      <p:sp>
        <p:nvSpPr>
          <p:cNvPr id="4" name="Content Placeholder 3"/>
          <p:cNvSpPr>
            <a:spLocks noGrp="1"/>
          </p:cNvSpPr>
          <p:nvPr>
            <p:ph sz="half" idx="2"/>
          </p:nvPr>
        </p:nvSpPr>
        <p:spPr>
          <a:xfrm>
            <a:off x="423746" y="1981200"/>
            <a:ext cx="11285034" cy="4598020"/>
          </a:xfrm>
          <a:solidFill>
            <a:schemeClr val="bg1"/>
          </a:solidFill>
        </p:spPr>
        <p:txBody>
          <a:bodyPr/>
          <a:lstStyle/>
          <a:p>
            <a:r>
              <a:rPr lang="en-US" altLang="en-US" sz="2400" dirty="0">
                <a:solidFill>
                  <a:srgbClr val="FF0000"/>
                </a:solidFill>
              </a:rPr>
              <a:t>The Literary Theme or Concept of Question:</a:t>
            </a:r>
          </a:p>
          <a:p>
            <a:pPr lvl="1"/>
            <a:r>
              <a:rPr lang="en-US" altLang="en-US" sz="2000" dirty="0"/>
              <a:t>This is an examination of one of the aspects of a </a:t>
            </a:r>
            <a:r>
              <a:rPr lang="en-US" altLang="en-US" sz="2000" b="1" dirty="0"/>
              <a:t>literary theme </a:t>
            </a:r>
            <a:r>
              <a:rPr lang="en-US" altLang="en-US" sz="2000" dirty="0"/>
              <a:t>or </a:t>
            </a:r>
            <a:r>
              <a:rPr lang="en-US" altLang="en-US" sz="2000" b="1" dirty="0"/>
              <a:t>concept</a:t>
            </a:r>
            <a:r>
              <a:rPr lang="en-US" altLang="en-US" sz="2000" dirty="0"/>
              <a:t>, introduced by the question. </a:t>
            </a:r>
          </a:p>
          <a:p>
            <a:pPr lvl="2"/>
            <a:r>
              <a:rPr lang="en-US" altLang="en-US" sz="1600" dirty="0">
                <a:solidFill>
                  <a:srgbClr val="0432FF"/>
                </a:solidFill>
              </a:rPr>
              <a:t>3 significant Points made about</a:t>
            </a:r>
          </a:p>
          <a:p>
            <a:pPr lvl="1"/>
            <a:endParaRPr lang="en-US" altLang="en-US" sz="2000" dirty="0"/>
          </a:p>
          <a:p>
            <a:r>
              <a:rPr lang="en-US" altLang="en-US" sz="2400" dirty="0">
                <a:solidFill>
                  <a:srgbClr val="FF0000"/>
                </a:solidFill>
              </a:rPr>
              <a:t>Context of both texts’ production (reception+):</a:t>
            </a:r>
          </a:p>
          <a:p>
            <a:pPr lvl="1"/>
            <a:r>
              <a:rPr lang="en-US" altLang="en-US" sz="2000" dirty="0"/>
              <a:t>This relates to how the theme/ concept as understood, interpreted and produced by the composer for a contemporary audience/ reception today.</a:t>
            </a:r>
          </a:p>
          <a:p>
            <a:pPr lvl="1"/>
            <a:endParaRPr lang="en-US" altLang="en-US" sz="2000" dirty="0"/>
          </a:p>
          <a:p>
            <a:r>
              <a:rPr lang="en-US" altLang="en-US" sz="2400" dirty="0">
                <a:solidFill>
                  <a:srgbClr val="FF0000"/>
                </a:solidFill>
              </a:rPr>
              <a:t>Techniques/ Devices used to make meaning about the concept or theme.</a:t>
            </a:r>
          </a:p>
          <a:p>
            <a:pPr lvl="1"/>
            <a:r>
              <a:rPr lang="en-US" altLang="en-US" sz="2000" dirty="0"/>
              <a:t>This provides evidence of your claim in the point above – how has the composer expressed their ideas about the literary concept or theme to the reader.</a:t>
            </a:r>
          </a:p>
          <a:p>
            <a:pPr lvl="2"/>
            <a:r>
              <a:rPr lang="en-US" altLang="en-US" sz="1600" dirty="0">
                <a:solidFill>
                  <a:srgbClr val="0432FF"/>
                </a:solidFill>
              </a:rPr>
              <a:t>Episodes/ Techniques for PETEL</a:t>
            </a:r>
          </a:p>
          <a:p>
            <a:endParaRPr lang="en-US" dirty="0"/>
          </a:p>
        </p:txBody>
      </p:sp>
    </p:spTree>
    <p:extLst>
      <p:ext uri="{BB962C8B-B14F-4D97-AF65-F5344CB8AC3E}">
        <p14:creationId xmlns:p14="http://schemas.microsoft.com/office/powerpoint/2010/main" val="988873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012" y="0"/>
            <a:ext cx="10363200" cy="771525"/>
          </a:xfrm>
        </p:spPr>
        <p:txBody>
          <a:bodyPr/>
          <a:lstStyle/>
          <a:p>
            <a:r>
              <a:rPr lang="en-US" altLang="en-US" dirty="0">
                <a:solidFill>
                  <a:srgbClr val="FF0000"/>
                </a:solidFill>
              </a:rPr>
              <a:t>The Literary Theme vs Concept Intros:</a:t>
            </a:r>
            <a:endParaRPr lang="en-US" dirty="0"/>
          </a:p>
        </p:txBody>
      </p:sp>
      <p:sp>
        <p:nvSpPr>
          <p:cNvPr id="3" name="Content Placeholder 2"/>
          <p:cNvSpPr>
            <a:spLocks noGrp="1"/>
          </p:cNvSpPr>
          <p:nvPr>
            <p:ph sz="half" idx="1"/>
          </p:nvPr>
        </p:nvSpPr>
        <p:spPr>
          <a:xfrm>
            <a:off x="446049" y="771524"/>
            <a:ext cx="11241126" cy="6086475"/>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Intros generally have 3 sentences:</a:t>
            </a:r>
          </a:p>
          <a:p>
            <a:pPr eaLnBrk="1" fontAlgn="auto" hangingPunct="1">
              <a:spcBef>
                <a:spcPts val="0"/>
              </a:spcBef>
              <a:spcAft>
                <a:spcPts val="0"/>
              </a:spcAft>
              <a:defRPr/>
            </a:pPr>
            <a:r>
              <a:rPr lang="en-US" dirty="0"/>
              <a:t>Lead-in</a:t>
            </a:r>
          </a:p>
          <a:p>
            <a:pPr eaLnBrk="1" fontAlgn="auto" hangingPunct="1">
              <a:spcBef>
                <a:spcPts val="0"/>
              </a:spcBef>
              <a:spcAft>
                <a:spcPts val="0"/>
              </a:spcAft>
              <a:defRPr/>
            </a:pPr>
            <a:r>
              <a:rPr lang="en-US" dirty="0">
                <a:solidFill>
                  <a:srgbClr val="FF0000"/>
                </a:solidFill>
              </a:rPr>
              <a:t>Thesis</a:t>
            </a:r>
          </a:p>
          <a:p>
            <a:pPr eaLnBrk="1" fontAlgn="auto" hangingPunct="1">
              <a:spcBef>
                <a:spcPts val="0"/>
              </a:spcBef>
              <a:spcAft>
                <a:spcPts val="0"/>
              </a:spcAft>
              <a:defRPr/>
            </a:pPr>
            <a:r>
              <a:rPr lang="en-US" dirty="0">
                <a:solidFill>
                  <a:srgbClr val="FF0000"/>
                </a:solidFill>
              </a:rPr>
              <a:t>Essay Map</a:t>
            </a:r>
          </a:p>
          <a:p>
            <a:pPr eaLnBrk="1" fontAlgn="auto" hangingPunct="1">
              <a:spcBef>
                <a:spcPts val="0"/>
              </a:spcBef>
              <a:spcAft>
                <a:spcPts val="0"/>
              </a:spcAft>
              <a:defRPr/>
            </a:pPr>
            <a:endParaRPr lang="en-US" dirty="0">
              <a:solidFill>
                <a:srgbClr val="FF0000"/>
              </a:solidFill>
            </a:endParaRPr>
          </a:p>
          <a:p>
            <a:pPr eaLnBrk="1" fontAlgn="auto" hangingPunct="1">
              <a:spcBef>
                <a:spcPts val="0"/>
              </a:spcBef>
              <a:spcAft>
                <a:spcPts val="0"/>
              </a:spcAft>
              <a:defRPr/>
            </a:pPr>
            <a:r>
              <a:rPr lang="en-US" sz="2400" b="1" dirty="0"/>
              <a:t>Thematic  Lead-in (Power)</a:t>
            </a:r>
          </a:p>
          <a:p>
            <a:pPr eaLnBrk="1" fontAlgn="auto" hangingPunct="1">
              <a:spcBef>
                <a:spcPts val="0"/>
              </a:spcBef>
              <a:spcAft>
                <a:spcPts val="0"/>
              </a:spcAft>
              <a:defRPr/>
            </a:pPr>
            <a:r>
              <a:rPr lang="en-US" sz="2400" dirty="0">
                <a:solidFill>
                  <a:srgbClr val="0432FF"/>
                </a:solidFill>
              </a:rPr>
              <a:t>George Orwell’s dystopian novel </a:t>
            </a:r>
            <a:r>
              <a:rPr lang="en-US" sz="2400" u="sng" dirty="0">
                <a:solidFill>
                  <a:srgbClr val="0432FF"/>
                </a:solidFill>
              </a:rPr>
              <a:t>1984</a:t>
            </a:r>
            <a:r>
              <a:rPr lang="en-US" sz="2400" dirty="0">
                <a:solidFill>
                  <a:srgbClr val="0432FF"/>
                </a:solidFill>
              </a:rPr>
              <a:t> and </a:t>
            </a:r>
            <a:r>
              <a:rPr lang="en-US" sz="2400" dirty="0" err="1">
                <a:solidFill>
                  <a:srgbClr val="0432FF"/>
                </a:solidFill>
              </a:rPr>
              <a:t>Garbriel</a:t>
            </a:r>
            <a:r>
              <a:rPr lang="en-US" sz="2400" dirty="0">
                <a:solidFill>
                  <a:srgbClr val="0432FF"/>
                </a:solidFill>
              </a:rPr>
              <a:t> Garcia Marquez’s magical realist novella </a:t>
            </a:r>
            <a:r>
              <a:rPr lang="en-US" sz="2400" u="sng" dirty="0">
                <a:solidFill>
                  <a:srgbClr val="0432FF"/>
                </a:solidFill>
              </a:rPr>
              <a:t>Chronicle of a Death Foretold</a:t>
            </a:r>
            <a:r>
              <a:rPr lang="en-US" sz="2400" dirty="0">
                <a:solidFill>
                  <a:srgbClr val="0432FF"/>
                </a:solidFill>
              </a:rPr>
              <a:t> (</a:t>
            </a:r>
            <a:r>
              <a:rPr lang="en-US" sz="2400" u="sng" dirty="0" err="1">
                <a:solidFill>
                  <a:srgbClr val="0432FF"/>
                </a:solidFill>
              </a:rPr>
              <a:t>CoaDF</a:t>
            </a:r>
            <a:r>
              <a:rPr lang="en-US" sz="2400" dirty="0">
                <a:solidFill>
                  <a:srgbClr val="0432FF"/>
                </a:solidFill>
              </a:rPr>
              <a:t>) are texts that explore ideas about power and control in very different societies.</a:t>
            </a:r>
          </a:p>
          <a:p>
            <a:pPr eaLnBrk="1" fontAlgn="auto" hangingPunct="1">
              <a:spcBef>
                <a:spcPts val="0"/>
              </a:spcBef>
              <a:spcAft>
                <a:spcPts val="0"/>
              </a:spcAft>
              <a:defRPr/>
            </a:pPr>
            <a:endParaRPr lang="en-US" sz="2400" dirty="0">
              <a:solidFill>
                <a:srgbClr val="FF0000"/>
              </a:solidFill>
            </a:endParaRPr>
          </a:p>
          <a:p>
            <a:pPr eaLnBrk="1" fontAlgn="auto" hangingPunct="1">
              <a:spcBef>
                <a:spcPts val="0"/>
              </a:spcBef>
              <a:spcAft>
                <a:spcPts val="0"/>
              </a:spcAft>
              <a:defRPr/>
            </a:pPr>
            <a:r>
              <a:rPr lang="en-US" sz="2400" b="1" dirty="0"/>
              <a:t>Conceptual Lead-in (Foreshadowing)</a:t>
            </a:r>
          </a:p>
          <a:p>
            <a:pPr eaLnBrk="1" fontAlgn="auto" hangingPunct="1">
              <a:spcBef>
                <a:spcPts val="0"/>
              </a:spcBef>
              <a:spcAft>
                <a:spcPts val="0"/>
              </a:spcAft>
              <a:defRPr/>
            </a:pPr>
            <a:r>
              <a:rPr lang="en-US" sz="2400" dirty="0">
                <a:solidFill>
                  <a:srgbClr val="0432FF"/>
                </a:solidFill>
              </a:rPr>
              <a:t>Foreshadowing is an extremely significant literary device used throughout George Orwell’s </a:t>
            </a:r>
            <a:r>
              <a:rPr lang="en-US" sz="2400" u="sng" dirty="0">
                <a:solidFill>
                  <a:srgbClr val="0432FF"/>
                </a:solidFill>
              </a:rPr>
              <a:t>1984</a:t>
            </a:r>
            <a:r>
              <a:rPr lang="en-US" sz="2400" dirty="0">
                <a:solidFill>
                  <a:srgbClr val="0432FF"/>
                </a:solidFill>
              </a:rPr>
              <a:t> and </a:t>
            </a:r>
            <a:r>
              <a:rPr lang="en-US" sz="2400" dirty="0" err="1">
                <a:solidFill>
                  <a:srgbClr val="0432FF"/>
                </a:solidFill>
              </a:rPr>
              <a:t>Garbriel</a:t>
            </a:r>
            <a:r>
              <a:rPr lang="en-US" sz="2400" dirty="0">
                <a:solidFill>
                  <a:srgbClr val="0432FF"/>
                </a:solidFill>
              </a:rPr>
              <a:t> Garcia Marquez’s </a:t>
            </a:r>
            <a:r>
              <a:rPr lang="en-US" sz="2400" u="sng" dirty="0">
                <a:solidFill>
                  <a:srgbClr val="0432FF"/>
                </a:solidFill>
              </a:rPr>
              <a:t>Chronicle of a Death Foretold</a:t>
            </a:r>
            <a:r>
              <a:rPr lang="en-US" sz="2400" dirty="0">
                <a:solidFill>
                  <a:srgbClr val="0432FF"/>
                </a:solidFill>
              </a:rPr>
              <a:t> (</a:t>
            </a:r>
            <a:r>
              <a:rPr lang="en-US" sz="2400" u="sng" dirty="0" err="1">
                <a:solidFill>
                  <a:srgbClr val="0432FF"/>
                </a:solidFill>
              </a:rPr>
              <a:t>CoaDF</a:t>
            </a:r>
            <a:r>
              <a:rPr lang="en-US" sz="2400" dirty="0">
                <a:solidFill>
                  <a:srgbClr val="0432FF"/>
                </a:solidFill>
              </a:rPr>
              <a:t>).</a:t>
            </a:r>
          </a:p>
        </p:txBody>
      </p:sp>
    </p:spTree>
    <p:extLst>
      <p:ext uri="{BB962C8B-B14F-4D97-AF65-F5344CB8AC3E}">
        <p14:creationId xmlns:p14="http://schemas.microsoft.com/office/powerpoint/2010/main" val="1784449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EEF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0737" y="301958"/>
            <a:ext cx="10363200" cy="1143000"/>
          </a:xfrm>
        </p:spPr>
        <p:txBody>
          <a:bodyPr/>
          <a:lstStyle/>
          <a:p>
            <a:r>
              <a:rPr lang="en-US" altLang="en-US" dirty="0">
                <a:solidFill>
                  <a:srgbClr val="FF0000"/>
                </a:solidFill>
              </a:rPr>
              <a:t>The Literary Theme Question:</a:t>
            </a:r>
            <a:endParaRPr lang="en-US" dirty="0"/>
          </a:p>
        </p:txBody>
      </p:sp>
      <p:sp>
        <p:nvSpPr>
          <p:cNvPr id="3" name="Content Placeholder 2"/>
          <p:cNvSpPr>
            <a:spLocks noGrp="1"/>
          </p:cNvSpPr>
          <p:nvPr>
            <p:ph sz="half" idx="1"/>
          </p:nvPr>
        </p:nvSpPr>
        <p:spPr>
          <a:xfrm>
            <a:off x="382834" y="2587958"/>
            <a:ext cx="11809165" cy="4270042"/>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dirty="0"/>
              <a:t>Consider the 3 most relevant points Orwell makes regarding theme. </a:t>
            </a:r>
            <a:r>
              <a:rPr lang="en-US" dirty="0">
                <a:solidFill>
                  <a:srgbClr val="0432FF"/>
                </a:solidFill>
              </a:rPr>
              <a:t>(Essay Map):</a:t>
            </a:r>
          </a:p>
          <a:p>
            <a:pPr marL="514350" marR="0" lvl="0" indent="-514350" defTabSz="914400" eaLnBrk="1" fontAlgn="auto" latinLnBrk="0" hangingPunct="1">
              <a:lnSpc>
                <a:spcPct val="100000"/>
              </a:lnSpc>
              <a:spcBef>
                <a:spcPts val="0"/>
              </a:spcBef>
              <a:spcAft>
                <a:spcPts val="0"/>
              </a:spcAft>
              <a:buClrTx/>
              <a:buSzTx/>
              <a:buFontTx/>
              <a:buAutoNum type="arabicPeriod"/>
              <a:tabLst/>
              <a:defRPr/>
            </a:pPr>
            <a:r>
              <a:rPr lang="en-US" dirty="0"/>
              <a:t>People can be manipulated by appearance</a:t>
            </a:r>
          </a:p>
          <a:p>
            <a:pPr marL="514350" marR="0" lvl="0" indent="-514350" defTabSz="914400" eaLnBrk="1" fontAlgn="auto" latinLnBrk="0" hangingPunct="1">
              <a:lnSpc>
                <a:spcPct val="100000"/>
              </a:lnSpc>
              <a:spcBef>
                <a:spcPts val="0"/>
              </a:spcBef>
              <a:spcAft>
                <a:spcPts val="0"/>
              </a:spcAft>
              <a:buClrTx/>
              <a:buSzTx/>
              <a:buFontTx/>
              <a:buAutoNum type="arabicPeriod"/>
              <a:tabLst/>
              <a:defRPr/>
            </a:pPr>
            <a:r>
              <a:rPr lang="en-US" dirty="0"/>
              <a:t>People are fundamentally </a:t>
            </a:r>
            <a:r>
              <a:rPr lang="en-US" dirty="0" err="1"/>
              <a:t>untrustable</a:t>
            </a:r>
            <a:endParaRPr lang="en-US" dirty="0"/>
          </a:p>
          <a:p>
            <a:pPr marL="514350" marR="0" lvl="0" indent="-514350" defTabSz="914400" eaLnBrk="1" fontAlgn="auto" latinLnBrk="0" hangingPunct="1">
              <a:lnSpc>
                <a:spcPct val="100000"/>
              </a:lnSpc>
              <a:spcBef>
                <a:spcPts val="0"/>
              </a:spcBef>
              <a:spcAft>
                <a:spcPts val="0"/>
              </a:spcAft>
              <a:buClrTx/>
              <a:buSzTx/>
              <a:buFontTx/>
              <a:buAutoNum type="arabicPeriod"/>
              <a:tabLst/>
              <a:defRPr/>
            </a:pPr>
            <a:r>
              <a:rPr lang="en-US" dirty="0"/>
              <a:t>People show true selves when forced</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b="1" dirty="0"/>
              <a:t>How do these 3 points answer the question overall? </a:t>
            </a:r>
            <a:r>
              <a:rPr lang="en-US" dirty="0">
                <a:solidFill>
                  <a:srgbClr val="0432FF"/>
                </a:solidFill>
              </a:rPr>
              <a:t>(Thesis statement):</a:t>
            </a:r>
          </a:p>
        </p:txBody>
      </p:sp>
      <p:pic>
        <p:nvPicPr>
          <p:cNvPr id="6" name="Content Placeholder 4"/>
          <p:cNvPicPr>
            <a:picLocks noGrp="1" noChangeAspect="1"/>
          </p:cNvPicPr>
          <p:nvPr>
            <p:ph sz="half" idx="2"/>
          </p:nvPr>
        </p:nvPicPr>
        <p:blipFill>
          <a:blip r:embed="rId2"/>
          <a:stretch>
            <a:fillRect/>
          </a:stretch>
        </p:blipFill>
        <p:spPr>
          <a:xfrm>
            <a:off x="382834" y="1444958"/>
            <a:ext cx="11809166" cy="781221"/>
          </a:xfrm>
          <a:prstGeom prst="rect">
            <a:avLst/>
          </a:prstGeom>
        </p:spPr>
      </p:pic>
    </p:spTree>
    <p:extLst>
      <p:ext uri="{BB962C8B-B14F-4D97-AF65-F5344CB8AC3E}">
        <p14:creationId xmlns:p14="http://schemas.microsoft.com/office/powerpoint/2010/main" val="192409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722" y="398614"/>
            <a:ext cx="11846278" cy="1143000"/>
          </a:xfrm>
        </p:spPr>
        <p:txBody>
          <a:bodyPr/>
          <a:lstStyle/>
          <a:p>
            <a:r>
              <a:rPr lang="en-US" altLang="en-US" dirty="0">
                <a:solidFill>
                  <a:srgbClr val="FF0000"/>
                </a:solidFill>
              </a:rPr>
              <a:t>Context of both texts’ production (reception+):</a:t>
            </a:r>
          </a:p>
        </p:txBody>
      </p:sp>
      <p:pic>
        <p:nvPicPr>
          <p:cNvPr id="6" name="Content Placeholder 5"/>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rot="21286967">
            <a:off x="514227" y="1854700"/>
            <a:ext cx="5268357" cy="3946182"/>
          </a:xfrm>
        </p:spPr>
      </p:pic>
      <p:sp>
        <p:nvSpPr>
          <p:cNvPr id="3" name="Content Placeholder 2"/>
          <p:cNvSpPr>
            <a:spLocks noGrp="1"/>
          </p:cNvSpPr>
          <p:nvPr>
            <p:ph sz="half" idx="2"/>
          </p:nvPr>
        </p:nvSpPr>
        <p:spPr>
          <a:xfrm>
            <a:off x="6197599" y="1981200"/>
            <a:ext cx="5994401" cy="4709532"/>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Consider the way those 3 most relevant points that Orwell makes about </a:t>
            </a:r>
            <a:r>
              <a:rPr lang="en-US" b="1" dirty="0">
                <a:solidFill>
                  <a:srgbClr val="FF0000"/>
                </a:solidFill>
              </a:rPr>
              <a:t>appearances being deceptive </a:t>
            </a:r>
            <a:r>
              <a:rPr lang="en-US" dirty="0"/>
              <a:t>in </a:t>
            </a:r>
            <a:r>
              <a:rPr lang="en-US" i="1" dirty="0"/>
              <a:t>1984 </a:t>
            </a:r>
            <a:r>
              <a:rPr lang="en-US" dirty="0"/>
              <a:t>relate to the context of production. Is there any relevance to the context of reception?</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These will form the context paragraph and inform your conclusion.</a:t>
            </a:r>
          </a:p>
          <a:p>
            <a:endParaRPr lang="en-US" dirty="0"/>
          </a:p>
        </p:txBody>
      </p:sp>
    </p:spTree>
    <p:extLst>
      <p:ext uri="{BB962C8B-B14F-4D97-AF65-F5344CB8AC3E}">
        <p14:creationId xmlns:p14="http://schemas.microsoft.com/office/powerpoint/2010/main" val="1702114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9475" y="238125"/>
            <a:ext cx="4743450" cy="1143000"/>
          </a:xfrm>
        </p:spPr>
        <p:txBody>
          <a:bodyPr/>
          <a:lstStyle/>
          <a:p>
            <a:r>
              <a:rPr lang="en-US" b="1" dirty="0">
                <a:solidFill>
                  <a:srgbClr val="00B050"/>
                </a:solidFill>
              </a:rPr>
              <a:t>Canned Context Paragraphs</a:t>
            </a:r>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131259" y="2251679"/>
            <a:ext cx="4841666" cy="3406171"/>
          </a:xfrm>
        </p:spPr>
      </p:pic>
      <p:sp>
        <p:nvSpPr>
          <p:cNvPr id="6" name="Content Placeholder 5"/>
          <p:cNvSpPr>
            <a:spLocks noGrp="1"/>
          </p:cNvSpPr>
          <p:nvPr>
            <p:ph sz="half" idx="1"/>
          </p:nvPr>
        </p:nvSpPr>
        <p:spPr>
          <a:xfrm>
            <a:off x="314325" y="238125"/>
            <a:ext cx="6572250" cy="6619875"/>
          </a:xfrm>
        </p:spPr>
        <p:txBody>
          <a:bodyPr/>
          <a:lstStyle/>
          <a:p>
            <a:r>
              <a:rPr lang="en-US" sz="3200" dirty="0"/>
              <a:t>Many students try to write and </a:t>
            </a:r>
            <a:r>
              <a:rPr lang="en-US" sz="3200" dirty="0" err="1"/>
              <a:t>memorise</a:t>
            </a:r>
            <a:r>
              <a:rPr lang="en-US" sz="3200" dirty="0"/>
              <a:t> a context paragraph that will do the same job for every essay: a canned paragraph.</a:t>
            </a:r>
          </a:p>
          <a:p>
            <a:endParaRPr lang="en-US" sz="3200" dirty="0"/>
          </a:p>
          <a:p>
            <a:r>
              <a:rPr lang="en-US" sz="3200" dirty="0">
                <a:solidFill>
                  <a:srgbClr val="0432FF"/>
                </a:solidFill>
              </a:rPr>
              <a:t>This is not the case! Since you will be linking your Points to the Context of production and reception it is important to have several ideas to mix and match in response to the type and nature of the question.</a:t>
            </a:r>
          </a:p>
        </p:txBody>
      </p:sp>
    </p:spTree>
    <p:extLst>
      <p:ext uri="{BB962C8B-B14F-4D97-AF65-F5344CB8AC3E}">
        <p14:creationId xmlns:p14="http://schemas.microsoft.com/office/powerpoint/2010/main" val="1818519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EEF2"/>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12192000" cy="942975"/>
          </a:xfrm>
        </p:spPr>
        <p:txBody>
          <a:bodyPr/>
          <a:lstStyle/>
          <a:p>
            <a:r>
              <a:rPr lang="en-US" b="1" dirty="0">
                <a:solidFill>
                  <a:srgbClr val="FF0000"/>
                </a:solidFill>
              </a:rPr>
              <a:t>Thematic Questions </a:t>
            </a:r>
            <a:r>
              <a:rPr lang="mr-IN" b="1" dirty="0">
                <a:solidFill>
                  <a:srgbClr val="FF0000"/>
                </a:solidFill>
              </a:rPr>
              <a:t>–</a:t>
            </a:r>
            <a:r>
              <a:rPr lang="en-US" b="1" dirty="0">
                <a:solidFill>
                  <a:srgbClr val="FF0000"/>
                </a:solidFill>
              </a:rPr>
              <a:t> Context Paragraph</a:t>
            </a:r>
          </a:p>
        </p:txBody>
      </p:sp>
      <p:sp>
        <p:nvSpPr>
          <p:cNvPr id="6" name="Content Placeholder 5"/>
          <p:cNvSpPr>
            <a:spLocks noGrp="1"/>
          </p:cNvSpPr>
          <p:nvPr>
            <p:ph sz="half" idx="2"/>
          </p:nvPr>
        </p:nvSpPr>
        <p:spPr>
          <a:xfrm>
            <a:off x="157162" y="942975"/>
            <a:ext cx="11877676" cy="5915025"/>
          </a:xfrm>
          <a:solidFill>
            <a:schemeClr val="bg1"/>
          </a:solidFill>
        </p:spPr>
        <p:txBody>
          <a:bodyPr/>
          <a:lstStyle/>
          <a:p>
            <a:r>
              <a:rPr lang="en-US" dirty="0">
                <a:solidFill>
                  <a:srgbClr val="FF0000"/>
                </a:solidFill>
              </a:rPr>
              <a:t>What is the most significant influence on the context of production in relation to the question’s theme? </a:t>
            </a:r>
            <a:r>
              <a:rPr lang="en-US" b="1" u="sng" dirty="0">
                <a:solidFill>
                  <a:srgbClr val="FF0000"/>
                </a:solidFill>
              </a:rPr>
              <a:t>Starter sentence</a:t>
            </a:r>
            <a:r>
              <a:rPr lang="en-US" dirty="0">
                <a:solidFill>
                  <a:srgbClr val="FF0000"/>
                </a:solidFill>
              </a:rPr>
              <a:t> and quick discussion relating to points.</a:t>
            </a:r>
          </a:p>
          <a:p>
            <a:pPr marL="514350" indent="-514350">
              <a:buFont typeface="+mj-lt"/>
              <a:buAutoNum type="arabicPeriod"/>
            </a:pPr>
            <a:r>
              <a:rPr lang="en-US" sz="2000" b="1" dirty="0"/>
              <a:t>Social Class </a:t>
            </a:r>
            <a:r>
              <a:rPr lang="mr-IN" sz="2000" dirty="0"/>
              <a:t>–</a:t>
            </a:r>
            <a:r>
              <a:rPr lang="en-US" sz="2000" dirty="0"/>
              <a:t> </a:t>
            </a:r>
            <a:r>
              <a:rPr lang="en-US" sz="2000" i="1" dirty="0">
                <a:solidFill>
                  <a:srgbClr val="0432FF"/>
                </a:solidFill>
              </a:rPr>
              <a:t>Born into what he called the “upper-lower-middle class” Orwell saw the events of the first half of the 20</a:t>
            </a:r>
            <a:r>
              <a:rPr lang="en-US" sz="2000" i="1" baseline="30000" dirty="0">
                <a:solidFill>
                  <a:srgbClr val="0432FF"/>
                </a:solidFill>
              </a:rPr>
              <a:t>th</a:t>
            </a:r>
            <a:r>
              <a:rPr lang="en-US" sz="2000" i="1" dirty="0">
                <a:solidFill>
                  <a:srgbClr val="0432FF"/>
                </a:solidFill>
              </a:rPr>
              <a:t> century through the lens of an impoverished member of the society that ran Britain’s empire, and affected his reaction to experiences of the rise of totalitarian governments, and societal/ cultural upheavals during the World Wars as well as the start of the Cold War.</a:t>
            </a:r>
          </a:p>
          <a:p>
            <a:pPr marL="514350" indent="-514350">
              <a:buFont typeface="+mj-lt"/>
              <a:buAutoNum type="arabicPeriod"/>
            </a:pPr>
            <a:r>
              <a:rPr lang="en-US" sz="2000" b="1" dirty="0"/>
              <a:t>Power (political) </a:t>
            </a:r>
            <a:r>
              <a:rPr lang="mr-IN" sz="2000" dirty="0"/>
              <a:t>–</a:t>
            </a:r>
            <a:r>
              <a:rPr lang="en-US" sz="2000" dirty="0"/>
              <a:t> </a:t>
            </a:r>
            <a:r>
              <a:rPr lang="en-US" sz="1200" i="1" dirty="0"/>
              <a:t>Orwell lived during the first half of the 20</a:t>
            </a:r>
            <a:r>
              <a:rPr lang="en-US" sz="1200" i="1" baseline="30000" dirty="0"/>
              <a:t>th</a:t>
            </a:r>
            <a:r>
              <a:rPr lang="en-US" sz="1200" i="1" dirty="0"/>
              <a:t> century, and his reactions to his country’s involvement in imperial rule, the rise of totalitarian governments, the political upheavals of two World Wars and the onset of the Cold War affected his understanding of the way in which governments could wield power and control over a population.</a:t>
            </a:r>
          </a:p>
          <a:p>
            <a:pPr marL="514350" indent="-514350">
              <a:buFont typeface="+mj-lt"/>
              <a:buAutoNum type="arabicPeriod"/>
            </a:pPr>
            <a:r>
              <a:rPr lang="en-US" sz="2000" b="1" dirty="0"/>
              <a:t>Appearances can be deceptive </a:t>
            </a:r>
            <a:r>
              <a:rPr lang="en-US" sz="2000" dirty="0"/>
              <a:t>– Orwell lived during the first half of 20</a:t>
            </a:r>
            <a:r>
              <a:rPr lang="en-US" sz="2000" baseline="30000" dirty="0"/>
              <a:t>th</a:t>
            </a:r>
            <a:r>
              <a:rPr lang="en-US" sz="2000" dirty="0"/>
              <a:t> century and living under the imperial rule and he only heard about the totalitarian governments in young age. His involvement in the Spanish civil war and the political upheaval opened his eyes and affected his understanding of the power and control of totalitarian regimes over a population .</a:t>
            </a:r>
          </a:p>
          <a:p>
            <a:pPr lvl="1"/>
            <a:endParaRPr lang="en-US" dirty="0"/>
          </a:p>
        </p:txBody>
      </p:sp>
    </p:spTree>
    <p:extLst>
      <p:ext uri="{BB962C8B-B14F-4D97-AF65-F5344CB8AC3E}">
        <p14:creationId xmlns:p14="http://schemas.microsoft.com/office/powerpoint/2010/main" val="527872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EEF2"/>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12192000" cy="942975"/>
          </a:xfrm>
        </p:spPr>
        <p:txBody>
          <a:bodyPr/>
          <a:lstStyle/>
          <a:p>
            <a:r>
              <a:rPr lang="en-US" b="1" dirty="0">
                <a:solidFill>
                  <a:srgbClr val="FF0000"/>
                </a:solidFill>
              </a:rPr>
              <a:t>Thematic Questions </a:t>
            </a:r>
            <a:r>
              <a:rPr lang="mr-IN" b="1" dirty="0">
                <a:solidFill>
                  <a:srgbClr val="FF0000"/>
                </a:solidFill>
              </a:rPr>
              <a:t>–</a:t>
            </a:r>
            <a:r>
              <a:rPr lang="en-US" b="1" dirty="0">
                <a:solidFill>
                  <a:srgbClr val="FF0000"/>
                </a:solidFill>
              </a:rPr>
              <a:t> Context Paragraph</a:t>
            </a:r>
          </a:p>
        </p:txBody>
      </p:sp>
      <p:sp>
        <p:nvSpPr>
          <p:cNvPr id="6" name="Content Placeholder 5"/>
          <p:cNvSpPr>
            <a:spLocks noGrp="1"/>
          </p:cNvSpPr>
          <p:nvPr>
            <p:ph sz="half" idx="2"/>
          </p:nvPr>
        </p:nvSpPr>
        <p:spPr>
          <a:xfrm>
            <a:off x="309562" y="942975"/>
            <a:ext cx="11572876" cy="5715000"/>
          </a:xfrm>
          <a:solidFill>
            <a:schemeClr val="bg1"/>
          </a:solidFill>
        </p:spPr>
        <p:txBody>
          <a:bodyPr/>
          <a:lstStyle/>
          <a:p>
            <a:r>
              <a:rPr lang="en-US" dirty="0"/>
              <a:t>What is happening today that would affect a reader’s understanding / reaction to the question’s theme today? (one sentences sufficient unless the question is about timelessness)</a:t>
            </a:r>
          </a:p>
          <a:p>
            <a:endParaRPr lang="en-US" sz="2400" dirty="0"/>
          </a:p>
          <a:p>
            <a:pPr marL="514350" indent="-514350">
              <a:buFont typeface="+mj-lt"/>
              <a:buAutoNum type="arabicPeriod"/>
            </a:pPr>
            <a:r>
              <a:rPr lang="en-US" sz="2400" b="1" dirty="0"/>
              <a:t>Social Class </a:t>
            </a:r>
            <a:r>
              <a:rPr lang="mr-IN" sz="2400" b="1" dirty="0"/>
              <a:t>–</a:t>
            </a:r>
            <a:r>
              <a:rPr lang="en-US" sz="2400" b="1" dirty="0"/>
              <a:t> </a:t>
            </a:r>
            <a:r>
              <a:rPr lang="en-US" sz="2400" dirty="0">
                <a:solidFill>
                  <a:srgbClr val="0432FF"/>
                </a:solidFill>
              </a:rPr>
              <a:t>Today, </a:t>
            </a:r>
            <a:r>
              <a:rPr lang="en-US" sz="2400" i="1" dirty="0">
                <a:solidFill>
                  <a:srgbClr val="0432FF"/>
                </a:solidFill>
              </a:rPr>
              <a:t>1984</a:t>
            </a:r>
            <a:r>
              <a:rPr lang="en-US" sz="2400" dirty="0">
                <a:solidFill>
                  <a:srgbClr val="0432FF"/>
                </a:solidFill>
              </a:rPr>
              <a:t> has been referenced in many texts from published articles to internet memes by groups such as the Black Lives Matter movement, who identify with the themes of control and oppression of a minority or disenfranchised class</a:t>
            </a:r>
            <a:r>
              <a:rPr lang="mr-IN" sz="2400" dirty="0">
                <a:solidFill>
                  <a:srgbClr val="0432FF"/>
                </a:solidFill>
              </a:rPr>
              <a:t>…</a:t>
            </a:r>
            <a:endParaRPr lang="en-US" sz="2400" dirty="0">
              <a:solidFill>
                <a:srgbClr val="0432FF"/>
              </a:solidFill>
            </a:endParaRPr>
          </a:p>
          <a:p>
            <a:pPr marL="514350" indent="-514350">
              <a:buFont typeface="+mj-lt"/>
              <a:buAutoNum type="arabicPeriod"/>
            </a:pPr>
            <a:r>
              <a:rPr lang="en-US" sz="2400" b="1" dirty="0"/>
              <a:t>Power </a:t>
            </a:r>
            <a:r>
              <a:rPr lang="mr-IN" sz="2400" b="1" dirty="0"/>
              <a:t>–</a:t>
            </a:r>
            <a:r>
              <a:rPr lang="en-US" sz="2400" b="1" dirty="0"/>
              <a:t> </a:t>
            </a:r>
            <a:r>
              <a:rPr lang="en-US" sz="2400" dirty="0">
                <a:solidFill>
                  <a:srgbClr val="0432FF"/>
                </a:solidFill>
              </a:rPr>
              <a:t>Readers of 1984 today identify with many of the themes of oppressive political power as evidenced by texts ranging from published articles to internet memes which groups use to protest government control </a:t>
            </a:r>
            <a:r>
              <a:rPr lang="mr-IN" sz="2400" dirty="0">
                <a:solidFill>
                  <a:srgbClr val="0432FF"/>
                </a:solidFill>
              </a:rPr>
              <a:t>–</a:t>
            </a:r>
            <a:r>
              <a:rPr lang="en-US" sz="2400" dirty="0">
                <a:solidFill>
                  <a:srgbClr val="0432FF"/>
                </a:solidFill>
              </a:rPr>
              <a:t> groups as varied as the Black Lives Matter movement to those protesting compulsory masks during the global pandemic.</a:t>
            </a:r>
          </a:p>
          <a:p>
            <a:pPr marL="514350" indent="-514350">
              <a:buFont typeface="+mj-lt"/>
              <a:buAutoNum type="arabicPeriod"/>
            </a:pPr>
            <a:r>
              <a:rPr lang="en-US" sz="2400" b="1" dirty="0"/>
              <a:t>Appearances deceptive </a:t>
            </a:r>
            <a:r>
              <a:rPr lang="en-US" sz="2400" dirty="0"/>
              <a:t>- </a:t>
            </a:r>
          </a:p>
          <a:p>
            <a:pPr lvl="1"/>
            <a:endParaRPr lang="en-US" dirty="0"/>
          </a:p>
        </p:txBody>
      </p:sp>
    </p:spTree>
    <p:extLst>
      <p:ext uri="{BB962C8B-B14F-4D97-AF65-F5344CB8AC3E}">
        <p14:creationId xmlns:p14="http://schemas.microsoft.com/office/powerpoint/2010/main" val="56593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93540"/>
            <a:ext cx="10363200" cy="459059"/>
          </a:xfrm>
        </p:spPr>
        <p:txBody>
          <a:bodyPr/>
          <a:lstStyle/>
          <a:p>
            <a:r>
              <a:rPr lang="en-US" altLang="en-US">
                <a:solidFill>
                  <a:srgbClr val="FF0000"/>
                </a:solidFill>
              </a:rPr>
              <a:t>Techniques/ Devices used to make meaning about the concept or theme.</a:t>
            </a:r>
            <a:br>
              <a:rPr lang="en-US" altLang="en-US">
                <a:solidFill>
                  <a:srgbClr val="FF0000"/>
                </a:solidFill>
              </a:rPr>
            </a:br>
            <a:br>
              <a:rPr lang="en-US" altLang="en-US" dirty="0">
                <a:solidFill>
                  <a:srgbClr val="FF0000"/>
                </a:solidFill>
              </a:rPr>
            </a:br>
            <a:endParaRPr lang="en-US" dirty="0"/>
          </a:p>
        </p:txBody>
      </p:sp>
      <p:sp>
        <p:nvSpPr>
          <p:cNvPr id="3" name="Content Placeholder 2"/>
          <p:cNvSpPr>
            <a:spLocks noGrp="1"/>
          </p:cNvSpPr>
          <p:nvPr>
            <p:ph sz="half" idx="1"/>
          </p:nvPr>
        </p:nvSpPr>
        <p:spPr>
          <a:xfrm>
            <a:off x="401444" y="1789770"/>
            <a:ext cx="6710556" cy="506823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Consider the 3 most relevant points that Orwell makes about </a:t>
            </a:r>
            <a:r>
              <a:rPr lang="en-US" b="1" dirty="0">
                <a:solidFill>
                  <a:srgbClr val="FF0000"/>
                </a:solidFill>
              </a:rPr>
              <a:t>appearances being deceptive </a:t>
            </a:r>
            <a:r>
              <a:rPr lang="en-US" dirty="0"/>
              <a:t>in </a:t>
            </a:r>
            <a:r>
              <a:rPr lang="en-US" i="1" dirty="0"/>
              <a:t>1984</a:t>
            </a:r>
            <a:r>
              <a:rPr lang="en-US" dirty="0"/>
              <a:t> </a:t>
            </a:r>
            <a:r>
              <a:rPr lang="mr-IN" dirty="0"/>
              <a:t>–</a:t>
            </a:r>
            <a:r>
              <a:rPr lang="en-US" dirty="0"/>
              <a:t> identify 1 episode that gives a clear example of each point. Are they ones that we have mapped already on our mini analysis pages in term 2? Will you have to map them out yourself?</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These will form the PETEL paragraphs of your essay.</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112000" y="2133600"/>
            <a:ext cx="5080000" cy="3810000"/>
          </a:xfrm>
        </p:spPr>
      </p:pic>
    </p:spTree>
    <p:extLst>
      <p:ext uri="{BB962C8B-B14F-4D97-AF65-F5344CB8AC3E}">
        <p14:creationId xmlns:p14="http://schemas.microsoft.com/office/powerpoint/2010/main" val="507435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500" y="1091722"/>
            <a:ext cx="11620500" cy="5766277"/>
          </a:xfrm>
        </p:spPr>
        <p:txBody>
          <a:bodyPr/>
          <a:lstStyle/>
          <a:p>
            <a:r>
              <a:rPr lang="en-US" dirty="0"/>
              <a:t>P</a:t>
            </a:r>
          </a:p>
          <a:p>
            <a:endParaRPr lang="en-US" dirty="0"/>
          </a:p>
          <a:p>
            <a:r>
              <a:rPr lang="en-US" dirty="0"/>
              <a:t>E</a:t>
            </a:r>
          </a:p>
          <a:p>
            <a:endParaRPr lang="en-US" dirty="0"/>
          </a:p>
          <a:p>
            <a:r>
              <a:rPr lang="en-US" dirty="0"/>
              <a:t>T</a:t>
            </a:r>
          </a:p>
          <a:p>
            <a:endParaRPr lang="en-US" dirty="0"/>
          </a:p>
          <a:p>
            <a:r>
              <a:rPr lang="en-US" dirty="0"/>
              <a:t>E</a:t>
            </a:r>
          </a:p>
          <a:p>
            <a:endParaRPr lang="en-US" dirty="0"/>
          </a:p>
          <a:p>
            <a:r>
              <a:rPr lang="en-US" dirty="0"/>
              <a:t>L</a:t>
            </a:r>
          </a:p>
        </p:txBody>
      </p:sp>
      <p:pic>
        <p:nvPicPr>
          <p:cNvPr id="4" name="Content Placeholder 4"/>
          <p:cNvPicPr>
            <a:picLocks noGrp="1" noChangeAspect="1"/>
          </p:cNvPicPr>
          <p:nvPr>
            <p:ph sz="half" idx="1"/>
          </p:nvPr>
        </p:nvPicPr>
        <p:blipFill>
          <a:blip r:embed="rId2"/>
          <a:stretch>
            <a:fillRect/>
          </a:stretch>
        </p:blipFill>
        <p:spPr>
          <a:xfrm>
            <a:off x="103124" y="0"/>
            <a:ext cx="12088876" cy="1091723"/>
          </a:xfrm>
          <a:prstGeom prst="rect">
            <a:avLst/>
          </a:prstGeom>
        </p:spPr>
      </p:pic>
    </p:spTree>
    <p:extLst>
      <p:ext uri="{BB962C8B-B14F-4D97-AF65-F5344CB8AC3E}">
        <p14:creationId xmlns:p14="http://schemas.microsoft.com/office/powerpoint/2010/main" val="198648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EEF2"/>
        </a:solidFill>
        <a:effectLst/>
      </p:bgPr>
    </p:bg>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23745" y="1485900"/>
            <a:ext cx="11320579" cy="5372100"/>
          </a:xfrm>
          <a:solidFill>
            <a:schemeClr val="bg1"/>
          </a:solidFill>
        </p:spPr>
        <p:txBody>
          <a:bodyPr/>
          <a:lstStyle/>
          <a:p>
            <a:r>
              <a:rPr lang="en-US" altLang="en-US" sz="2400" dirty="0">
                <a:solidFill>
                  <a:srgbClr val="FF0000"/>
                </a:solidFill>
              </a:rPr>
              <a:t>The Literary Theme or Concept of Question:</a:t>
            </a:r>
          </a:p>
          <a:p>
            <a:pPr lvl="1"/>
            <a:r>
              <a:rPr lang="en-US" altLang="en-US" sz="2000" dirty="0"/>
              <a:t>This is an examination of one of the aspects of a </a:t>
            </a:r>
            <a:r>
              <a:rPr lang="en-US" altLang="en-US" sz="2000" b="1" dirty="0"/>
              <a:t>literary theme </a:t>
            </a:r>
            <a:r>
              <a:rPr lang="en-US" altLang="en-US" sz="2000" dirty="0"/>
              <a:t>or </a:t>
            </a:r>
            <a:r>
              <a:rPr lang="en-US" altLang="en-US" sz="2000" b="1" dirty="0"/>
              <a:t>concept</a:t>
            </a:r>
            <a:r>
              <a:rPr lang="en-US" altLang="en-US" sz="2000" dirty="0"/>
              <a:t>, introduced by the question. </a:t>
            </a:r>
          </a:p>
          <a:p>
            <a:pPr lvl="2"/>
            <a:r>
              <a:rPr lang="en-US" altLang="en-US" sz="1600" dirty="0">
                <a:solidFill>
                  <a:srgbClr val="0432FF"/>
                </a:solidFill>
              </a:rPr>
              <a:t>3 significant Points made about</a:t>
            </a:r>
          </a:p>
          <a:p>
            <a:pPr lvl="1"/>
            <a:endParaRPr lang="en-US" altLang="en-US" sz="2000" dirty="0"/>
          </a:p>
          <a:p>
            <a:r>
              <a:rPr lang="en-US" altLang="en-US" sz="2400" dirty="0">
                <a:solidFill>
                  <a:srgbClr val="FF0000"/>
                </a:solidFill>
              </a:rPr>
              <a:t>Context of both texts’ production (reception+):</a:t>
            </a:r>
          </a:p>
          <a:p>
            <a:pPr lvl="1"/>
            <a:r>
              <a:rPr lang="en-US" altLang="en-US" sz="2000" dirty="0"/>
              <a:t>This relates to how the theme/ concept as understood, interpreted and produced by the composer for a contemporary audience/ reception today.</a:t>
            </a:r>
          </a:p>
          <a:p>
            <a:pPr lvl="1"/>
            <a:endParaRPr lang="en-US" altLang="en-US" sz="2000" dirty="0"/>
          </a:p>
          <a:p>
            <a:r>
              <a:rPr lang="en-US" altLang="en-US" sz="2400" dirty="0">
                <a:solidFill>
                  <a:srgbClr val="FF0000"/>
                </a:solidFill>
              </a:rPr>
              <a:t>Techniques/ Devices used to make meaning about the concept or theme.</a:t>
            </a:r>
          </a:p>
          <a:p>
            <a:pPr lvl="1"/>
            <a:r>
              <a:rPr lang="en-US" altLang="en-US" sz="2000" dirty="0"/>
              <a:t>This provides evidence of your claim in the point above – how has the composer expressed their ideas about the literary concept or theme to the reader.</a:t>
            </a:r>
          </a:p>
          <a:p>
            <a:pPr lvl="2"/>
            <a:r>
              <a:rPr lang="en-US" altLang="en-US" sz="1600" dirty="0">
                <a:solidFill>
                  <a:srgbClr val="0432FF"/>
                </a:solidFill>
              </a:rPr>
              <a:t>Episodes/ Techniques for PETEL</a:t>
            </a:r>
          </a:p>
        </p:txBody>
      </p:sp>
      <p:pic>
        <p:nvPicPr>
          <p:cNvPr id="3" name="Content Placeholder 2"/>
          <p:cNvPicPr>
            <a:picLocks noGrp="1" noChangeAspect="1"/>
          </p:cNvPicPr>
          <p:nvPr>
            <p:ph sz="half" idx="1"/>
          </p:nvPr>
        </p:nvPicPr>
        <p:blipFill>
          <a:blip r:embed="rId2"/>
          <a:stretch>
            <a:fillRect/>
          </a:stretch>
        </p:blipFill>
        <p:spPr>
          <a:xfrm>
            <a:off x="-1" y="345961"/>
            <a:ext cx="11955889" cy="768464"/>
          </a:xfrm>
          <a:prstGeom prst="rect">
            <a:avLst/>
          </a:prstGeom>
        </p:spPr>
      </p:pic>
    </p:spTree>
    <p:extLst>
      <p:ext uri="{BB962C8B-B14F-4D97-AF65-F5344CB8AC3E}">
        <p14:creationId xmlns:p14="http://schemas.microsoft.com/office/powerpoint/2010/main" val="1672228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EEF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0737" y="301958"/>
            <a:ext cx="10363200" cy="1143000"/>
          </a:xfrm>
        </p:spPr>
        <p:txBody>
          <a:bodyPr/>
          <a:lstStyle/>
          <a:p>
            <a:r>
              <a:rPr lang="en-US" altLang="en-US" dirty="0">
                <a:solidFill>
                  <a:srgbClr val="FF0000"/>
                </a:solidFill>
              </a:rPr>
              <a:t>The Literary Theme Question:</a:t>
            </a:r>
            <a:endParaRPr lang="en-US" dirty="0"/>
          </a:p>
        </p:txBody>
      </p:sp>
      <p:sp>
        <p:nvSpPr>
          <p:cNvPr id="3" name="Content Placeholder 2"/>
          <p:cNvSpPr>
            <a:spLocks noGrp="1"/>
          </p:cNvSpPr>
          <p:nvPr>
            <p:ph sz="half" idx="1"/>
          </p:nvPr>
        </p:nvSpPr>
        <p:spPr>
          <a:xfrm>
            <a:off x="382834" y="2587958"/>
            <a:ext cx="11809165" cy="4270042"/>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dirty="0"/>
              <a:t>Consider the 3 most relevant points Orwell makes using this concept or technique and to what purpose (what is the impact on the reader). </a:t>
            </a:r>
            <a:r>
              <a:rPr lang="en-US" dirty="0">
                <a:solidFill>
                  <a:srgbClr val="0432FF"/>
                </a:solidFill>
              </a:rPr>
              <a:t>(Essay Map):</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b="1" dirty="0"/>
              <a:t>How do these 3 points answer the question overall </a:t>
            </a:r>
            <a:r>
              <a:rPr lang="mr-IN" b="1" dirty="0"/>
              <a:t>–</a:t>
            </a:r>
            <a:r>
              <a:rPr lang="en-US" b="1" dirty="0"/>
              <a:t> whenever Orwell uses contrast/ juxtaposition he is going for this or that effect on the reader? </a:t>
            </a:r>
            <a:r>
              <a:rPr lang="en-US" dirty="0">
                <a:solidFill>
                  <a:srgbClr val="0432FF"/>
                </a:solidFill>
              </a:rPr>
              <a:t>(Thesis statement):</a:t>
            </a:r>
          </a:p>
        </p:txBody>
      </p:sp>
      <p:pic>
        <p:nvPicPr>
          <p:cNvPr id="7" name="Content Placeholder 2"/>
          <p:cNvPicPr>
            <a:picLocks noGrp="1" noChangeAspect="1"/>
          </p:cNvPicPr>
          <p:nvPr>
            <p:ph sz="half" idx="2"/>
          </p:nvPr>
        </p:nvPicPr>
        <p:blipFill>
          <a:blip r:embed="rId2"/>
          <a:stretch>
            <a:fillRect/>
          </a:stretch>
        </p:blipFill>
        <p:spPr>
          <a:xfrm>
            <a:off x="-1" y="1654167"/>
            <a:ext cx="12191999" cy="579665"/>
          </a:xfrm>
          <a:prstGeom prst="rect">
            <a:avLst/>
          </a:prstGeom>
        </p:spPr>
      </p:pic>
    </p:spTree>
    <p:extLst>
      <p:ext uri="{BB962C8B-B14F-4D97-AF65-F5344CB8AC3E}">
        <p14:creationId xmlns:p14="http://schemas.microsoft.com/office/powerpoint/2010/main" val="871401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722" y="398614"/>
            <a:ext cx="11846278" cy="1143000"/>
          </a:xfrm>
        </p:spPr>
        <p:txBody>
          <a:bodyPr/>
          <a:lstStyle/>
          <a:p>
            <a:r>
              <a:rPr lang="en-US" altLang="en-US" dirty="0">
                <a:solidFill>
                  <a:srgbClr val="FF0000"/>
                </a:solidFill>
              </a:rPr>
              <a:t>Context of both texts’ production (reception+):</a:t>
            </a:r>
          </a:p>
        </p:txBody>
      </p:sp>
      <p:pic>
        <p:nvPicPr>
          <p:cNvPr id="6" name="Content Placeholder 5"/>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rot="21286967">
            <a:off x="514227" y="1854700"/>
            <a:ext cx="5268357" cy="3946182"/>
          </a:xfrm>
        </p:spPr>
      </p:pic>
      <p:sp>
        <p:nvSpPr>
          <p:cNvPr id="3" name="Content Placeholder 2"/>
          <p:cNvSpPr>
            <a:spLocks noGrp="1"/>
          </p:cNvSpPr>
          <p:nvPr>
            <p:ph sz="half" idx="2"/>
          </p:nvPr>
        </p:nvSpPr>
        <p:spPr>
          <a:xfrm>
            <a:off x="6197599" y="1981200"/>
            <a:ext cx="5994401" cy="4709532"/>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Consider the way those 3 most relevant uses that Orwell makes about </a:t>
            </a:r>
            <a:r>
              <a:rPr lang="en-US" b="1" dirty="0">
                <a:solidFill>
                  <a:srgbClr val="FF0000"/>
                </a:solidFill>
              </a:rPr>
              <a:t>contrast or juxtaposition </a:t>
            </a:r>
            <a:r>
              <a:rPr lang="en-US" dirty="0"/>
              <a:t>in </a:t>
            </a:r>
            <a:r>
              <a:rPr lang="en-US" i="1" dirty="0"/>
              <a:t>1984 </a:t>
            </a:r>
            <a:r>
              <a:rPr lang="en-US" dirty="0"/>
              <a:t>and to what purpose. Is there any relevance to the context of reception?</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These will form the context paragraph and inform your conclusion.</a:t>
            </a:r>
          </a:p>
          <a:p>
            <a:endParaRPr lang="en-US" dirty="0"/>
          </a:p>
        </p:txBody>
      </p:sp>
    </p:spTree>
    <p:extLst>
      <p:ext uri="{BB962C8B-B14F-4D97-AF65-F5344CB8AC3E}">
        <p14:creationId xmlns:p14="http://schemas.microsoft.com/office/powerpoint/2010/main" val="802782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EEF2"/>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12192000" cy="942975"/>
          </a:xfrm>
        </p:spPr>
        <p:txBody>
          <a:bodyPr/>
          <a:lstStyle/>
          <a:p>
            <a:r>
              <a:rPr lang="en-US" b="1" dirty="0">
                <a:solidFill>
                  <a:srgbClr val="FF0000"/>
                </a:solidFill>
              </a:rPr>
              <a:t>Conceptual Questions </a:t>
            </a:r>
            <a:r>
              <a:rPr lang="mr-IN" b="1" dirty="0">
                <a:solidFill>
                  <a:srgbClr val="FF0000"/>
                </a:solidFill>
              </a:rPr>
              <a:t>–</a:t>
            </a:r>
            <a:r>
              <a:rPr lang="en-US" b="1" dirty="0">
                <a:solidFill>
                  <a:srgbClr val="FF0000"/>
                </a:solidFill>
              </a:rPr>
              <a:t> Context Paragraph</a:t>
            </a:r>
          </a:p>
        </p:txBody>
      </p:sp>
      <p:sp>
        <p:nvSpPr>
          <p:cNvPr id="6" name="Content Placeholder 5"/>
          <p:cNvSpPr>
            <a:spLocks noGrp="1"/>
          </p:cNvSpPr>
          <p:nvPr>
            <p:ph sz="half" idx="2"/>
          </p:nvPr>
        </p:nvSpPr>
        <p:spPr>
          <a:xfrm>
            <a:off x="157162" y="942976"/>
            <a:ext cx="11877676" cy="5915024"/>
          </a:xfrm>
          <a:solidFill>
            <a:schemeClr val="bg1"/>
          </a:solidFill>
        </p:spPr>
        <p:txBody>
          <a:bodyPr/>
          <a:lstStyle/>
          <a:p>
            <a:r>
              <a:rPr lang="en-US" sz="2400" dirty="0">
                <a:solidFill>
                  <a:srgbClr val="FF0000"/>
                </a:solidFill>
              </a:rPr>
              <a:t>What is the most significant USE of the concept? To what themes and to what end (effect on the readers)? </a:t>
            </a:r>
            <a:r>
              <a:rPr lang="en-US" sz="2400" b="1" u="sng" dirty="0">
                <a:solidFill>
                  <a:srgbClr val="FF0000"/>
                </a:solidFill>
              </a:rPr>
              <a:t>Starter sentence</a:t>
            </a:r>
            <a:r>
              <a:rPr lang="en-US" sz="2400" dirty="0">
                <a:solidFill>
                  <a:srgbClr val="FF0000"/>
                </a:solidFill>
              </a:rPr>
              <a:t> and quick discussion relating to points.</a:t>
            </a:r>
          </a:p>
          <a:p>
            <a:pPr marL="514350" indent="-514350">
              <a:buFont typeface="+mj-lt"/>
              <a:buAutoNum type="arabicPeriod"/>
            </a:pPr>
            <a:r>
              <a:rPr lang="en-US" sz="1800" b="1" dirty="0"/>
              <a:t>Foreshadowing</a:t>
            </a:r>
            <a:r>
              <a:rPr lang="mr-IN" sz="1800" dirty="0"/>
              <a:t>–</a:t>
            </a:r>
            <a:r>
              <a:rPr lang="en-US" sz="1800" dirty="0"/>
              <a:t> </a:t>
            </a:r>
            <a:r>
              <a:rPr lang="en-US" sz="1800" i="1" dirty="0">
                <a:solidFill>
                  <a:srgbClr val="0432FF"/>
                </a:solidFill>
              </a:rPr>
              <a:t>Orwell lived during the first half of the 20</a:t>
            </a:r>
            <a:r>
              <a:rPr lang="en-US" sz="1800" i="1" baseline="30000" dirty="0">
                <a:solidFill>
                  <a:srgbClr val="0432FF"/>
                </a:solidFill>
              </a:rPr>
              <a:t>th</a:t>
            </a:r>
            <a:r>
              <a:rPr lang="en-US" sz="1800" i="1" dirty="0">
                <a:solidFill>
                  <a:srgbClr val="0432FF"/>
                </a:solidFill>
              </a:rPr>
              <a:t> century, and his reactions to his country’s involvement in imperial rule, the rise of totalitarian governments, the political upheavals of two World Wars and the onset of the Cold War contributed to his concern with the way in which governments could wield power and control</a:t>
            </a:r>
            <a:r>
              <a:rPr lang="mr-IN" sz="1800" i="1" dirty="0">
                <a:solidFill>
                  <a:srgbClr val="0432FF"/>
                </a:solidFill>
              </a:rPr>
              <a:t>…</a:t>
            </a:r>
            <a:r>
              <a:rPr lang="en-US" sz="1800" i="1" dirty="0">
                <a:solidFill>
                  <a:srgbClr val="0432FF"/>
                </a:solidFill>
              </a:rPr>
              <a:t>His purpose is centered around communicating this sense of unease to the reader, and foreshadowing allows him to heighten tensions in the plot points relating to oppression and control. </a:t>
            </a:r>
          </a:p>
          <a:p>
            <a:pPr marL="514350" indent="-514350">
              <a:buFont typeface="+mj-lt"/>
              <a:buAutoNum type="arabicPeriod"/>
            </a:pPr>
            <a:r>
              <a:rPr lang="en-US" sz="1800" b="1" dirty="0"/>
              <a:t>Contextual Concept (Timelessness) </a:t>
            </a:r>
            <a:r>
              <a:rPr lang="en-US" sz="1800" i="1" dirty="0">
                <a:solidFill>
                  <a:srgbClr val="0432FF"/>
                </a:solidFill>
              </a:rPr>
              <a:t>Orwell lived during the first half of the 20</a:t>
            </a:r>
            <a:r>
              <a:rPr lang="en-US" sz="1800" i="1" baseline="30000" dirty="0">
                <a:solidFill>
                  <a:srgbClr val="0432FF"/>
                </a:solidFill>
              </a:rPr>
              <a:t>th</a:t>
            </a:r>
            <a:r>
              <a:rPr lang="en-US" sz="1800" i="1" dirty="0">
                <a:solidFill>
                  <a:srgbClr val="0432FF"/>
                </a:solidFill>
              </a:rPr>
              <a:t> century, and his reactions </a:t>
            </a:r>
            <a:r>
              <a:rPr lang="mr-IN" sz="1800" i="1" dirty="0">
                <a:solidFill>
                  <a:srgbClr val="0432FF"/>
                </a:solidFill>
              </a:rPr>
              <a:t>…</a:t>
            </a:r>
            <a:r>
              <a:rPr lang="en-US" sz="1800" dirty="0">
                <a:solidFill>
                  <a:srgbClr val="0432FF"/>
                </a:solidFill>
              </a:rPr>
              <a:t>Readers of 1984 today identify with many of the themes of oppressive political power as evidenced by texts ranging from published articles to internet memes which groups use to protest government control </a:t>
            </a:r>
            <a:r>
              <a:rPr lang="mr-IN" sz="1800" dirty="0">
                <a:solidFill>
                  <a:srgbClr val="0432FF"/>
                </a:solidFill>
              </a:rPr>
              <a:t>–</a:t>
            </a:r>
            <a:r>
              <a:rPr lang="en-US" sz="1800" dirty="0">
                <a:solidFill>
                  <a:srgbClr val="0432FF"/>
                </a:solidFill>
              </a:rPr>
              <a:t> groups as varied as the Black Lives Matter movement to those protesting compulsory masks during the global pandemic.</a:t>
            </a:r>
            <a:endParaRPr lang="en-US" sz="1800" b="1" dirty="0"/>
          </a:p>
          <a:p>
            <a:pPr marL="514350" indent="-514350">
              <a:buFont typeface="+mj-lt"/>
              <a:buAutoNum type="arabicPeriod"/>
            </a:pPr>
            <a:r>
              <a:rPr lang="en-US" sz="1800" b="1" dirty="0"/>
              <a:t>Contrast/ Juxtaposition</a:t>
            </a:r>
            <a:r>
              <a:rPr lang="en-US" sz="1800" dirty="0"/>
              <a:t>- </a:t>
            </a:r>
            <a:r>
              <a:rPr lang="en-US" sz="1800" i="1" dirty="0">
                <a:solidFill>
                  <a:srgbClr val="0432FF"/>
                </a:solidFill>
              </a:rPr>
              <a:t>Orwell lived during the first half of the 20</a:t>
            </a:r>
            <a:r>
              <a:rPr lang="en-US" sz="1800" i="1" baseline="30000" dirty="0">
                <a:solidFill>
                  <a:srgbClr val="0432FF"/>
                </a:solidFill>
              </a:rPr>
              <a:t>th</a:t>
            </a:r>
            <a:r>
              <a:rPr lang="en-US" sz="1800" i="1" dirty="0">
                <a:solidFill>
                  <a:srgbClr val="0432FF"/>
                </a:solidFill>
              </a:rPr>
              <a:t> century, and his reactions to his country’s involvement in imperial rule, the rise of totalitarian governments, the political upheavals of two World Wars and the onset of the Cold War contributed to his concern with the way in which governments could wield power and control. Seeing two sides of the world through his own eyes, he </a:t>
            </a:r>
            <a:r>
              <a:rPr lang="en-US" sz="1800" i="1" dirty="0" err="1">
                <a:solidFill>
                  <a:srgbClr val="0432FF"/>
                </a:solidFill>
              </a:rPr>
              <a:t>centres</a:t>
            </a:r>
            <a:r>
              <a:rPr lang="en-US" sz="1800" i="1" dirty="0">
                <a:solidFill>
                  <a:srgbClr val="0432FF"/>
                </a:solidFill>
              </a:rPr>
              <a:t> it in the novel to create this sense of unease and allows readers to understand issues about oppression, control and power of totalitarian states.</a:t>
            </a:r>
            <a:endParaRPr lang="en-US" sz="1800" dirty="0"/>
          </a:p>
          <a:p>
            <a:pPr lvl="1"/>
            <a:endParaRPr lang="en-US" dirty="0"/>
          </a:p>
        </p:txBody>
      </p:sp>
    </p:spTree>
    <p:extLst>
      <p:ext uri="{BB962C8B-B14F-4D97-AF65-F5344CB8AC3E}">
        <p14:creationId xmlns:p14="http://schemas.microsoft.com/office/powerpoint/2010/main" val="158330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219200"/>
            <a:ext cx="12192000" cy="533399"/>
          </a:xfrm>
        </p:spPr>
        <p:txBody>
          <a:bodyPr/>
          <a:lstStyle/>
          <a:p>
            <a:r>
              <a:rPr lang="en-US" altLang="en-US" sz="3600" dirty="0">
                <a:solidFill>
                  <a:srgbClr val="FF0000"/>
                </a:solidFill>
              </a:rPr>
              <a:t>Techniques/ Devices used to make meaning using the concept. Why is that literary concept particularly useful when considering effect on reader?</a:t>
            </a:r>
            <a:br>
              <a:rPr lang="en-US" altLang="en-US" dirty="0">
                <a:solidFill>
                  <a:srgbClr val="FF0000"/>
                </a:solidFill>
              </a:rPr>
            </a:br>
            <a:br>
              <a:rPr lang="en-US" altLang="en-US" dirty="0">
                <a:solidFill>
                  <a:srgbClr val="FF0000"/>
                </a:solidFill>
              </a:rPr>
            </a:br>
            <a:endParaRPr lang="en-US" dirty="0"/>
          </a:p>
        </p:txBody>
      </p:sp>
      <p:sp>
        <p:nvSpPr>
          <p:cNvPr id="3" name="Content Placeholder 2"/>
          <p:cNvSpPr>
            <a:spLocks noGrp="1"/>
          </p:cNvSpPr>
          <p:nvPr>
            <p:ph sz="half" idx="1"/>
          </p:nvPr>
        </p:nvSpPr>
        <p:spPr>
          <a:xfrm>
            <a:off x="401444" y="2400300"/>
            <a:ext cx="6710556" cy="4457700"/>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Consider the 3 most relevant points that Orwell makes using </a:t>
            </a:r>
            <a:r>
              <a:rPr lang="en-US" b="1" dirty="0">
                <a:solidFill>
                  <a:srgbClr val="FF0000"/>
                </a:solidFill>
              </a:rPr>
              <a:t>foreshadowing </a:t>
            </a:r>
            <a:r>
              <a:rPr lang="en-US" dirty="0"/>
              <a:t>in </a:t>
            </a:r>
            <a:r>
              <a:rPr lang="en-US" i="1" dirty="0"/>
              <a:t>1984</a:t>
            </a:r>
            <a:r>
              <a:rPr lang="en-US" dirty="0"/>
              <a:t> </a:t>
            </a:r>
            <a:r>
              <a:rPr lang="mr-IN" dirty="0"/>
              <a:t>–</a:t>
            </a:r>
            <a:r>
              <a:rPr lang="en-US" dirty="0"/>
              <a:t> identify 1 episode that gives a clear example of each point. Are they ones that we have mapped already on our mini analysis pages in term 2? Will you have to map them out yourself?</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These will form the PETEL paragraphs of your essay.</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112000" y="2133600"/>
            <a:ext cx="5080000" cy="3810000"/>
          </a:xfrm>
        </p:spPr>
      </p:pic>
    </p:spTree>
    <p:extLst>
      <p:ext uri="{BB962C8B-B14F-4D97-AF65-F5344CB8AC3E}">
        <p14:creationId xmlns:p14="http://schemas.microsoft.com/office/powerpoint/2010/main" val="1641595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138687"/>
            <a:ext cx="6898426" cy="5167312"/>
          </a:xfrm>
          <a:solidFill>
            <a:schemeClr val="bg1"/>
          </a:solidFill>
        </p:spPr>
        <p:txBody>
          <a:bodyPr>
            <a:normAutofit/>
          </a:bodyPr>
          <a:lstStyle/>
          <a:p>
            <a:pPr marL="0" indent="0">
              <a:buNone/>
            </a:pPr>
            <a:endParaRPr lang="en-US" sz="3600" b="1" baseline="30000" dirty="0">
              <a:solidFill>
                <a:srgbClr val="000000"/>
              </a:solidFill>
              <a:latin typeface="Calibri" charset="0"/>
              <a:ea typeface="MS Mincho" charset="-128"/>
              <a:cs typeface="MS Mincho" charset="-128"/>
            </a:endParaRPr>
          </a:p>
          <a:p>
            <a:pPr marL="0" indent="0">
              <a:buNone/>
            </a:pPr>
            <a:endParaRPr lang="en-US" sz="3600" b="1" baseline="30000" dirty="0">
              <a:solidFill>
                <a:srgbClr val="000000"/>
              </a:solidFill>
              <a:latin typeface="Calibri" charset="0"/>
              <a:ea typeface="MS Mincho" charset="-128"/>
              <a:cs typeface="MS Mincho" charset="-128"/>
            </a:endParaRPr>
          </a:p>
          <a:p>
            <a:pPr marL="0" indent="0">
              <a:buNone/>
            </a:pPr>
            <a:endParaRPr lang="en-US" sz="3600" b="1" dirty="0">
              <a:solidFill>
                <a:srgbClr val="000000"/>
              </a:solidFill>
              <a:latin typeface="Calibri" charset="0"/>
              <a:ea typeface="MS Mincho" charset="-128"/>
              <a:cs typeface="MS Mincho" charset="-128"/>
            </a:endParaRPr>
          </a:p>
          <a:p>
            <a:pPr marL="0" indent="0">
              <a:buNone/>
            </a:pPr>
            <a:r>
              <a:rPr lang="en-US" sz="3600" b="1" dirty="0">
                <a:solidFill>
                  <a:srgbClr val="0432FF"/>
                </a:solidFill>
                <a:latin typeface="Calibri" charset="0"/>
                <a:ea typeface="MS Mincho" charset="-128"/>
                <a:cs typeface="MS Mincho" charset="-128"/>
              </a:rPr>
              <a:t>Fill out Firefly Handout Comparison Table for Orwell.</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34836" y="402961"/>
            <a:ext cx="4370420" cy="6070028"/>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9653" y="4121212"/>
            <a:ext cx="1362496" cy="1280746"/>
          </a:xfrm>
          <a:prstGeom prst="rect">
            <a:avLst/>
          </a:prstGeom>
        </p:spPr>
      </p:pic>
    </p:spTree>
    <p:extLst>
      <p:ext uri="{BB962C8B-B14F-4D97-AF65-F5344CB8AC3E}">
        <p14:creationId xmlns:p14="http://schemas.microsoft.com/office/powerpoint/2010/main" val="715009095"/>
      </p:ext>
    </p:extLst>
  </p:cSld>
  <p:clrMapOvr>
    <a:masterClrMapping/>
  </p:clrMapOvr>
</p:sld>
</file>

<file path=ppt/theme/theme1.xml><?xml version="1.0" encoding="utf-8"?>
<a:theme xmlns:a="http://schemas.openxmlformats.org/drawingml/2006/main" name="3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Osaka"/>
        <a:cs typeface="Osaka"/>
      </a:majorFont>
      <a:minorFont>
        <a:latin typeface="Arial"/>
        <a:ea typeface="Osaka"/>
        <a:cs typeface="Osak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4848</TotalTime>
  <Words>1804</Words>
  <Application>Microsoft Macintosh PowerPoint</Application>
  <PresentationFormat>Widescreen</PresentationFormat>
  <Paragraphs>139</Paragraphs>
  <Slides>24</Slides>
  <Notes>0</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24</vt:i4>
      </vt:variant>
    </vt:vector>
  </HeadingPairs>
  <TitlesOfParts>
    <vt:vector size="33" baseType="lpstr">
      <vt:lpstr>MS Mincho</vt:lpstr>
      <vt:lpstr>Arial</vt:lpstr>
      <vt:lpstr>Arial Rounded MT Bold</vt:lpstr>
      <vt:lpstr>Calibri</vt:lpstr>
      <vt:lpstr>Calibri Light</vt:lpstr>
      <vt:lpstr>3_Blank Presentation</vt:lpstr>
      <vt:lpstr>2_Office Theme</vt:lpstr>
      <vt:lpstr>1_Office Theme</vt:lpstr>
      <vt:lpstr>8_Office Theme</vt:lpstr>
      <vt:lpstr>IB English Language and Literature 6 ELL SL 4 2019 - 2020</vt:lpstr>
      <vt:lpstr>SCHOOL ASSESSMENT TERM 3</vt:lpstr>
      <vt:lpstr>General Outline Term 3</vt:lpstr>
      <vt:lpstr>We are still a digital classroom!</vt:lpstr>
      <vt:lpstr>Homework</vt:lpstr>
      <vt:lpstr>Tips and Tricks HW Doc</vt:lpstr>
      <vt:lpstr>Tips and Tricks HW Doc</vt:lpstr>
      <vt:lpstr>Something to get you thinking... </vt:lpstr>
      <vt:lpstr>Open Today’s PPT and Handout</vt:lpstr>
      <vt:lpstr>PowerPoint Presentation</vt:lpstr>
      <vt:lpstr>The Literary Theme vs Concept Intros:</vt:lpstr>
      <vt:lpstr>The Literary Theme Question:</vt:lpstr>
      <vt:lpstr>Context of both texts’ production (reception+):</vt:lpstr>
      <vt:lpstr>Canned Context Paragraphs</vt:lpstr>
      <vt:lpstr>Thematic Questions – Context Paragraph</vt:lpstr>
      <vt:lpstr>Thematic Questions – Context Paragraph</vt:lpstr>
      <vt:lpstr>Techniques/ Devices used to make meaning about the concept or theme.  </vt:lpstr>
      <vt:lpstr>PowerPoint Presentation</vt:lpstr>
      <vt:lpstr>PowerPoint Presentation</vt:lpstr>
      <vt:lpstr>The Literary Theme Question:</vt:lpstr>
      <vt:lpstr>Context of both texts’ production (reception+):</vt:lpstr>
      <vt:lpstr>Conceptual Questions – Context Paragraph</vt:lpstr>
      <vt:lpstr>Techniques/ Devices used to make meaning using the concept. Why is that literary concept particularly useful when considering effect on reader?  </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 English Language and Literature 6 ELL SL 4 2019 - 2020</dc:title>
  <dc:creator>Elisa Simone Zantos - Teacher of English</dc:creator>
  <cp:lastModifiedBy>Jothiligam Dheeraj - Student 2019</cp:lastModifiedBy>
  <cp:revision>42</cp:revision>
  <dcterms:created xsi:type="dcterms:W3CDTF">2020-06-30T22:05:36Z</dcterms:created>
  <dcterms:modified xsi:type="dcterms:W3CDTF">2020-07-13T13:56:19Z</dcterms:modified>
</cp:coreProperties>
</file>