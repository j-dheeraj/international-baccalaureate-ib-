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8" r:id="rId2"/>
    <p:sldMasterId id="2147483691" r:id="rId3"/>
    <p:sldMasterId id="2147483703" r:id="rId4"/>
  </p:sldMasterIdLst>
  <p:sldIdLst>
    <p:sldId id="263" r:id="rId5"/>
    <p:sldId id="265" r:id="rId6"/>
    <p:sldId id="266" r:id="rId7"/>
    <p:sldId id="267" r:id="rId8"/>
    <p:sldId id="268" r:id="rId9"/>
    <p:sldId id="275" r:id="rId10"/>
    <p:sldId id="276" r:id="rId11"/>
    <p:sldId id="277" r:id="rId12"/>
    <p:sldId id="258" r:id="rId13"/>
    <p:sldId id="261" r:id="rId14"/>
    <p:sldId id="262" r:id="rId15"/>
    <p:sldId id="278" r:id="rId16"/>
    <p:sldId id="279" r:id="rId17"/>
    <p:sldId id="270" r:id="rId18"/>
    <p:sldId id="271" r:id="rId19"/>
    <p:sldId id="273" r:id="rId20"/>
    <p:sldId id="272" r:id="rId21"/>
    <p:sldId id="274" r:id="rId22"/>
    <p:sldId id="280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EE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4"/>
    <p:restoredTop sz="93130"/>
  </p:normalViewPr>
  <p:slideViewPr>
    <p:cSldViewPr snapToGrid="0" snapToObjects="1">
      <p:cViewPr>
        <p:scale>
          <a:sx n="45" d="100"/>
          <a:sy n="45" d="100"/>
        </p:scale>
        <p:origin x="17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D4FE-4210-C74C-BB56-00E0623B44C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7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4A374-29B7-2549-9F69-BB0EA76824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81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81098-DFD4-DE48-A017-B4A20B753CB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20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CC64D-77FE-A64A-803F-E19F98D60B4D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738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2964-CA5C-9448-AAC1-CD7A2210F12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9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6882B-71B3-124A-B7CE-A7024F712FA5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12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C2F09-5DEC-D847-AEA5-DC353A80BCE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40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37544-67A0-A649-A890-5C1271C708D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2515B-9CAA-174D-B835-410668FA6FB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72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8727-4907-7248-B94F-968B449091CC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36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158AE-C725-B448-BD3E-FE9B628D4C9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137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8D0A0-9D96-CC4C-A29E-671D1725271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36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7D727-A4D9-6C4E-8315-99599BC1BF0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71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104C5-BA1F-514A-9E09-A1247DEB83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781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0A8F0-FA8C-E04B-9E29-F1796B1916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868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217" y="4572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4217" y="19812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4217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F48CE7-194B-D348-A59B-1F1D66A0554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114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085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887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026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0846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128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863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20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247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4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5213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545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02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24934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9770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469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6931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3290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526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043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907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2305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4728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9803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9668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608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8359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1073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5801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514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41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497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7880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655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8009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4852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20800-63EC-0A4C-B45E-A601CC4C780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4910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94B623-AAB8-A64A-8E12-87F7105FD20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1152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564217" y="457200"/>
            <a:ext cx="10363200" cy="5638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B89AF-C541-5E47-B368-AC21608EB53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6587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53E0F-ABBD-D944-B58B-0B89088B81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3689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4B76D-F7D2-8F43-AAF5-FE2426304F9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45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6.xml"/><Relationship Id="rId17" Type="http://schemas.openxmlformats.org/officeDocument/2006/relationships/theme" Target="../theme/theme4.xml"/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Osaka" charset="-128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5BBF79-2763-BF4A-BFD3-32471AE9AEA8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9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9334D819-9F07-4261-B09B-9E467E5D900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7/1/20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71766878-3199-4EAB-94E7-2D6D11070E1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94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7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66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hyperlink" Target="http://www.thinkib.net/englishalanglit/paper-2/p2-sample-work.ht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tif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47" y="340659"/>
            <a:ext cx="11510681" cy="316930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+mn-lt"/>
              </a:rPr>
              <a:t>IB English Language and Literature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6 ELL SL 4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2019 - 2020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906838"/>
            <a:ext cx="12192000" cy="2691186"/>
          </a:xfrm>
        </p:spPr>
        <p:txBody>
          <a:bodyPr>
            <a:noAutofit/>
          </a:bodyPr>
          <a:lstStyle/>
          <a:p>
            <a:r>
              <a:rPr lang="en-US" sz="44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Shape of the Week (1):</a:t>
            </a: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1: Prelim Prep </a:t>
            </a:r>
            <a:r>
              <a:rPr lang="mr-IN" sz="3200" dirty="0" smtClean="0">
                <a:solidFill>
                  <a:prstClr val="white"/>
                </a:solidFill>
              </a:rPr>
              <a:t>–</a:t>
            </a:r>
            <a:r>
              <a:rPr lang="en-US" sz="3200" dirty="0" smtClean="0">
                <a:solidFill>
                  <a:prstClr val="white"/>
                </a:solidFill>
              </a:rPr>
              <a:t> Essay Writing</a:t>
            </a: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2: </a:t>
            </a:r>
            <a:r>
              <a:rPr lang="en-US" sz="3200" dirty="0">
                <a:solidFill>
                  <a:prstClr val="white"/>
                </a:solidFill>
              </a:rPr>
              <a:t>Prelim Prep </a:t>
            </a:r>
            <a:r>
              <a:rPr lang="mr-IN" sz="3200" dirty="0">
                <a:solidFill>
                  <a:prstClr val="white"/>
                </a:solidFill>
              </a:rPr>
              <a:t>–</a:t>
            </a:r>
            <a:r>
              <a:rPr lang="en-US" sz="3200" dirty="0">
                <a:solidFill>
                  <a:prstClr val="white"/>
                </a:solidFill>
              </a:rPr>
              <a:t> Essay Writing </a:t>
            </a:r>
            <a:endParaRPr lang="en-US" sz="3200" dirty="0" smtClean="0">
              <a:solidFill>
                <a:prstClr val="white"/>
              </a:solidFill>
            </a:endParaRP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3: </a:t>
            </a:r>
            <a:r>
              <a:rPr lang="en-US" sz="3200" dirty="0">
                <a:solidFill>
                  <a:prstClr val="white"/>
                </a:solidFill>
              </a:rPr>
              <a:t>Prelim Prep </a:t>
            </a:r>
            <a:r>
              <a:rPr lang="mr-IN" sz="3200" dirty="0">
                <a:solidFill>
                  <a:prstClr val="white"/>
                </a:solidFill>
              </a:rPr>
              <a:t>–</a:t>
            </a:r>
            <a:r>
              <a:rPr lang="en-US" sz="3200" dirty="0">
                <a:solidFill>
                  <a:prstClr val="white"/>
                </a:solidFill>
              </a:rPr>
              <a:t> Essay Writing </a:t>
            </a:r>
          </a:p>
          <a:p>
            <a:pPr lvl="0"/>
            <a:endParaRPr lang="en-US" sz="32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1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charset="0"/>
                <a:ea typeface="Arial Rounded MT Bold" charset="0"/>
                <a:cs typeface="Arial Rounded MT Bold" charset="0"/>
              </a:rPr>
              <a:t>SCHOOL ASSESSMENT TERM 3</a:t>
            </a:r>
            <a:endParaRPr lang="en-US" b="1" dirty="0">
              <a:solidFill>
                <a:srgbClr val="FF0000"/>
              </a:solidFill>
              <a:latin typeface="Arial Rounded MT Bold" charset="0"/>
              <a:ea typeface="Arial Rounded MT Bold" charset="0"/>
              <a:cs typeface="Arial Rounded MT Bold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161" y="1745671"/>
            <a:ext cx="6578763" cy="493221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>
                <a:latin typeface="MS Mincho" charset="-128"/>
                <a:ea typeface="ＭＳ 明朝" charset="-128"/>
                <a:cs typeface="MS Mincho" charset="-128"/>
              </a:rPr>
              <a:t>☑ </a:t>
            </a:r>
            <a:r>
              <a:rPr lang="en-US" sz="3200" b="1" dirty="0" smtClean="0">
                <a:ea typeface="ＭＳ 明朝" charset="-128"/>
                <a:cs typeface="MS Mincho" charset="-128"/>
              </a:rPr>
              <a:t>PRELIMS!!!</a:t>
            </a:r>
            <a:endParaRPr lang="en-US" sz="3200" b="1" u="sng" dirty="0" smtClean="0">
              <a:ea typeface="ＭＳ 明朝" charset="-128"/>
              <a:cs typeface="MS Mincho" charset="-128"/>
            </a:endParaRPr>
          </a:p>
          <a:p>
            <a:endParaRPr lang="en-US" sz="3600" dirty="0" smtClean="0">
              <a:solidFill>
                <a:prstClr val="black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lvl="0" indent="0">
              <a:buNone/>
            </a:pPr>
            <a:endParaRPr lang="en-US" sz="4800" dirty="0">
              <a:solidFill>
                <a:prstClr val="black"/>
              </a:solidFill>
              <a:latin typeface="Calibri" charset="0"/>
              <a:ea typeface="ＭＳ 明朝" charset="-128"/>
              <a:cs typeface="Times New Roman" charset="0"/>
            </a:endParaRP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454" y="1858061"/>
            <a:ext cx="3657600" cy="405627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966" y="387999"/>
            <a:ext cx="1357672" cy="135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5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93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+mn-lt"/>
              </a:rPr>
              <a:t>General Outline Term 3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838200" y="1756352"/>
            <a:ext cx="9011194" cy="4949247"/>
          </a:xfrm>
          <a:solidFill>
            <a:srgbClr val="FFE9EE"/>
          </a:solidFill>
        </p:spPr>
        <p:txBody>
          <a:bodyPr/>
          <a:lstStyle/>
          <a:p>
            <a:r>
              <a:rPr lang="en-US" dirty="0" smtClean="0"/>
              <a:t>WEEK 1 Paper 2 Prelim Prep</a:t>
            </a:r>
          </a:p>
          <a:p>
            <a:r>
              <a:rPr lang="en-US" dirty="0" smtClean="0"/>
              <a:t>WEEK 2 </a:t>
            </a:r>
            <a:r>
              <a:rPr lang="en-US" dirty="0"/>
              <a:t>Paper </a:t>
            </a:r>
            <a:r>
              <a:rPr lang="en-US" dirty="0" smtClean="0"/>
              <a:t>1 </a:t>
            </a:r>
            <a:r>
              <a:rPr lang="en-US" dirty="0"/>
              <a:t>Prelim Prep</a:t>
            </a:r>
          </a:p>
          <a:p>
            <a:r>
              <a:rPr lang="en-US" dirty="0" smtClean="0"/>
              <a:t>WEEK 3 Prelims</a:t>
            </a:r>
          </a:p>
          <a:p>
            <a:r>
              <a:rPr lang="en-US" dirty="0" smtClean="0"/>
              <a:t>WEEK 4 </a:t>
            </a:r>
            <a:r>
              <a:rPr lang="en-US" dirty="0"/>
              <a:t>Prelims</a:t>
            </a:r>
          </a:p>
          <a:p>
            <a:r>
              <a:rPr lang="en-US" dirty="0" smtClean="0"/>
              <a:t>WEEK 5 WT </a:t>
            </a:r>
            <a:r>
              <a:rPr lang="en-US" dirty="0" err="1" smtClean="0"/>
              <a:t>finalisation</a:t>
            </a:r>
            <a:endParaRPr lang="en-US" dirty="0" smtClean="0"/>
          </a:p>
          <a:p>
            <a:r>
              <a:rPr lang="en-US" dirty="0"/>
              <a:t>WEEK </a:t>
            </a:r>
            <a:r>
              <a:rPr lang="en-US" dirty="0" smtClean="0"/>
              <a:t>6 Chronicle</a:t>
            </a:r>
            <a:endParaRPr lang="en-US" dirty="0"/>
          </a:p>
          <a:p>
            <a:r>
              <a:rPr lang="en-US" dirty="0"/>
              <a:t>WEEK </a:t>
            </a:r>
            <a:r>
              <a:rPr lang="en-US" dirty="0" smtClean="0"/>
              <a:t>7 </a:t>
            </a:r>
            <a:r>
              <a:rPr lang="en-US" dirty="0"/>
              <a:t>Chronicle</a:t>
            </a:r>
          </a:p>
          <a:p>
            <a:r>
              <a:rPr lang="en-US" dirty="0" smtClean="0"/>
              <a:t>WEEK 8 </a:t>
            </a:r>
            <a:r>
              <a:rPr lang="en-US" dirty="0"/>
              <a:t>Chronicle</a:t>
            </a:r>
          </a:p>
          <a:p>
            <a:r>
              <a:rPr lang="en-US" dirty="0" smtClean="0"/>
              <a:t>WEEK 9 </a:t>
            </a:r>
            <a:r>
              <a:rPr lang="en-US" dirty="0"/>
              <a:t>Chronicle</a:t>
            </a:r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394" y="365126"/>
            <a:ext cx="1980166" cy="198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4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 smtClean="0">
                <a:solidFill>
                  <a:srgbClr val="FF0000"/>
                </a:solidFill>
                <a:latin typeface="+mn-lt"/>
              </a:rPr>
              <a:t>We are still a digital classroom!</a:t>
            </a:r>
            <a:endParaRPr lang="en-US" sz="7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8" y="2022765"/>
            <a:ext cx="4835235" cy="4835235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080" y="2413794"/>
            <a:ext cx="5269575" cy="3763982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2" y="36554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sz="3600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sz="3600" b="1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sz="36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Read Firefly docs </a:t>
            </a:r>
            <a:r>
              <a:rPr lang="mr-IN" sz="36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–</a:t>
            </a:r>
            <a:r>
              <a:rPr lang="en-US" sz="36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 Unpacking Question and Paper 2 Tips and Tricks.</a:t>
            </a:r>
            <a:endParaRPr lang="en-US" sz="3600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82" y="4901797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5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219" y="1"/>
            <a:ext cx="10515600" cy="1137424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solidFill>
                  <a:srgbClr val="00B050"/>
                </a:solidFill>
                <a:latin typeface="+mn-lt"/>
              </a:rPr>
              <a:t>Tips and Tricks HW Doc</a:t>
            </a:r>
            <a:endParaRPr lang="en-US" sz="72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9" y="1137425"/>
            <a:ext cx="12192000" cy="5330283"/>
          </a:xfrm>
        </p:spPr>
        <p:txBody>
          <a:bodyPr>
            <a:no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Read the instructions. </a:t>
            </a:r>
            <a:endParaRPr lang="en-US" sz="3200" dirty="0" smtClean="0">
              <a:latin typeface="Arial" charset="0"/>
              <a:ea typeface="Arial" charset="0"/>
              <a:cs typeface="Arial" charset="0"/>
            </a:endParaRPr>
          </a:p>
          <a:p>
            <a:pPr marL="514350" lvl="0" indent="-514350">
              <a:buFont typeface="+mj-lt"/>
              <a:buAutoNum type="arabicPeriod"/>
            </a:pPr>
            <a:endParaRPr lang="en-US" sz="3200" dirty="0">
              <a:latin typeface="Arial" charset="0"/>
              <a:ea typeface="Arial" charset="0"/>
              <a:cs typeface="Arial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Remember </a:t>
            </a: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that the Paper 2 exam is asking you to do three things. </a:t>
            </a:r>
            <a:endParaRPr lang="en-US" sz="3200" dirty="0" smtClean="0">
              <a:latin typeface="Arial" charset="0"/>
              <a:ea typeface="Arial" charset="0"/>
              <a:cs typeface="Arial" charset="0"/>
            </a:endParaRPr>
          </a:p>
          <a:p>
            <a:pPr marL="457200" lvl="1" indent="0">
              <a:buNone/>
            </a:pP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A</a:t>
            </a: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) Be knowledgeable on the text </a:t>
            </a:r>
            <a:r>
              <a:rPr lang="en-US" sz="3200" i="1" dirty="0">
                <a:latin typeface="Arial" charset="0"/>
                <a:ea typeface="Arial" charset="0"/>
                <a:cs typeface="Arial" charset="0"/>
              </a:rPr>
              <a:t>and</a:t>
            </a: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 the context. </a:t>
            </a:r>
            <a:br>
              <a:rPr lang="en-US" sz="3200" dirty="0">
                <a:latin typeface="Arial" charset="0"/>
                <a:ea typeface="Arial" charset="0"/>
                <a:cs typeface="Arial" charset="0"/>
              </a:rPr>
            </a:b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B) Do not forget to answer the question. </a:t>
            </a:r>
            <a:br>
              <a:rPr lang="en-US" sz="3200" dirty="0">
                <a:latin typeface="Arial" charset="0"/>
                <a:ea typeface="Arial" charset="0"/>
                <a:cs typeface="Arial" charset="0"/>
              </a:rPr>
            </a:b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C) Remember to comment on the author's use of language, style and structure</a:t>
            </a: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514350" lvl="0" indent="-514350">
              <a:buFont typeface="+mj-lt"/>
              <a:buAutoNum type="arabicPeriod"/>
            </a:pPr>
            <a:endParaRPr lang="en-GB" sz="3200" dirty="0">
              <a:latin typeface="Arial" charset="0"/>
              <a:ea typeface="Arial" charset="0"/>
              <a:cs typeface="Arial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Be smart about choosing/ </a:t>
            </a:r>
            <a:r>
              <a:rPr lang="en-US" sz="3200" dirty="0" err="1" smtClean="0">
                <a:latin typeface="Arial" charset="0"/>
                <a:ea typeface="Arial" charset="0"/>
                <a:cs typeface="Arial" charset="0"/>
              </a:rPr>
              <a:t>anssering</a:t>
            </a: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 questions!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 err="1" smtClean="0">
                <a:solidFill>
                  <a:srgbClr val="0432FF"/>
                </a:solidFill>
                <a:latin typeface="Arial" charset="0"/>
                <a:ea typeface="Arial" charset="0"/>
                <a:cs typeface="Arial" charset="0"/>
              </a:rPr>
              <a:t>eg</a:t>
            </a:r>
            <a:r>
              <a:rPr lang="en-US" sz="3200" dirty="0" smtClean="0">
                <a:solidFill>
                  <a:srgbClr val="0432FF"/>
                </a:solidFill>
                <a:latin typeface="Arial" charset="0"/>
                <a:ea typeface="Arial" charset="0"/>
                <a:cs typeface="Arial" charset="0"/>
              </a:rPr>
              <a:t>.’Timeless’ question don’t forget criteria C.</a:t>
            </a:r>
            <a:endParaRPr lang="en-US" sz="3200" dirty="0">
              <a:solidFill>
                <a:srgbClr val="0432FF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1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219" y="1"/>
            <a:ext cx="10515600" cy="1137424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solidFill>
                  <a:srgbClr val="00B050"/>
                </a:solidFill>
                <a:latin typeface="+mn-lt"/>
              </a:rPr>
              <a:t>Tips and Tricks HW Doc</a:t>
            </a:r>
            <a:endParaRPr lang="en-US" sz="72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9" y="1137425"/>
            <a:ext cx="12192000" cy="572057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dirty="0" smtClean="0"/>
              <a:t>4. Practice </a:t>
            </a:r>
            <a:r>
              <a:rPr lang="en-US" dirty="0"/>
              <a:t>writing outlines for questions that appeared on previous tests (or one of the Specimen Papers). </a:t>
            </a:r>
            <a:endParaRPr lang="en-US" dirty="0" smtClean="0"/>
          </a:p>
          <a:p>
            <a:pPr marL="0" lvl="0" indent="0">
              <a:buNone/>
            </a:pPr>
            <a:endParaRPr lang="en-GB" dirty="0" smtClean="0"/>
          </a:p>
          <a:p>
            <a:pPr marL="0" lvl="0" indent="0">
              <a:buNone/>
            </a:pPr>
            <a:r>
              <a:rPr lang="en-US" dirty="0" smtClean="0"/>
              <a:t>5. Do </a:t>
            </a:r>
            <a:r>
              <a:rPr lang="en-US" dirty="0"/>
              <a:t>research on the time period when the work was written and the authors that you have studied for Part 3 works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0432FF"/>
                </a:solidFill>
              </a:rPr>
              <a:t>(</a:t>
            </a:r>
            <a:r>
              <a:rPr lang="en-US" i="1" dirty="0" smtClean="0">
                <a:solidFill>
                  <a:srgbClr val="0432FF"/>
                </a:solidFill>
              </a:rPr>
              <a:t>Such, Such</a:t>
            </a:r>
            <a:r>
              <a:rPr lang="en-US" dirty="0" smtClean="0">
                <a:solidFill>
                  <a:srgbClr val="0432FF"/>
                </a:solidFill>
              </a:rPr>
              <a:t>)</a:t>
            </a:r>
          </a:p>
          <a:p>
            <a:pPr marL="0" lvl="0" indent="0">
              <a:buNone/>
            </a:pPr>
            <a:endParaRPr lang="en-GB" dirty="0">
              <a:solidFill>
                <a:srgbClr val="0432FF"/>
              </a:solidFill>
            </a:endParaRPr>
          </a:p>
          <a:p>
            <a:pPr marL="0" indent="0">
              <a:buNone/>
            </a:pPr>
            <a:r>
              <a:rPr lang="en-US" dirty="0" smtClean="0"/>
              <a:t>6. Have </a:t>
            </a:r>
            <a:r>
              <a:rPr lang="en-US" dirty="0"/>
              <a:t>you shown how well you read the novels? </a:t>
            </a:r>
            <a:endParaRPr lang="en-US" dirty="0" smtClean="0"/>
          </a:p>
          <a:p>
            <a:pPr marL="457200" lvl="1" indent="0">
              <a:buNone/>
            </a:pPr>
            <a:r>
              <a:rPr lang="en-US" sz="2800" dirty="0" smtClean="0"/>
              <a:t>A</a:t>
            </a:r>
            <a:r>
              <a:rPr lang="en-US" sz="2800" dirty="0"/>
              <a:t>) Setting - How is it important to understanding the context? </a:t>
            </a:r>
            <a:endParaRPr lang="en-US" sz="2800" dirty="0" smtClean="0"/>
          </a:p>
          <a:p>
            <a:pPr marL="457200" lvl="1" indent="0">
              <a:buNone/>
            </a:pPr>
            <a:r>
              <a:rPr lang="en-US" sz="2800" dirty="0" smtClean="0"/>
              <a:t>B</a:t>
            </a:r>
            <a:r>
              <a:rPr lang="en-US" sz="2800" dirty="0"/>
              <a:t>) Plot - Was there a twist, a climax, a </a:t>
            </a:r>
            <a:r>
              <a:rPr lang="en-US" sz="2800" dirty="0" smtClean="0"/>
              <a:t>conflict?</a:t>
            </a:r>
          </a:p>
          <a:p>
            <a:pPr marL="457200" lvl="1" indent="0">
              <a:buNone/>
            </a:pPr>
            <a:r>
              <a:rPr lang="en-US" sz="2800" dirty="0" smtClean="0"/>
              <a:t>C</a:t>
            </a:r>
            <a:r>
              <a:rPr lang="en-US" sz="2800" dirty="0"/>
              <a:t>) Narrative technique - Who is telling the story? </a:t>
            </a:r>
            <a:r>
              <a:rPr lang="en-US" sz="2800" dirty="0" smtClean="0"/>
              <a:t>Why?</a:t>
            </a:r>
          </a:p>
          <a:p>
            <a:pPr marL="0" lvl="0" indent="0">
              <a:buNone/>
            </a:pPr>
            <a:endParaRPr lang="en-US" dirty="0" smtClean="0"/>
          </a:p>
          <a:p>
            <a:pPr marL="0" lvl="0" indent="0">
              <a:buNone/>
            </a:pPr>
            <a:r>
              <a:rPr lang="en-US" dirty="0" smtClean="0"/>
              <a:t>7. Practice </a:t>
            </a:r>
            <a:r>
              <a:rPr lang="en-US" dirty="0"/>
              <a:t>using the assessment criteria by examining </a:t>
            </a:r>
            <a:r>
              <a:rPr lang="en-US" dirty="0" smtClean="0"/>
              <a:t>good + </a:t>
            </a:r>
            <a:r>
              <a:rPr lang="en-US" dirty="0"/>
              <a:t>bad </a:t>
            </a:r>
            <a:r>
              <a:rPr lang="en-US" dirty="0">
                <a:hlinkClick r:id="rId2"/>
              </a:rPr>
              <a:t>samples</a:t>
            </a:r>
            <a:r>
              <a:rPr lang="en-US" dirty="0"/>
              <a:t>.</a:t>
            </a:r>
            <a:endParaRPr lang="en-GB" dirty="0"/>
          </a:p>
          <a:p>
            <a:pPr marL="0" indent="0">
              <a:buNone/>
            </a:pPr>
            <a:endParaRPr lang="en-US" sz="3200" dirty="0">
              <a:solidFill>
                <a:srgbClr val="0432FF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4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219" y="1"/>
            <a:ext cx="10515600" cy="1137424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solidFill>
                  <a:srgbClr val="00B050"/>
                </a:solidFill>
                <a:latin typeface="+mn-lt"/>
              </a:rPr>
              <a:t>Tips and Tricks HW Doc</a:t>
            </a:r>
            <a:endParaRPr lang="en-US" sz="72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9" y="1137425"/>
            <a:ext cx="12192000" cy="5330283"/>
          </a:xfrm>
        </p:spPr>
        <p:txBody>
          <a:bodyPr>
            <a:no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Read the instructions. </a:t>
            </a:r>
            <a:endParaRPr lang="en-US" sz="3200" dirty="0" smtClean="0">
              <a:latin typeface="Arial" charset="0"/>
              <a:ea typeface="Arial" charset="0"/>
              <a:cs typeface="Arial" charset="0"/>
            </a:endParaRPr>
          </a:p>
          <a:p>
            <a:pPr marL="514350" lvl="0" indent="-514350">
              <a:buFont typeface="+mj-lt"/>
              <a:buAutoNum type="arabicPeriod"/>
            </a:pPr>
            <a:endParaRPr lang="en-US" sz="3200" dirty="0">
              <a:latin typeface="Arial" charset="0"/>
              <a:ea typeface="Arial" charset="0"/>
              <a:cs typeface="Arial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Remember </a:t>
            </a: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that the Paper 2 exam is asking you to do three things. </a:t>
            </a:r>
            <a:endParaRPr lang="en-US" sz="3200" dirty="0" smtClean="0">
              <a:latin typeface="Arial" charset="0"/>
              <a:ea typeface="Arial" charset="0"/>
              <a:cs typeface="Arial" charset="0"/>
            </a:endParaRPr>
          </a:p>
          <a:p>
            <a:pPr marL="457200" lvl="1" indent="0">
              <a:buNone/>
            </a:pP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A</a:t>
            </a: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) Be knowledgeable on the text </a:t>
            </a:r>
            <a:r>
              <a:rPr lang="en-US" sz="3200" i="1" dirty="0">
                <a:latin typeface="Arial" charset="0"/>
                <a:ea typeface="Arial" charset="0"/>
                <a:cs typeface="Arial" charset="0"/>
              </a:rPr>
              <a:t>and</a:t>
            </a: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 the context. </a:t>
            </a:r>
            <a:br>
              <a:rPr lang="en-US" sz="3200" dirty="0">
                <a:latin typeface="Arial" charset="0"/>
                <a:ea typeface="Arial" charset="0"/>
                <a:cs typeface="Arial" charset="0"/>
              </a:rPr>
            </a:b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B) Do not forget to answer the question. </a:t>
            </a:r>
            <a:br>
              <a:rPr lang="en-US" sz="3200" dirty="0">
                <a:latin typeface="Arial" charset="0"/>
                <a:ea typeface="Arial" charset="0"/>
                <a:cs typeface="Arial" charset="0"/>
              </a:rPr>
            </a:b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C) Remember to comment on the author's use of language, style and structure</a:t>
            </a: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514350" lvl="0" indent="-514350">
              <a:buFont typeface="+mj-lt"/>
              <a:buAutoNum type="arabicPeriod"/>
            </a:pPr>
            <a:endParaRPr lang="en-GB" sz="3200" dirty="0">
              <a:latin typeface="Arial" charset="0"/>
              <a:ea typeface="Arial" charset="0"/>
              <a:cs typeface="Arial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Be smart about choosing/ </a:t>
            </a:r>
            <a:r>
              <a:rPr lang="en-US" sz="3200" dirty="0" err="1" smtClean="0">
                <a:latin typeface="Arial" charset="0"/>
                <a:ea typeface="Arial" charset="0"/>
                <a:cs typeface="Arial" charset="0"/>
              </a:rPr>
              <a:t>anssering</a:t>
            </a: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 questions!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 err="1" smtClean="0">
                <a:solidFill>
                  <a:srgbClr val="0432FF"/>
                </a:solidFill>
                <a:latin typeface="Arial" charset="0"/>
                <a:ea typeface="Arial" charset="0"/>
                <a:cs typeface="Arial" charset="0"/>
              </a:rPr>
              <a:t>eg</a:t>
            </a:r>
            <a:r>
              <a:rPr lang="en-US" sz="3200" dirty="0" smtClean="0">
                <a:solidFill>
                  <a:srgbClr val="0432FF"/>
                </a:solidFill>
                <a:latin typeface="Arial" charset="0"/>
                <a:ea typeface="Arial" charset="0"/>
                <a:cs typeface="Arial" charset="0"/>
              </a:rPr>
              <a:t>.’Timeless’ question don’t forget criteria C.</a:t>
            </a:r>
            <a:endParaRPr lang="en-US" sz="3200" dirty="0">
              <a:solidFill>
                <a:srgbClr val="0432FF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90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ctr"/>
            <a:r>
              <a:rPr lang="en-US" sz="6600" b="1" dirty="0">
                <a:solidFill>
                  <a:srgbClr val="00B050"/>
                </a:solidFill>
                <a:latin typeface="+mn-lt"/>
              </a:rPr>
              <a:t>Something to get you thinking...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FFD4D5"/>
          </a:solidFill>
        </p:spPr>
        <p:txBody>
          <a:bodyPr/>
          <a:lstStyle/>
          <a:p>
            <a:pPr marL="127000" lv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sz="4800" dirty="0" smtClean="0">
                <a:ea typeface="Comic Sans MS"/>
                <a:cs typeface="Comic Sans MS"/>
                <a:sym typeface="Comic Sans MS"/>
              </a:rPr>
              <a:t>What types of </a:t>
            </a:r>
            <a:r>
              <a:rPr lang="en-US" sz="4800" b="1" dirty="0" smtClean="0">
                <a:ea typeface="Comic Sans MS"/>
                <a:cs typeface="Comic Sans MS"/>
                <a:sym typeface="Comic Sans MS"/>
              </a:rPr>
              <a:t>themes</a:t>
            </a:r>
            <a:r>
              <a:rPr lang="en-US" sz="4800" dirty="0" smtClean="0">
                <a:ea typeface="Comic Sans MS"/>
                <a:cs typeface="Comic Sans MS"/>
                <a:sym typeface="Comic Sans MS"/>
              </a:rPr>
              <a:t> might we encounter on the exam?</a:t>
            </a:r>
            <a:endParaRPr lang="en-US" sz="4800" dirty="0">
              <a:ea typeface="Comic Sans MS"/>
              <a:cs typeface="Comic Sans MS"/>
              <a:sym typeface="Comic Sans MS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4800" dirty="0">
              <a:ea typeface="Comic Sans MS"/>
              <a:cs typeface="Comic Sans MS"/>
              <a:sym typeface="Comic Sans MS"/>
            </a:endParaRPr>
          </a:p>
          <a:p>
            <a:pPr marL="127000" lv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sz="4800" dirty="0" smtClean="0">
                <a:ea typeface="Comic Sans MS"/>
                <a:cs typeface="Comic Sans MS"/>
                <a:sym typeface="Comic Sans MS"/>
              </a:rPr>
              <a:t>What types of </a:t>
            </a:r>
            <a:r>
              <a:rPr lang="en-US" sz="4800" b="1" dirty="0" smtClean="0">
                <a:ea typeface="Comic Sans MS"/>
                <a:cs typeface="Comic Sans MS"/>
                <a:sym typeface="Comic Sans MS"/>
              </a:rPr>
              <a:t>literary concepts </a:t>
            </a:r>
            <a:r>
              <a:rPr lang="en-US" sz="4800" dirty="0" smtClean="0">
                <a:ea typeface="Comic Sans MS"/>
                <a:cs typeface="Comic Sans MS"/>
                <a:sym typeface="Comic Sans MS"/>
              </a:rPr>
              <a:t>might we encounter on the exam? </a:t>
            </a:r>
            <a:endParaRPr lang="en-US" sz="4800" dirty="0">
              <a:ea typeface="Comic Sans MS"/>
              <a:cs typeface="Comic Sans MS"/>
              <a:sym typeface="Comic Sans M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28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Open </a:t>
            </a:r>
            <a:r>
              <a:rPr lang="mr-IN" dirty="0" smtClean="0">
                <a:solidFill>
                  <a:srgbClr val="00B050"/>
                </a:solidFill>
              </a:rPr>
              <a:t>–</a:t>
            </a:r>
            <a:r>
              <a:rPr lang="en-US" dirty="0" smtClean="0">
                <a:solidFill>
                  <a:srgbClr val="00B050"/>
                </a:solidFill>
              </a:rPr>
              <a:t> Unpacking Questions DOC.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rgbClr val="0432FF"/>
                </a:solidFill>
              </a:rPr>
              <a:t>Go to Firefly!</a:t>
            </a:r>
            <a:endParaRPr lang="en-US" sz="36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16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4696722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Brainstorm!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677" y="1981200"/>
            <a:ext cx="4313445" cy="411480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11122" y="198121"/>
            <a:ext cx="6580878" cy="6281056"/>
          </a:xfrm>
        </p:spPr>
        <p:txBody>
          <a:bodyPr/>
          <a:lstStyle/>
          <a:p>
            <a:r>
              <a:rPr lang="en-US" dirty="0" smtClean="0"/>
              <a:t>Try it for Orwell!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i="1" dirty="0"/>
              <a:t>"How are characters alienated from society in at least 2 works that you have read</a:t>
            </a:r>
            <a:r>
              <a:rPr lang="en-US" i="1" dirty="0" smtClean="0"/>
              <a:t>?”</a:t>
            </a:r>
          </a:p>
          <a:p>
            <a:endParaRPr lang="en-US" i="1" dirty="0"/>
          </a:p>
          <a:p>
            <a:endParaRPr lang="en-US" i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examine all of the implications of a particular </a:t>
            </a:r>
            <a:r>
              <a:rPr lang="en-US" dirty="0" smtClean="0"/>
              <a:t>question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the implications of the question to the literary works you've read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 smtClean="0"/>
              <a:t>Spider diagram!</a:t>
            </a:r>
          </a:p>
          <a:p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02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1. examine </a:t>
            </a:r>
            <a:r>
              <a:rPr lang="en-US" dirty="0">
                <a:solidFill>
                  <a:srgbClr val="00B050"/>
                </a:solidFill>
              </a:rPr>
              <a:t>all of the implications of a particular question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39" y="1981200"/>
            <a:ext cx="11508059" cy="4876800"/>
          </a:xfrm>
        </p:spPr>
        <p:txBody>
          <a:bodyPr/>
          <a:lstStyle/>
          <a:p>
            <a:r>
              <a:rPr lang="en-US" dirty="0"/>
              <a:t>To start, examine all of the implications of a particular question. For example, if a question reads: </a:t>
            </a:r>
            <a:r>
              <a:rPr lang="en-US" dirty="0">
                <a:solidFill>
                  <a:srgbClr val="0432FF"/>
                </a:solidFill>
              </a:rPr>
              <a:t>"How are characters alienated from society in at least 2 works that you have read?"</a:t>
            </a:r>
            <a:r>
              <a:rPr lang="en-US" dirty="0"/>
              <a:t> you can explore several aspects of alienation. Ask questions about the question</a:t>
            </a:r>
            <a:r>
              <a:rPr lang="en-US" dirty="0" smtClean="0"/>
              <a:t>:</a:t>
            </a:r>
          </a:p>
          <a:p>
            <a:endParaRPr lang="en-GB" dirty="0"/>
          </a:p>
          <a:p>
            <a:pPr lvl="0"/>
            <a:r>
              <a:rPr lang="en-US" dirty="0"/>
              <a:t>"Is the character alienated from his family and friends?"</a:t>
            </a:r>
            <a:endParaRPr lang="en-GB" dirty="0"/>
          </a:p>
          <a:p>
            <a:pPr lvl="0"/>
            <a:r>
              <a:rPr lang="en-US" dirty="0"/>
              <a:t>"What does it mean to be alienated?"</a:t>
            </a:r>
            <a:endParaRPr lang="en-GB" dirty="0"/>
          </a:p>
          <a:p>
            <a:pPr lvl="0"/>
            <a:r>
              <a:rPr lang="en-US" dirty="0"/>
              <a:t>"Is a character literally exiled or emotionally shut out?" 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49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268" y="1295400"/>
            <a:ext cx="10363200" cy="1143000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2. apply the implications of the question to the literary works you've read</a:t>
            </a:r>
            <a:r>
              <a:rPr lang="en-US" dirty="0" smtClean="0">
                <a:solidFill>
                  <a:srgbClr val="00B050"/>
                </a:solidFill>
              </a:rPr>
              <a:t>./</a:t>
            </a:r>
            <a:r>
              <a:rPr lang="en-US" dirty="0">
                <a:solidFill>
                  <a:srgbClr val="00B050"/>
                </a:solidFill>
              </a:rPr>
              <a:t>3. Spider diagram!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39" y="2857500"/>
            <a:ext cx="11508059" cy="40005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0432FF"/>
                </a:solidFill>
              </a:rPr>
              <a:t>"</a:t>
            </a:r>
            <a:r>
              <a:rPr lang="en-US" dirty="0">
                <a:solidFill>
                  <a:srgbClr val="0432FF"/>
                </a:solidFill>
              </a:rPr>
              <a:t>How are characters alienated from society in at least 2 works that you have read</a:t>
            </a:r>
            <a:r>
              <a:rPr lang="en-US" dirty="0" smtClean="0">
                <a:solidFill>
                  <a:srgbClr val="0432FF"/>
                </a:solidFill>
              </a:rPr>
              <a:t>?"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182" y="365125"/>
            <a:ext cx="4447447" cy="13255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Comparative Analysis Essay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6782" y="127158"/>
            <a:ext cx="6755218" cy="673084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altLang="en-US" sz="2400" dirty="0" smtClean="0">
                <a:solidFill>
                  <a:srgbClr val="FF0000"/>
                </a:solidFill>
              </a:rPr>
              <a:t>The Literary Theme or Concept of Question:</a:t>
            </a:r>
          </a:p>
          <a:p>
            <a:pPr lvl="1"/>
            <a:r>
              <a:rPr lang="en-US" altLang="en-US" sz="2000" dirty="0" smtClean="0"/>
              <a:t>This is an examination of one of the aspects of a </a:t>
            </a:r>
            <a:r>
              <a:rPr lang="en-US" altLang="en-US" sz="2000" b="1" dirty="0" smtClean="0"/>
              <a:t>literary theme </a:t>
            </a:r>
            <a:r>
              <a:rPr lang="en-US" altLang="en-US" sz="2000" dirty="0" smtClean="0"/>
              <a:t>or </a:t>
            </a:r>
            <a:r>
              <a:rPr lang="en-US" altLang="en-US" sz="2000" b="1" dirty="0" smtClean="0"/>
              <a:t>concept</a:t>
            </a:r>
            <a:r>
              <a:rPr lang="en-US" altLang="en-US" sz="2000" dirty="0" smtClean="0"/>
              <a:t>, introduced by the question. </a:t>
            </a:r>
          </a:p>
          <a:p>
            <a:pPr lvl="1"/>
            <a:endParaRPr lang="en-US" altLang="en-US" sz="2000" dirty="0" smtClean="0"/>
          </a:p>
          <a:p>
            <a:r>
              <a:rPr lang="en-US" altLang="en-US" sz="2400" dirty="0" smtClean="0">
                <a:solidFill>
                  <a:srgbClr val="FF0000"/>
                </a:solidFill>
              </a:rPr>
              <a:t>Context of both texts’ production (reception+):</a:t>
            </a:r>
          </a:p>
          <a:p>
            <a:pPr lvl="1"/>
            <a:r>
              <a:rPr lang="en-US" altLang="en-US" sz="2000" dirty="0" smtClean="0"/>
              <a:t>This relates to how the theme/ concept as understood, interpreted and produced by the composer for a contemporary audience.</a:t>
            </a:r>
          </a:p>
          <a:p>
            <a:pPr lvl="1"/>
            <a:endParaRPr lang="en-US" altLang="en-US" sz="2000" dirty="0" smtClean="0"/>
          </a:p>
          <a:p>
            <a:r>
              <a:rPr lang="en-US" altLang="en-US" sz="2400" dirty="0" smtClean="0">
                <a:solidFill>
                  <a:srgbClr val="FF0000"/>
                </a:solidFill>
              </a:rPr>
              <a:t>Techniques/ Devices used to make meaning about the concept or theme.</a:t>
            </a:r>
          </a:p>
          <a:p>
            <a:pPr lvl="1"/>
            <a:r>
              <a:rPr lang="en-US" altLang="en-US" sz="2000" dirty="0" smtClean="0"/>
              <a:t>This provides evidence of your claim in the point above – how has the composer expressed their ideas about the literary concept or theme to the reader.</a:t>
            </a:r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2" y="1928655"/>
            <a:ext cx="5181600" cy="4145280"/>
          </a:xfrm>
        </p:spPr>
      </p:pic>
    </p:spTree>
    <p:extLst>
      <p:ext uri="{BB962C8B-B14F-4D97-AF65-F5344CB8AC3E}">
        <p14:creationId xmlns:p14="http://schemas.microsoft.com/office/powerpoint/2010/main" val="160678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79877"/>
            <a:ext cx="12088876" cy="130359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46" y="1981200"/>
            <a:ext cx="11285034" cy="4598020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2400" dirty="0">
                <a:solidFill>
                  <a:srgbClr val="FF0000"/>
                </a:solidFill>
              </a:rPr>
              <a:t>The Literary Theme or Concept of Question:</a:t>
            </a:r>
          </a:p>
          <a:p>
            <a:pPr lvl="1"/>
            <a:r>
              <a:rPr lang="en-US" altLang="en-US" sz="2000" dirty="0"/>
              <a:t>This is an examination of one of the aspects of a </a:t>
            </a:r>
            <a:r>
              <a:rPr lang="en-US" altLang="en-US" sz="2000" b="1" dirty="0"/>
              <a:t>literary theme </a:t>
            </a:r>
            <a:r>
              <a:rPr lang="en-US" altLang="en-US" sz="2000" dirty="0"/>
              <a:t>or </a:t>
            </a:r>
            <a:r>
              <a:rPr lang="en-US" altLang="en-US" sz="2000" b="1" dirty="0"/>
              <a:t>concept</a:t>
            </a:r>
            <a:r>
              <a:rPr lang="en-US" altLang="en-US" sz="2000" dirty="0"/>
              <a:t>, introduced by the question. </a:t>
            </a:r>
            <a:endParaRPr lang="en-US" altLang="en-US" sz="2000" dirty="0" smtClean="0"/>
          </a:p>
          <a:p>
            <a:pPr lvl="2"/>
            <a:r>
              <a:rPr lang="en-US" altLang="en-US" sz="1600" dirty="0" smtClean="0">
                <a:solidFill>
                  <a:srgbClr val="0432FF"/>
                </a:solidFill>
              </a:rPr>
              <a:t>3 significant Points made about</a:t>
            </a:r>
            <a:endParaRPr lang="en-US" altLang="en-US" sz="1600" dirty="0">
              <a:solidFill>
                <a:srgbClr val="0432FF"/>
              </a:solidFill>
            </a:endParaRPr>
          </a:p>
          <a:p>
            <a:pPr lvl="1"/>
            <a:endParaRPr lang="en-US" altLang="en-US" sz="20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Context of both texts’ production (reception+):</a:t>
            </a:r>
          </a:p>
          <a:p>
            <a:pPr lvl="1"/>
            <a:r>
              <a:rPr lang="en-US" altLang="en-US" sz="2000" dirty="0"/>
              <a:t>This relates to how the theme/ concept as understood, interpreted and produced by the composer for a contemporary </a:t>
            </a:r>
            <a:r>
              <a:rPr lang="en-US" altLang="en-US" sz="2000" dirty="0" smtClean="0"/>
              <a:t>audience/ reception today.</a:t>
            </a:r>
            <a:endParaRPr lang="en-US" altLang="en-US" sz="2000" dirty="0"/>
          </a:p>
          <a:p>
            <a:pPr lvl="1"/>
            <a:endParaRPr lang="en-US" altLang="en-US" sz="20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Techniques/ Devices used to make meaning about the concept or theme.</a:t>
            </a:r>
          </a:p>
          <a:p>
            <a:pPr lvl="1"/>
            <a:r>
              <a:rPr lang="en-US" altLang="en-US" sz="2000" dirty="0"/>
              <a:t>This provides evidence of your claim in the point above – how has the composer expressed their ideas about the literary concept or theme to the reader</a:t>
            </a:r>
            <a:r>
              <a:rPr lang="en-US" altLang="en-US" sz="2000" dirty="0" smtClean="0"/>
              <a:t>.</a:t>
            </a:r>
          </a:p>
          <a:p>
            <a:pPr lvl="2"/>
            <a:r>
              <a:rPr lang="en-US" altLang="en-US" sz="1600" dirty="0" smtClean="0">
                <a:solidFill>
                  <a:srgbClr val="0432FF"/>
                </a:solidFill>
              </a:rPr>
              <a:t>Episodes/ Techniques for PETEL</a:t>
            </a:r>
            <a:endParaRPr lang="en-US" altLang="en-US" sz="1600" dirty="0">
              <a:solidFill>
                <a:srgbClr val="0432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7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The Literary Theme or Concept of Question:</a:t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6049" y="2453268"/>
            <a:ext cx="6356195" cy="3642732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Consider the 3 most relevant points that Orwell makes about </a:t>
            </a:r>
            <a:r>
              <a:rPr lang="en-US" b="1" dirty="0" smtClean="0">
                <a:solidFill>
                  <a:srgbClr val="FF0000"/>
                </a:solidFill>
              </a:rPr>
              <a:t>appearances being deceptive </a:t>
            </a:r>
            <a:r>
              <a:rPr lang="en-US" dirty="0" smtClean="0"/>
              <a:t>in </a:t>
            </a:r>
            <a:r>
              <a:rPr lang="en-US" i="1" dirty="0" smtClean="0"/>
              <a:t>1984</a:t>
            </a:r>
            <a:r>
              <a:rPr lang="en-US" dirty="0" smtClean="0"/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These will form the essay map in the introduction and the topic sentences of your essay.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2133600"/>
            <a:ext cx="5080000" cy="3810000"/>
          </a:xfrm>
        </p:spPr>
      </p:pic>
    </p:spTree>
    <p:extLst>
      <p:ext uri="{BB962C8B-B14F-4D97-AF65-F5344CB8AC3E}">
        <p14:creationId xmlns:p14="http://schemas.microsoft.com/office/powerpoint/2010/main" val="28942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722" y="398614"/>
            <a:ext cx="11846278" cy="11430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Context of both texts’ production (reception+):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6967">
            <a:off x="522514" y="1842517"/>
            <a:ext cx="5527477" cy="4140272"/>
          </a:xfrm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197599" y="1981200"/>
            <a:ext cx="5823415" cy="4709532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Consider the </a:t>
            </a:r>
            <a:r>
              <a:rPr lang="en-US" dirty="0" smtClean="0"/>
              <a:t>way those 3 </a:t>
            </a:r>
            <a:r>
              <a:rPr lang="en-US" dirty="0"/>
              <a:t>most relevant points that Orwell makes about </a:t>
            </a:r>
            <a:r>
              <a:rPr lang="en-US" b="1" dirty="0">
                <a:solidFill>
                  <a:srgbClr val="FF0000"/>
                </a:solidFill>
              </a:rPr>
              <a:t>appearances being deceptive </a:t>
            </a:r>
            <a:r>
              <a:rPr lang="en-US" dirty="0"/>
              <a:t>in </a:t>
            </a:r>
            <a:r>
              <a:rPr lang="en-US" i="1" dirty="0" smtClean="0"/>
              <a:t>1984 </a:t>
            </a:r>
            <a:r>
              <a:rPr lang="en-US" dirty="0" smtClean="0"/>
              <a:t>relate to the context of production. Is there any relevance to the context of reception?</a:t>
            </a: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will form the </a:t>
            </a:r>
            <a:r>
              <a:rPr lang="en-US" dirty="0" smtClean="0"/>
              <a:t>context paragraph and inform your conclusion.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11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93540"/>
            <a:ext cx="10363200" cy="459059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Techniques/ Devices used to make meaning about the concept or theme.</a:t>
            </a:r>
            <a:br>
              <a:rPr lang="en-US" altLang="en-US">
                <a:solidFill>
                  <a:srgbClr val="FF0000"/>
                </a:solidFill>
              </a:rPr>
            </a:br>
            <a:r>
              <a:rPr lang="en-US" altLang="en-US" dirty="0">
                <a:solidFill>
                  <a:srgbClr val="FF0000"/>
                </a:solidFill>
              </a:rPr>
              <a:t/>
            </a:r>
            <a:br>
              <a:rPr lang="en-US" alt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1444" y="1789770"/>
            <a:ext cx="6710556" cy="5068230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Consider the 3 most relevant points that Orwell makes about </a:t>
            </a:r>
            <a:r>
              <a:rPr lang="en-US" b="1" dirty="0" smtClean="0">
                <a:solidFill>
                  <a:srgbClr val="FF0000"/>
                </a:solidFill>
              </a:rPr>
              <a:t>appearances being deceptive </a:t>
            </a:r>
            <a:r>
              <a:rPr lang="en-US" dirty="0" smtClean="0"/>
              <a:t>in </a:t>
            </a:r>
            <a:r>
              <a:rPr lang="en-US" i="1" dirty="0" smtClean="0"/>
              <a:t>1984</a:t>
            </a:r>
            <a:r>
              <a:rPr lang="en-US" dirty="0"/>
              <a:t> </a:t>
            </a:r>
            <a:r>
              <a:rPr lang="mr-IN" dirty="0" smtClean="0"/>
              <a:t>–</a:t>
            </a:r>
            <a:r>
              <a:rPr lang="en-US" dirty="0" smtClean="0"/>
              <a:t> identify 1 episode that gives a clear example of each point. Are they ones that we have mapped already on our mini analysis pages in term 2? Will you have to map them out yourself?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These will form the PETEL paragraphs of your essay.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2133600"/>
            <a:ext cx="5080000" cy="3810000"/>
          </a:xfrm>
        </p:spPr>
      </p:pic>
    </p:spTree>
    <p:extLst>
      <p:ext uri="{BB962C8B-B14F-4D97-AF65-F5344CB8AC3E}">
        <p14:creationId xmlns:p14="http://schemas.microsoft.com/office/powerpoint/2010/main" val="50743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46" y="1981200"/>
            <a:ext cx="11285034" cy="4598020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2400" dirty="0">
                <a:solidFill>
                  <a:srgbClr val="FF0000"/>
                </a:solidFill>
              </a:rPr>
              <a:t>The Literary Theme or Concept of Question:</a:t>
            </a:r>
          </a:p>
          <a:p>
            <a:pPr lvl="1"/>
            <a:r>
              <a:rPr lang="en-US" altLang="en-US" sz="2000" dirty="0"/>
              <a:t>This is an examination of one of the aspects of a </a:t>
            </a:r>
            <a:r>
              <a:rPr lang="en-US" altLang="en-US" sz="2000" b="1" dirty="0"/>
              <a:t>literary theme </a:t>
            </a:r>
            <a:r>
              <a:rPr lang="en-US" altLang="en-US" sz="2000" dirty="0"/>
              <a:t>or </a:t>
            </a:r>
            <a:r>
              <a:rPr lang="en-US" altLang="en-US" sz="2000" b="1" dirty="0"/>
              <a:t>concept</a:t>
            </a:r>
            <a:r>
              <a:rPr lang="en-US" altLang="en-US" sz="2000" dirty="0"/>
              <a:t>, introduced by the question. </a:t>
            </a:r>
            <a:endParaRPr lang="en-US" altLang="en-US" sz="2000" dirty="0" smtClean="0"/>
          </a:p>
          <a:p>
            <a:pPr lvl="2"/>
            <a:r>
              <a:rPr lang="en-US" altLang="en-US" sz="1600" dirty="0" smtClean="0">
                <a:solidFill>
                  <a:srgbClr val="0432FF"/>
                </a:solidFill>
              </a:rPr>
              <a:t>3 significant Points made about</a:t>
            </a:r>
            <a:endParaRPr lang="en-US" altLang="en-US" sz="1600" dirty="0">
              <a:solidFill>
                <a:srgbClr val="0432FF"/>
              </a:solidFill>
            </a:endParaRPr>
          </a:p>
          <a:p>
            <a:pPr lvl="1"/>
            <a:endParaRPr lang="en-US" altLang="en-US" sz="20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Context of both texts’ production (reception+):</a:t>
            </a:r>
          </a:p>
          <a:p>
            <a:pPr lvl="1"/>
            <a:r>
              <a:rPr lang="en-US" altLang="en-US" sz="2000" dirty="0"/>
              <a:t>This relates to how the theme/ concept as understood, interpreted and produced by the composer for a contemporary </a:t>
            </a:r>
            <a:r>
              <a:rPr lang="en-US" altLang="en-US" sz="2000" dirty="0" smtClean="0"/>
              <a:t>audience/ reception today.</a:t>
            </a:r>
            <a:endParaRPr lang="en-US" altLang="en-US" sz="2000" dirty="0"/>
          </a:p>
          <a:p>
            <a:pPr lvl="1"/>
            <a:endParaRPr lang="en-US" altLang="en-US" sz="20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Techniques/ Devices used to make meaning about the concept or theme.</a:t>
            </a:r>
          </a:p>
          <a:p>
            <a:pPr lvl="1"/>
            <a:r>
              <a:rPr lang="en-US" altLang="en-US" sz="2000" dirty="0"/>
              <a:t>This provides evidence of your claim in the point above – how has the composer expressed their ideas about the literary concept or theme to the reader</a:t>
            </a:r>
            <a:r>
              <a:rPr lang="en-US" altLang="en-US" sz="2000" dirty="0" smtClean="0"/>
              <a:t>.</a:t>
            </a:r>
          </a:p>
          <a:p>
            <a:pPr lvl="2"/>
            <a:r>
              <a:rPr lang="en-US" altLang="en-US" sz="1600" dirty="0" smtClean="0">
                <a:solidFill>
                  <a:srgbClr val="0432FF"/>
                </a:solidFill>
              </a:rPr>
              <a:t>Episodes/ Techniques for PETEL</a:t>
            </a:r>
            <a:endParaRPr lang="en-US" altLang="en-US" sz="1600" dirty="0">
              <a:solidFill>
                <a:srgbClr val="0432FF"/>
              </a:solidFill>
            </a:endParaRPr>
          </a:p>
          <a:p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1" y="345961"/>
            <a:ext cx="11955889" cy="76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2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sz="3600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sz="3600" b="1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sz="36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Read </a:t>
            </a:r>
            <a:r>
              <a:rPr lang="en-US" sz="3600" b="1" dirty="0" err="1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Managebac</a:t>
            </a:r>
            <a:r>
              <a:rPr lang="en-US" sz="36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 docs </a:t>
            </a:r>
            <a:r>
              <a:rPr lang="mr-IN" sz="36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–</a:t>
            </a:r>
            <a:r>
              <a:rPr lang="en-US" sz="36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 </a:t>
            </a:r>
            <a:endParaRPr lang="en-US" sz="3600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653" y="41212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0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1020</Words>
  <Application>Microsoft Macintosh PowerPoint</Application>
  <PresentationFormat>Widescreen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Arial Rounded MT Bold</vt:lpstr>
      <vt:lpstr>Calibri</vt:lpstr>
      <vt:lpstr>Calibri Light</vt:lpstr>
      <vt:lpstr>Comic Sans MS</vt:lpstr>
      <vt:lpstr>Mangal</vt:lpstr>
      <vt:lpstr>MS Mincho</vt:lpstr>
      <vt:lpstr>ＭＳ 明朝</vt:lpstr>
      <vt:lpstr>Osaka</vt:lpstr>
      <vt:lpstr>Times New Roman</vt:lpstr>
      <vt:lpstr>Arial</vt:lpstr>
      <vt:lpstr>3_Blank Presentation</vt:lpstr>
      <vt:lpstr>2_Office Theme</vt:lpstr>
      <vt:lpstr>1_Office Theme</vt:lpstr>
      <vt:lpstr>8_Office Theme</vt:lpstr>
      <vt:lpstr>IB English Language and Literature 6 ELL SL 4 2019 - 2020</vt:lpstr>
      <vt:lpstr>SCHOOL ASSESSMENT TERM 3</vt:lpstr>
      <vt:lpstr>General Outline Term 3</vt:lpstr>
      <vt:lpstr>We are still a digital classroom!</vt:lpstr>
      <vt:lpstr>Homework</vt:lpstr>
      <vt:lpstr>Tips and Tricks HW Doc</vt:lpstr>
      <vt:lpstr>Tips and Tricks HW Doc</vt:lpstr>
      <vt:lpstr>Tips and Tricks HW Doc</vt:lpstr>
      <vt:lpstr>Something to get you thinking... </vt:lpstr>
      <vt:lpstr>Open – Unpacking Questions DOC.</vt:lpstr>
      <vt:lpstr>Brainstorm!</vt:lpstr>
      <vt:lpstr>1. examine all of the implications of a particular question </vt:lpstr>
      <vt:lpstr>2. apply the implications of the question to the literary works you've read./3. Spider diagram!  </vt:lpstr>
      <vt:lpstr>Comparative Analysis Essay</vt:lpstr>
      <vt:lpstr>PowerPoint Presentation</vt:lpstr>
      <vt:lpstr>The Literary Theme or Concept of Question: </vt:lpstr>
      <vt:lpstr>Context of both texts’ production (reception+):</vt:lpstr>
      <vt:lpstr>Techniques/ Devices used to make meaning about the concept or theme.  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 English Language and Literature 6 ELL SL 4 2019 - 2020</dc:title>
  <dc:creator>Elisa Simone Zantos - Teacher of English</dc:creator>
  <cp:lastModifiedBy>Elisa Simone Zantos - Teacher of English</cp:lastModifiedBy>
  <cp:revision>11</cp:revision>
  <dcterms:created xsi:type="dcterms:W3CDTF">2020-06-30T22:05:36Z</dcterms:created>
  <dcterms:modified xsi:type="dcterms:W3CDTF">2020-06-30T23:04:41Z</dcterms:modified>
</cp:coreProperties>
</file>