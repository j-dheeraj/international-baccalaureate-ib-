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5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1" r:id="rId2"/>
    <p:sldMasterId id="2147483703" r:id="rId3"/>
    <p:sldMasterId id="2147483720" r:id="rId4"/>
    <p:sldMasterId id="2147483734" r:id="rId5"/>
    <p:sldMasterId id="2147483748" r:id="rId6"/>
  </p:sldMasterIdLst>
  <p:notesMasterIdLst>
    <p:notesMasterId r:id="rId36"/>
  </p:notesMasterIdLst>
  <p:sldIdLst>
    <p:sldId id="263" r:id="rId7"/>
    <p:sldId id="265" r:id="rId8"/>
    <p:sldId id="266" r:id="rId9"/>
    <p:sldId id="267" r:id="rId10"/>
    <p:sldId id="268" r:id="rId11"/>
    <p:sldId id="285" r:id="rId12"/>
    <p:sldId id="286" r:id="rId13"/>
    <p:sldId id="288" r:id="rId14"/>
    <p:sldId id="289" r:id="rId15"/>
    <p:sldId id="290" r:id="rId16"/>
    <p:sldId id="291" r:id="rId17"/>
    <p:sldId id="292" r:id="rId18"/>
    <p:sldId id="280" r:id="rId19"/>
    <p:sldId id="275" r:id="rId20"/>
    <p:sldId id="276" r:id="rId21"/>
    <p:sldId id="277" r:id="rId22"/>
    <p:sldId id="278" r:id="rId23"/>
    <p:sldId id="279" r:id="rId24"/>
    <p:sldId id="293" r:id="rId25"/>
    <p:sldId id="273" r:id="rId26"/>
    <p:sldId id="272" r:id="rId27"/>
    <p:sldId id="270" r:id="rId28"/>
    <p:sldId id="274" r:id="rId29"/>
    <p:sldId id="282" r:id="rId30"/>
    <p:sldId id="281" r:id="rId31"/>
    <p:sldId id="271" r:id="rId32"/>
    <p:sldId id="284" r:id="rId33"/>
    <p:sldId id="283" r:id="rId34"/>
    <p:sldId id="26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EE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6"/>
    <p:restoredTop sz="93130"/>
  </p:normalViewPr>
  <p:slideViewPr>
    <p:cSldViewPr snapToGrid="0" snapToObjects="1">
      <p:cViewPr>
        <p:scale>
          <a:sx n="45" d="100"/>
          <a:sy n="45" d="100"/>
        </p:scale>
        <p:origin x="688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9" Type="http://schemas.openxmlformats.org/officeDocument/2006/relationships/slide" Target="slides/slide3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010C5-391A-2745-83E5-51072D3B4641}" type="datetimeFigureOut">
              <a:rPr lang="en-US" smtClean="0"/>
              <a:t>7/7/20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91C7EB-E313-3545-8445-61C8D8A0A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8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endParaRPr lang="en-US" altLang="en-US">
              <a:ea typeface="ＭＳ Ｐゴシック" charset="-128"/>
            </a:endParaRP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</a:pPr>
            <a:fld id="{F0860FD1-9276-9747-974B-94A4005CFC85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1045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5D2676E-12E9-6A42-B3AE-9BF27D642443}" type="slidenum">
              <a:rPr lang="en-US" sz="1200"/>
              <a:pPr/>
              <a:t>25</a:t>
            </a:fld>
            <a:endParaRPr lang="en-US" sz="1200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399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DB2049-44E0-B04C-8824-A5BF52B438F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7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2D4FE-4210-C74C-BB56-00E0623B44C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371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74A374-29B7-2549-9F69-BB0EA768245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4813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681098-DFD4-DE48-A017-B4A20B753CB8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206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CC64D-77FE-A64A-803F-E19F98D60B4D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738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22964-CA5C-9448-AAC1-CD7A2210F12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99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46882B-71B3-124A-B7CE-A7024F712FA5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12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C2F09-5DEC-D847-AEA5-DC353A80BCE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40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437544-67A0-A649-A890-5C1271C708D0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2515B-9CAA-174D-B835-410668FA6FB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725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A8727-4907-7248-B94F-968B449091CC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369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7158AE-C725-B448-BD3E-FE9B628D4C99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137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F8D0A0-9D96-CC4C-A29E-671D1725271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36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7D727-A4D9-6C4E-8315-99599BC1BF0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7148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104C5-BA1F-514A-9E09-A1247DEB83C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6781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A0A8F0-FA8C-E04B-9E29-F1796B191622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8680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217" y="4572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64217" y="19812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64217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F48CE7-194B-D348-A59B-1F1D66A05540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114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0859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79770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2469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6931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3290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526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5043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9070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23058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4728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9803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9668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1608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83597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1073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5801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514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141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497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7880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655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8009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4852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F20800-63EC-0A4C-B45E-A601CC4C780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4910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94B623-AAB8-A64A-8E12-87F7105FD20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71152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564217" y="457200"/>
            <a:ext cx="10363200" cy="5638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3" name="Rectangle 2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2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Rectangle 2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1B89AF-C541-5E47-B368-AC21608EB53C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6587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1148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853E0F-ABBD-D944-B58B-0B89088B81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36895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94B76D-F7D2-8F43-AAF5-FE2426304F90}" type="slidenum">
              <a:rPr 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4512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7892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2840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815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8472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4095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3608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24785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1708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27634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7390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6059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890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67D727-A4D9-6C4E-8315-99599BC1BF0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5532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0800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914400" y="4114800"/>
            <a:ext cx="10363200" cy="1981200"/>
          </a:xfrm>
        </p:spPr>
        <p:txBody>
          <a:bodyPr/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  <a:endParaRPr 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51C2D-0550-6747-9CF3-EED8C7DF88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8802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483841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3766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262756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93419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6967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69070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9935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70847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77291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354449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955753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F20800-63EC-0A4C-B45E-A601CC4C780C}" type="slidenum">
              <a:rPr lang="en-US" altLang="en-US">
                <a:solidFill>
                  <a:srgbClr val="000000"/>
                </a:solidFill>
              </a:rPr>
              <a:pPr/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37292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owerpoint graphic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530851"/>
            <a:ext cx="11582400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3 Colour IB Hoz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066801"/>
            <a:ext cx="6908800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657600" y="2743200"/>
            <a:ext cx="5994400" cy="2209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0" y="5791200"/>
            <a:ext cx="5384800" cy="457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1400">
                <a:solidFill>
                  <a:srgbClr val="0041C4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55056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BE1DA79E-9B7B-F442-8A6E-D080D57E9C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36481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7E58CFC-70A5-994B-AD60-E482DE84F9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372228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353" y="1981200"/>
            <a:ext cx="5141383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2935" y="1981200"/>
            <a:ext cx="5143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700C6D50-99BD-D946-B71F-1A7F1A78E9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338743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4A38717E-E954-E44B-967C-83C5577D29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970201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C1515CD5-44C8-0945-AE50-15A675EA48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574731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8C82A79F-4D92-BD47-946E-7008E21A2C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568665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6BA9426-70AD-1B42-A4EE-75AC24EEFF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1215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97A36D4B-B4B3-4642-A8D3-F189C3CAF9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935002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320BA9E3-C7DE-C648-9D2B-06DA12FF2C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84613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36001" y="914400"/>
            <a:ext cx="2620433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4" y="914400"/>
            <a:ext cx="7664449" cy="5181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Page </a:t>
            </a:r>
            <a:fld id="{1D0E2F0C-4E8D-CA4D-BC96-FE2D20ADFE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2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5.xml"/><Relationship Id="rId18" Type="http://schemas.openxmlformats.org/officeDocument/2006/relationships/theme" Target="../theme/theme3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theme" Target="../theme/theme4.xml"/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/Relationships>
</file>

<file path=ppt/slideMasters/_rels/slideMaster5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theme" Target="../theme/theme5.xml"/><Relationship Id="rId1" Type="http://schemas.openxmlformats.org/officeDocument/2006/relationships/slideLayout" Target="../slideLayouts/slideLayout59.xml"/><Relationship Id="rId2" Type="http://schemas.openxmlformats.org/officeDocument/2006/relationships/slideLayout" Target="../slideLayouts/slideLayout60.xml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/Relationships>
</file>

<file path=ppt/slideMasters/_rels/slideMaster6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81.xml"/><Relationship Id="rId12" Type="http://schemas.openxmlformats.org/officeDocument/2006/relationships/theme" Target="../theme/theme6.xml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+mn-ea"/>
                <a:cs typeface="+mn-cs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Osaka" charset="-128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85BBF79-2763-BF4A-BFD3-32471AE9AEA8}" type="slidenum">
              <a:rPr lang="en-US" altLang="en-US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9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Osaka" charset="0"/>
          <a:cs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7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669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16" r:id="rId13"/>
    <p:sldLayoutId id="2147483717" r:id="rId14"/>
    <p:sldLayoutId id="2147483718" r:id="rId15"/>
    <p:sldLayoutId id="2147483719" r:id="rId16"/>
    <p:sldLayoutId id="214748374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CDF082-0CFF-3948-879B-35CD2B582D06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6386BC-8333-0041-99BB-1570457313A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688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BB76E-88A9-1142-82B9-33E4469E9A6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7/7/20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9A3D96-D033-C847-870B-488D6DDCB44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659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  <p:sldLayoutId id="214748374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8351" y="914401"/>
            <a:ext cx="10466916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1" y="1981200"/>
            <a:ext cx="10490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8351" y="6362700"/>
            <a:ext cx="2540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 smtClean="0">
                <a:solidFill>
                  <a:srgbClr val="377AFF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ＭＳ Ｐゴシック" charset="-128"/>
              </a:rPr>
              <a:t>Page </a:t>
            </a:r>
            <a:fld id="{16CFEB5F-B8AB-CD45-BDF1-9F7D9A71A69F}" type="slidenum">
              <a:rPr lang="en-US" altLang="en-US">
                <a:ea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>
              <a:ea typeface="ＭＳ Ｐゴシック" charset="-128"/>
            </a:endParaRPr>
          </a:p>
        </p:txBody>
      </p:sp>
      <p:pic>
        <p:nvPicPr>
          <p:cNvPr id="1029" name="Picture 7" descr="Powerpoint graphic 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52401"/>
            <a:ext cx="1005840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8" descr="3 Colour IB Hoz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6751" y="304800"/>
            <a:ext cx="1727200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9"/>
          <p:cNvSpPr txBox="1">
            <a:spLocks noChangeArrowheads="1"/>
          </p:cNvSpPr>
          <p:nvPr/>
        </p:nvSpPr>
        <p:spPr bwMode="auto">
          <a:xfrm>
            <a:off x="8837697" y="6376988"/>
            <a:ext cx="2420855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800" smtClean="0">
                <a:solidFill>
                  <a:srgbClr val="377AFF"/>
                </a:solidFill>
              </a:rPr>
              <a:t>© International Baccalaureate Organization 2007</a:t>
            </a:r>
          </a:p>
        </p:txBody>
      </p:sp>
      <p:sp>
        <p:nvSpPr>
          <p:cNvPr id="1032" name="Line 12"/>
          <p:cNvSpPr>
            <a:spLocks noChangeShapeType="1"/>
          </p:cNvSpPr>
          <p:nvPr/>
        </p:nvSpPr>
        <p:spPr bwMode="auto">
          <a:xfrm>
            <a:off x="814917" y="1589088"/>
            <a:ext cx="10414000" cy="0"/>
          </a:xfrm>
          <a:prstGeom prst="line">
            <a:avLst/>
          </a:prstGeom>
          <a:noFill/>
          <a:ln w="9525">
            <a:solidFill>
              <a:srgbClr val="70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486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41C4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41C4"/>
          </a:solidFill>
          <a:latin typeface="Arial" charset="0"/>
          <a:ea typeface="ＭＳ Ｐゴシック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41C4"/>
          </a:solidFill>
          <a:latin typeface="Arial" charset="0"/>
          <a:ea typeface="ＭＳ Ｐゴシック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41C4"/>
          </a:solidFill>
          <a:latin typeface="Arial" charset="0"/>
          <a:ea typeface="ＭＳ Ｐゴシック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rgbClr val="0041C4"/>
          </a:solidFill>
          <a:latin typeface="Arial" charset="0"/>
          <a:ea typeface="ＭＳ Ｐゴシック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41C4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41C4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41C4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41C4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41C4"/>
        </a:buClr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000">
          <a:solidFill>
            <a:schemeClr val="tx1"/>
          </a:solidFill>
          <a:latin typeface="+mn-lt"/>
          <a:ea typeface="Arial" pitchFamily="-111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  <a:ea typeface="Arial" pitchFamily="-111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Arial" pitchFamily="-111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ea typeface="Arial" pitchFamily="-111" charset="0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0.jpg"/><Relationship Id="rId3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image" Target="../media/image15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6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7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6.jp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8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4" Type="http://schemas.openxmlformats.org/officeDocument/2006/relationships/image" Target="../media/image20.jpeg"/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6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image" Target="../media/image10.jp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447" y="340659"/>
            <a:ext cx="11510681" cy="316930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+mn-lt"/>
              </a:rPr>
              <a:t>IB English Language and Literature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6 ELL SL 4</a:t>
            </a:r>
            <a:br>
              <a:rPr lang="en-US" b="1" dirty="0" smtClean="0">
                <a:solidFill>
                  <a:schemeClr val="bg1"/>
                </a:solidFill>
                <a:latin typeface="+mn-lt"/>
              </a:rPr>
            </a:br>
            <a:r>
              <a:rPr lang="en-US" b="1" dirty="0" smtClean="0">
                <a:solidFill>
                  <a:schemeClr val="bg1"/>
                </a:solidFill>
                <a:latin typeface="+mn-lt"/>
              </a:rPr>
              <a:t>2019 - 2020</a:t>
            </a:r>
            <a:endParaRPr lang="en-US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906838"/>
            <a:ext cx="12192000" cy="2691186"/>
          </a:xfrm>
        </p:spPr>
        <p:txBody>
          <a:bodyPr>
            <a:noAutofit/>
          </a:bodyPr>
          <a:lstStyle/>
          <a:p>
            <a:r>
              <a:rPr lang="en-US" sz="4400" b="1" u="sng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Shape of the Week (1):</a:t>
            </a:r>
          </a:p>
          <a:p>
            <a:pPr lvl="0"/>
            <a:r>
              <a:rPr lang="en-US" sz="3200" dirty="0" smtClean="0">
                <a:solidFill>
                  <a:prstClr val="white"/>
                </a:solidFill>
              </a:rPr>
              <a:t>Lesson 1: Prelim Prep </a:t>
            </a:r>
            <a:r>
              <a:rPr lang="mr-IN" sz="3200" dirty="0" smtClean="0">
                <a:solidFill>
                  <a:prstClr val="white"/>
                </a:solidFill>
              </a:rPr>
              <a:t>–</a:t>
            </a:r>
            <a:r>
              <a:rPr lang="en-US" sz="3200" dirty="0" smtClean="0">
                <a:solidFill>
                  <a:prstClr val="white"/>
                </a:solidFill>
              </a:rPr>
              <a:t> </a:t>
            </a:r>
            <a:r>
              <a:rPr lang="en-US" sz="3200" dirty="0" smtClean="0">
                <a:solidFill>
                  <a:prstClr val="white"/>
                </a:solidFill>
              </a:rPr>
              <a:t>Commentary Writing</a:t>
            </a:r>
            <a:endParaRPr lang="en-US" sz="3200" dirty="0" smtClean="0">
              <a:solidFill>
                <a:prstClr val="white"/>
              </a:solidFill>
            </a:endParaRPr>
          </a:p>
          <a:p>
            <a:pPr lvl="0"/>
            <a:r>
              <a:rPr lang="en-US" sz="3200" dirty="0" smtClean="0">
                <a:solidFill>
                  <a:prstClr val="white"/>
                </a:solidFill>
              </a:rPr>
              <a:t>Lesson 2: </a:t>
            </a:r>
            <a:r>
              <a:rPr lang="en-US" sz="3200" dirty="0">
                <a:solidFill>
                  <a:prstClr val="white"/>
                </a:solidFill>
              </a:rPr>
              <a:t>Prelim Prep </a:t>
            </a:r>
            <a:r>
              <a:rPr lang="mr-IN" sz="3200" dirty="0">
                <a:solidFill>
                  <a:prstClr val="white"/>
                </a:solidFill>
              </a:rPr>
              <a:t>–</a:t>
            </a:r>
            <a:r>
              <a:rPr lang="en-US" sz="3200">
                <a:solidFill>
                  <a:prstClr val="white"/>
                </a:solidFill>
              </a:rPr>
              <a:t> </a:t>
            </a:r>
            <a:r>
              <a:rPr lang="en-US" sz="3200" smtClean="0">
                <a:solidFill>
                  <a:prstClr val="white"/>
                </a:solidFill>
              </a:rPr>
              <a:t>Commentary  </a:t>
            </a:r>
            <a:r>
              <a:rPr lang="en-US" sz="3200" dirty="0">
                <a:solidFill>
                  <a:prstClr val="white"/>
                </a:solidFill>
              </a:rPr>
              <a:t>Writing </a:t>
            </a:r>
            <a:endParaRPr lang="en-US" sz="3200" dirty="0" smtClean="0">
              <a:solidFill>
                <a:prstClr val="white"/>
              </a:solidFill>
            </a:endParaRPr>
          </a:p>
          <a:p>
            <a:pPr lvl="0"/>
            <a:endParaRPr lang="en-US" sz="3200" dirty="0">
              <a:solidFill>
                <a:schemeClr val="bg1"/>
              </a:solidFill>
            </a:endParaRPr>
          </a:p>
          <a:p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1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3B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363200" cy="11430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  <a:latin typeface="Arial Rounded MT Bold" charset="0"/>
                <a:ea typeface="Arial Rounded MT Bold" charset="0"/>
                <a:cs typeface="Arial Rounded MT Bold" charset="0"/>
              </a:rPr>
              <a:t>SCHOOL ASSESSMENT TERM 3</a:t>
            </a:r>
            <a:endParaRPr lang="en-US" b="1" dirty="0">
              <a:solidFill>
                <a:srgbClr val="FF0000"/>
              </a:solidFill>
              <a:latin typeface="Arial Rounded MT Bold" charset="0"/>
              <a:ea typeface="Arial Rounded MT Bold" charset="0"/>
              <a:cs typeface="Arial Rounded MT Bold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161" y="1745671"/>
            <a:ext cx="6578763" cy="4932219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 smtClean="0">
                <a:latin typeface="MS Mincho" charset="-128"/>
                <a:ea typeface="ＭＳ 明朝" charset="-128"/>
                <a:cs typeface="MS Mincho" charset="-128"/>
              </a:rPr>
              <a:t>☑ </a:t>
            </a:r>
            <a:r>
              <a:rPr lang="en-US" sz="3200" b="1" dirty="0" smtClean="0">
                <a:ea typeface="ＭＳ 明朝" charset="-128"/>
                <a:cs typeface="MS Mincho" charset="-128"/>
              </a:rPr>
              <a:t>PRELIMS!!!</a:t>
            </a:r>
            <a:endParaRPr lang="en-US" sz="3200" b="1" u="sng" dirty="0" smtClean="0">
              <a:ea typeface="ＭＳ 明朝" charset="-128"/>
              <a:cs typeface="MS Mincho" charset="-128"/>
            </a:endParaRPr>
          </a:p>
          <a:p>
            <a:endParaRPr lang="en-US" sz="3600" dirty="0" smtClean="0">
              <a:solidFill>
                <a:prstClr val="black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lvl="0" indent="0">
              <a:buNone/>
            </a:pPr>
            <a:endParaRPr lang="en-US" sz="4800" dirty="0">
              <a:solidFill>
                <a:prstClr val="black"/>
              </a:solidFill>
              <a:latin typeface="Calibri" charset="0"/>
              <a:ea typeface="ＭＳ 明朝" charset="-128"/>
              <a:cs typeface="Times New Roman" charset="0"/>
            </a:endParaRPr>
          </a:p>
        </p:txBody>
      </p:sp>
      <p:pic>
        <p:nvPicPr>
          <p:cNvPr id="8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454" y="1858061"/>
            <a:ext cx="3657600" cy="4056278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966" y="387999"/>
            <a:ext cx="1357672" cy="135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45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7930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+mn-lt"/>
              </a:rPr>
              <a:t>General Outline Term 3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>
          <a:xfrm>
            <a:off x="838200" y="1756352"/>
            <a:ext cx="9011194" cy="4949247"/>
          </a:xfrm>
          <a:solidFill>
            <a:srgbClr val="FFE9EE"/>
          </a:solidFill>
        </p:spPr>
        <p:txBody>
          <a:bodyPr/>
          <a:lstStyle/>
          <a:p>
            <a:r>
              <a:rPr lang="en-US" dirty="0" smtClean="0"/>
              <a:t>WEEK 1 Paper 2 Prelim Prep</a:t>
            </a:r>
          </a:p>
          <a:p>
            <a:r>
              <a:rPr lang="en-US" dirty="0" smtClean="0"/>
              <a:t>WEEK 2 </a:t>
            </a:r>
            <a:r>
              <a:rPr lang="en-US" dirty="0"/>
              <a:t>Paper </a:t>
            </a:r>
            <a:r>
              <a:rPr lang="en-US" dirty="0" smtClean="0"/>
              <a:t>1 </a:t>
            </a:r>
            <a:r>
              <a:rPr lang="en-US" dirty="0"/>
              <a:t>Prelim Prep</a:t>
            </a:r>
          </a:p>
          <a:p>
            <a:r>
              <a:rPr lang="en-US" dirty="0" smtClean="0"/>
              <a:t>WEEK 3 Prelims</a:t>
            </a:r>
          </a:p>
          <a:p>
            <a:r>
              <a:rPr lang="en-US" dirty="0" smtClean="0"/>
              <a:t>WEEK 4 </a:t>
            </a:r>
            <a:r>
              <a:rPr lang="en-US" dirty="0"/>
              <a:t>Prelims</a:t>
            </a:r>
          </a:p>
          <a:p>
            <a:r>
              <a:rPr lang="en-US" dirty="0" smtClean="0"/>
              <a:t>WEEK 5 WT </a:t>
            </a:r>
            <a:r>
              <a:rPr lang="en-US" dirty="0" err="1" smtClean="0"/>
              <a:t>finalisation</a:t>
            </a:r>
            <a:endParaRPr lang="en-US" dirty="0" smtClean="0"/>
          </a:p>
          <a:p>
            <a:r>
              <a:rPr lang="en-US" dirty="0"/>
              <a:t>WEEK </a:t>
            </a:r>
            <a:r>
              <a:rPr lang="en-US" dirty="0" smtClean="0"/>
              <a:t>6 Chronicle</a:t>
            </a:r>
            <a:endParaRPr lang="en-US" dirty="0"/>
          </a:p>
          <a:p>
            <a:r>
              <a:rPr lang="en-US" dirty="0"/>
              <a:t>WEEK </a:t>
            </a:r>
            <a:r>
              <a:rPr lang="en-US" dirty="0" smtClean="0"/>
              <a:t>7 </a:t>
            </a:r>
            <a:r>
              <a:rPr lang="en-US" dirty="0"/>
              <a:t>Chronicle</a:t>
            </a:r>
          </a:p>
          <a:p>
            <a:r>
              <a:rPr lang="en-US" dirty="0" smtClean="0"/>
              <a:t>WEEK 8 </a:t>
            </a:r>
            <a:r>
              <a:rPr lang="en-US" dirty="0"/>
              <a:t>Chronicle</a:t>
            </a:r>
          </a:p>
          <a:p>
            <a:r>
              <a:rPr lang="en-US" dirty="0" smtClean="0"/>
              <a:t>WEEK 9 </a:t>
            </a:r>
            <a:r>
              <a:rPr lang="en-US" dirty="0"/>
              <a:t>Chronicle</a:t>
            </a:r>
          </a:p>
          <a:p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394" y="365126"/>
            <a:ext cx="1980166" cy="198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4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US" sz="7200" b="1" dirty="0" smtClean="0">
                <a:solidFill>
                  <a:srgbClr val="FF0000"/>
                </a:solidFill>
                <a:latin typeface="+mn-lt"/>
              </a:rPr>
              <a:t>We are still a digital classroom!</a:t>
            </a:r>
            <a:endParaRPr lang="en-US" sz="72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398" y="2022765"/>
            <a:ext cx="4835235" cy="4835235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080" y="2413794"/>
            <a:ext cx="5269575" cy="3763982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92" y="3655412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7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dirty="0" smtClean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sz="4800" b="1" dirty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Fill out Firefly Handout Comparison Table for Orwell.</a:t>
            </a:r>
            <a:endParaRPr lang="en-US" sz="4800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82" y="4901797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55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Part One:</a:t>
            </a:r>
          </a:p>
        </p:txBody>
      </p:sp>
      <p:sp>
        <p:nvSpPr>
          <p:cNvPr id="2560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41C4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solidFill>
                  <a:srgbClr val="377AFF"/>
                </a:solidFill>
              </a:rPr>
              <a:t>Page </a:t>
            </a:r>
            <a:fld id="{B99FEDBD-9B48-3846-8F08-70D316F8BB86}" type="slidenum">
              <a:rPr lang="en-US" altLang="en-US" sz="1000">
                <a:solidFill>
                  <a:srgbClr val="377A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000">
              <a:solidFill>
                <a:srgbClr val="377AFF"/>
              </a:solidFill>
            </a:endParaRPr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342900" y="1747839"/>
            <a:ext cx="1184910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0041C4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3200" b="1" dirty="0">
                <a:solidFill>
                  <a:srgbClr val="000000"/>
                </a:solidFill>
              </a:rPr>
              <a:t>The three learning outcomes for this section of the course: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3200" b="1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3200" b="1" dirty="0" err="1">
                <a:solidFill>
                  <a:srgbClr val="000000"/>
                </a:solidFill>
              </a:rPr>
              <a:t>Analyse</a:t>
            </a:r>
            <a:r>
              <a:rPr lang="en-US" altLang="en-US" sz="3200" b="1" dirty="0">
                <a:solidFill>
                  <a:srgbClr val="000000"/>
                </a:solidFill>
              </a:rPr>
              <a:t> how </a:t>
            </a:r>
            <a:r>
              <a:rPr lang="en-US" altLang="en-US" sz="3200" b="1" u="sng" dirty="0">
                <a:solidFill>
                  <a:srgbClr val="000000"/>
                </a:solidFill>
              </a:rPr>
              <a:t>audience and purpose </a:t>
            </a:r>
            <a:r>
              <a:rPr lang="en-US" altLang="en-US" sz="3200" b="1" dirty="0">
                <a:solidFill>
                  <a:srgbClr val="000000"/>
                </a:solidFill>
              </a:rPr>
              <a:t>affect the structure and content of texts.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3200" b="1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3200" b="1" dirty="0">
                <a:solidFill>
                  <a:srgbClr val="000000"/>
                </a:solidFill>
              </a:rPr>
              <a:t> </a:t>
            </a:r>
            <a:r>
              <a:rPr lang="en-US" altLang="en-US" sz="3200" b="1" dirty="0" err="1">
                <a:solidFill>
                  <a:srgbClr val="000000"/>
                </a:solidFill>
              </a:rPr>
              <a:t>Analyse</a:t>
            </a:r>
            <a:r>
              <a:rPr lang="en-US" altLang="en-US" sz="3200" b="1" dirty="0">
                <a:solidFill>
                  <a:srgbClr val="000000"/>
                </a:solidFill>
              </a:rPr>
              <a:t> the </a:t>
            </a:r>
            <a:r>
              <a:rPr lang="en-US" altLang="en-US" sz="3200" b="1" u="sng" dirty="0">
                <a:solidFill>
                  <a:srgbClr val="000000"/>
                </a:solidFill>
              </a:rPr>
              <a:t>impact of language </a:t>
            </a:r>
            <a:r>
              <a:rPr lang="en-US" altLang="en-US" sz="3200" b="1" dirty="0">
                <a:solidFill>
                  <a:srgbClr val="000000"/>
                </a:solidFill>
              </a:rPr>
              <a:t>changes.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sz="3200" b="1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en-US" sz="3200" b="1" dirty="0">
                <a:solidFill>
                  <a:srgbClr val="000000"/>
                </a:solidFill>
              </a:rPr>
              <a:t>Demonstrate an awareness of how language and meaning are </a:t>
            </a:r>
            <a:r>
              <a:rPr lang="en-US" altLang="en-US" sz="3200" b="1" u="sng" dirty="0">
                <a:solidFill>
                  <a:srgbClr val="000000"/>
                </a:solidFill>
              </a:rPr>
              <a:t>shaped by culture and context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u="sng" dirty="0">
              <a:solidFill>
                <a:srgbClr val="000000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lang="en-US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337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Content Placeholder 2"/>
          <p:cNvSpPr>
            <a:spLocks noGrp="1"/>
          </p:cNvSpPr>
          <p:nvPr>
            <p:ph idx="1"/>
          </p:nvPr>
        </p:nvSpPr>
        <p:spPr>
          <a:xfrm>
            <a:off x="514350" y="1497014"/>
            <a:ext cx="10858500" cy="5094286"/>
          </a:xfrm>
        </p:spPr>
        <p:txBody>
          <a:bodyPr/>
          <a:lstStyle/>
          <a:p>
            <a:r>
              <a:rPr lang="en-US" altLang="en-US" sz="2800" dirty="0">
                <a:ea typeface="ＭＳ Ｐゴシック" charset="-128"/>
              </a:rPr>
              <a:t>teachers should aim to illustrate... the meaning of texts is rarely fixed but is instead </a:t>
            </a:r>
            <a:r>
              <a:rPr lang="en-US" altLang="en-US" sz="2800" b="1" dirty="0">
                <a:ea typeface="ＭＳ Ｐゴシック" charset="-128"/>
              </a:rPr>
              <a:t>shifting and fluid</a:t>
            </a:r>
            <a:r>
              <a:rPr lang="en-US" altLang="en-US" sz="2800" dirty="0">
                <a:ea typeface="ＭＳ Ｐゴシック" charset="-128"/>
              </a:rPr>
              <a:t>, constantly affected by the impact of </a:t>
            </a:r>
            <a:r>
              <a:rPr lang="en-US" altLang="en-US" sz="2800" b="1" dirty="0">
                <a:ea typeface="ＭＳ Ｐゴシック" charset="-128"/>
              </a:rPr>
              <a:t>language change and the specific cultural contexts</a:t>
            </a:r>
            <a:r>
              <a:rPr lang="en-US" altLang="en-US" sz="2800" dirty="0">
                <a:ea typeface="ＭＳ Ｐゴシック" charset="-128"/>
              </a:rPr>
              <a:t> in which texts are produced and received.</a:t>
            </a:r>
          </a:p>
          <a:p>
            <a:endParaRPr lang="en-US" altLang="en-US" sz="2800" dirty="0">
              <a:ea typeface="ＭＳ Ｐゴシック" charset="-128"/>
            </a:endParaRPr>
          </a:p>
          <a:p>
            <a:r>
              <a:rPr lang="en-US" altLang="en-US" sz="2800" dirty="0">
                <a:ea typeface="ＭＳ Ｐゴシック" charset="-128"/>
              </a:rPr>
              <a:t>Encourage students to develop an awareness of the </a:t>
            </a:r>
            <a:r>
              <a:rPr lang="en-US" altLang="en-US" sz="2800" dirty="0" err="1">
                <a:ea typeface="ＭＳ Ｐゴシック" charset="-128"/>
              </a:rPr>
              <a:t>fact..choices</a:t>
            </a:r>
            <a:r>
              <a:rPr lang="en-US" altLang="en-US" sz="2800" dirty="0">
                <a:ea typeface="ＭＳ Ｐゴシック" charset="-128"/>
              </a:rPr>
              <a:t> are made and that they have consequences and an impact in the social world—</a:t>
            </a:r>
            <a:r>
              <a:rPr lang="en-US" altLang="en-US" sz="2800" b="1" dirty="0">
                <a:ea typeface="ＭＳ Ｐゴシック" charset="-128"/>
              </a:rPr>
              <a:t>texts and their meaning</a:t>
            </a:r>
            <a:r>
              <a:rPr lang="en-US" altLang="en-US" sz="2800" dirty="0">
                <a:ea typeface="ＭＳ Ｐゴシック" charset="-128"/>
              </a:rPr>
              <a:t>, then, need to be understood as </a:t>
            </a:r>
            <a:r>
              <a:rPr lang="en-US" altLang="en-US" sz="2800" b="1" dirty="0">
                <a:ea typeface="ＭＳ Ｐゴシック" charset="-128"/>
              </a:rPr>
              <a:t>problematic rather than </a:t>
            </a:r>
            <a:r>
              <a:rPr lang="ja-JP" altLang="en-US" sz="2800" b="1" dirty="0">
                <a:ea typeface="ＭＳ Ｐゴシック" charset="-128"/>
              </a:rPr>
              <a:t>“</a:t>
            </a:r>
            <a:r>
              <a:rPr lang="en-US" altLang="ja-JP" sz="2800" b="1" dirty="0">
                <a:ea typeface="ＭＳ Ｐゴシック" charset="-128"/>
              </a:rPr>
              <a:t>natural</a:t>
            </a:r>
            <a:r>
              <a:rPr lang="ja-JP" altLang="en-US" sz="2800" dirty="0">
                <a:ea typeface="ＭＳ Ｐゴシック" charset="-128"/>
              </a:rPr>
              <a:t>”</a:t>
            </a:r>
            <a:r>
              <a:rPr lang="en-US" altLang="ja-JP" sz="2800" dirty="0">
                <a:ea typeface="ＭＳ Ｐゴシック" charset="-128"/>
              </a:rPr>
              <a:t>. </a:t>
            </a:r>
            <a:endParaRPr lang="en-US" altLang="en-US" sz="2800" dirty="0">
              <a:ea typeface="ＭＳ Ｐゴシック" charset="-128"/>
            </a:endParaRP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41C4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solidFill>
                  <a:srgbClr val="377AFF"/>
                </a:solidFill>
              </a:rPr>
              <a:t>Page </a:t>
            </a:r>
            <a:fld id="{7F2DF1AC-FF2A-6B41-84DB-D8281F94CCF1}" type="slidenum">
              <a:rPr lang="en-US" altLang="en-US" sz="1000">
                <a:solidFill>
                  <a:srgbClr val="377A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000">
              <a:solidFill>
                <a:srgbClr val="377A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051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/>
          <p:cNvSpPr>
            <a:spLocks noGrp="1"/>
          </p:cNvSpPr>
          <p:nvPr>
            <p:ph idx="1"/>
          </p:nvPr>
        </p:nvSpPr>
        <p:spPr>
          <a:xfrm>
            <a:off x="2100264" y="862014"/>
            <a:ext cx="6781467" cy="5233987"/>
          </a:xfrm>
        </p:spPr>
        <p:txBody>
          <a:bodyPr/>
          <a:lstStyle/>
          <a:p>
            <a:r>
              <a:rPr lang="en-US" altLang="en-US" dirty="0">
                <a:ea typeface="ＭＳ Ｐゴシック" charset="-128"/>
              </a:rPr>
              <a:t>Look at these areas for study:</a:t>
            </a:r>
          </a:p>
          <a:p>
            <a:r>
              <a:rPr lang="en-US" altLang="en-US" dirty="0">
                <a:ea typeface="ＭＳ Ｐゴシック" charset="-128"/>
              </a:rPr>
              <a:t>Language and power</a:t>
            </a:r>
          </a:p>
          <a:p>
            <a:r>
              <a:rPr lang="en-US" altLang="en-US" dirty="0">
                <a:ea typeface="ＭＳ Ｐゴシック" charset="-128"/>
              </a:rPr>
              <a:t>Language and gender •</a:t>
            </a:r>
          </a:p>
          <a:p>
            <a:r>
              <a:rPr lang="en-US" altLang="en-US" dirty="0">
                <a:ea typeface="ＭＳ Ｐゴシック" charset="-128"/>
              </a:rPr>
              <a:t>Language in translation •	</a:t>
            </a:r>
          </a:p>
          <a:p>
            <a:r>
              <a:rPr lang="en-US" altLang="en-US" dirty="0">
                <a:ea typeface="ＭＳ Ｐゴシック" charset="-128"/>
              </a:rPr>
              <a:t>Language history and evolution </a:t>
            </a:r>
          </a:p>
          <a:p>
            <a:r>
              <a:rPr lang="en-US" altLang="en-US" dirty="0">
                <a:ea typeface="ＭＳ Ｐゴシック" charset="-128"/>
              </a:rPr>
              <a:t>Language and social relations</a:t>
            </a:r>
          </a:p>
          <a:p>
            <a:r>
              <a:rPr lang="en-US" altLang="en-US" b="1" dirty="0">
                <a:solidFill>
                  <a:srgbClr val="FF6600"/>
                </a:solidFill>
                <a:ea typeface="ＭＳ Ｐゴシック" charset="-128"/>
              </a:rPr>
              <a:t>SEE P. 14 OF WRITTEN TASKS </a:t>
            </a:r>
            <a:r>
              <a:rPr lang="en-US" altLang="en-US" b="1" i="1" dirty="0">
                <a:solidFill>
                  <a:srgbClr val="FF6600"/>
                </a:solidFill>
                <a:ea typeface="ＭＳ Ｐゴシック" charset="-128"/>
              </a:rPr>
              <a:t>MISOGYNY AND RAP</a:t>
            </a:r>
          </a:p>
          <a:p>
            <a:r>
              <a:rPr lang="en-US" altLang="en-US" b="1" dirty="0">
                <a:ea typeface="ＭＳ Ｐゴシック" charset="-128"/>
              </a:rPr>
              <a:t>Assessment focus for Part One</a:t>
            </a:r>
            <a:endParaRPr lang="en-US" altLang="en-US" dirty="0">
              <a:ea typeface="ＭＳ Ｐゴシック" charset="-128"/>
            </a:endParaRPr>
          </a:p>
          <a:p>
            <a:r>
              <a:rPr lang="en-US" altLang="en-US" dirty="0">
                <a:ea typeface="ＭＳ Ｐゴシック" charset="-128"/>
              </a:rPr>
              <a:t>Paper 1 (practice) </a:t>
            </a:r>
          </a:p>
          <a:p>
            <a:r>
              <a:rPr lang="en-US" altLang="en-US" dirty="0">
                <a:ea typeface="ＭＳ Ｐゴシック" charset="-128"/>
              </a:rPr>
              <a:t>Further oral (potentially summative) Written task 1 (potentially summative) (</a:t>
            </a:r>
            <a:r>
              <a:rPr lang="en-US" altLang="en-US" b="1" dirty="0">
                <a:ea typeface="ＭＳ Ｐゴシック" charset="-128"/>
              </a:rPr>
              <a:t>HL: </a:t>
            </a:r>
            <a:r>
              <a:rPr lang="en-US" altLang="en-US" dirty="0">
                <a:ea typeface="ＭＳ Ｐゴシック" charset="-128"/>
              </a:rPr>
              <a:t>Written task 2—potentially summative)</a:t>
            </a:r>
          </a:p>
        </p:txBody>
      </p:sp>
      <p:sp>
        <p:nvSpPr>
          <p:cNvPr id="2969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41C4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solidFill>
                  <a:srgbClr val="377AFF"/>
                </a:solidFill>
              </a:rPr>
              <a:t>Page </a:t>
            </a:r>
            <a:fld id="{75564310-F4CF-DD4E-974E-A5D22E381B2E}" type="slidenum">
              <a:rPr lang="en-US" altLang="en-US" sz="1000">
                <a:solidFill>
                  <a:srgbClr val="377A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000">
              <a:solidFill>
                <a:srgbClr val="377A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40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Part 2 Learning Outcomes</a:t>
            </a:r>
          </a:p>
        </p:txBody>
      </p:sp>
      <p:sp>
        <p:nvSpPr>
          <p:cNvPr id="32770" name="Content Placeholder 2"/>
          <p:cNvSpPr>
            <a:spLocks noGrp="1"/>
          </p:cNvSpPr>
          <p:nvPr>
            <p:ph idx="1"/>
          </p:nvPr>
        </p:nvSpPr>
        <p:spPr>
          <a:xfrm>
            <a:off x="768351" y="1981200"/>
            <a:ext cx="10861674" cy="4610100"/>
          </a:xfrm>
        </p:spPr>
        <p:txBody>
          <a:bodyPr/>
          <a:lstStyle/>
          <a:p>
            <a:r>
              <a:rPr lang="en-US" altLang="en-US" sz="3200" b="1" dirty="0">
                <a:ea typeface="ＭＳ Ｐゴシック" charset="-128"/>
              </a:rPr>
              <a:t>Examine different forms of communication within the media.</a:t>
            </a:r>
          </a:p>
          <a:p>
            <a:endParaRPr lang="en-US" altLang="en-US" sz="3200" b="1" dirty="0">
              <a:ea typeface="ＭＳ Ｐゴシック" charset="-128"/>
            </a:endParaRPr>
          </a:p>
          <a:p>
            <a:r>
              <a:rPr lang="en-US" altLang="en-US" sz="3200" b="1" dirty="0">
                <a:ea typeface="ＭＳ Ｐゴシック" charset="-128"/>
              </a:rPr>
              <a:t>Show an awareness of the potential for educational, political or ideological influence of the media. </a:t>
            </a:r>
          </a:p>
          <a:p>
            <a:endParaRPr lang="en-US" altLang="en-US" sz="3200" b="1" dirty="0">
              <a:ea typeface="ＭＳ Ｐゴシック" charset="-128"/>
            </a:endParaRPr>
          </a:p>
          <a:p>
            <a:r>
              <a:rPr lang="en-US" altLang="en-US" sz="3200" b="1" dirty="0">
                <a:ea typeface="ＭＳ Ｐゴシック" charset="-128"/>
              </a:rPr>
              <a:t>Show the way mass media use language and image to inform, persuade or entertain</a:t>
            </a:r>
            <a:endParaRPr lang="en-US" altLang="en-US" sz="3200" dirty="0">
              <a:ea typeface="ＭＳ Ｐゴシック" charset="-128"/>
            </a:endParaRPr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41C4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solidFill>
                  <a:srgbClr val="377AFF"/>
                </a:solidFill>
              </a:rPr>
              <a:t>Page </a:t>
            </a:r>
            <a:fld id="{46B6112A-B48A-C84A-9F22-726865BBDEC2}" type="slidenum">
              <a:rPr lang="en-US" altLang="en-US" sz="1000">
                <a:solidFill>
                  <a:srgbClr val="377A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000">
              <a:solidFill>
                <a:srgbClr val="377A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38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Content Placeholder 2"/>
          <p:cNvSpPr>
            <a:spLocks noGrp="1"/>
          </p:cNvSpPr>
          <p:nvPr>
            <p:ph idx="1"/>
          </p:nvPr>
        </p:nvSpPr>
        <p:spPr>
          <a:xfrm>
            <a:off x="768351" y="831850"/>
            <a:ext cx="11147423" cy="6026150"/>
          </a:xfrm>
        </p:spPr>
        <p:txBody>
          <a:bodyPr/>
          <a:lstStyle/>
          <a:p>
            <a:pPr lvl="1"/>
            <a:r>
              <a:rPr lang="en-US" altLang="en-US" dirty="0">
                <a:ea typeface="Arial" charset="0"/>
              </a:rPr>
              <a:t>  </a:t>
            </a:r>
            <a:r>
              <a:rPr lang="en-US" altLang="en-US" sz="2400" dirty="0">
                <a:ea typeface="Arial" charset="0"/>
              </a:rPr>
              <a:t>Develop skills of close analysis and analytical </a:t>
            </a:r>
            <a:r>
              <a:rPr lang="en-US" altLang="en-US" b="1" dirty="0">
                <a:ea typeface="Arial" charset="0"/>
              </a:rPr>
              <a:t>connection</a:t>
            </a:r>
            <a:r>
              <a:rPr lang="en-US" altLang="en-US" dirty="0">
                <a:ea typeface="Arial" charset="0"/>
              </a:rPr>
              <a:t> </a:t>
            </a:r>
          </a:p>
          <a:p>
            <a:r>
              <a:rPr lang="en-US" altLang="en-US" dirty="0">
                <a:ea typeface="ＭＳ Ｐゴシック" charset="-128"/>
              </a:rPr>
              <a:t>•	Recognize importance of </a:t>
            </a:r>
            <a:r>
              <a:rPr lang="en-US" altLang="en-US" b="1" dirty="0">
                <a:ea typeface="ＭＳ Ｐゴシック" charset="-128"/>
              </a:rPr>
              <a:t>contexts of writing/receiving </a:t>
            </a:r>
          </a:p>
          <a:p>
            <a:r>
              <a:rPr lang="en-US" altLang="en-US" dirty="0">
                <a:ea typeface="ＭＳ Ｐゴシック" charset="-128"/>
              </a:rPr>
              <a:t>•	Encourage appreciation of </a:t>
            </a:r>
            <a:r>
              <a:rPr lang="en-US" altLang="en-US" b="1" dirty="0">
                <a:ea typeface="ＭＳ Ｐゴシック" charset="-128"/>
              </a:rPr>
              <a:t>formal, stylistic and </a:t>
            </a:r>
            <a:r>
              <a:rPr lang="en-US" altLang="en-US" b="1" dirty="0" smtClean="0">
                <a:ea typeface="ＭＳ Ｐゴシック" charset="-128"/>
              </a:rPr>
              <a:t>aesthetic </a:t>
            </a:r>
            <a:r>
              <a:rPr lang="en-US" altLang="en-US" b="1" dirty="0">
                <a:ea typeface="ＭＳ Ｐゴシック" charset="-128"/>
              </a:rPr>
              <a:t>qualities </a:t>
            </a:r>
            <a:r>
              <a:rPr lang="en-US" altLang="en-US" dirty="0">
                <a:ea typeface="ＭＳ Ｐゴシック" charset="-128"/>
              </a:rPr>
              <a:t>of texts </a:t>
            </a:r>
          </a:p>
          <a:p>
            <a:r>
              <a:rPr lang="en-US" altLang="en-US" dirty="0">
                <a:ea typeface="ＭＳ Ｐゴシック" charset="-128"/>
              </a:rPr>
              <a:t>•	Develop understanding of the impact of language, 	culture and context on the </a:t>
            </a:r>
            <a:r>
              <a:rPr lang="en-US" altLang="en-US" b="1" dirty="0">
                <a:ea typeface="ＭＳ Ｐゴシック" charset="-128"/>
              </a:rPr>
              <a:t>construction of meaning </a:t>
            </a:r>
          </a:p>
          <a:p>
            <a:r>
              <a:rPr lang="en-US" altLang="en-US" dirty="0">
                <a:ea typeface="ＭＳ Ｐゴシック" charset="-128"/>
              </a:rPr>
              <a:t>•	Encourage critical appreciation of </a:t>
            </a:r>
            <a:r>
              <a:rPr lang="en-US" altLang="en-US" b="1" dirty="0">
                <a:ea typeface="ＭＳ Ｐゴシック" charset="-128"/>
              </a:rPr>
              <a:t>interactions</a:t>
            </a:r>
            <a:r>
              <a:rPr lang="en-US" altLang="en-US" dirty="0">
                <a:ea typeface="ＭＳ Ｐゴシック" charset="-128"/>
              </a:rPr>
              <a:t> between 	text, audience and purpose </a:t>
            </a:r>
          </a:p>
          <a:p>
            <a:r>
              <a:rPr lang="en-US" altLang="en-US" dirty="0">
                <a:ea typeface="ＭＳ Ｐゴシック" charset="-128"/>
              </a:rPr>
              <a:t> •	Develop students</a:t>
            </a:r>
            <a:r>
              <a:rPr lang="ja-JP" altLang="en-US" dirty="0">
                <a:ea typeface="ＭＳ Ｐゴシック" charset="-128"/>
              </a:rPr>
              <a:t>’</a:t>
            </a:r>
            <a:r>
              <a:rPr lang="en-US" altLang="ja-JP" dirty="0">
                <a:ea typeface="ＭＳ Ｐゴシック" charset="-128"/>
              </a:rPr>
              <a:t> oral/written powers of </a:t>
            </a:r>
            <a:r>
              <a:rPr lang="en-US" altLang="ja-JP" b="1" dirty="0">
                <a:ea typeface="ＭＳ Ｐゴシック" charset="-128"/>
              </a:rPr>
              <a:t>expression</a:t>
            </a:r>
            <a:r>
              <a:rPr lang="en-US" altLang="ja-JP" dirty="0">
                <a:ea typeface="ＭＳ Ｐゴシック" charset="-128"/>
              </a:rPr>
              <a:t>  </a:t>
            </a:r>
          </a:p>
          <a:p>
            <a:r>
              <a:rPr lang="en-US" altLang="en-US" dirty="0">
                <a:ea typeface="ＭＳ Ｐゴシック" charset="-128"/>
              </a:rPr>
              <a:t>•	Study texts from different periods, styles and genres </a:t>
            </a:r>
          </a:p>
          <a:p>
            <a:pPr>
              <a:buFont typeface="Wingdings" charset="2"/>
              <a:buNone/>
            </a:pPr>
            <a:r>
              <a:rPr lang="en-US" altLang="en-US" dirty="0">
                <a:ea typeface="ＭＳ Ｐゴシック" charset="-128"/>
              </a:rPr>
              <a:t>		Encourage appreciation of </a:t>
            </a:r>
            <a:r>
              <a:rPr lang="en-US" altLang="en-US" b="1" dirty="0">
                <a:ea typeface="ＭＳ Ｐゴシック" charset="-128"/>
              </a:rPr>
              <a:t>perspectives from other 	cultures </a:t>
            </a:r>
          </a:p>
          <a:p>
            <a:endParaRPr lang="en-US" altLang="en-US" dirty="0">
              <a:ea typeface="ＭＳ Ｐゴシック" charset="-128"/>
            </a:endParaRPr>
          </a:p>
        </p:txBody>
      </p:sp>
      <p:sp>
        <p:nvSpPr>
          <p:cNvPr id="3379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41C4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solidFill>
                  <a:srgbClr val="377AFF"/>
                </a:solidFill>
              </a:rPr>
              <a:t>Page </a:t>
            </a:r>
            <a:fld id="{CBC4ADF7-28B5-EC48-95F0-C6450BCCA2DC}" type="slidenum">
              <a:rPr lang="en-US" altLang="en-US" sz="1000">
                <a:solidFill>
                  <a:srgbClr val="377A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000">
              <a:solidFill>
                <a:srgbClr val="377A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602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2"/>
          <p:cNvSpPr>
            <a:spLocks noGrp="1"/>
          </p:cNvSpPr>
          <p:nvPr>
            <p:ph idx="1"/>
          </p:nvPr>
        </p:nvSpPr>
        <p:spPr>
          <a:xfrm>
            <a:off x="2100262" y="936626"/>
            <a:ext cx="8986837" cy="5921374"/>
          </a:xfrm>
        </p:spPr>
        <p:txBody>
          <a:bodyPr/>
          <a:lstStyle/>
          <a:p>
            <a:r>
              <a:rPr lang="en-US" altLang="en-US" sz="2800" dirty="0">
                <a:ea typeface="ＭＳ Ｐゴシック" charset="-128"/>
              </a:rPr>
              <a:t>Language and political campaign</a:t>
            </a:r>
          </a:p>
          <a:p>
            <a:r>
              <a:rPr lang="en-US" altLang="en-US" sz="2800" dirty="0">
                <a:ea typeface="ＭＳ Ｐゴシック" charset="-128"/>
              </a:rPr>
              <a:t> •	Media and violence </a:t>
            </a:r>
          </a:p>
          <a:p>
            <a:r>
              <a:rPr lang="en-US" altLang="en-US" sz="2800" dirty="0">
                <a:ea typeface="ＭＳ Ｐゴシック" charset="-128"/>
              </a:rPr>
              <a:t>•	Media and  Stereotypes/Gender)</a:t>
            </a:r>
          </a:p>
          <a:p>
            <a:r>
              <a:rPr lang="en-US" altLang="en-US" sz="2800" dirty="0">
                <a:ea typeface="ＭＳ Ｐゴシック" charset="-128"/>
              </a:rPr>
              <a:t>•	Media and </a:t>
            </a:r>
            <a:r>
              <a:rPr lang="en-US" altLang="en-US" sz="2800" b="1" dirty="0">
                <a:ea typeface="ＭＳ Ｐゴシック" charset="-128"/>
              </a:rPr>
              <a:t> </a:t>
            </a:r>
            <a:r>
              <a:rPr lang="en-US" altLang="en-US" sz="2800" dirty="0">
                <a:ea typeface="ＭＳ Ｐゴシック" charset="-128"/>
              </a:rPr>
              <a:t>Language and the state</a:t>
            </a:r>
          </a:p>
          <a:p>
            <a:r>
              <a:rPr lang="en-US" altLang="en-US" sz="2800" dirty="0">
                <a:ea typeface="ＭＳ Ｐゴシック" charset="-128"/>
              </a:rPr>
              <a:t>Text Types: </a:t>
            </a:r>
            <a:r>
              <a:rPr lang="en-US" altLang="en-US" sz="2800" b="1" dirty="0">
                <a:solidFill>
                  <a:srgbClr val="FF6600"/>
                </a:solidFill>
                <a:ea typeface="ＭＳ Ｐゴシック" charset="-128"/>
              </a:rPr>
              <a:t>SEE P.18- OF WRITTEN TASKS</a:t>
            </a:r>
          </a:p>
          <a:p>
            <a:r>
              <a:rPr lang="en-US" altLang="en-US" sz="2800" dirty="0">
                <a:ea typeface="ＭＳ Ｐゴシック" charset="-128"/>
              </a:rPr>
              <a:t>•	Presentation (and oral presentation          	skills) Essay—analytical and persuasive 	(</a:t>
            </a:r>
            <a:r>
              <a:rPr lang="en-US" altLang="en-US" sz="2800" b="1" dirty="0">
                <a:ea typeface="ＭＳ Ｐゴシック" charset="-128"/>
              </a:rPr>
              <a:t>HL:</a:t>
            </a:r>
            <a:r>
              <a:rPr lang="fr-FR" altLang="en-US" sz="2800" dirty="0">
                <a:ea typeface="ＭＳ Ｐゴシック" charset="-128"/>
              </a:rPr>
              <a:t>comparative </a:t>
            </a:r>
            <a:r>
              <a:rPr lang="fr-FR" altLang="en-US" sz="2800" dirty="0" err="1">
                <a:ea typeface="ＭＳ Ｐゴシック" charset="-128"/>
              </a:rPr>
              <a:t>essay</a:t>
            </a:r>
            <a:r>
              <a:rPr lang="fr-FR" altLang="en-US" sz="2800" dirty="0">
                <a:ea typeface="ＭＳ Ｐゴシック" charset="-128"/>
              </a:rPr>
              <a:t>) </a:t>
            </a:r>
          </a:p>
          <a:p>
            <a:r>
              <a:rPr lang="fr-FR" altLang="en-US" sz="2800" dirty="0">
                <a:ea typeface="ＭＳ Ｐゴシック" charset="-128"/>
              </a:rPr>
              <a:t>•	</a:t>
            </a:r>
            <a:r>
              <a:rPr lang="fr-FR" altLang="en-US" sz="2800" dirty="0" err="1">
                <a:ea typeface="ＭＳ Ｐゴシック" charset="-128"/>
              </a:rPr>
              <a:t>Novel</a:t>
            </a:r>
            <a:r>
              <a:rPr lang="fr-FR" altLang="en-US" sz="2800" dirty="0">
                <a:ea typeface="ＭＳ Ｐゴシック" charset="-128"/>
              </a:rPr>
              <a:t>, </a:t>
            </a:r>
            <a:r>
              <a:rPr lang="pl-PL" altLang="en-US" sz="2800" dirty="0">
                <a:ea typeface="ＭＳ Ｐゴシック" charset="-128"/>
              </a:rPr>
              <a:t>Drama (film </a:t>
            </a:r>
            <a:r>
              <a:rPr lang="pl-PL" altLang="en-US" sz="2800" dirty="0" err="1">
                <a:ea typeface="ＭＳ Ｐゴシック" charset="-128"/>
              </a:rPr>
              <a:t>text</a:t>
            </a:r>
            <a:r>
              <a:rPr lang="pl-PL" altLang="en-US" sz="2800" dirty="0">
                <a:ea typeface="ＭＳ Ｐゴシック" charset="-128"/>
              </a:rPr>
              <a:t>) </a:t>
            </a:r>
          </a:p>
          <a:p>
            <a:r>
              <a:rPr lang="pl-PL" altLang="en-US" sz="2800" dirty="0">
                <a:ea typeface="ＭＳ Ｐゴシック" charset="-128"/>
              </a:rPr>
              <a:t>•	News report, Blog •	</a:t>
            </a:r>
            <a:r>
              <a:rPr lang="pl-PL" altLang="en-US" sz="2800" dirty="0" err="1">
                <a:ea typeface="ＭＳ Ｐゴシック" charset="-128"/>
              </a:rPr>
              <a:t>Editorial</a:t>
            </a:r>
            <a:endParaRPr lang="pl-PL" altLang="en-US" sz="2800" dirty="0">
              <a:ea typeface="ＭＳ Ｐゴシック" charset="-128"/>
            </a:endParaRPr>
          </a:p>
          <a:p>
            <a:r>
              <a:rPr lang="fr-FR" altLang="en-US" sz="2800" dirty="0">
                <a:ea typeface="ＭＳ Ｐゴシック" charset="-128"/>
              </a:rPr>
              <a:t>•	</a:t>
            </a:r>
            <a:r>
              <a:rPr lang="fr-FR" altLang="en-US" sz="2800" dirty="0" err="1">
                <a:ea typeface="ＭＳ Ｐゴシック" charset="-128"/>
              </a:rPr>
              <a:t>Memoir</a:t>
            </a:r>
            <a:r>
              <a:rPr lang="fr-FR" altLang="en-US" sz="2800" dirty="0">
                <a:ea typeface="ＭＳ Ｐゴシック" charset="-128"/>
              </a:rPr>
              <a:t> •	Opinion </a:t>
            </a:r>
            <a:r>
              <a:rPr lang="fr-FR" altLang="en-US" sz="2800" dirty="0" err="1">
                <a:ea typeface="ＭＳ Ｐゴシック" charset="-128"/>
              </a:rPr>
              <a:t>column</a:t>
            </a:r>
            <a:r>
              <a:rPr lang="fr-FR" altLang="en-US" sz="2800" dirty="0">
                <a:ea typeface="ＭＳ Ｐゴシック" charset="-128"/>
              </a:rPr>
              <a:t> •	Instructions</a:t>
            </a:r>
            <a:endParaRPr lang="en-US" altLang="en-US" sz="2800" dirty="0">
              <a:ea typeface="ＭＳ Ｐゴシック" charset="-128"/>
            </a:endParaRPr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41C4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solidFill>
                  <a:srgbClr val="377AFF"/>
                </a:solidFill>
              </a:rPr>
              <a:t>Page </a:t>
            </a:r>
            <a:fld id="{FC46C647-4D88-8943-B2D3-126C7DAC2554}" type="slidenum">
              <a:rPr lang="en-US" altLang="en-US" sz="1000">
                <a:solidFill>
                  <a:srgbClr val="377A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000">
              <a:solidFill>
                <a:srgbClr val="377A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87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Paper One SL:25%</a:t>
            </a:r>
          </a:p>
        </p:txBody>
      </p:sp>
      <p:sp>
        <p:nvSpPr>
          <p:cNvPr id="4813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charset="-128"/>
              </a:rPr>
              <a:t>At SL the students will be given a choice of two separate, previously unseen texts, together with guiding questions, and will be asked to offer an analysis of </a:t>
            </a:r>
            <a:r>
              <a:rPr lang="en-US" altLang="en-US" b="1" u="sng">
                <a:ea typeface="ＭＳ Ｐゴシック" charset="-128"/>
              </a:rPr>
              <a:t>one</a:t>
            </a:r>
            <a:r>
              <a:rPr lang="en-US" altLang="en-US">
                <a:ea typeface="ＭＳ Ｐゴシック" charset="-128"/>
              </a:rPr>
              <a:t> of the two texts. The texts will be </a:t>
            </a:r>
            <a:r>
              <a:rPr lang="en-US" altLang="en-US" b="1">
                <a:ea typeface="ＭＳ Ｐゴシック" charset="-128"/>
              </a:rPr>
              <a:t>non-literary </a:t>
            </a:r>
            <a:r>
              <a:rPr lang="en-US" altLang="en-US">
                <a:ea typeface="ＭＳ Ｐゴシック" charset="-128"/>
              </a:rPr>
              <a:t>and may include:</a:t>
            </a:r>
          </a:p>
          <a:p>
            <a:r>
              <a:rPr lang="en-US" altLang="en-US">
                <a:ea typeface="ＭＳ Ｐゴシック" charset="-128"/>
              </a:rPr>
              <a:t>• a complete piece of writing</a:t>
            </a:r>
          </a:p>
          <a:p>
            <a:r>
              <a:rPr lang="en-US" altLang="en-US">
                <a:ea typeface="ＭＳ Ｐゴシック" charset="-128"/>
              </a:rPr>
              <a:t> a complete piece of writing with visual content </a:t>
            </a:r>
          </a:p>
          <a:p>
            <a:r>
              <a:rPr lang="en-US" altLang="en-US">
                <a:ea typeface="ＭＳ Ｐゴシック" charset="-128"/>
              </a:rPr>
              <a:t>an extract from a longer piece of writing, or an extract from a complete piece of writing with visual content</a:t>
            </a:r>
          </a:p>
        </p:txBody>
      </p:sp>
      <p:sp>
        <p:nvSpPr>
          <p:cNvPr id="4813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41C4"/>
              </a:buClr>
              <a:buFont typeface="Wingdings" charset="2"/>
              <a:buChar char="§"/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  <a:cs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000">
                <a:solidFill>
                  <a:srgbClr val="377AFF"/>
                </a:solidFill>
              </a:rPr>
              <a:t>Page </a:t>
            </a:r>
            <a:fld id="{65A23F80-AA6F-DF48-A52E-E1DE1AEAC8CC}" type="slidenum">
              <a:rPr lang="en-US" altLang="en-US" sz="1000">
                <a:solidFill>
                  <a:srgbClr val="377AF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000">
              <a:solidFill>
                <a:srgbClr val="377A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86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16688"/>
            <a:ext cx="37338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Paper 1: 25%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6794" y="237565"/>
            <a:ext cx="6808694" cy="6477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Paper 1: </a:t>
            </a:r>
            <a:r>
              <a:rPr lang="en-US" dirty="0" smtClean="0"/>
              <a:t>Two </a:t>
            </a:r>
            <a:r>
              <a:rPr lang="en-US" u="sng" smtClean="0"/>
              <a:t>unseen</a:t>
            </a:r>
            <a:r>
              <a:rPr lang="en-US" smtClean="0"/>
              <a:t> </a:t>
            </a:r>
            <a:r>
              <a:rPr lang="en-US" b="1" smtClean="0"/>
              <a:t>non-literary </a:t>
            </a:r>
            <a:r>
              <a:rPr lang="en-US" b="1" dirty="0" smtClean="0"/>
              <a:t>texts</a:t>
            </a:r>
            <a:r>
              <a:rPr lang="en-US" dirty="0" smtClean="0"/>
              <a:t> (what you study in Language Parts 1 and 2). </a:t>
            </a:r>
          </a:p>
          <a:p>
            <a:endParaRPr lang="en-US" dirty="0" smtClean="0"/>
          </a:p>
          <a:p>
            <a:r>
              <a:rPr lang="en-US" dirty="0" smtClean="0"/>
              <a:t>You choose ONE text and write an analysis (commentary) discussing context, audience purpose, format/ structure and linguistic devices/ language features. You have TWO guiding questions to direct your response.</a:t>
            </a:r>
          </a:p>
          <a:p>
            <a:endParaRPr lang="en-US" dirty="0" smtClean="0"/>
          </a:p>
          <a:p>
            <a:r>
              <a:rPr lang="en-US" dirty="0" smtClean="0">
                <a:solidFill>
                  <a:srgbClr val="0000FF"/>
                </a:solidFill>
              </a:rPr>
              <a:t>25%, 20 marks, 1 hour 30 min</a:t>
            </a:r>
            <a:endParaRPr lang="en-US" dirty="0">
              <a:solidFill>
                <a:srgbClr val="0000FF"/>
              </a:solidFill>
            </a:endParaRPr>
          </a:p>
        </p:txBody>
      </p:sp>
      <p:pic>
        <p:nvPicPr>
          <p:cNvPr id="3" name="Content Placeholder 2" descr="g133589180192776285.jpg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5156" b="-15156"/>
          <a:stretch>
            <a:fillRect/>
          </a:stretch>
        </p:blipFill>
        <p:spPr>
          <a:xfrm rot="21427527">
            <a:off x="987247" y="1504951"/>
            <a:ext cx="4038600" cy="4525963"/>
          </a:xfrm>
        </p:spPr>
      </p:pic>
    </p:spTree>
    <p:extLst>
      <p:ext uri="{BB962C8B-B14F-4D97-AF65-F5344CB8AC3E}">
        <p14:creationId xmlns:p14="http://schemas.microsoft.com/office/powerpoint/2010/main" val="60523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0" y="0"/>
            <a:ext cx="9144000" cy="841270"/>
          </a:xfrm>
        </p:spPr>
        <p:txBody>
          <a:bodyPr/>
          <a:lstStyle/>
          <a:p>
            <a:r>
              <a:rPr lang="en-US" b="1" dirty="0" smtClean="0">
                <a:solidFill>
                  <a:srgbClr val="008000"/>
                </a:solidFill>
              </a:rPr>
              <a:t>What you might see on Paper 1:</a:t>
            </a:r>
            <a:endParaRPr lang="en-US" b="1" dirty="0">
              <a:solidFill>
                <a:srgbClr val="00800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581891" y="1072345"/>
            <a:ext cx="11083636" cy="3166996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Two different non- literary texts to be read, for instance:</a:t>
            </a:r>
          </a:p>
          <a:p>
            <a:pPr lvl="1"/>
            <a:r>
              <a:rPr lang="en-US" dirty="0"/>
              <a:t>advertisement </a:t>
            </a:r>
          </a:p>
          <a:p>
            <a:pPr lvl="1"/>
            <a:r>
              <a:rPr lang="en-US" dirty="0"/>
              <a:t>opinion column </a:t>
            </a:r>
          </a:p>
          <a:p>
            <a:pPr lvl="1"/>
            <a:r>
              <a:rPr lang="en-US" dirty="0"/>
              <a:t>extract from an essay </a:t>
            </a:r>
          </a:p>
          <a:p>
            <a:pPr lvl="1"/>
            <a:r>
              <a:rPr lang="en-US" dirty="0"/>
              <a:t>electronic text (such as social networking sites, blogs) </a:t>
            </a:r>
          </a:p>
          <a:p>
            <a:pPr lvl="1"/>
            <a:r>
              <a:rPr lang="en-US" dirty="0"/>
              <a:t>brochure (such as a public information leaflet) </a:t>
            </a:r>
          </a:p>
          <a:p>
            <a:pPr lvl="1"/>
            <a:r>
              <a:rPr lang="en-US" dirty="0"/>
              <a:t>extract from a memoir, diary or other autobiographical text. 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Two guiding questions at the end of each – choose ONE to </a:t>
            </a:r>
            <a:r>
              <a:rPr lang="en-US" dirty="0" err="1" smtClean="0"/>
              <a:t>analyse</a:t>
            </a:r>
            <a:r>
              <a:rPr lang="en-US" dirty="0" smtClean="0"/>
              <a:t> as written commentary in about 70 minutes.</a:t>
            </a:r>
            <a:endParaRPr lang="en-US" dirty="0"/>
          </a:p>
          <a:p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/>
          <a:srcRect l="-5853" r="-5853"/>
          <a:stretch>
            <a:fillRect/>
          </a:stretch>
        </p:blipFill>
        <p:spPr>
          <a:xfrm>
            <a:off x="1194430" y="4271616"/>
            <a:ext cx="10008229" cy="2260598"/>
          </a:xfrm>
        </p:spPr>
      </p:pic>
    </p:spTree>
    <p:extLst>
      <p:ext uri="{BB962C8B-B14F-4D97-AF65-F5344CB8AC3E}">
        <p14:creationId xmlns:p14="http://schemas.microsoft.com/office/powerpoint/2010/main" val="1891397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EE11E6-77E2-3A4C-AE0B-12ED9FDA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38" y="2552421"/>
            <a:ext cx="10515600" cy="285273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+mn-lt"/>
              </a:rPr>
              <a:t>Don’t forget the course </a:t>
            </a:r>
            <a:r>
              <a:rPr lang="en-US" b="1" dirty="0" smtClean="0">
                <a:solidFill>
                  <a:srgbClr val="FF0000"/>
                </a:solidFill>
                <a:latin typeface="+mn-lt"/>
              </a:rPr>
              <a:t>guide/ syllabus! </a:t>
            </a:r>
            <a:br>
              <a:rPr lang="en-US" b="1" dirty="0" smtClean="0">
                <a:solidFill>
                  <a:srgbClr val="FF0000"/>
                </a:solidFill>
                <a:latin typeface="+mn-lt"/>
              </a:rPr>
            </a:br>
            <a:r>
              <a:rPr lang="en-US" b="1" dirty="0" smtClean="0">
                <a:solidFill>
                  <a:srgbClr val="FF0000"/>
                </a:solidFill>
                <a:latin typeface="+mn-lt"/>
              </a:rPr>
              <a:t>You are expected to do certain things and demonstrate certain abilities.</a:t>
            </a:r>
            <a:endParaRPr lang="en-US" b="1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356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F6C542CC-9A7D-BF4C-9CFC-E185A05AC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2912" y="0"/>
            <a:ext cx="9421534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639671" y="1111623"/>
            <a:ext cx="7135905" cy="1326777"/>
          </a:xfrm>
          <a:prstGeom prst="rect">
            <a:avLst/>
          </a:prstGeom>
          <a:solidFill>
            <a:srgbClr val="FFFF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782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ECB11A3B-8C3D-9741-A378-3295AC0425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273" y="68388"/>
            <a:ext cx="10914622" cy="67896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922495" y="68388"/>
            <a:ext cx="8534400" cy="863941"/>
          </a:xfrm>
          <a:prstGeom prst="rect">
            <a:avLst/>
          </a:prstGeom>
          <a:solidFill>
            <a:srgbClr val="FFFF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5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="" xmlns:a16="http://schemas.microsoft.com/office/drawing/2014/main" id="{765818A3-752C-5E44-BCB1-D86121C3F8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0215" y="286871"/>
            <a:ext cx="11681785" cy="634701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155576" y="466165"/>
            <a:ext cx="8910918" cy="1183342"/>
          </a:xfrm>
          <a:prstGeom prst="rect">
            <a:avLst/>
          </a:prstGeom>
          <a:solidFill>
            <a:srgbClr val="FFFF00">
              <a:alpha val="2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54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800" b="1" dirty="0" smtClean="0">
                <a:solidFill>
                  <a:srgbClr val="00B050"/>
                </a:solidFill>
                <a:latin typeface="+mn-lt"/>
              </a:rPr>
              <a:t>Go to Firefly</a:t>
            </a:r>
            <a:endParaRPr lang="en-US" sz="88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0432FF"/>
                </a:solidFill>
              </a:rPr>
              <a:t>Open Paper 1 Template</a:t>
            </a:r>
            <a:endParaRPr lang="en-US" sz="4000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26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>
                <a:solidFill>
                  <a:srgbClr val="00B050"/>
                </a:solidFill>
                <a:latin typeface="+mn-lt"/>
              </a:rPr>
              <a:t>Why do cats make better pets than dogs?</a:t>
            </a:r>
            <a:endParaRPr lang="en-US" b="1" dirty="0">
              <a:solidFill>
                <a:srgbClr val="00B050"/>
              </a:solidFill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378207"/>
            <a:ext cx="5181600" cy="2916389"/>
          </a:xfrm>
        </p:spPr>
      </p:pic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08682"/>
            <a:ext cx="5923344" cy="4168281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Make a </a:t>
            </a:r>
            <a:r>
              <a:rPr lang="en-US" b="1" dirty="0" smtClean="0">
                <a:solidFill>
                  <a:srgbClr val="0432FF"/>
                </a:solidFill>
              </a:rPr>
              <a:t>spider diagram </a:t>
            </a:r>
            <a:r>
              <a:rPr lang="en-US" dirty="0" smtClean="0"/>
              <a:t>and then an </a:t>
            </a:r>
            <a:r>
              <a:rPr lang="en-US" b="1" dirty="0" smtClean="0">
                <a:solidFill>
                  <a:srgbClr val="0432FF"/>
                </a:solidFill>
              </a:rPr>
              <a:t>alpha-numerical outline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>
                <a:solidFill>
                  <a:srgbClr val="0432FF"/>
                </a:solidFill>
              </a:rPr>
              <a:t>Create an introduction for this explanatory/ discursive essay!</a:t>
            </a:r>
          </a:p>
          <a:p>
            <a:endParaRPr lang="en-US" dirty="0"/>
          </a:p>
          <a:p>
            <a:r>
              <a:rPr lang="en-US" dirty="0" smtClean="0"/>
              <a:t>You must have: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 </a:t>
            </a:r>
            <a:r>
              <a:rPr lang="en-US" dirty="0"/>
              <a:t>R</a:t>
            </a:r>
            <a:r>
              <a:rPr lang="en-US" dirty="0" smtClean="0"/>
              <a:t>estate Question sentence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an Essay Map sentence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0" y="274637"/>
            <a:ext cx="5638800" cy="5250951"/>
          </a:xfrm>
        </p:spPr>
        <p:txBody>
          <a:bodyPr/>
          <a:lstStyle/>
          <a:p>
            <a:r>
              <a:rPr lang="en-US" dirty="0" smtClean="0">
                <a:solidFill>
                  <a:srgbClr val="0432FF"/>
                </a:solidFill>
              </a:rPr>
              <a:t>Use Handout 1 to </a:t>
            </a:r>
            <a:r>
              <a:rPr lang="en-US" dirty="0" err="1" smtClean="0">
                <a:solidFill>
                  <a:srgbClr val="0432FF"/>
                </a:solidFill>
              </a:rPr>
              <a:t>analyse</a:t>
            </a:r>
            <a:r>
              <a:rPr lang="en-US" dirty="0" smtClean="0">
                <a:solidFill>
                  <a:srgbClr val="0432FF"/>
                </a:solidFill>
              </a:rPr>
              <a:t> this Paper 1 text for The Big Five.</a:t>
            </a:r>
            <a:endParaRPr lang="en-US" dirty="0">
              <a:solidFill>
                <a:srgbClr val="0432FF"/>
              </a:solidFill>
            </a:endParaRPr>
          </a:p>
        </p:txBody>
      </p:sp>
      <p:pic>
        <p:nvPicPr>
          <p:cNvPr id="4" name="Content Placeholder 4">
            <a:extLst>
              <a:ext uri="{FF2B5EF4-FFF2-40B4-BE49-F238E27FC236}">
                <a16:creationId xmlns:wpc="http://schemas.microsoft.com/office/word/2010/wordprocessingCanvas" xmlns:mo="http://schemas.microsoft.com/office/mac/office/2008/main" xmlns:mc="http://schemas.openxmlformats.org/markup-compatibility/2006" xmlns:mv="urn:schemas-microsoft-com:mac:vml" xmlns:o="urn:schemas-microsoft-com:office:office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="" xmlns:a16="http://schemas.microsoft.com/office/drawing/2014/main" xmlns:lc="http://schemas.openxmlformats.org/drawingml/2006/lockedCanvas" id="{F1616BFD-A174-5C45-A7D4-0383E51B8FC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8142" y="0"/>
            <a:ext cx="4751321" cy="694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905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/>
          </p:nvPr>
        </p:nvGraphicFramePr>
        <p:xfrm>
          <a:off x="288925" y="192088"/>
          <a:ext cx="11064875" cy="64058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6487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Model Intro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Lead-in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This British magazine advertisement for Albany</a:t>
                      </a:r>
                      <a:r>
                        <a:rPr lang="en-US" sz="2400" baseline="0" dirty="0" smtClean="0"/>
                        <a:t> Life insurance, created by Lowe Howard-Spink around the early 1980s uses a contrast between form and content to playfully approach a serious topic, producing a </a:t>
                      </a:r>
                      <a:r>
                        <a:rPr lang="en-US" sz="2400" baseline="0" dirty="0" err="1" smtClean="0"/>
                        <a:t>humourous</a:t>
                      </a:r>
                      <a:r>
                        <a:rPr lang="en-US" sz="2400" baseline="0" dirty="0" smtClean="0"/>
                        <a:t> yet memorable effect on the reader.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Thesis</a:t>
                      </a:r>
                      <a:r>
                        <a:rPr lang="en-US" sz="2400" baseline="0" dirty="0" smtClean="0"/>
                        <a:t> Statement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Targeting </a:t>
                      </a:r>
                      <a:r>
                        <a:rPr lang="en-US" sz="2400" baseline="0" dirty="0" smtClean="0"/>
                        <a:t>middle-aged and older married men, it aims to convince husbands to purchase life insurance for their wives. </a:t>
                      </a:r>
                      <a:r>
                        <a:rPr lang="en-US" sz="2400" b="1" baseline="0" dirty="0" smtClean="0"/>
                        <a:t>The ad’s theme of looking to the future and the event of unhappy possibilities is juxtaposed with its novel method of engaging responders with a light-hearted tone, rather than frightening them with dark predictions. </a:t>
                      </a:r>
                      <a:endParaRPr 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Essay Map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The mechanism of persuasion lies in the </a:t>
                      </a:r>
                      <a:r>
                        <a:rPr lang="en-US" sz="2400" b="1" dirty="0" smtClean="0"/>
                        <a:t>form</a:t>
                      </a:r>
                      <a:r>
                        <a:rPr lang="en-US" sz="2400" dirty="0" smtClean="0"/>
                        <a:t> and </a:t>
                      </a:r>
                      <a:r>
                        <a:rPr lang="en-US" sz="2400" b="1" dirty="0" smtClean="0"/>
                        <a:t>structure</a:t>
                      </a:r>
                      <a:r>
                        <a:rPr lang="en-US" sz="2400" dirty="0" smtClean="0"/>
                        <a:t> of</a:t>
                      </a:r>
                      <a:r>
                        <a:rPr lang="en-US" sz="2400" baseline="0" dirty="0" smtClean="0"/>
                        <a:t> the text, as well as the </a:t>
                      </a:r>
                      <a:r>
                        <a:rPr lang="en-US" sz="2400" b="1" baseline="0" dirty="0" smtClean="0"/>
                        <a:t>diction</a:t>
                      </a:r>
                      <a:r>
                        <a:rPr lang="en-US" sz="2400" baseline="0" dirty="0" smtClean="0"/>
                        <a:t> to maintain an authoritative, yet lively voice appropriate yet unconventional for content and context.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027" y="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1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615" y="216760"/>
            <a:ext cx="4429248" cy="2605274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B050"/>
                </a:solidFill>
              </a:rPr>
              <a:t>The Big 5 – Revision</a:t>
            </a:r>
            <a:r>
              <a:rPr lang="en-US" sz="3200" b="1" dirty="0">
                <a:solidFill>
                  <a:srgbClr val="FF0000"/>
                </a:solidFill>
              </a:rPr>
              <a:t/>
            </a:r>
            <a:br>
              <a:rPr lang="en-US" sz="3200" b="1" dirty="0">
                <a:solidFill>
                  <a:srgbClr val="FF0000"/>
                </a:solidFill>
              </a:rPr>
            </a:br>
            <a:r>
              <a:rPr lang="en-US" sz="2400" b="1" dirty="0"/>
              <a:t>There are several questions that you can ask of any text. Here are five major questions that apply to almost all types of texts:</a:t>
            </a:r>
            <a:br>
              <a:rPr lang="en-US" sz="2400" b="1" dirty="0"/>
            </a:br>
            <a:endParaRPr lang="en-US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6760"/>
            <a:ext cx="5715000" cy="664124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Audience / purpose - </a:t>
            </a:r>
            <a:r>
              <a:rPr lang="en-US" dirty="0"/>
              <a:t>Whom does the text target? What does the author wish to achieve through the text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b="1" dirty="0"/>
              <a:t>Content / theme -</a:t>
            </a:r>
            <a:r>
              <a:rPr lang="en-US" dirty="0"/>
              <a:t> What is literally ‘happening’ in the text? What is it about? What are the main ideas of the text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b="1" dirty="0"/>
              <a:t>Tone / mood -</a:t>
            </a:r>
            <a:r>
              <a:rPr lang="en-US" dirty="0"/>
              <a:t> How does the text make you and/or the target audience feel? Describe the atmosphere of the text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Stylistic devices - </a:t>
            </a:r>
            <a:r>
              <a:rPr lang="en-US" dirty="0"/>
              <a:t>How does the author use language to convey a sentiment or message? What kinds of linguistic tools does he/she employ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b="1" dirty="0"/>
              <a:t>Structure -</a:t>
            </a:r>
            <a:r>
              <a:rPr lang="en-US" dirty="0"/>
              <a:t> How is the text organized, literally (i.e. layout/formatting)? What kinds of structural elements of a particular text type do you see?</a:t>
            </a:r>
          </a:p>
          <a:p>
            <a:endParaRPr lang="en-US" dirty="0"/>
          </a:p>
        </p:txBody>
      </p:sp>
      <p:pic>
        <p:nvPicPr>
          <p:cNvPr id="5" name="Content Placeholder 2" descr="Icon-round-Question_mark.jpg"/>
          <p:cNvPicPr>
            <a:picLocks noGrp="1" noChangeAspect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29089" y="2822034"/>
            <a:ext cx="3065295" cy="3435203"/>
          </a:xfrm>
        </p:spPr>
      </p:pic>
    </p:spTree>
    <p:extLst>
      <p:ext uri="{BB962C8B-B14F-4D97-AF65-F5344CB8AC3E}">
        <p14:creationId xmlns:p14="http://schemas.microsoft.com/office/powerpoint/2010/main" val="1710649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85825"/>
          </a:xfrm>
        </p:spPr>
        <p:txBody>
          <a:bodyPr/>
          <a:lstStyle/>
          <a:p>
            <a:pPr algn="ctr"/>
            <a:r>
              <a:rPr lang="en-US" b="1" u="sng" dirty="0">
                <a:solidFill>
                  <a:srgbClr val="FF0000"/>
                </a:solidFill>
              </a:rPr>
              <a:t>Body </a:t>
            </a:r>
            <a:r>
              <a:rPr lang="en-US" b="1" u="sng" dirty="0" smtClean="0">
                <a:solidFill>
                  <a:srgbClr val="FF0000"/>
                </a:solidFill>
              </a:rPr>
              <a:t>paragraphs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8726"/>
            <a:ext cx="11734800" cy="5629274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US" b="1" dirty="0" smtClean="0"/>
              <a:t>Audience </a:t>
            </a:r>
            <a:r>
              <a:rPr lang="en-US" b="1" dirty="0"/>
              <a:t>and Purpose Paragraph (PEEL)</a:t>
            </a:r>
            <a:endParaRPr lang="en-GB" dirty="0"/>
          </a:p>
          <a:p>
            <a:pPr lvl="0"/>
            <a:r>
              <a:rPr lang="en-US" b="1" dirty="0"/>
              <a:t>Content and Theme Paragraph (PEEL)</a:t>
            </a:r>
            <a:endParaRPr lang="en-GB" dirty="0"/>
          </a:p>
          <a:p>
            <a:pPr lvl="0"/>
            <a:r>
              <a:rPr lang="en-US" b="1" dirty="0"/>
              <a:t>Tone and Mood Paragraph (PEEL)</a:t>
            </a:r>
            <a:endParaRPr lang="en-GB" dirty="0"/>
          </a:p>
          <a:p>
            <a:pPr lvl="0"/>
            <a:r>
              <a:rPr lang="en-US" b="1" dirty="0"/>
              <a:t>Technique Paragraphs (PETEL)</a:t>
            </a:r>
            <a:endParaRPr lang="en-GB" dirty="0"/>
          </a:p>
          <a:p>
            <a:pPr lvl="0"/>
            <a:r>
              <a:rPr lang="en-US" dirty="0"/>
              <a:t>Follow the simple P.E.T.E.L. structure</a:t>
            </a:r>
            <a:endParaRPr lang="en-GB" dirty="0"/>
          </a:p>
          <a:p>
            <a:pPr lvl="0"/>
            <a:r>
              <a:rPr lang="en-US" b="1" dirty="0"/>
              <a:t>P:</a:t>
            </a:r>
            <a:r>
              <a:rPr lang="en-US" dirty="0"/>
              <a:t> State your topic sentence (what your paragraph will be about – a </a:t>
            </a:r>
            <a:r>
              <a:rPr lang="en-US" b="1" dirty="0"/>
              <a:t>Point</a:t>
            </a:r>
            <a:r>
              <a:rPr lang="en-US" dirty="0"/>
              <a:t> which supports Thesis Statement)</a:t>
            </a:r>
            <a:endParaRPr lang="en-GB" dirty="0"/>
          </a:p>
          <a:p>
            <a:pPr lvl="0"/>
            <a:r>
              <a:rPr lang="en-US" b="1" dirty="0"/>
              <a:t>E:</a:t>
            </a:r>
            <a:r>
              <a:rPr lang="en-US" dirty="0"/>
              <a:t> Refer to specific </a:t>
            </a:r>
            <a:r>
              <a:rPr lang="en-US" b="1" dirty="0"/>
              <a:t>Example</a:t>
            </a:r>
            <a:r>
              <a:rPr lang="en-US" dirty="0"/>
              <a:t> in the text</a:t>
            </a:r>
            <a:endParaRPr lang="en-GB" dirty="0"/>
          </a:p>
          <a:p>
            <a:pPr lvl="0"/>
            <a:r>
              <a:rPr lang="en-US" b="1" dirty="0"/>
              <a:t>T:</a:t>
            </a:r>
            <a:r>
              <a:rPr lang="en-US" dirty="0"/>
              <a:t> Identify a </a:t>
            </a:r>
            <a:r>
              <a:rPr lang="en-US" b="1" dirty="0"/>
              <a:t>Technique</a:t>
            </a:r>
            <a:r>
              <a:rPr lang="en-US" dirty="0"/>
              <a:t> used in the Example to create meaning about the Point. (Device or Structure)</a:t>
            </a:r>
            <a:endParaRPr lang="en-GB" dirty="0"/>
          </a:p>
          <a:p>
            <a:pPr lvl="0"/>
            <a:r>
              <a:rPr lang="en-US" b="1" dirty="0"/>
              <a:t>E:</a:t>
            </a:r>
            <a:r>
              <a:rPr lang="en-US" dirty="0"/>
              <a:t> </a:t>
            </a:r>
            <a:r>
              <a:rPr lang="en-US" b="1" dirty="0"/>
              <a:t>Explain</a:t>
            </a:r>
            <a:r>
              <a:rPr lang="en-US" dirty="0"/>
              <a:t> how this example supports the key concept you are discussing and</a:t>
            </a:r>
            <a:endParaRPr lang="en-GB" dirty="0"/>
          </a:p>
          <a:p>
            <a:pPr lvl="0"/>
            <a:r>
              <a:rPr lang="en-US" b="1" dirty="0"/>
              <a:t>L:</a:t>
            </a:r>
            <a:r>
              <a:rPr lang="en-US" dirty="0"/>
              <a:t> </a:t>
            </a:r>
            <a:r>
              <a:rPr lang="en-US" b="1" dirty="0"/>
              <a:t>Link</a:t>
            </a:r>
            <a:r>
              <a:rPr lang="en-US" dirty="0"/>
              <a:t> its effectiveness for the overall text.</a:t>
            </a:r>
            <a:endParaRPr lang="en-GB" dirty="0"/>
          </a:p>
          <a:p>
            <a:r>
              <a:rPr lang="en-US" dirty="0"/>
              <a:t>(Use your </a:t>
            </a:r>
            <a:r>
              <a:rPr lang="en-US" b="1" dirty="0"/>
              <a:t>Close Reading Template</a:t>
            </a:r>
            <a:r>
              <a:rPr lang="en-US" dirty="0"/>
              <a:t> [Handout 4] to help guide you on what details to include)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600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0"/>
            <a:ext cx="9144000" cy="838200"/>
          </a:xfrm>
        </p:spPr>
        <p:txBody>
          <a:bodyPr/>
          <a:lstStyle/>
          <a:p>
            <a:pPr algn="ctr" eaLnBrk="1" hangingPunct="1"/>
            <a:r>
              <a:rPr lang="en-US" sz="3200" dirty="0">
                <a:solidFill>
                  <a:srgbClr val="FA151B"/>
                </a:solidFill>
                <a:latin typeface="Arial" charset="0"/>
                <a:ea typeface="ＭＳ Ｐゴシック" charset="0"/>
                <a:cs typeface="ＭＳ Ｐゴシック" charset="0"/>
              </a:rPr>
              <a:t>Communication – Response Model</a:t>
            </a:r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  <p:pic>
        <p:nvPicPr>
          <p:cNvPr id="51202" name="Picture 8" descr="writin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5015" y="2667001"/>
            <a:ext cx="3565985" cy="2409826"/>
          </a:xfrm>
        </p:spPr>
      </p:pic>
      <p:pic>
        <p:nvPicPr>
          <p:cNvPr id="51203" name="Picture 9" descr="logo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58200" y="2429522"/>
            <a:ext cx="2876550" cy="2904478"/>
          </a:xfrm>
        </p:spPr>
      </p:pic>
      <p:sp>
        <p:nvSpPr>
          <p:cNvPr id="51204" name="AutoShape 10"/>
          <p:cNvSpPr>
            <a:spLocks noChangeArrowheads="1"/>
          </p:cNvSpPr>
          <p:nvPr/>
        </p:nvSpPr>
        <p:spPr bwMode="auto">
          <a:xfrm>
            <a:off x="4114800" y="3733800"/>
            <a:ext cx="4495800" cy="914400"/>
          </a:xfrm>
          <a:prstGeom prst="leftRightArrowCallout">
            <a:avLst>
              <a:gd name="adj1" fmla="val 25000"/>
              <a:gd name="adj2" fmla="val 25000"/>
              <a:gd name="adj3" fmla="val 61458"/>
              <a:gd name="adj4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Communication Process</a:t>
            </a:r>
            <a:endParaRPr lang="en-US" sz="2400" b="1" dirty="0"/>
          </a:p>
        </p:txBody>
      </p:sp>
      <p:sp>
        <p:nvSpPr>
          <p:cNvPr id="10252" name="Comment 12"/>
          <p:cNvSpPr>
            <a:spLocks noChangeArrowheads="1"/>
          </p:cNvSpPr>
          <p:nvPr/>
        </p:nvSpPr>
        <p:spPr bwMode="auto">
          <a:xfrm>
            <a:off x="1524000" y="4800600"/>
            <a:ext cx="3048000" cy="1690688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  <a:extLs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600" b="1">
                <a:solidFill>
                  <a:srgbClr val="000000"/>
                </a:solidFill>
                <a:latin typeface="Geneva" charset="0"/>
              </a:rPr>
              <a:t>Composer or producer of the text.</a:t>
            </a:r>
          </a:p>
          <a:p>
            <a:pPr>
              <a:spcBef>
                <a:spcPct val="50000"/>
              </a:spcBef>
              <a:defRPr/>
            </a:pPr>
            <a:r>
              <a:rPr lang="en-US" sz="1600" b="1">
                <a:solidFill>
                  <a:srgbClr val="000000"/>
                </a:solidFill>
                <a:latin typeface="Geneva" charset="0"/>
              </a:rPr>
              <a:t>Context 1 - the immediate social, cultural and historical circumstances of the composition.</a:t>
            </a:r>
            <a:endParaRPr lang="en-US">
              <a:solidFill>
                <a:srgbClr val="000000"/>
              </a:solidFill>
              <a:latin typeface="Geneva" charset="0"/>
            </a:endParaRPr>
          </a:p>
        </p:txBody>
      </p:sp>
      <p:sp>
        <p:nvSpPr>
          <p:cNvPr id="51206" name="Line 13"/>
          <p:cNvSpPr>
            <a:spLocks noChangeShapeType="1"/>
          </p:cNvSpPr>
          <p:nvPr/>
        </p:nvSpPr>
        <p:spPr bwMode="auto">
          <a:xfrm>
            <a:off x="6400800" y="4648200"/>
            <a:ext cx="0" cy="1219200"/>
          </a:xfrm>
          <a:prstGeom prst="line">
            <a:avLst/>
          </a:prstGeom>
          <a:noFill/>
          <a:ln w="698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07" name="AutoShape 14"/>
          <p:cNvSpPr>
            <a:spLocks noChangeArrowheads="1"/>
          </p:cNvSpPr>
          <p:nvPr/>
        </p:nvSpPr>
        <p:spPr bwMode="auto">
          <a:xfrm>
            <a:off x="4800600" y="5867400"/>
            <a:ext cx="3200400" cy="533400"/>
          </a:xfrm>
          <a:prstGeom prst="ribbon2">
            <a:avLst>
              <a:gd name="adj1" fmla="val 12500"/>
              <a:gd name="adj2" fmla="val 50000"/>
            </a:avLst>
          </a:prstGeom>
          <a:solidFill>
            <a:srgbClr val="FFFF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i="1" dirty="0" smtClean="0"/>
              <a:t>Meanings</a:t>
            </a:r>
            <a:endParaRPr lang="en-US" b="1" i="1" dirty="0"/>
          </a:p>
        </p:txBody>
      </p:sp>
      <p:sp>
        <p:nvSpPr>
          <p:cNvPr id="10256" name="Comment 16"/>
          <p:cNvSpPr>
            <a:spLocks noChangeArrowheads="1"/>
          </p:cNvSpPr>
          <p:nvPr/>
        </p:nvSpPr>
        <p:spPr bwMode="auto">
          <a:xfrm>
            <a:off x="8077200" y="4948238"/>
            <a:ext cx="2857500" cy="1277273"/>
          </a:xfrm>
          <a:prstGeom prst="rect">
            <a:avLst/>
          </a:prstGeom>
          <a:solidFill>
            <a:srgbClr val="FCFDC6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rgbClr val="000000">
                <a:alpha val="74998"/>
              </a:srgbClr>
            </a:outerShdw>
          </a:effectLst>
          <a:extLst>
            <a:ext uri="{53640926-AAD7-44d8-BBD7-CCE9431645EC}">
              <a14:shadowObscured xmlns:a14="http://schemas.microsoft.com/office/drawing/2010/main" xmlns="" val="1"/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b="1">
                <a:solidFill>
                  <a:srgbClr val="000000"/>
                </a:solidFill>
                <a:latin typeface="Geneva" charset="0"/>
              </a:rPr>
              <a:t>Responder or interpreter of text.</a:t>
            </a:r>
          </a:p>
          <a:p>
            <a:pPr>
              <a:spcBef>
                <a:spcPct val="50000"/>
              </a:spcBef>
              <a:defRPr/>
            </a:pPr>
            <a:r>
              <a:rPr lang="en-US" sz="1400" b="1">
                <a:solidFill>
                  <a:srgbClr val="000000"/>
                </a:solidFill>
                <a:latin typeface="Geneva" charset="0"/>
              </a:rPr>
              <a:t>Context 2: the immediate social, cultural and historical circumstance of reception.</a:t>
            </a:r>
            <a:endParaRPr lang="en-US">
              <a:solidFill>
                <a:srgbClr val="000000"/>
              </a:solidFill>
              <a:latin typeface="Geneva" charset="0"/>
            </a:endParaRPr>
          </a:p>
        </p:txBody>
      </p:sp>
      <p:sp>
        <p:nvSpPr>
          <p:cNvPr id="51209" name="Rectangle 17"/>
          <p:cNvSpPr>
            <a:spLocks noChangeArrowheads="1"/>
          </p:cNvSpPr>
          <p:nvPr/>
        </p:nvSpPr>
        <p:spPr bwMode="auto">
          <a:xfrm>
            <a:off x="3352800" y="914400"/>
            <a:ext cx="1752600" cy="2057400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>
                <a:solidFill>
                  <a:srgbClr val="FA151B"/>
                </a:solidFill>
              </a:rPr>
              <a:t>Language used </a:t>
            </a:r>
          </a:p>
          <a:p>
            <a:r>
              <a:rPr lang="en-US">
                <a:solidFill>
                  <a:srgbClr val="FA151B"/>
                </a:solidFill>
              </a:rPr>
              <a:t>to create </a:t>
            </a:r>
          </a:p>
          <a:p>
            <a:r>
              <a:rPr lang="en-US">
                <a:solidFill>
                  <a:srgbClr val="FA151B"/>
                </a:solidFill>
              </a:rPr>
              <a:t>meaning</a:t>
            </a:r>
          </a:p>
        </p:txBody>
      </p:sp>
      <p:sp>
        <p:nvSpPr>
          <p:cNvPr id="51210" name="Rectangle 18"/>
          <p:cNvSpPr>
            <a:spLocks noChangeArrowheads="1"/>
          </p:cNvSpPr>
          <p:nvPr/>
        </p:nvSpPr>
        <p:spPr bwMode="auto">
          <a:xfrm>
            <a:off x="5257800" y="914400"/>
            <a:ext cx="3352800" cy="2057400"/>
          </a:xfrm>
          <a:prstGeom prst="rect">
            <a:avLst/>
          </a:prstGeom>
          <a:solidFill>
            <a:srgbClr val="33CC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Char char="•"/>
            </a:pPr>
            <a:r>
              <a:rPr lang="en-US" dirty="0"/>
              <a:t> Medium (text type)</a:t>
            </a:r>
          </a:p>
          <a:p>
            <a:pPr>
              <a:buFontTx/>
              <a:buChar char="•"/>
            </a:pPr>
            <a:r>
              <a:rPr lang="en-US" dirty="0"/>
              <a:t> Genre</a:t>
            </a:r>
          </a:p>
          <a:p>
            <a:pPr>
              <a:buFontTx/>
              <a:buChar char="•"/>
            </a:pPr>
            <a:r>
              <a:rPr lang="en-US" dirty="0"/>
              <a:t> Social Purpose</a:t>
            </a:r>
          </a:p>
          <a:p>
            <a:pPr>
              <a:buFontTx/>
              <a:buChar char="•"/>
            </a:pPr>
            <a:r>
              <a:rPr lang="en-US" dirty="0"/>
              <a:t> </a:t>
            </a:r>
            <a:r>
              <a:rPr lang="en-US" dirty="0" smtClean="0"/>
              <a:t>Theme</a:t>
            </a:r>
            <a:endParaRPr lang="en-US" dirty="0"/>
          </a:p>
          <a:p>
            <a:pPr>
              <a:buFontTx/>
              <a:buChar char="•"/>
            </a:pPr>
            <a:r>
              <a:rPr lang="en-US" dirty="0"/>
              <a:t> Ideas and values promoted</a:t>
            </a:r>
          </a:p>
          <a:p>
            <a:pPr>
              <a:buFontTx/>
              <a:buChar char="•"/>
            </a:pPr>
            <a:r>
              <a:rPr lang="en-US" dirty="0"/>
              <a:t> Style</a:t>
            </a:r>
          </a:p>
          <a:p>
            <a:pPr>
              <a:buFontTx/>
              <a:buChar char="•"/>
            </a:pPr>
            <a:r>
              <a:rPr lang="en-US" dirty="0"/>
              <a:t> Structure</a:t>
            </a:r>
          </a:p>
        </p:txBody>
      </p:sp>
      <p:sp>
        <p:nvSpPr>
          <p:cNvPr id="51211" name="Line 21"/>
          <p:cNvSpPr>
            <a:spLocks noChangeShapeType="1"/>
          </p:cNvSpPr>
          <p:nvPr/>
        </p:nvSpPr>
        <p:spPr bwMode="auto">
          <a:xfrm flipV="1">
            <a:off x="6324600" y="2971800"/>
            <a:ext cx="0" cy="762000"/>
          </a:xfrm>
          <a:prstGeom prst="line">
            <a:avLst/>
          </a:prstGeom>
          <a:noFill/>
          <a:ln w="666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212" name="Line 22"/>
          <p:cNvSpPr>
            <a:spLocks noChangeShapeType="1"/>
          </p:cNvSpPr>
          <p:nvPr/>
        </p:nvSpPr>
        <p:spPr bwMode="auto">
          <a:xfrm flipH="1">
            <a:off x="4953000" y="1981200"/>
            <a:ext cx="3048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1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latin typeface="Arial" charset="0"/>
                <a:ea typeface="Arial" charset="0"/>
                <a:cs typeface="Arial" charset="0"/>
              </a:rPr>
              <a:t>PETEL Paragraphs</a:t>
            </a:r>
            <a:endParaRPr lang="en-US" sz="6000" b="1" dirty="0">
              <a:solidFill>
                <a:srgbClr val="FF0000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812" y="1690688"/>
            <a:ext cx="11259670" cy="5167312"/>
          </a:xfrm>
        </p:spPr>
        <p:txBody>
          <a:bodyPr>
            <a:normAutofit fontScale="85000" lnSpcReduction="10000"/>
          </a:bodyPr>
          <a:lstStyle/>
          <a:p>
            <a:r>
              <a:rPr lang="en-US" sz="3900" dirty="0">
                <a:solidFill>
                  <a:srgbClr val="FF0000"/>
                </a:solidFill>
              </a:rPr>
              <a:t>Point</a:t>
            </a:r>
            <a:r>
              <a:rPr lang="en-US" sz="3900" dirty="0"/>
              <a:t> – statement about communicating idea to </a:t>
            </a:r>
            <a:r>
              <a:rPr lang="en-US" sz="3900" dirty="0" smtClean="0"/>
              <a:t>responders.</a:t>
            </a:r>
          </a:p>
          <a:p>
            <a:endParaRPr lang="en-US" sz="3900" dirty="0"/>
          </a:p>
          <a:p>
            <a:r>
              <a:rPr lang="en-US" sz="3900" dirty="0" smtClean="0">
                <a:solidFill>
                  <a:srgbClr val="FF0000"/>
                </a:solidFill>
              </a:rPr>
              <a:t>Examples</a:t>
            </a:r>
            <a:r>
              <a:rPr lang="en-US" sz="3900" dirty="0" smtClean="0"/>
              <a:t> </a:t>
            </a:r>
            <a:r>
              <a:rPr lang="en-US" sz="3900" dirty="0"/>
              <a:t>– of a particular technique the composer has used to communicate that </a:t>
            </a:r>
            <a:r>
              <a:rPr lang="en-US" sz="3900" dirty="0" smtClean="0"/>
              <a:t>idea. </a:t>
            </a:r>
            <a:r>
              <a:rPr lang="en-US" sz="3900" dirty="0" smtClean="0">
                <a:solidFill>
                  <a:srgbClr val="FF0000"/>
                </a:solidFill>
              </a:rPr>
              <a:t>Techniques</a:t>
            </a:r>
            <a:r>
              <a:rPr lang="en-US" sz="3900" dirty="0" smtClean="0"/>
              <a:t> – discussion of the way in which the technique effectively communicates this. These should be addressed together, maybe in the same sentence.</a:t>
            </a:r>
          </a:p>
          <a:p>
            <a:endParaRPr lang="en-US" sz="3900" dirty="0">
              <a:solidFill>
                <a:srgbClr val="FF0000"/>
              </a:solidFill>
            </a:endParaRPr>
          </a:p>
          <a:p>
            <a:r>
              <a:rPr lang="en-US" sz="3900" dirty="0" smtClean="0">
                <a:solidFill>
                  <a:srgbClr val="FF0000"/>
                </a:solidFill>
              </a:rPr>
              <a:t>Explanation</a:t>
            </a:r>
            <a:r>
              <a:rPr lang="en-US" sz="3900" dirty="0" smtClean="0"/>
              <a:t> – of the effect of technique on the responders.</a:t>
            </a:r>
          </a:p>
          <a:p>
            <a:endParaRPr lang="en-US" sz="3900" dirty="0" smtClean="0"/>
          </a:p>
          <a:p>
            <a:r>
              <a:rPr lang="en-US" sz="3900" dirty="0" smtClean="0">
                <a:solidFill>
                  <a:srgbClr val="FF0000"/>
                </a:solidFill>
              </a:rPr>
              <a:t>Link</a:t>
            </a:r>
            <a:r>
              <a:rPr lang="en-US" sz="3900" dirty="0" smtClean="0"/>
              <a:t> – connects this point to the thesis statement overall.</a:t>
            </a:r>
            <a:endParaRPr lang="en-US" sz="3900" dirty="0"/>
          </a:p>
          <a:p>
            <a:endParaRPr lang="en-US" dirty="0"/>
          </a:p>
        </p:txBody>
      </p:sp>
      <p:sp>
        <p:nvSpPr>
          <p:cNvPr id="4" name="7-Point Star 3"/>
          <p:cNvSpPr/>
          <p:nvPr/>
        </p:nvSpPr>
        <p:spPr>
          <a:xfrm>
            <a:off x="376518" y="925513"/>
            <a:ext cx="12025032" cy="5618162"/>
          </a:xfrm>
          <a:prstGeom prst="star7">
            <a:avLst>
              <a:gd name="adj" fmla="val 21868"/>
              <a:gd name="hf" fmla="val 102572"/>
              <a:gd name="vf" fmla="val 105210"/>
            </a:avLst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Now all of you may add more than one technique </a:t>
            </a:r>
            <a:r>
              <a:rPr lang="en-US" sz="4000" smtClean="0">
                <a:solidFill>
                  <a:srgbClr val="FF0000"/>
                </a:solidFill>
              </a:rPr>
              <a:t>per PETEL </a:t>
            </a:r>
            <a:r>
              <a:rPr lang="en-US" sz="4000" dirty="0" smtClean="0">
                <a:solidFill>
                  <a:srgbClr val="FF0000"/>
                </a:solidFill>
              </a:rPr>
              <a:t>paragraph!</a:t>
            </a:r>
            <a:endParaRPr 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58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800" b="1" dirty="0" smtClean="0">
                <a:solidFill>
                  <a:srgbClr val="00B050"/>
                </a:solidFill>
                <a:latin typeface="+mn-lt"/>
              </a:rPr>
              <a:t>Go to Firefly</a:t>
            </a:r>
            <a:endParaRPr lang="en-US" sz="88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0432FF"/>
                </a:solidFill>
              </a:rPr>
              <a:t>Open Past Paper 2013</a:t>
            </a:r>
            <a:endParaRPr lang="en-US" sz="4000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740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8318140"/>
              </p:ext>
            </p:extLst>
          </p:nvPr>
        </p:nvGraphicFramePr>
        <p:xfrm>
          <a:off x="288925" y="192088"/>
          <a:ext cx="11064875" cy="3114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64875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Model Intro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Lead-in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Thesis</a:t>
                      </a:r>
                      <a:r>
                        <a:rPr lang="en-US" sz="2400" baseline="0" dirty="0" smtClean="0"/>
                        <a:t> Statement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Essay Map</a:t>
                      </a:r>
                      <a:endParaRPr lang="en-US" sz="2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2027" y="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29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5670176" cy="1138687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180" y="1138687"/>
            <a:ext cx="6898426" cy="5167312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b="1" baseline="30000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endParaRPr lang="en-US" sz="3600" b="1" baseline="30000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endParaRPr lang="en-US" sz="3600" b="1" dirty="0">
              <a:solidFill>
                <a:srgbClr val="000000"/>
              </a:solidFill>
              <a:latin typeface="Calibri" charset="0"/>
              <a:ea typeface="MS Mincho" charset="-128"/>
              <a:cs typeface="MS Mincho" charset="-128"/>
            </a:endParaRPr>
          </a:p>
          <a:p>
            <a:pPr marL="0" indent="0">
              <a:buNone/>
            </a:pPr>
            <a:r>
              <a:rPr lang="en-US" sz="3600" b="1" dirty="0" smtClean="0">
                <a:solidFill>
                  <a:srgbClr val="0432FF"/>
                </a:solidFill>
                <a:latin typeface="Calibri" charset="0"/>
                <a:ea typeface="MS Mincho" charset="-128"/>
                <a:cs typeface="MS Mincho" charset="-128"/>
              </a:rPr>
              <a:t>Fill out Firefly Handout Comparison Table for Orwell.</a:t>
            </a:r>
            <a:endParaRPr lang="en-US" sz="3600" b="1" dirty="0">
              <a:solidFill>
                <a:srgbClr val="0432FF"/>
              </a:solidFill>
              <a:latin typeface="Calibri" charset="0"/>
              <a:ea typeface="MS Mincho" charset="-128"/>
              <a:cs typeface="MS Mincho" charset="-128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836" y="402961"/>
            <a:ext cx="4370420" cy="6070028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653" y="4121212"/>
            <a:ext cx="1362496" cy="128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00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wd_d_0_workx_wlg_0902_4_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4FED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B2F4FF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1209</Words>
  <Application>Microsoft Macintosh PowerPoint</Application>
  <PresentationFormat>Widescreen</PresentationFormat>
  <Paragraphs>173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29</vt:i4>
      </vt:variant>
    </vt:vector>
  </HeadingPairs>
  <TitlesOfParts>
    <vt:vector size="47" baseType="lpstr">
      <vt:lpstr>Arial Rounded MT Bold</vt:lpstr>
      <vt:lpstr>Calibri</vt:lpstr>
      <vt:lpstr>Calibri Light</vt:lpstr>
      <vt:lpstr>Geneva</vt:lpstr>
      <vt:lpstr>Mangal</vt:lpstr>
      <vt:lpstr>MS Mincho</vt:lpstr>
      <vt:lpstr>ＭＳ Ｐゴシック</vt:lpstr>
      <vt:lpstr>ＭＳ 明朝</vt:lpstr>
      <vt:lpstr>Osaka</vt:lpstr>
      <vt:lpstr>Times New Roman</vt:lpstr>
      <vt:lpstr>Arial</vt:lpstr>
      <vt:lpstr>Wingdings</vt:lpstr>
      <vt:lpstr>3_Blank Presentation</vt:lpstr>
      <vt:lpstr>1_Office Theme</vt:lpstr>
      <vt:lpstr>8_Office Theme</vt:lpstr>
      <vt:lpstr>2_Office Theme</vt:lpstr>
      <vt:lpstr>3_Office Theme</vt:lpstr>
      <vt:lpstr>wd_d_0_workx_wlg_0902_4_e</vt:lpstr>
      <vt:lpstr>IB English Language and Literature 6 ELL SL 4 2019 - 2020</vt:lpstr>
      <vt:lpstr>SCHOOL ASSESSMENT TERM 3</vt:lpstr>
      <vt:lpstr>General Outline Term 3</vt:lpstr>
      <vt:lpstr>We are still a digital classroom!</vt:lpstr>
      <vt:lpstr>Homework</vt:lpstr>
      <vt:lpstr>Part One:</vt:lpstr>
      <vt:lpstr>PowerPoint Presentation</vt:lpstr>
      <vt:lpstr>PowerPoint Presentation</vt:lpstr>
      <vt:lpstr>Part 2 Learning Outcomes</vt:lpstr>
      <vt:lpstr>PowerPoint Presentation</vt:lpstr>
      <vt:lpstr>PowerPoint Presentation</vt:lpstr>
      <vt:lpstr>Paper One SL:25%</vt:lpstr>
      <vt:lpstr>Paper 1: 25%</vt:lpstr>
      <vt:lpstr>What you might see on Paper 1:</vt:lpstr>
      <vt:lpstr>Don’t forget the course guide/ syllabus!  You are expected to do certain things and demonstrate certain abilities.</vt:lpstr>
      <vt:lpstr>PowerPoint Presentation</vt:lpstr>
      <vt:lpstr>PowerPoint Presentation</vt:lpstr>
      <vt:lpstr>PowerPoint Presentation</vt:lpstr>
      <vt:lpstr>Go to Firefly</vt:lpstr>
      <vt:lpstr>Why do cats make better pets than dogs?</vt:lpstr>
      <vt:lpstr>Use Handout 1 to analyse this Paper 1 text for The Big Five.</vt:lpstr>
      <vt:lpstr>PowerPoint Presentation</vt:lpstr>
      <vt:lpstr>The Big 5 – Revision There are several questions that you can ask of any text. Here are five major questions that apply to almost all types of texts: </vt:lpstr>
      <vt:lpstr>Body paragraphs</vt:lpstr>
      <vt:lpstr>Communication – Response Model</vt:lpstr>
      <vt:lpstr>PETEL Paragraphs</vt:lpstr>
      <vt:lpstr>Go to Firefly</vt:lpstr>
      <vt:lpstr>PowerPoint Presentation</vt:lpstr>
      <vt:lpstr>Homework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IB English Language and Literature 6 ELL SL 4 2019 - 2020</dc:title>
  <dc:creator>Elisa Simone Zantos - Teacher of English</dc:creator>
  <cp:lastModifiedBy>Elisa Simone Zantos - Teacher of English</cp:lastModifiedBy>
  <cp:revision>42</cp:revision>
  <dcterms:created xsi:type="dcterms:W3CDTF">2020-06-30T22:05:36Z</dcterms:created>
  <dcterms:modified xsi:type="dcterms:W3CDTF">2020-07-07T03:39:13Z</dcterms:modified>
</cp:coreProperties>
</file>