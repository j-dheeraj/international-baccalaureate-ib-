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89" r:id="rId3"/>
    <p:sldMasterId id="2147483706" r:id="rId4"/>
  </p:sldMasterIdLst>
  <p:notesMasterIdLst>
    <p:notesMasterId r:id="rId35"/>
  </p:notesMasterIdLst>
  <p:sldIdLst>
    <p:sldId id="257" r:id="rId5"/>
    <p:sldId id="258" r:id="rId6"/>
    <p:sldId id="259" r:id="rId7"/>
    <p:sldId id="285" r:id="rId8"/>
    <p:sldId id="272" r:id="rId9"/>
    <p:sldId id="273" r:id="rId10"/>
    <p:sldId id="275" r:id="rId11"/>
    <p:sldId id="276" r:id="rId12"/>
    <p:sldId id="277" r:id="rId13"/>
    <p:sldId id="278" r:id="rId14"/>
    <p:sldId id="279" r:id="rId15"/>
    <p:sldId id="280" r:id="rId16"/>
    <p:sldId id="286" r:id="rId17"/>
    <p:sldId id="281" r:id="rId18"/>
    <p:sldId id="282" r:id="rId19"/>
    <p:sldId id="283" r:id="rId20"/>
    <p:sldId id="284" r:id="rId21"/>
    <p:sldId id="287" r:id="rId22"/>
    <p:sldId id="288" r:id="rId23"/>
    <p:sldId id="289" r:id="rId24"/>
    <p:sldId id="290" r:id="rId25"/>
    <p:sldId id="299" r:id="rId26"/>
    <p:sldId id="298" r:id="rId27"/>
    <p:sldId id="292" r:id="rId28"/>
    <p:sldId id="293" r:id="rId29"/>
    <p:sldId id="294" r:id="rId30"/>
    <p:sldId id="295" r:id="rId31"/>
    <p:sldId id="296" r:id="rId32"/>
    <p:sldId id="297" r:id="rId33"/>
    <p:sldId id="29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61"/>
    <p:restoredTop sz="94000"/>
  </p:normalViewPr>
  <p:slideViewPr>
    <p:cSldViewPr snapToGrid="0" snapToObjects="1">
      <p:cViewPr varScale="1">
        <p:scale>
          <a:sx n="80" d="100"/>
          <a:sy n="80" d="100"/>
        </p:scale>
        <p:origin x="1024" y="176"/>
      </p:cViewPr>
      <p:guideLst/>
    </p:cSldViewPr>
  </p:slideViewPr>
  <p:notesTextViewPr>
    <p:cViewPr>
      <p:scale>
        <a:sx n="1" d="1"/>
        <a:sy n="1" d="1"/>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9" Type="http://schemas.openxmlformats.org/officeDocument/2006/relationships/slide" Target="slides/slide5.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C87919-3D6C-6745-8D2F-F5161FDDE5F4}" type="datetimeFigureOut">
              <a:rPr lang="en-US" smtClean="0"/>
              <a:t>1/22/20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C88E15-6ECF-7F40-840B-1E3CB2010FB8}" type="slidenum">
              <a:rPr lang="en-US" smtClean="0"/>
              <a:t>‹#›</a:t>
            </a:fld>
            <a:endParaRPr lang="en-US"/>
          </a:p>
        </p:txBody>
      </p:sp>
    </p:spTree>
    <p:extLst>
      <p:ext uri="{BB962C8B-B14F-4D97-AF65-F5344CB8AC3E}">
        <p14:creationId xmlns:p14="http://schemas.microsoft.com/office/powerpoint/2010/main" val="134641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MS PGothic" charset="-128"/>
              </a:defRPr>
            </a:lvl1pPr>
            <a:lvl2pPr marL="742950" indent="-285750">
              <a:defRPr>
                <a:solidFill>
                  <a:schemeClr val="tx1"/>
                </a:solidFill>
                <a:latin typeface="Arial" charset="0"/>
                <a:ea typeface="MS PGothic" charset="-128"/>
              </a:defRPr>
            </a:lvl2pPr>
            <a:lvl3pPr marL="1143000" indent="-228600">
              <a:defRPr>
                <a:solidFill>
                  <a:schemeClr val="tx1"/>
                </a:solidFill>
                <a:latin typeface="Arial" charset="0"/>
                <a:ea typeface="MS PGothic" charset="-128"/>
              </a:defRPr>
            </a:lvl3pPr>
            <a:lvl4pPr marL="1600200" indent="-228600">
              <a:defRPr>
                <a:solidFill>
                  <a:schemeClr val="tx1"/>
                </a:solidFill>
                <a:latin typeface="Arial" charset="0"/>
                <a:ea typeface="MS PGothic" charset="-128"/>
              </a:defRPr>
            </a:lvl4pPr>
            <a:lvl5pPr marL="2057400" indent="-228600">
              <a:defRPr>
                <a:solidFill>
                  <a:schemeClr val="tx1"/>
                </a:solidFill>
                <a:latin typeface="Arial" charset="0"/>
                <a:ea typeface="MS PGothic" charset="-128"/>
              </a:defRPr>
            </a:lvl5pPr>
            <a:lvl6pPr marL="2514600" indent="-228600" eaLnBrk="0" fontAlgn="base" hangingPunct="0">
              <a:spcBef>
                <a:spcPct val="0"/>
              </a:spcBef>
              <a:spcAft>
                <a:spcPct val="0"/>
              </a:spcAft>
              <a:defRPr>
                <a:solidFill>
                  <a:schemeClr val="tx1"/>
                </a:solidFill>
                <a:latin typeface="Arial" charset="0"/>
                <a:ea typeface="MS PGothic" charset="-128"/>
              </a:defRPr>
            </a:lvl6pPr>
            <a:lvl7pPr marL="2971800" indent="-228600" eaLnBrk="0" fontAlgn="base" hangingPunct="0">
              <a:spcBef>
                <a:spcPct val="0"/>
              </a:spcBef>
              <a:spcAft>
                <a:spcPct val="0"/>
              </a:spcAft>
              <a:defRPr>
                <a:solidFill>
                  <a:schemeClr val="tx1"/>
                </a:solidFill>
                <a:latin typeface="Arial" charset="0"/>
                <a:ea typeface="MS PGothic" charset="-128"/>
              </a:defRPr>
            </a:lvl7pPr>
            <a:lvl8pPr marL="3429000" indent="-228600" eaLnBrk="0" fontAlgn="base" hangingPunct="0">
              <a:spcBef>
                <a:spcPct val="0"/>
              </a:spcBef>
              <a:spcAft>
                <a:spcPct val="0"/>
              </a:spcAft>
              <a:defRPr>
                <a:solidFill>
                  <a:schemeClr val="tx1"/>
                </a:solidFill>
                <a:latin typeface="Arial" charset="0"/>
                <a:ea typeface="MS PGothic" charset="-128"/>
              </a:defRPr>
            </a:lvl8pPr>
            <a:lvl9pPr marL="3886200" indent="-228600" eaLnBrk="0" fontAlgn="base" hangingPunct="0">
              <a:spcBef>
                <a:spcPct val="0"/>
              </a:spcBef>
              <a:spcAft>
                <a:spcPct val="0"/>
              </a:spcAft>
              <a:defRPr>
                <a:solidFill>
                  <a:schemeClr val="tx1"/>
                </a:solidFill>
                <a:latin typeface="Arial" charset="0"/>
                <a:ea typeface="MS PGothic" charset="-128"/>
              </a:defRPr>
            </a:lvl9pPr>
          </a:lstStyle>
          <a:p>
            <a:fld id="{8B1B0272-BF21-0B40-9ACC-448D79EFDF24}" type="slidenum">
              <a:rPr lang="en-US" altLang="en-US">
                <a:solidFill>
                  <a:srgbClr val="000000"/>
                </a:solidFill>
              </a:rPr>
              <a:pPr/>
              <a:t>5</a:t>
            </a:fld>
            <a:endParaRPr lang="en-US" altLang="en-US">
              <a:solidFill>
                <a:srgbClr val="000000"/>
              </a:solidFill>
            </a:endParaRPr>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1614944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MS PGothic" charset="-128"/>
              </a:defRPr>
            </a:lvl1pPr>
            <a:lvl2pPr marL="742950" indent="-285750">
              <a:defRPr>
                <a:solidFill>
                  <a:schemeClr val="tx1"/>
                </a:solidFill>
                <a:latin typeface="Arial" charset="0"/>
                <a:ea typeface="MS PGothic" charset="-128"/>
              </a:defRPr>
            </a:lvl2pPr>
            <a:lvl3pPr marL="1143000" indent="-228600">
              <a:defRPr>
                <a:solidFill>
                  <a:schemeClr val="tx1"/>
                </a:solidFill>
                <a:latin typeface="Arial" charset="0"/>
                <a:ea typeface="MS PGothic" charset="-128"/>
              </a:defRPr>
            </a:lvl3pPr>
            <a:lvl4pPr marL="1600200" indent="-228600">
              <a:defRPr>
                <a:solidFill>
                  <a:schemeClr val="tx1"/>
                </a:solidFill>
                <a:latin typeface="Arial" charset="0"/>
                <a:ea typeface="MS PGothic" charset="-128"/>
              </a:defRPr>
            </a:lvl4pPr>
            <a:lvl5pPr marL="2057400" indent="-228600">
              <a:defRPr>
                <a:solidFill>
                  <a:schemeClr val="tx1"/>
                </a:solidFill>
                <a:latin typeface="Arial" charset="0"/>
                <a:ea typeface="MS PGothic" charset="-128"/>
              </a:defRPr>
            </a:lvl5pPr>
            <a:lvl6pPr marL="2514600" indent="-228600" eaLnBrk="0" fontAlgn="base" hangingPunct="0">
              <a:spcBef>
                <a:spcPct val="0"/>
              </a:spcBef>
              <a:spcAft>
                <a:spcPct val="0"/>
              </a:spcAft>
              <a:defRPr>
                <a:solidFill>
                  <a:schemeClr val="tx1"/>
                </a:solidFill>
                <a:latin typeface="Arial" charset="0"/>
                <a:ea typeface="MS PGothic" charset="-128"/>
              </a:defRPr>
            </a:lvl6pPr>
            <a:lvl7pPr marL="2971800" indent="-228600" eaLnBrk="0" fontAlgn="base" hangingPunct="0">
              <a:spcBef>
                <a:spcPct val="0"/>
              </a:spcBef>
              <a:spcAft>
                <a:spcPct val="0"/>
              </a:spcAft>
              <a:defRPr>
                <a:solidFill>
                  <a:schemeClr val="tx1"/>
                </a:solidFill>
                <a:latin typeface="Arial" charset="0"/>
                <a:ea typeface="MS PGothic" charset="-128"/>
              </a:defRPr>
            </a:lvl7pPr>
            <a:lvl8pPr marL="3429000" indent="-228600" eaLnBrk="0" fontAlgn="base" hangingPunct="0">
              <a:spcBef>
                <a:spcPct val="0"/>
              </a:spcBef>
              <a:spcAft>
                <a:spcPct val="0"/>
              </a:spcAft>
              <a:defRPr>
                <a:solidFill>
                  <a:schemeClr val="tx1"/>
                </a:solidFill>
                <a:latin typeface="Arial" charset="0"/>
                <a:ea typeface="MS PGothic" charset="-128"/>
              </a:defRPr>
            </a:lvl8pPr>
            <a:lvl9pPr marL="3886200" indent="-228600" eaLnBrk="0" fontAlgn="base" hangingPunct="0">
              <a:spcBef>
                <a:spcPct val="0"/>
              </a:spcBef>
              <a:spcAft>
                <a:spcPct val="0"/>
              </a:spcAft>
              <a:defRPr>
                <a:solidFill>
                  <a:schemeClr val="tx1"/>
                </a:solidFill>
                <a:latin typeface="Arial" charset="0"/>
                <a:ea typeface="MS PGothic" charset="-128"/>
              </a:defRPr>
            </a:lvl9pPr>
          </a:lstStyle>
          <a:p>
            <a:fld id="{7687C85C-9A28-DB45-AF81-88E22073373B}" type="slidenum">
              <a:rPr lang="en-US" altLang="en-US">
                <a:solidFill>
                  <a:srgbClr val="000000"/>
                </a:solidFill>
              </a:rPr>
              <a:pPr/>
              <a:t>6</a:t>
            </a:fld>
            <a:endParaRPr lang="en-US" altLang="en-US">
              <a:solidFill>
                <a:srgbClr val="000000"/>
              </a:solidFill>
            </a:endParaRPr>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949060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37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6491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3731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2428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08058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19779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24490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57260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149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59160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626668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914400" y="2286000"/>
            <a:ext cx="10363200" cy="1143000"/>
          </a:xfrm>
        </p:spPr>
        <p:txBody>
          <a:bodyPr/>
          <a:lstStyle>
            <a:lvl1pPr>
              <a:defRPr/>
            </a:lvl1pPr>
          </a:lstStyle>
          <a:p>
            <a:pPr lvl="0"/>
            <a:r>
              <a:rPr lang="en-US" noProof="0" smtClean="0"/>
              <a:t>Click to edit Master title style</a:t>
            </a:r>
          </a:p>
        </p:txBody>
      </p:sp>
      <p:sp>
        <p:nvSpPr>
          <p:cNvPr id="235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smtClean="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F92D4FE-4210-C74C-BB56-00E0623B44C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00295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874A374-29B7-2549-9F69-BB0EA768245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136068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5681098-DFD4-DE48-A017-B4A20B753CB8}"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709265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F5CC64D-77FE-A64A-803F-E19F98D60B4D}"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9164504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6122964-CA5C-9448-AAC1-CD7A2210F12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4145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546882B-71B3-124A-B7CE-A7024F712FA5}"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7178870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DC2F09-5DEC-D847-AEA5-DC353A80BCE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572353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437544-67A0-A649-A890-5C1271C708D0}"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661471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82515B-9CAA-174D-B835-410668FA6FB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612421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E0A8727-4907-7248-B94F-968B449091C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0361714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7158AE-C725-B448-BD3E-FE9B628D4C9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5218336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F8D0A0-9D96-CC4C-A29E-671D1725271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767076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67D727-A4D9-6C4E-8315-99599BC1BF0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872133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F104C5-BA1F-514A-9E09-A1247DEB83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11082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9144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half" idx="3"/>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E5A0A8F0-FA8C-E04B-9E29-F1796B19162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958145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564217" y="457200"/>
            <a:ext cx="10363200" cy="1143000"/>
          </a:xfrm>
        </p:spPr>
        <p:txBody>
          <a:bodyPr/>
          <a:lstStyle/>
          <a:p>
            <a:r>
              <a:rPr lang="en-AU" smtClean="0"/>
              <a:t>Click to edit Master title style</a:t>
            </a:r>
            <a:endParaRPr lang="en-US"/>
          </a:p>
        </p:txBody>
      </p:sp>
      <p:sp>
        <p:nvSpPr>
          <p:cNvPr id="3" name="Content Placeholder 2"/>
          <p:cNvSpPr>
            <a:spLocks noGrp="1"/>
          </p:cNvSpPr>
          <p:nvPr>
            <p:ph sz="half" idx="1"/>
          </p:nvPr>
        </p:nvSpPr>
        <p:spPr>
          <a:xfrm>
            <a:off x="1564217" y="1981200"/>
            <a:ext cx="103632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1564217" y="4114800"/>
            <a:ext cx="103632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27"/>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28"/>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29"/>
          <p:cNvSpPr>
            <a:spLocks noGrp="1" noChangeArrowheads="1"/>
          </p:cNvSpPr>
          <p:nvPr>
            <p:ph type="sldNum" sz="quarter" idx="12"/>
          </p:nvPr>
        </p:nvSpPr>
        <p:spPr>
          <a:ln/>
        </p:spPr>
        <p:txBody>
          <a:bodyPr/>
          <a:lstStyle>
            <a:lvl1pPr>
              <a:defRPr/>
            </a:lvl1pPr>
          </a:lstStyle>
          <a:p>
            <a:fld id="{95F48CE7-194B-D348-A59B-1F1D66A0554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364775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02372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256233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30022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673792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31595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643753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05945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72898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82603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5115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21399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8F20800-63EC-0A4C-B45E-A601CC4C780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147919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fld id="{EA94B623-AAB8-A64A-8E12-87F7105FD205}"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9318791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64217" y="457200"/>
            <a:ext cx="10363200" cy="5638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3" name="Rectangle 27"/>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4" name="Rectangle 28"/>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5" name="Rectangle 29"/>
          <p:cNvSpPr>
            <a:spLocks noGrp="1" noChangeArrowheads="1"/>
          </p:cNvSpPr>
          <p:nvPr>
            <p:ph type="sldNum" sz="quarter" idx="12"/>
          </p:nvPr>
        </p:nvSpPr>
        <p:spPr>
          <a:ln/>
        </p:spPr>
        <p:txBody>
          <a:bodyPr/>
          <a:lstStyle>
            <a:lvl1pPr>
              <a:defRPr/>
            </a:lvl1pPr>
          </a:lstStyle>
          <a:p>
            <a:fld id="{571B89AF-C541-5E47-B368-AC21608EB53C}"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2759481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fld id="{85853E0F-ABBD-D944-B58B-0B89088B81FA}"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6329981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94B76D-F7D2-8F43-AAF5-FE2426304F9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891295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9E7DFB7-5457-E04D-A576-C35086B8ED36}" type="slidenum">
              <a:rPr lang="en-US" altLang="en-US"/>
              <a:pPr>
                <a:defRPr/>
              </a:pPr>
              <a:t>‹#›</a:t>
            </a:fld>
            <a:endParaRPr lang="en-US" altLang="en-US"/>
          </a:p>
        </p:txBody>
      </p:sp>
    </p:spTree>
    <p:extLst>
      <p:ext uri="{BB962C8B-B14F-4D97-AF65-F5344CB8AC3E}">
        <p14:creationId xmlns:p14="http://schemas.microsoft.com/office/powerpoint/2010/main" val="17116508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57BC35E-17CF-B74A-BC22-ACBAE8D45F8B}" type="slidenum">
              <a:rPr lang="en-US" altLang="en-US"/>
              <a:pPr>
                <a:defRPr/>
              </a:pPr>
              <a:t>‹#›</a:t>
            </a:fld>
            <a:endParaRPr lang="en-US" altLang="en-US"/>
          </a:p>
        </p:txBody>
      </p:sp>
    </p:spTree>
    <p:extLst>
      <p:ext uri="{BB962C8B-B14F-4D97-AF65-F5344CB8AC3E}">
        <p14:creationId xmlns:p14="http://schemas.microsoft.com/office/powerpoint/2010/main" val="5981769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C395C15-124F-BC4C-81AC-7FFDE43FB1F9}" type="slidenum">
              <a:rPr lang="en-US" altLang="en-US"/>
              <a:pPr>
                <a:defRPr/>
              </a:pPr>
              <a:t>‹#›</a:t>
            </a:fld>
            <a:endParaRPr lang="en-US" altLang="en-US"/>
          </a:p>
        </p:txBody>
      </p:sp>
    </p:spTree>
    <p:extLst>
      <p:ext uri="{BB962C8B-B14F-4D97-AF65-F5344CB8AC3E}">
        <p14:creationId xmlns:p14="http://schemas.microsoft.com/office/powerpoint/2010/main" val="2289850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F4F8B00-08F9-434E-93FC-A16D66C3E1C4}" type="slidenum">
              <a:rPr lang="en-US" altLang="en-US"/>
              <a:pPr>
                <a:defRPr/>
              </a:pPr>
              <a:t>‹#›</a:t>
            </a:fld>
            <a:endParaRPr lang="en-US" altLang="en-US"/>
          </a:p>
        </p:txBody>
      </p:sp>
    </p:spTree>
    <p:extLst>
      <p:ext uri="{BB962C8B-B14F-4D97-AF65-F5344CB8AC3E}">
        <p14:creationId xmlns:p14="http://schemas.microsoft.com/office/powerpoint/2010/main" val="15681198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1389F016-8D47-7448-9029-724D7B6B3190}" type="slidenum">
              <a:rPr lang="en-US" altLang="en-US"/>
              <a:pPr>
                <a:defRPr/>
              </a:pPr>
              <a:t>‹#›</a:t>
            </a:fld>
            <a:endParaRPr lang="en-US" altLang="en-US"/>
          </a:p>
        </p:txBody>
      </p:sp>
    </p:spTree>
    <p:extLst>
      <p:ext uri="{BB962C8B-B14F-4D97-AF65-F5344CB8AC3E}">
        <p14:creationId xmlns:p14="http://schemas.microsoft.com/office/powerpoint/2010/main" val="19378943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8BA6B5C-D8F7-EF4D-972F-0F627E5B5863}" type="slidenum">
              <a:rPr lang="en-US" altLang="en-US"/>
              <a:pPr>
                <a:defRPr/>
              </a:pPr>
              <a:t>‹#›</a:t>
            </a:fld>
            <a:endParaRPr lang="en-US" altLang="en-US"/>
          </a:p>
        </p:txBody>
      </p:sp>
    </p:spTree>
    <p:extLst>
      <p:ext uri="{BB962C8B-B14F-4D97-AF65-F5344CB8AC3E}">
        <p14:creationId xmlns:p14="http://schemas.microsoft.com/office/powerpoint/2010/main" val="2401483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7BF48E48-C508-504A-A159-C122222600FF}" type="slidenum">
              <a:rPr lang="en-US" altLang="en-US"/>
              <a:pPr>
                <a:defRPr/>
              </a:pPr>
              <a:t>‹#›</a:t>
            </a:fld>
            <a:endParaRPr lang="en-US" altLang="en-US"/>
          </a:p>
        </p:txBody>
      </p:sp>
    </p:spTree>
    <p:extLst>
      <p:ext uri="{BB962C8B-B14F-4D97-AF65-F5344CB8AC3E}">
        <p14:creationId xmlns:p14="http://schemas.microsoft.com/office/powerpoint/2010/main" val="12336384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E9FD18C-A54A-4446-AB5C-D4F3831B94EE}" type="slidenum">
              <a:rPr lang="en-US" altLang="en-US"/>
              <a:pPr>
                <a:defRPr/>
              </a:pPr>
              <a:t>‹#›</a:t>
            </a:fld>
            <a:endParaRPr lang="en-US" altLang="en-US"/>
          </a:p>
        </p:txBody>
      </p:sp>
    </p:spTree>
    <p:extLst>
      <p:ext uri="{BB962C8B-B14F-4D97-AF65-F5344CB8AC3E}">
        <p14:creationId xmlns:p14="http://schemas.microsoft.com/office/powerpoint/2010/main" val="3448847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AA4CC5F-42FF-0B48-83A7-256C2AD7CBBC}" type="slidenum">
              <a:rPr lang="en-US" altLang="en-US"/>
              <a:pPr>
                <a:defRPr/>
              </a:pPr>
              <a:t>‹#›</a:t>
            </a:fld>
            <a:endParaRPr lang="en-US" altLang="en-US"/>
          </a:p>
        </p:txBody>
      </p:sp>
    </p:spTree>
    <p:extLst>
      <p:ext uri="{BB962C8B-B14F-4D97-AF65-F5344CB8AC3E}">
        <p14:creationId xmlns:p14="http://schemas.microsoft.com/office/powerpoint/2010/main" val="13481656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3BD1138-86A0-3847-9FE3-22890F5B9E3C}" type="slidenum">
              <a:rPr lang="en-US" altLang="en-US"/>
              <a:pPr>
                <a:defRPr/>
              </a:pPr>
              <a:t>‹#›</a:t>
            </a:fld>
            <a:endParaRPr lang="en-US" altLang="en-US"/>
          </a:p>
        </p:txBody>
      </p:sp>
    </p:spTree>
    <p:extLst>
      <p:ext uri="{BB962C8B-B14F-4D97-AF65-F5344CB8AC3E}">
        <p14:creationId xmlns:p14="http://schemas.microsoft.com/office/powerpoint/2010/main" val="15082470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78D7081-8105-B44F-9B83-4DB86698886E}" type="slidenum">
              <a:rPr lang="en-US" altLang="en-US"/>
              <a:pPr>
                <a:defRPr/>
              </a:pPr>
              <a:t>‹#›</a:t>
            </a:fld>
            <a:endParaRPr lang="en-US" altLang="en-US"/>
          </a:p>
        </p:txBody>
      </p:sp>
    </p:spTree>
    <p:extLst>
      <p:ext uri="{BB962C8B-B14F-4D97-AF65-F5344CB8AC3E}">
        <p14:creationId xmlns:p14="http://schemas.microsoft.com/office/powerpoint/2010/main" val="6980799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7"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8" name="Slide Number Placeholder 5"/>
          <p:cNvSpPr>
            <a:spLocks noGrp="1"/>
          </p:cNvSpPr>
          <p:nvPr>
            <p:ph type="sldNum" sz="quarter" idx="12"/>
          </p:nvPr>
        </p:nvSpPr>
        <p:spPr/>
        <p:txBody>
          <a:bodyPr/>
          <a:lstStyle>
            <a:lvl1pPr>
              <a:defRPr/>
            </a:lvl1pPr>
          </a:lstStyle>
          <a:p>
            <a:pPr>
              <a:defRPr/>
            </a:pPr>
            <a:fld id="{E96515A4-92BA-A944-90F6-E82D023FB3D3}" type="slidenum">
              <a:rPr lang="en-US" altLang="en-US"/>
              <a:pPr>
                <a:defRPr/>
              </a:pPr>
              <a:t>‹#›</a:t>
            </a:fld>
            <a:endParaRPr lang="en-US" altLang="en-US"/>
          </a:p>
        </p:txBody>
      </p:sp>
    </p:spTree>
    <p:extLst>
      <p:ext uri="{BB962C8B-B14F-4D97-AF65-F5344CB8AC3E}">
        <p14:creationId xmlns:p14="http://schemas.microsoft.com/office/powerpoint/2010/main" val="17858551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533400"/>
            <a:ext cx="103632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DFD3F4BD-08B0-4246-962D-9A1D290FD3A9}" type="slidenum">
              <a:rPr lang="en-US" altLang="en-US"/>
              <a:pPr>
                <a:defRPr/>
              </a:pPr>
              <a:t>‹#›</a:t>
            </a:fld>
            <a:endParaRPr lang="en-US" altLang="en-US"/>
          </a:p>
        </p:txBody>
      </p:sp>
    </p:spTree>
    <p:extLst>
      <p:ext uri="{BB962C8B-B14F-4D97-AF65-F5344CB8AC3E}">
        <p14:creationId xmlns:p14="http://schemas.microsoft.com/office/powerpoint/2010/main" val="108795850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8.xml"/><Relationship Id="rId12" Type="http://schemas.openxmlformats.org/officeDocument/2006/relationships/slideLayout" Target="../slideLayouts/slideLayout39.xml"/><Relationship Id="rId13" Type="http://schemas.openxmlformats.org/officeDocument/2006/relationships/slideLayout" Target="../slideLayouts/slideLayout40.xml"/><Relationship Id="rId14" Type="http://schemas.openxmlformats.org/officeDocument/2006/relationships/slideLayout" Target="../slideLayouts/slideLayout41.xml"/><Relationship Id="rId15" Type="http://schemas.openxmlformats.org/officeDocument/2006/relationships/slideLayout" Target="../slideLayouts/slideLayout42.xml"/><Relationship Id="rId16" Type="http://schemas.openxmlformats.org/officeDocument/2006/relationships/slideLayout" Target="../slideLayouts/slideLayout43.xml"/><Relationship Id="rId17" Type="http://schemas.openxmlformats.org/officeDocument/2006/relationships/theme" Target="../theme/theme3.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9" Type="http://schemas.openxmlformats.org/officeDocument/2006/relationships/slideLayout" Target="../slideLayouts/slideLayout36.xml"/><Relationship Id="rId10"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theme" Target="../theme/theme4.xml"/><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DF082-0CFF-3948-879B-35CD2B582D06}"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1329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532"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4"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400">
                <a:latin typeface="Arial" charset="0"/>
                <a:ea typeface="Osaka" charset="-128"/>
              </a:defRPr>
            </a:lvl1pPr>
          </a:lstStyle>
          <a:p>
            <a:pPr eaLnBrk="0" fontAlgn="base" hangingPunct="0">
              <a:spcBef>
                <a:spcPct val="0"/>
              </a:spcBef>
              <a:spcAft>
                <a:spcPct val="0"/>
              </a:spcAft>
              <a:defRPr/>
            </a:pPr>
            <a:fld id="{185BBF79-2763-BF4A-BFD3-32471AE9AEA8}" type="slidenum">
              <a:rPr lang="en-US" altLang="en-US">
                <a:solidFill>
                  <a:srgbClr val="000000"/>
                </a:solidFill>
              </a:rPr>
              <a:pPr eaLnBrk="0" fontAlgn="base" hangingPunct="0">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9020127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Osaka" charset="0"/>
          <a:cs typeface="Osaka" charset="0"/>
        </a:defRPr>
      </a:lvl2pPr>
      <a:lvl3pPr algn="ctr" rtl="0" eaLnBrk="0" fontAlgn="base" hangingPunct="0">
        <a:spcBef>
          <a:spcPct val="0"/>
        </a:spcBef>
        <a:spcAft>
          <a:spcPct val="0"/>
        </a:spcAft>
        <a:defRPr sz="4400">
          <a:solidFill>
            <a:schemeClr val="tx2"/>
          </a:solidFill>
          <a:latin typeface="Arial" charset="0"/>
          <a:ea typeface="Osaka" charset="0"/>
          <a:cs typeface="Osaka" charset="0"/>
        </a:defRPr>
      </a:lvl3pPr>
      <a:lvl4pPr algn="ctr" rtl="0" eaLnBrk="0" fontAlgn="base" hangingPunct="0">
        <a:spcBef>
          <a:spcPct val="0"/>
        </a:spcBef>
        <a:spcAft>
          <a:spcPct val="0"/>
        </a:spcAft>
        <a:defRPr sz="4400">
          <a:solidFill>
            <a:schemeClr val="tx2"/>
          </a:solidFill>
          <a:latin typeface="Arial" charset="0"/>
          <a:ea typeface="Osaka" charset="0"/>
          <a:cs typeface="Osaka" charset="0"/>
        </a:defRPr>
      </a:lvl4pPr>
      <a:lvl5pPr algn="ctr" rtl="0" eaLnBrk="0" fontAlgn="base" hangingPunct="0">
        <a:spcBef>
          <a:spcPct val="0"/>
        </a:spcBef>
        <a:spcAft>
          <a:spcPct val="0"/>
        </a:spcAft>
        <a:defRPr sz="4400">
          <a:solidFill>
            <a:schemeClr val="tx2"/>
          </a:solidFill>
          <a:latin typeface="Arial" charset="0"/>
          <a:ea typeface="Osaka" charset="0"/>
          <a:cs typeface="Osaka" charset="0"/>
        </a:defRPr>
      </a:lvl5pPr>
      <a:lvl6pPr marL="457200" algn="ctr" rtl="0" fontAlgn="base">
        <a:spcBef>
          <a:spcPct val="0"/>
        </a:spcBef>
        <a:spcAft>
          <a:spcPct val="0"/>
        </a:spcAft>
        <a:defRPr sz="4400">
          <a:solidFill>
            <a:schemeClr val="tx2"/>
          </a:solidFill>
          <a:latin typeface="Arial" charset="0"/>
          <a:ea typeface="Osaka" charset="0"/>
          <a:cs typeface="Osaka" charset="0"/>
        </a:defRPr>
      </a:lvl6pPr>
      <a:lvl7pPr marL="914400" algn="ctr" rtl="0" fontAlgn="base">
        <a:spcBef>
          <a:spcPct val="0"/>
        </a:spcBef>
        <a:spcAft>
          <a:spcPct val="0"/>
        </a:spcAft>
        <a:defRPr sz="4400">
          <a:solidFill>
            <a:schemeClr val="tx2"/>
          </a:solidFill>
          <a:latin typeface="Arial" charset="0"/>
          <a:ea typeface="Osaka" charset="0"/>
          <a:cs typeface="Osaka" charset="0"/>
        </a:defRPr>
      </a:lvl7pPr>
      <a:lvl8pPr marL="1371600" algn="ctr" rtl="0" fontAlgn="base">
        <a:spcBef>
          <a:spcPct val="0"/>
        </a:spcBef>
        <a:spcAft>
          <a:spcPct val="0"/>
        </a:spcAft>
        <a:defRPr sz="4400">
          <a:solidFill>
            <a:schemeClr val="tx2"/>
          </a:solidFill>
          <a:latin typeface="Arial" charset="0"/>
          <a:ea typeface="Osaka" charset="0"/>
          <a:cs typeface="Osaka" charset="0"/>
        </a:defRPr>
      </a:lvl8pPr>
      <a:lvl9pPr marL="1828800" algn="ctr" rtl="0" fontAlgn="base">
        <a:spcBef>
          <a:spcPct val="0"/>
        </a:spcBef>
        <a:spcAft>
          <a:spcPct val="0"/>
        </a:spcAft>
        <a:defRPr sz="4400">
          <a:solidFill>
            <a:schemeClr val="tx2"/>
          </a:solidFill>
          <a:latin typeface="Arial" charset="0"/>
          <a:ea typeface="Osaka" charset="0"/>
          <a:cs typeface="Osak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BB76E-88A9-1142-82B9-33E4469E9A60}" type="datetimeFigureOut">
              <a:rPr lang="en-US" smtClean="0">
                <a:solidFill>
                  <a:prstClr val="black">
                    <a:tint val="75000"/>
                  </a:prstClr>
                </a:solidFill>
              </a:rPr>
              <a:pPr/>
              <a:t>1/22/20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706740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ea typeface="ＭＳ Ｐゴシック" charset="0"/>
                <a:cs typeface="ＭＳ Ｐゴシック"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ea typeface="ＭＳ Ｐゴシック" charset="0"/>
                <a:cs typeface="ＭＳ Ｐゴシック"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E0579274-85C0-A145-924C-B35554151872}" type="slidenum">
              <a:rPr lang="en-US" altLang="en-US">
                <a:latin typeface="Arial" charset="0"/>
                <a:ea typeface="MS PGothic" charset="-128"/>
              </a:rPr>
              <a:pPr fontAlgn="base">
                <a:spcBef>
                  <a:spcPct val="0"/>
                </a:spcBef>
                <a:spcAft>
                  <a:spcPct val="0"/>
                </a:spcAft>
                <a:defRPr/>
              </a:pPr>
              <a:t>‹#›</a:t>
            </a:fld>
            <a:endParaRPr lang="en-US" altLang="en-US">
              <a:latin typeface="Arial" charset="0"/>
              <a:ea typeface="MS PGothic" charset="-128"/>
            </a:endParaRPr>
          </a:p>
        </p:txBody>
      </p:sp>
    </p:spTree>
    <p:extLst>
      <p:ext uri="{BB962C8B-B14F-4D97-AF65-F5344CB8AC3E}">
        <p14:creationId xmlns:p14="http://schemas.microsoft.com/office/powerpoint/2010/main" val="273566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Lst>
  <p:txStyles>
    <p:title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S PGothic" panose="020B0600070205080204" pitchFamily="34" charset="-128"/>
          <a:cs typeface="MS PGothic"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S PGothic" panose="020B0600070205080204" pitchFamily="34" charset="-128"/>
          <a:cs typeface="MS PGothic" charset="0"/>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S PGothic" panose="020B0600070205080204" pitchFamily="34" charset="-128"/>
          <a:cs typeface="MS PGothic"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9.jpeg"/><Relationship Id="rId1" Type="http://schemas.openxmlformats.org/officeDocument/2006/relationships/slideLayout" Target="../slideLayouts/slideLayout45.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h-8PBx7isoM" TargetMode="External"/><Relationship Id="rId4" Type="http://schemas.openxmlformats.org/officeDocument/2006/relationships/hyperlink" Target="https://www.youtube.com/watch?v=AhxZSs8aMNE" TargetMode="External"/><Relationship Id="rId5" Type="http://schemas.openxmlformats.org/officeDocument/2006/relationships/hyperlink" Target="https://www.youtube.com/watch?v=FHDKHKixKdY" TargetMode="External"/><Relationship Id="rId1" Type="http://schemas.openxmlformats.org/officeDocument/2006/relationships/slideLayout" Target="../slideLayouts/slideLayout45.xml"/><Relationship Id="rId2" Type="http://schemas.openxmlformats.org/officeDocument/2006/relationships/hyperlink" Target="https://www.youtube.com/watch?v=O7_s8JRiQqU&amp;gl=SG&amp;hl=en-G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0.jpeg"/><Relationship Id="rId3" Type="http://schemas.openxmlformats.org/officeDocument/2006/relationships/image" Target="../media/image1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smtClean="0">
                <a:solidFill>
                  <a:schemeClr val="bg1"/>
                </a:solidFill>
                <a:latin typeface="+mn-lt"/>
              </a:rPr>
              <a:t>IB English Language and Literature</a:t>
            </a:r>
            <a:br>
              <a:rPr lang="en-US" b="1" dirty="0" smtClean="0">
                <a:solidFill>
                  <a:schemeClr val="bg1"/>
                </a:solidFill>
                <a:latin typeface="+mn-lt"/>
              </a:rPr>
            </a:br>
            <a:r>
              <a:rPr lang="en-US" b="1" dirty="0" smtClean="0">
                <a:solidFill>
                  <a:schemeClr val="bg1"/>
                </a:solidFill>
                <a:latin typeface="+mn-lt"/>
              </a:rPr>
              <a:t>6 ELL SL 4</a:t>
            </a:r>
            <a:br>
              <a:rPr lang="en-US" b="1" dirty="0" smtClean="0">
                <a:solidFill>
                  <a:schemeClr val="bg1"/>
                </a:solidFill>
                <a:latin typeface="+mn-lt"/>
              </a:rPr>
            </a:br>
            <a:r>
              <a:rPr lang="en-US" b="1" dirty="0" smtClean="0">
                <a:solidFill>
                  <a:schemeClr val="bg1"/>
                </a:solidFill>
                <a:latin typeface="+mn-lt"/>
              </a:rPr>
              <a:t>2019 - 2020</a:t>
            </a:r>
            <a:endParaRPr lang="en-US" b="1" dirty="0">
              <a:solidFill>
                <a:schemeClr val="bg1"/>
              </a:solidFill>
              <a:latin typeface="+mn-lt"/>
            </a:endParaRP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smtClean="0">
                <a:solidFill>
                  <a:schemeClr val="accent1">
                    <a:lumMod val="20000"/>
                    <a:lumOff val="80000"/>
                  </a:schemeClr>
                </a:solidFill>
              </a:rPr>
              <a:t>Shape of the Week (3):</a:t>
            </a:r>
          </a:p>
          <a:p>
            <a:r>
              <a:rPr lang="en-US" sz="3200" dirty="0" smtClean="0">
                <a:solidFill>
                  <a:schemeClr val="bg1"/>
                </a:solidFill>
              </a:rPr>
              <a:t>Lesson 1: Gender </a:t>
            </a:r>
            <a:r>
              <a:rPr lang="en-US" sz="3200" dirty="0">
                <a:solidFill>
                  <a:schemeClr val="bg1"/>
                </a:solidFill>
              </a:rPr>
              <a:t>in </a:t>
            </a:r>
            <a:r>
              <a:rPr lang="en-US" sz="3200" dirty="0" smtClean="0">
                <a:solidFill>
                  <a:schemeClr val="bg1"/>
                </a:solidFill>
              </a:rPr>
              <a:t>Advertising/ Goffman’s Theory</a:t>
            </a:r>
          </a:p>
          <a:p>
            <a:pPr lvl="0"/>
            <a:r>
              <a:rPr lang="en-US" sz="3200" dirty="0">
                <a:solidFill>
                  <a:prstClr val="white"/>
                </a:solidFill>
              </a:rPr>
              <a:t>Lesson </a:t>
            </a:r>
            <a:r>
              <a:rPr lang="en-US" sz="3200" dirty="0" smtClean="0">
                <a:solidFill>
                  <a:prstClr val="white"/>
                </a:solidFill>
              </a:rPr>
              <a:t>2: Goffman’s Theory and Semiotic Analysis</a:t>
            </a:r>
            <a:endParaRPr lang="en-US" sz="3200" dirty="0">
              <a:solidFill>
                <a:prstClr val="white"/>
              </a:solidFill>
            </a:endParaRPr>
          </a:p>
          <a:p>
            <a:endParaRPr lang="en-US" sz="36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4000859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4444" y="328246"/>
            <a:ext cx="12286444" cy="1058941"/>
          </a:xfrm>
        </p:spPr>
        <p:txBody>
          <a:bodyPr>
            <a:noAutofit/>
          </a:bodyPr>
          <a:lstStyle/>
          <a:p>
            <a:pPr lvl="0" algn="ctr"/>
            <a:r>
              <a:rPr lang="en-US" sz="5400" b="1" dirty="0">
                <a:solidFill>
                  <a:srgbClr val="FF0000"/>
                </a:solidFill>
                <a:latin typeface="+mn-lt"/>
              </a:rPr>
              <a:t>Lesson 1</a:t>
            </a:r>
            <a:r>
              <a:rPr lang="en-US" sz="5400" b="1" dirty="0" smtClean="0">
                <a:solidFill>
                  <a:srgbClr val="FF0000"/>
                </a:solidFill>
                <a:latin typeface="+mn-lt"/>
              </a:rPr>
              <a:t>: </a:t>
            </a:r>
            <a:r>
              <a:rPr lang="en-US" sz="5400" b="1" dirty="0">
                <a:solidFill>
                  <a:srgbClr val="FF0000"/>
                </a:solidFill>
                <a:latin typeface="Calibri" charset="0"/>
                <a:ea typeface="MS Mincho" charset="-128"/>
                <a:cs typeface="MS Mincho" charset="-128"/>
              </a:rPr>
              <a:t>Gender in Advertising/ Goffman’s Theory</a:t>
            </a:r>
          </a:p>
        </p:txBody>
      </p:sp>
      <p:sp>
        <p:nvSpPr>
          <p:cNvPr id="3" name="Content Placeholder 2"/>
          <p:cNvSpPr>
            <a:spLocks noGrp="1"/>
          </p:cNvSpPr>
          <p:nvPr>
            <p:ph idx="1"/>
          </p:nvPr>
        </p:nvSpPr>
        <p:spPr>
          <a:xfrm>
            <a:off x="302056" y="1947333"/>
            <a:ext cx="11889944" cy="4550570"/>
          </a:xfrm>
        </p:spPr>
        <p:txBody>
          <a:bodyPr>
            <a:normAutofit lnSpcReduction="10000"/>
          </a:bodyPr>
          <a:lstStyle/>
          <a:p>
            <a:pPr marL="0" indent="0">
              <a:buNone/>
            </a:pPr>
            <a:r>
              <a:rPr lang="en-US" sz="4000" b="1" dirty="0" smtClean="0"/>
              <a:t>☑ Review connotation/ denotation, signifier/ signified</a:t>
            </a:r>
          </a:p>
          <a:p>
            <a:pPr marL="0" indent="0">
              <a:buNone/>
            </a:pPr>
            <a:endParaRPr lang="en-US" sz="4000" dirty="0" smtClean="0">
              <a:solidFill>
                <a:srgbClr val="0432FF"/>
              </a:solidFill>
            </a:endParaRPr>
          </a:p>
          <a:p>
            <a:pPr marL="0" indent="0">
              <a:spcAft>
                <a:spcPts val="0"/>
              </a:spcAft>
              <a:buNone/>
            </a:pPr>
            <a:r>
              <a:rPr lang="en-US" sz="4000" dirty="0"/>
              <a:t>☑ </a:t>
            </a:r>
            <a:r>
              <a:rPr lang="en-US" sz="4000" dirty="0" smtClean="0">
                <a:latin typeface="Calibri" charset="0"/>
                <a:ea typeface="MS Mincho" charset="-128"/>
                <a:cs typeface="MS Mincho" charset="-128"/>
              </a:rPr>
              <a:t>Intro to Goffman’s Theory</a:t>
            </a:r>
            <a:endParaRPr lang="en-US" sz="4000" dirty="0">
              <a:latin typeface="Calibri" charset="0"/>
              <a:ea typeface="MS Mincho" charset="-128"/>
              <a:cs typeface="MS Mincho" charset="-128"/>
            </a:endParaRPr>
          </a:p>
          <a:p>
            <a:pPr marL="0" indent="0">
              <a:spcAft>
                <a:spcPts val="0"/>
              </a:spcAft>
              <a:buNone/>
            </a:pPr>
            <a:endParaRPr lang="en-US" sz="4000" dirty="0">
              <a:latin typeface="Calibri" charset="0"/>
              <a:ea typeface="MS Mincho" charset="-128"/>
              <a:cs typeface="MS Mincho" charset="-128"/>
            </a:endParaRPr>
          </a:p>
          <a:p>
            <a:pPr marL="0" indent="0">
              <a:buNone/>
            </a:pPr>
            <a:r>
              <a:rPr lang="en-US" sz="4000" dirty="0"/>
              <a:t>☑ </a:t>
            </a:r>
            <a:r>
              <a:rPr lang="en-US" sz="4000" dirty="0" smtClean="0">
                <a:latin typeface="Calibri" charset="0"/>
                <a:ea typeface="MS Mincho" charset="-128"/>
                <a:cs typeface="MS Mincho" charset="-128"/>
              </a:rPr>
              <a:t>Self- correct Advertising HW</a:t>
            </a:r>
          </a:p>
          <a:p>
            <a:pPr marL="0" indent="0">
              <a:buNone/>
            </a:pPr>
            <a:endParaRPr lang="en-US" sz="4000" dirty="0" smtClean="0">
              <a:latin typeface="Calibri" charset="0"/>
              <a:ea typeface="MS Mincho" charset="-128"/>
              <a:cs typeface="MS Mincho" charset="-128"/>
            </a:endParaRPr>
          </a:p>
          <a:p>
            <a:pPr marL="0" indent="0">
              <a:buNone/>
            </a:pPr>
            <a:r>
              <a:rPr lang="en-US" sz="4000" dirty="0"/>
              <a:t>☑ </a:t>
            </a:r>
            <a:r>
              <a:rPr lang="en-US" sz="4000" dirty="0" smtClean="0">
                <a:latin typeface="Calibri" charset="0"/>
                <a:ea typeface="MS Mincho" charset="-128"/>
                <a:cs typeface="MS Mincho" charset="-128"/>
              </a:rPr>
              <a:t>Update</a:t>
            </a:r>
            <a:endParaRPr lang="en-US" sz="4000" dirty="0">
              <a:latin typeface="Calibri" charset="0"/>
              <a:ea typeface="MS Mincho" charset="-128"/>
              <a:cs typeface="MS Mincho" charset="-128"/>
            </a:endParaRPr>
          </a:p>
          <a:p>
            <a:pPr marL="0" indent="0">
              <a:buNone/>
            </a:pPr>
            <a:endParaRPr lang="en-US" sz="4000" dirty="0">
              <a:latin typeface="Calibri" charset="0"/>
              <a:ea typeface="MS Mincho" charset="-128"/>
              <a:cs typeface="MS Mincho" charset="-128"/>
            </a:endParaRPr>
          </a:p>
          <a:p>
            <a:pPr marL="0" indent="0">
              <a:buNone/>
            </a:pPr>
            <a:endParaRPr lang="en-US" sz="4000" dirty="0" smtClean="0">
              <a:solidFill>
                <a:srgbClr val="0432FF"/>
              </a:solidFill>
            </a:endParaRPr>
          </a:p>
          <a:p>
            <a:pPr marL="0" indent="0">
              <a:buNone/>
            </a:pPr>
            <a:endParaRPr lang="en-US" sz="4000" dirty="0"/>
          </a:p>
          <a:p>
            <a:pPr marL="0" indent="0">
              <a:buNone/>
            </a:pPr>
            <a:endParaRPr lang="en-US" sz="4000" dirty="0"/>
          </a:p>
          <a:p>
            <a:pPr marL="0" indent="0">
              <a:buNone/>
            </a:pPr>
            <a:endParaRPr lang="en-US" sz="4400" dirty="0" smtClean="0">
              <a:solidFill>
                <a:srgbClr val="0432FF"/>
              </a:solidFill>
            </a:endParaRPr>
          </a:p>
        </p:txBody>
      </p:sp>
    </p:spTree>
    <p:extLst>
      <p:ext uri="{BB962C8B-B14F-4D97-AF65-F5344CB8AC3E}">
        <p14:creationId xmlns:p14="http://schemas.microsoft.com/office/powerpoint/2010/main" val="4725569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smtClean="0">
                <a:solidFill>
                  <a:srgbClr val="FF0000"/>
                </a:solidFill>
                <a:latin typeface="Arial Rounded MT Bold" charset="0"/>
                <a:ea typeface="Arial Rounded MT Bold" charset="0"/>
                <a:cs typeface="Arial Rounded MT Bold" charset="0"/>
              </a:rPr>
              <a:t>ASSESSMENT TERM 1</a:t>
            </a:r>
            <a:endParaRPr lang="en-US" b="1" dirty="0">
              <a:solidFill>
                <a:srgbClr val="FF0000"/>
              </a:solidFill>
              <a:latin typeface="Arial Rounded MT Bold" charset="0"/>
              <a:ea typeface="Arial Rounded MT Bold" charset="0"/>
              <a:cs typeface="Arial Rounded MT Bold" charset="0"/>
            </a:endParaRPr>
          </a:p>
        </p:txBody>
      </p:sp>
      <p:sp>
        <p:nvSpPr>
          <p:cNvPr id="3" name="Content Placeholder 2"/>
          <p:cNvSpPr>
            <a:spLocks noGrp="1"/>
          </p:cNvSpPr>
          <p:nvPr>
            <p:ph sz="half" idx="1"/>
          </p:nvPr>
        </p:nvSpPr>
        <p:spPr>
          <a:xfrm>
            <a:off x="154547" y="1143000"/>
            <a:ext cx="7765960" cy="5486400"/>
          </a:xfrm>
        </p:spPr>
        <p:txBody>
          <a:bodyPr/>
          <a:lstStyle/>
          <a:p>
            <a:pPr marL="0" lvl="0" indent="0">
              <a:buNone/>
            </a:pPr>
            <a:r>
              <a:rPr lang="en-US" sz="3200" b="1" u="sng" dirty="0" smtClean="0">
                <a:solidFill>
                  <a:prstClr val="black"/>
                </a:solidFill>
                <a:latin typeface="Calibri" panose="020F0502020204030204" pitchFamily="34" charset="0"/>
                <a:ea typeface="ＭＳ 明朝" charset="-128"/>
                <a:cs typeface="MS Mincho" charset="-128"/>
              </a:rPr>
              <a:t>School (Report SA)</a:t>
            </a:r>
          </a:p>
          <a:p>
            <a:pPr marL="0" lvl="0" indent="0">
              <a:buNone/>
            </a:pPr>
            <a:r>
              <a:rPr lang="en-US" sz="3200" dirty="0" smtClean="0">
                <a:solidFill>
                  <a:prstClr val="black"/>
                </a:solidFill>
                <a:latin typeface="MS Mincho" charset="-128"/>
                <a:ea typeface="ＭＳ 明朝" charset="-128"/>
                <a:cs typeface="MS Mincho" charset="-128"/>
              </a:rPr>
              <a:t>☑</a:t>
            </a:r>
            <a:r>
              <a:rPr lang="en-US" sz="3200" dirty="0" smtClean="0">
                <a:solidFill>
                  <a:prstClr val="black"/>
                </a:solidFill>
                <a:latin typeface="Calibri" charset="0"/>
                <a:ea typeface="MS Mincho" charset="-128"/>
                <a:cs typeface="MS Mincho" charset="-128"/>
              </a:rPr>
              <a:t> </a:t>
            </a:r>
            <a:r>
              <a:rPr lang="en-US" sz="3200" dirty="0">
                <a:solidFill>
                  <a:prstClr val="black"/>
                </a:solidFill>
                <a:latin typeface="Calibri" charset="0"/>
                <a:ea typeface="MS Mincho" charset="-128"/>
                <a:cs typeface="MS Mincho" charset="-128"/>
              </a:rPr>
              <a:t>Paper 1 Commentary </a:t>
            </a:r>
            <a:r>
              <a:rPr lang="en-US" sz="3200" dirty="0" smtClean="0">
                <a:solidFill>
                  <a:prstClr val="black"/>
                </a:solidFill>
                <a:latin typeface="Calibri" charset="0"/>
                <a:ea typeface="MS Mincho" charset="-128"/>
                <a:cs typeface="MS Mincho" charset="-128"/>
              </a:rPr>
              <a:t>[EXAM </a:t>
            </a:r>
            <a:r>
              <a:rPr lang="en-US" sz="3200" dirty="0">
                <a:solidFill>
                  <a:prstClr val="black"/>
                </a:solidFill>
                <a:latin typeface="Calibri" charset="0"/>
                <a:ea typeface="MS Mincho" charset="-128"/>
                <a:cs typeface="MS Mincho" charset="-128"/>
              </a:rPr>
              <a:t>Rubric] Week 4 50% </a:t>
            </a:r>
            <a:endParaRPr lang="en-US" sz="3200" dirty="0" smtClean="0">
              <a:solidFill>
                <a:prstClr val="black"/>
              </a:solidFill>
              <a:latin typeface="Calibri" charset="0"/>
              <a:ea typeface="MS Mincho" charset="-128"/>
              <a:cs typeface="MS Mincho" charset="-128"/>
            </a:endParaRPr>
          </a:p>
          <a:p>
            <a:pPr marL="0" indent="0">
              <a:buNone/>
            </a:pPr>
            <a:r>
              <a:rPr lang="en-US" sz="3200" dirty="0">
                <a:solidFill>
                  <a:prstClr val="black"/>
                </a:solidFill>
                <a:latin typeface="MS Mincho" charset="-128"/>
                <a:ea typeface="ＭＳ 明朝" charset="-128"/>
                <a:cs typeface="MS Mincho" charset="-128"/>
              </a:rPr>
              <a:t>☑</a:t>
            </a:r>
            <a:r>
              <a:rPr lang="en-US" sz="3200" dirty="0">
                <a:solidFill>
                  <a:prstClr val="black"/>
                </a:solidFill>
                <a:latin typeface="Calibri" charset="0"/>
                <a:ea typeface="MS Mincho" charset="-128"/>
                <a:cs typeface="MS Mincho" charset="-128"/>
              </a:rPr>
              <a:t> </a:t>
            </a:r>
            <a:r>
              <a:rPr lang="en-US" sz="3200" dirty="0" smtClean="0">
                <a:solidFill>
                  <a:prstClr val="black"/>
                </a:solidFill>
                <a:latin typeface="Calibri" charset="0"/>
                <a:ea typeface="MS Mincho" charset="-128"/>
                <a:cs typeface="MS Mincho" charset="-128"/>
              </a:rPr>
              <a:t>Mock Group FOA Week </a:t>
            </a:r>
            <a:r>
              <a:rPr lang="en-US" sz="3200" dirty="0">
                <a:solidFill>
                  <a:prstClr val="black"/>
                </a:solidFill>
                <a:latin typeface="Calibri" charset="0"/>
                <a:ea typeface="MS Mincho" charset="-128"/>
                <a:cs typeface="MS Mincho" charset="-128"/>
              </a:rPr>
              <a:t>6 50% </a:t>
            </a:r>
            <a:endParaRPr lang="en-US" sz="3200" dirty="0" smtClean="0">
              <a:solidFill>
                <a:prstClr val="black"/>
              </a:solidFill>
              <a:latin typeface="Calibri" charset="0"/>
              <a:ea typeface="MS Mincho" charset="-128"/>
              <a:cs typeface="MS Mincho" charset="-128"/>
            </a:endParaRPr>
          </a:p>
          <a:p>
            <a:pPr marL="0" indent="0">
              <a:buNone/>
            </a:pPr>
            <a:endParaRPr lang="en-US" sz="3200" dirty="0" smtClean="0">
              <a:solidFill>
                <a:prstClr val="black"/>
              </a:solidFill>
              <a:latin typeface="Calibri" charset="0"/>
              <a:ea typeface="MS Mincho" charset="-128"/>
              <a:cs typeface="MS Mincho" charset="-128"/>
            </a:endParaRPr>
          </a:p>
          <a:p>
            <a:pPr marL="0" indent="0">
              <a:buNone/>
            </a:pPr>
            <a:r>
              <a:rPr lang="en-US" sz="3200" b="1" u="sng" dirty="0" smtClean="0">
                <a:solidFill>
                  <a:srgbClr val="0432FF"/>
                </a:solidFill>
                <a:latin typeface="Calibri" charset="0"/>
                <a:ea typeface="MS Mincho" charset="-128"/>
                <a:cs typeface="MS Mincho" charset="-128"/>
              </a:rPr>
              <a:t>IB Assessment</a:t>
            </a:r>
            <a:endParaRPr lang="en-US" sz="3200" b="1" u="sng" dirty="0">
              <a:solidFill>
                <a:srgbClr val="0432FF"/>
              </a:solidFill>
              <a:latin typeface="Calibri" charset="0"/>
              <a:ea typeface="MS Mincho" charset="-128"/>
              <a:cs typeface="MS Mincho" charset="-128"/>
            </a:endParaRPr>
          </a:p>
          <a:p>
            <a:pPr marL="0" indent="0">
              <a:buNone/>
            </a:pPr>
            <a:r>
              <a:rPr lang="en-US" sz="3200" dirty="0" smtClean="0">
                <a:solidFill>
                  <a:srgbClr val="0432FF"/>
                </a:solidFill>
                <a:latin typeface="MS Mincho" charset="-128"/>
                <a:ea typeface="ＭＳ 明朝" charset="-128"/>
                <a:cs typeface="MS Mincho" charset="-128"/>
              </a:rPr>
              <a:t>☑ </a:t>
            </a:r>
            <a:r>
              <a:rPr lang="en-US" sz="3200" dirty="0" smtClean="0">
                <a:solidFill>
                  <a:srgbClr val="0432FF"/>
                </a:solidFill>
                <a:latin typeface="Calibri" charset="0"/>
                <a:ea typeface="MS Mincho" charset="-128"/>
                <a:cs typeface="MS Mincho" charset="-128"/>
              </a:rPr>
              <a:t>IB FOA 2: Gender in Ads Proposal due week 6, FOA given week 1&amp;2 term 2</a:t>
            </a:r>
            <a:endParaRPr lang="en-US" sz="3200" dirty="0">
              <a:solidFill>
                <a:srgbClr val="0432FF"/>
              </a:solidFill>
              <a:latin typeface="Calibri" charset="0"/>
              <a:ea typeface="MS Mincho" charset="-128"/>
              <a:cs typeface="MS Mincho" charset="-128"/>
            </a:endParaRPr>
          </a:p>
          <a:p>
            <a:pPr marL="0" lvl="0" indent="0">
              <a:buNone/>
            </a:pPr>
            <a:r>
              <a:rPr lang="en-US" sz="3200" dirty="0">
                <a:solidFill>
                  <a:srgbClr val="0432FF"/>
                </a:solidFill>
                <a:latin typeface="MS Mincho" charset="-128"/>
                <a:ea typeface="ＭＳ 明朝" charset="-128"/>
                <a:cs typeface="MS Mincho" charset="-128"/>
              </a:rPr>
              <a:t>☑</a:t>
            </a:r>
            <a:r>
              <a:rPr lang="en-US" sz="3200" dirty="0">
                <a:solidFill>
                  <a:srgbClr val="0432FF"/>
                </a:solidFill>
                <a:latin typeface="Calibri" charset="0"/>
                <a:ea typeface="MS Mincho" charset="-128"/>
                <a:cs typeface="MS Mincho" charset="-128"/>
              </a:rPr>
              <a:t> </a:t>
            </a:r>
            <a:r>
              <a:rPr lang="en-US" sz="3200" dirty="0" smtClean="0">
                <a:solidFill>
                  <a:srgbClr val="0432FF"/>
                </a:solidFill>
                <a:latin typeface="Calibri" charset="0"/>
                <a:ea typeface="MS Mincho" charset="-128"/>
                <a:cs typeface="MS Mincho" charset="-128"/>
              </a:rPr>
              <a:t> IB WT 2: Speeches/ Letters, First Draft Proposal Week 10, finished proposal week 1.</a:t>
            </a:r>
            <a:endParaRPr lang="en-US" sz="3200" dirty="0">
              <a:solidFill>
                <a:srgbClr val="0432FF"/>
              </a:solidFill>
              <a:latin typeface="Calibri" charset="0"/>
              <a:ea typeface="MS Mincho" charset="-128"/>
              <a:cs typeface="MS Mincho" charset="-128"/>
            </a:endParaRPr>
          </a:p>
          <a:p>
            <a:pPr marL="0" lvl="0" indent="0">
              <a:buNone/>
            </a:pPr>
            <a:endParaRPr lang="en-US" sz="3600" dirty="0" smtClean="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20507" y="1749381"/>
            <a:ext cx="4114800" cy="4114800"/>
          </a:xfrm>
        </p:spPr>
      </p:pic>
    </p:spTree>
    <p:extLst>
      <p:ext uri="{BB962C8B-B14F-4D97-AF65-F5344CB8AC3E}">
        <p14:creationId xmlns:p14="http://schemas.microsoft.com/office/powerpoint/2010/main" val="85453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r>
              <a:rPr lang="en-US" sz="3600" b="1" dirty="0" smtClean="0">
                <a:solidFill>
                  <a:srgbClr val="000000"/>
                </a:solidFill>
                <a:latin typeface="Calibri" charset="0"/>
                <a:ea typeface="MS Mincho" charset="-128"/>
                <a:cs typeface="MS Mincho" charset="-128"/>
              </a:rPr>
              <a:t>No HW</a:t>
            </a: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spTree>
    <p:extLst>
      <p:ext uri="{BB962C8B-B14F-4D97-AF65-F5344CB8AC3E}">
        <p14:creationId xmlns:p14="http://schemas.microsoft.com/office/powerpoint/2010/main" val="18810357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b="1" dirty="0" smtClean="0">
                <a:solidFill>
                  <a:srgbClr val="FF0000"/>
                </a:solidFill>
                <a:latin typeface="Arial" charset="0"/>
                <a:ea typeface="ＭＳ Ｐゴシック" charset="0"/>
                <a:cs typeface="+mj-cs"/>
              </a:rPr>
              <a:t>How to read the signs and signifiers within a Media Text</a:t>
            </a:r>
          </a:p>
        </p:txBody>
      </p:sp>
      <p:sp>
        <p:nvSpPr>
          <p:cNvPr id="49154" name="Rectangle 3"/>
          <p:cNvSpPr>
            <a:spLocks noGrp="1" noChangeArrowheads="1"/>
          </p:cNvSpPr>
          <p:nvPr>
            <p:ph idx="1"/>
          </p:nvPr>
        </p:nvSpPr>
        <p:spPr>
          <a:xfrm>
            <a:off x="2362200" y="1981200"/>
            <a:ext cx="7620000" cy="658091"/>
          </a:xfrm>
        </p:spPr>
        <p:txBody>
          <a:bodyPr/>
          <a:lstStyle/>
          <a:p>
            <a:pPr eaLnBrk="1" hangingPunct="1"/>
            <a:r>
              <a:rPr lang="en-US" altLang="en-US" sz="2800" dirty="0">
                <a:latin typeface="Arial" charset="0"/>
                <a:ea typeface="MS PGothic" charset="-128"/>
              </a:rPr>
              <a:t> All media texts have 2 layers of meaning:</a:t>
            </a:r>
          </a:p>
          <a:p>
            <a:pPr eaLnBrk="1" hangingPunct="1">
              <a:buFontTx/>
              <a:buNone/>
            </a:pPr>
            <a:endParaRPr lang="en-US" altLang="en-US" sz="2800" dirty="0">
              <a:latin typeface="Arial" charset="0"/>
              <a:ea typeface="MS PGothic" charset="-128"/>
            </a:endParaRPr>
          </a:p>
          <a:p>
            <a:pPr eaLnBrk="1" hangingPunct="1">
              <a:buFontTx/>
              <a:buNone/>
            </a:pPr>
            <a:endParaRPr lang="en-US" altLang="en-US" sz="2800" dirty="0">
              <a:latin typeface="Arial" charset="0"/>
              <a:ea typeface="MS PGothic" charset="-128"/>
            </a:endParaRPr>
          </a:p>
        </p:txBody>
      </p:sp>
      <p:sp>
        <p:nvSpPr>
          <p:cNvPr id="118791" name="Rectangle 7"/>
          <p:cNvSpPr>
            <a:spLocks noChangeArrowheads="1"/>
          </p:cNvSpPr>
          <p:nvPr/>
        </p:nvSpPr>
        <p:spPr bwMode="auto">
          <a:xfrm>
            <a:off x="374073" y="2819401"/>
            <a:ext cx="10910454"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fontAlgn="base">
              <a:spcAft>
                <a:spcPct val="0"/>
              </a:spcAft>
              <a:buFontTx/>
              <a:buBlip>
                <a:blip r:embed="rId3"/>
              </a:buBlip>
            </a:pPr>
            <a:r>
              <a:rPr kumimoji="1" lang="en-US" altLang="en-US" sz="2800" u="sng" dirty="0">
                <a:solidFill>
                  <a:prstClr val="black"/>
                </a:solidFill>
                <a:latin typeface="Arial" charset="0"/>
              </a:rPr>
              <a:t>DENOTATIVE LEVEL: </a:t>
            </a:r>
            <a:r>
              <a:rPr kumimoji="1" lang="en-US" altLang="en-US" sz="2800" dirty="0">
                <a:solidFill>
                  <a:prstClr val="black"/>
                </a:solidFill>
                <a:latin typeface="Arial" charset="0"/>
              </a:rPr>
              <a:t>What we actually see</a:t>
            </a:r>
          </a:p>
        </p:txBody>
      </p:sp>
      <p:sp>
        <p:nvSpPr>
          <p:cNvPr id="118792" name="Rectangle 8"/>
          <p:cNvSpPr>
            <a:spLocks noChangeArrowheads="1"/>
          </p:cNvSpPr>
          <p:nvPr/>
        </p:nvSpPr>
        <p:spPr bwMode="auto">
          <a:xfrm>
            <a:off x="374073" y="3962400"/>
            <a:ext cx="118179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fontAlgn="base">
              <a:spcAft>
                <a:spcPct val="0"/>
              </a:spcAft>
              <a:buFontTx/>
              <a:buBlip>
                <a:blip r:embed="rId3"/>
              </a:buBlip>
            </a:pPr>
            <a:r>
              <a:rPr kumimoji="1" lang="en-US" altLang="en-US" sz="2800" u="sng" dirty="0">
                <a:solidFill>
                  <a:prstClr val="black"/>
                </a:solidFill>
                <a:latin typeface="Arial" charset="0"/>
              </a:rPr>
              <a:t>CONNOTATIVE LEVEL</a:t>
            </a:r>
            <a:r>
              <a:rPr kumimoji="1" lang="en-US" altLang="en-US" sz="2800" dirty="0">
                <a:solidFill>
                  <a:prstClr val="black"/>
                </a:solidFill>
                <a:latin typeface="Arial" charset="0"/>
              </a:rPr>
              <a:t>: What you associate with this image</a:t>
            </a:r>
          </a:p>
        </p:txBody>
      </p:sp>
    </p:spTree>
    <p:extLst>
      <p:ext uri="{BB962C8B-B14F-4D97-AF65-F5344CB8AC3E}">
        <p14:creationId xmlns:p14="http://schemas.microsoft.com/office/powerpoint/2010/main" val="7447581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7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1" grpId="0"/>
      <p:bldP spid="11879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353291" y="346364"/>
            <a:ext cx="11229109" cy="914400"/>
          </a:xfrm>
        </p:spPr>
        <p:txBody>
          <a:bodyPr rtlCol="0">
            <a:noAutofit/>
          </a:bodyPr>
          <a:lstStyle/>
          <a:p>
            <a:pPr eaLnBrk="1" fontAlgn="auto" hangingPunct="1">
              <a:spcAft>
                <a:spcPts val="0"/>
              </a:spcAft>
              <a:defRPr/>
            </a:pPr>
            <a:r>
              <a:rPr lang="en-US" sz="6000" b="1" dirty="0" smtClean="0">
                <a:solidFill>
                  <a:srgbClr val="FF0000"/>
                </a:solidFill>
                <a:latin typeface="Arial" charset="0"/>
                <a:ea typeface="ＭＳ Ｐゴシック" charset="0"/>
                <a:cs typeface="+mj-cs"/>
              </a:rPr>
              <a:t>Denotation &amp; Connotation</a:t>
            </a:r>
          </a:p>
        </p:txBody>
      </p:sp>
      <p:sp>
        <p:nvSpPr>
          <p:cNvPr id="115715" name="Rectangle 3"/>
          <p:cNvSpPr>
            <a:spLocks noGrp="1" noChangeArrowheads="1"/>
          </p:cNvSpPr>
          <p:nvPr>
            <p:ph idx="1"/>
          </p:nvPr>
        </p:nvSpPr>
        <p:spPr/>
        <p:txBody>
          <a:bodyPr/>
          <a:lstStyle/>
          <a:p>
            <a:pPr eaLnBrk="1" hangingPunct="1">
              <a:buFontTx/>
              <a:buNone/>
            </a:pPr>
            <a:endParaRPr lang="en-US" altLang="en-US" i="1" dirty="0">
              <a:latin typeface="Arial" charset="0"/>
              <a:ea typeface="MS PGothic" charset="-128"/>
            </a:endParaRPr>
          </a:p>
          <a:p>
            <a:pPr eaLnBrk="1" hangingPunct="1"/>
            <a:r>
              <a:rPr lang="en-US" altLang="en-US" dirty="0">
                <a:latin typeface="Arial" charset="0"/>
                <a:ea typeface="MS PGothic" charset="-128"/>
              </a:rPr>
              <a:t>Denotative: The </a:t>
            </a:r>
            <a:r>
              <a:rPr lang="en-US" altLang="en-US" b="1" dirty="0">
                <a:latin typeface="Arial" charset="0"/>
                <a:ea typeface="MS PGothic" charset="-128"/>
              </a:rPr>
              <a:t>surface</a:t>
            </a:r>
            <a:r>
              <a:rPr lang="en-US" altLang="en-US" dirty="0">
                <a:latin typeface="Arial" charset="0"/>
                <a:ea typeface="MS PGothic" charset="-128"/>
              </a:rPr>
              <a:t> meaning</a:t>
            </a:r>
          </a:p>
          <a:p>
            <a:pPr eaLnBrk="1" hangingPunct="1">
              <a:buFontTx/>
              <a:buNone/>
            </a:pPr>
            <a:endParaRPr lang="en-US" altLang="en-US" dirty="0">
              <a:latin typeface="Arial" charset="0"/>
              <a:ea typeface="MS PGothic" charset="-128"/>
            </a:endParaRPr>
          </a:p>
          <a:p>
            <a:pPr eaLnBrk="1" hangingPunct="1"/>
            <a:r>
              <a:rPr lang="en-US" altLang="en-US" dirty="0">
                <a:latin typeface="Arial" charset="0"/>
                <a:ea typeface="MS PGothic" charset="-128"/>
              </a:rPr>
              <a:t>Connotative: The </a:t>
            </a:r>
            <a:r>
              <a:rPr lang="en-US" altLang="en-US" b="1" dirty="0">
                <a:latin typeface="Arial" charset="0"/>
                <a:ea typeface="MS PGothic" charset="-128"/>
              </a:rPr>
              <a:t>deeper</a:t>
            </a:r>
            <a:r>
              <a:rPr lang="en-US" altLang="en-US" dirty="0">
                <a:latin typeface="Arial" charset="0"/>
                <a:ea typeface="MS PGothic" charset="-128"/>
              </a:rPr>
              <a:t> or </a:t>
            </a:r>
            <a:r>
              <a:rPr lang="en-US" altLang="en-US" b="1" dirty="0">
                <a:latin typeface="Arial" charset="0"/>
                <a:ea typeface="MS PGothic" charset="-128"/>
              </a:rPr>
              <a:t>hidden</a:t>
            </a:r>
            <a:r>
              <a:rPr lang="en-US" altLang="en-US" dirty="0">
                <a:latin typeface="Arial" charset="0"/>
                <a:ea typeface="MS PGothic" charset="-128"/>
              </a:rPr>
              <a:t> meanings and associations</a:t>
            </a:r>
          </a:p>
        </p:txBody>
      </p:sp>
    </p:spTree>
    <p:extLst>
      <p:ext uri="{BB962C8B-B14F-4D97-AF65-F5344CB8AC3E}">
        <p14:creationId xmlns:p14="http://schemas.microsoft.com/office/powerpoint/2010/main" val="3194893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p:nvPr>
        </p:nvSpPr>
        <p:spPr/>
        <p:txBody>
          <a:bodyPr/>
          <a:lstStyle/>
          <a:p>
            <a:pPr eaLnBrk="1" hangingPunct="1"/>
            <a:endParaRPr lang="zh-TW" altLang="en-US">
              <a:latin typeface="Arial" charset="0"/>
              <a:ea typeface="MS PGothic" charset="-128"/>
            </a:endParaRPr>
          </a:p>
        </p:txBody>
      </p:sp>
      <p:pic>
        <p:nvPicPr>
          <p:cNvPr id="77827" name="Picture 7" descr="davidoff_Cool%20Wa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6" y="0"/>
            <a:ext cx="55467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800" name="Oval 8"/>
          <p:cNvSpPr>
            <a:spLocks noChangeArrowheads="1"/>
          </p:cNvSpPr>
          <p:nvPr/>
        </p:nvSpPr>
        <p:spPr bwMode="auto">
          <a:xfrm>
            <a:off x="2063750" y="476250"/>
            <a:ext cx="2376488" cy="1873250"/>
          </a:xfrm>
          <a:prstGeom prst="ellipse">
            <a:avLst/>
          </a:prstGeom>
          <a:solidFill>
            <a:srgbClr val="CCFFFF"/>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Water/Ocean Wave</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Wild, Stormy, Natural, Earthly</a:t>
            </a:r>
          </a:p>
          <a:p>
            <a:pPr algn="ctr" eaLnBrk="1" hangingPunct="1">
              <a:spcBef>
                <a:spcPct val="0"/>
              </a:spcBef>
              <a:buFontTx/>
              <a:buNone/>
            </a:pPr>
            <a:r>
              <a:rPr lang="en-US" altLang="zh-TW" sz="1800">
                <a:latin typeface="Arial" charset="0"/>
                <a:ea typeface="PMingLiU" charset="-120"/>
              </a:rPr>
              <a:t> </a:t>
            </a:r>
          </a:p>
        </p:txBody>
      </p:sp>
      <p:sp>
        <p:nvSpPr>
          <p:cNvPr id="161801" name="Oval 9"/>
          <p:cNvSpPr>
            <a:spLocks noChangeArrowheads="1"/>
          </p:cNvSpPr>
          <p:nvPr/>
        </p:nvSpPr>
        <p:spPr bwMode="auto">
          <a:xfrm>
            <a:off x="8472489" y="3141664"/>
            <a:ext cx="2016125" cy="1728787"/>
          </a:xfrm>
          <a:prstGeom prst="ellipse">
            <a:avLst/>
          </a:prstGeom>
          <a:solidFill>
            <a:srgbClr val="CCFFFF"/>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Words ‘Cool Water’</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Refreshing, different,</a:t>
            </a:r>
            <a:r>
              <a:rPr lang="en-US" altLang="zh-TW" sz="1800">
                <a:latin typeface="Arial" charset="0"/>
                <a:ea typeface="PMingLiU" charset="-120"/>
              </a:rPr>
              <a:t> </a:t>
            </a:r>
          </a:p>
          <a:p>
            <a:pPr algn="ctr" eaLnBrk="1" hangingPunct="1">
              <a:spcBef>
                <a:spcPct val="0"/>
              </a:spcBef>
              <a:buFontTx/>
              <a:buNone/>
            </a:pPr>
            <a:r>
              <a:rPr lang="en-US" altLang="zh-TW" sz="1800">
                <a:latin typeface="Arial" charset="0"/>
                <a:ea typeface="PMingLiU" charset="-120"/>
              </a:rPr>
              <a:t> </a:t>
            </a:r>
          </a:p>
        </p:txBody>
      </p:sp>
      <p:sp>
        <p:nvSpPr>
          <p:cNvPr id="161802" name="Oval 10"/>
          <p:cNvSpPr>
            <a:spLocks noChangeArrowheads="1"/>
          </p:cNvSpPr>
          <p:nvPr/>
        </p:nvSpPr>
        <p:spPr bwMode="auto">
          <a:xfrm>
            <a:off x="4295776" y="4797426"/>
            <a:ext cx="2233613" cy="1844675"/>
          </a:xfrm>
          <a:prstGeom prst="ellipse">
            <a:avLst/>
          </a:prstGeom>
          <a:solidFill>
            <a:srgbClr val="CCFFFF"/>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Droplets on Bottle</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Cool, chilled appearance, almost drinkable</a:t>
            </a:r>
            <a:r>
              <a:rPr lang="en-US" altLang="zh-TW" sz="1800">
                <a:latin typeface="Arial" charset="0"/>
                <a:ea typeface="PMingLiU" charset="-120"/>
              </a:rPr>
              <a:t> </a:t>
            </a:r>
          </a:p>
        </p:txBody>
      </p:sp>
      <p:sp>
        <p:nvSpPr>
          <p:cNvPr id="161803" name="Oval 11"/>
          <p:cNvSpPr>
            <a:spLocks noChangeArrowheads="1"/>
          </p:cNvSpPr>
          <p:nvPr/>
        </p:nvSpPr>
        <p:spPr bwMode="auto">
          <a:xfrm>
            <a:off x="1919289" y="2997200"/>
            <a:ext cx="2376487" cy="1873250"/>
          </a:xfrm>
          <a:prstGeom prst="ellipse">
            <a:avLst/>
          </a:prstGeom>
          <a:solidFill>
            <a:srgbClr val="CCFFFF"/>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p>
          <a:p>
            <a:pPr algn="ctr" eaLnBrk="1" hangingPunct="1">
              <a:spcBef>
                <a:spcPct val="0"/>
              </a:spcBef>
              <a:buFontTx/>
              <a:buNone/>
            </a:pPr>
            <a:r>
              <a:rPr lang="en-US" altLang="zh-TW" sz="1400" b="1">
                <a:latin typeface="Arial" charset="0"/>
                <a:ea typeface="PMingLiU" charset="-120"/>
              </a:rPr>
              <a:t>Mans Naked Torso</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Natural, angelic, pure, toned, ideal, masculine</a:t>
            </a:r>
            <a:r>
              <a:rPr lang="en-US" altLang="zh-TW" sz="1800">
                <a:latin typeface="Arial" charset="0"/>
                <a:ea typeface="PMingLiU" charset="-120"/>
              </a:rPr>
              <a:t>, </a:t>
            </a:r>
            <a:r>
              <a:rPr lang="en-US" altLang="zh-TW" sz="1400">
                <a:latin typeface="Arial" charset="0"/>
                <a:ea typeface="PMingLiU" charset="-120"/>
              </a:rPr>
              <a:t>adonis</a:t>
            </a:r>
          </a:p>
        </p:txBody>
      </p:sp>
      <p:sp>
        <p:nvSpPr>
          <p:cNvPr id="161804" name="Oval 12"/>
          <p:cNvSpPr>
            <a:spLocks noChangeArrowheads="1"/>
          </p:cNvSpPr>
          <p:nvPr/>
        </p:nvSpPr>
        <p:spPr bwMode="auto">
          <a:xfrm>
            <a:off x="7967664" y="836614"/>
            <a:ext cx="2700337" cy="2016125"/>
          </a:xfrm>
          <a:prstGeom prst="ellipse">
            <a:avLst/>
          </a:prstGeom>
          <a:solidFill>
            <a:srgbClr val="CCFFFF"/>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p>
          <a:p>
            <a:pPr algn="ctr" eaLnBrk="1" hangingPunct="1">
              <a:spcBef>
                <a:spcPct val="0"/>
              </a:spcBef>
              <a:buFontTx/>
              <a:buNone/>
            </a:pPr>
            <a:r>
              <a:rPr lang="en-US" altLang="zh-TW" sz="1400" b="1">
                <a:latin typeface="Arial" charset="0"/>
                <a:ea typeface="PMingLiU" charset="-120"/>
              </a:rPr>
              <a:t>Facial Expression/Body Language</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Ecstatic, pleasure lost in ecstacy, laid back, inviting</a:t>
            </a:r>
            <a:r>
              <a:rPr lang="en-US" altLang="zh-TW" sz="1800">
                <a:latin typeface="Arial" charset="0"/>
                <a:ea typeface="PMingLiU" charset="-120"/>
              </a:rPr>
              <a:t> </a:t>
            </a:r>
          </a:p>
        </p:txBody>
      </p:sp>
      <p:sp>
        <p:nvSpPr>
          <p:cNvPr id="161805" name="Oval 13"/>
          <p:cNvSpPr>
            <a:spLocks noChangeArrowheads="1"/>
          </p:cNvSpPr>
          <p:nvPr/>
        </p:nvSpPr>
        <p:spPr bwMode="auto">
          <a:xfrm>
            <a:off x="8651876" y="5129214"/>
            <a:ext cx="2016125" cy="1728787"/>
          </a:xfrm>
          <a:prstGeom prst="ellipse">
            <a:avLst/>
          </a:prstGeom>
          <a:solidFill>
            <a:srgbClr val="CCFFFF"/>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200">
                <a:latin typeface="Arial" charset="0"/>
                <a:ea typeface="PMingLiU" charset="-120"/>
              </a:rPr>
              <a:t>SIGNIFIER: </a:t>
            </a:r>
            <a:r>
              <a:rPr lang="en-US" altLang="zh-TW" sz="1200" b="1">
                <a:latin typeface="Arial" charset="0"/>
                <a:ea typeface="PMingLiU" charset="-120"/>
              </a:rPr>
              <a:t>Calligraphy Style Font</a:t>
            </a:r>
          </a:p>
          <a:p>
            <a:pPr algn="ctr" eaLnBrk="1" hangingPunct="1">
              <a:spcBef>
                <a:spcPct val="0"/>
              </a:spcBef>
              <a:buFontTx/>
              <a:buNone/>
            </a:pPr>
            <a:r>
              <a:rPr lang="en-US" altLang="zh-TW" sz="1200">
                <a:latin typeface="Arial" charset="0"/>
                <a:ea typeface="PMingLiU" charset="-120"/>
              </a:rPr>
              <a:t>SIGNIFIES:</a:t>
            </a:r>
          </a:p>
          <a:p>
            <a:pPr algn="ctr" eaLnBrk="1" hangingPunct="1">
              <a:spcBef>
                <a:spcPct val="0"/>
              </a:spcBef>
              <a:buFontTx/>
              <a:buNone/>
            </a:pPr>
            <a:r>
              <a:rPr lang="en-US" altLang="zh-TW" sz="1200">
                <a:latin typeface="Arial" charset="0"/>
                <a:ea typeface="PMingLiU" charset="-120"/>
              </a:rPr>
              <a:t>Classic, timeless, expensive tastes</a:t>
            </a:r>
            <a:r>
              <a:rPr lang="en-US" altLang="zh-TW" sz="1800">
                <a:latin typeface="Arial" charset="0"/>
                <a:ea typeface="PMingLiU" charset="-120"/>
              </a:rPr>
              <a:t> </a:t>
            </a:r>
          </a:p>
          <a:p>
            <a:pPr algn="ctr" eaLnBrk="1" hangingPunct="1">
              <a:spcBef>
                <a:spcPct val="0"/>
              </a:spcBef>
              <a:buFontTx/>
              <a:buNone/>
            </a:pPr>
            <a:r>
              <a:rPr lang="en-US" altLang="zh-TW" sz="1800">
                <a:latin typeface="Arial" charset="0"/>
                <a:ea typeface="PMingLiU" charset="-120"/>
              </a:rPr>
              <a:t> </a:t>
            </a:r>
          </a:p>
        </p:txBody>
      </p:sp>
      <p:sp>
        <p:nvSpPr>
          <p:cNvPr id="161806" name="Line 14"/>
          <p:cNvSpPr>
            <a:spLocks noChangeShapeType="1"/>
          </p:cNvSpPr>
          <p:nvPr/>
        </p:nvSpPr>
        <p:spPr bwMode="auto">
          <a:xfrm>
            <a:off x="6527801" y="5661025"/>
            <a:ext cx="12239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1807" name="Line 15"/>
          <p:cNvSpPr>
            <a:spLocks noChangeShapeType="1"/>
          </p:cNvSpPr>
          <p:nvPr/>
        </p:nvSpPr>
        <p:spPr bwMode="auto">
          <a:xfrm flipV="1">
            <a:off x="4224339" y="2852738"/>
            <a:ext cx="1366837" cy="7921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1808" name="Line 16"/>
          <p:cNvSpPr>
            <a:spLocks noChangeShapeType="1"/>
          </p:cNvSpPr>
          <p:nvPr/>
        </p:nvSpPr>
        <p:spPr bwMode="auto">
          <a:xfrm flipV="1">
            <a:off x="4440239" y="692151"/>
            <a:ext cx="1368425" cy="576263"/>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1809" name="Line 17"/>
          <p:cNvSpPr>
            <a:spLocks noChangeShapeType="1"/>
          </p:cNvSpPr>
          <p:nvPr/>
        </p:nvSpPr>
        <p:spPr bwMode="auto">
          <a:xfrm flipH="1" flipV="1">
            <a:off x="8112126" y="5373689"/>
            <a:ext cx="720725" cy="142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1810" name="Line 18"/>
          <p:cNvSpPr>
            <a:spLocks noChangeShapeType="1"/>
          </p:cNvSpPr>
          <p:nvPr/>
        </p:nvSpPr>
        <p:spPr bwMode="auto">
          <a:xfrm flipH="1">
            <a:off x="7751763" y="4292601"/>
            <a:ext cx="792162" cy="936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1812" name="Line 20"/>
          <p:cNvSpPr>
            <a:spLocks noChangeShapeType="1"/>
          </p:cNvSpPr>
          <p:nvPr/>
        </p:nvSpPr>
        <p:spPr bwMode="auto">
          <a:xfrm flipH="1" flipV="1">
            <a:off x="7751763" y="1125539"/>
            <a:ext cx="360362" cy="287337"/>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524204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1804"/>
                                        </p:tgtEl>
                                        <p:attrNameLst>
                                          <p:attrName>style.visibility</p:attrName>
                                        </p:attrNameLst>
                                      </p:cBhvr>
                                      <p:to>
                                        <p:strVal val="visible"/>
                                      </p:to>
                                    </p:set>
                                    <p:animEffect transition="in" filter="circle(in)">
                                      <p:cBhvr>
                                        <p:cTn id="7" dur="500"/>
                                        <p:tgtEl>
                                          <p:spTgt spid="1618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1812"/>
                                        </p:tgtEl>
                                        <p:attrNameLst>
                                          <p:attrName>style.visibility</p:attrName>
                                        </p:attrNameLst>
                                      </p:cBhvr>
                                      <p:to>
                                        <p:strVal val="visible"/>
                                      </p:to>
                                    </p:set>
                                    <p:animEffect transition="in" filter="slide(fromBottom)">
                                      <p:cBhvr>
                                        <p:cTn id="12" dur="500"/>
                                        <p:tgtEl>
                                          <p:spTgt spid="1618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61800"/>
                                        </p:tgtEl>
                                        <p:attrNameLst>
                                          <p:attrName>style.visibility</p:attrName>
                                        </p:attrNameLst>
                                      </p:cBhvr>
                                      <p:to>
                                        <p:strVal val="visible"/>
                                      </p:to>
                                    </p:set>
                                    <p:animEffect transition="in" filter="circle(in)">
                                      <p:cBhvr>
                                        <p:cTn id="17" dur="500"/>
                                        <p:tgtEl>
                                          <p:spTgt spid="1618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1808"/>
                                        </p:tgtEl>
                                        <p:attrNameLst>
                                          <p:attrName>style.visibility</p:attrName>
                                        </p:attrNameLst>
                                      </p:cBhvr>
                                      <p:to>
                                        <p:strVal val="visible"/>
                                      </p:to>
                                    </p:set>
                                    <p:animEffect transition="in" filter="slide(fromBottom)">
                                      <p:cBhvr>
                                        <p:cTn id="22" dur="500"/>
                                        <p:tgtEl>
                                          <p:spTgt spid="1618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61803"/>
                                        </p:tgtEl>
                                        <p:attrNameLst>
                                          <p:attrName>style.visibility</p:attrName>
                                        </p:attrNameLst>
                                      </p:cBhvr>
                                      <p:to>
                                        <p:strVal val="visible"/>
                                      </p:to>
                                    </p:set>
                                    <p:animEffect transition="in" filter="circle(in)">
                                      <p:cBhvr>
                                        <p:cTn id="27" dur="500"/>
                                        <p:tgtEl>
                                          <p:spTgt spid="1618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61807"/>
                                        </p:tgtEl>
                                        <p:attrNameLst>
                                          <p:attrName>style.visibility</p:attrName>
                                        </p:attrNameLst>
                                      </p:cBhvr>
                                      <p:to>
                                        <p:strVal val="visible"/>
                                      </p:to>
                                    </p:set>
                                    <p:animEffect transition="in" filter="slide(fromBottom)">
                                      <p:cBhvr>
                                        <p:cTn id="32" dur="500"/>
                                        <p:tgtEl>
                                          <p:spTgt spid="1618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61802"/>
                                        </p:tgtEl>
                                        <p:attrNameLst>
                                          <p:attrName>style.visibility</p:attrName>
                                        </p:attrNameLst>
                                      </p:cBhvr>
                                      <p:to>
                                        <p:strVal val="visible"/>
                                      </p:to>
                                    </p:set>
                                    <p:animEffect transition="in" filter="circle(in)">
                                      <p:cBhvr>
                                        <p:cTn id="37" dur="500"/>
                                        <p:tgtEl>
                                          <p:spTgt spid="1618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61806"/>
                                        </p:tgtEl>
                                        <p:attrNameLst>
                                          <p:attrName>style.visibility</p:attrName>
                                        </p:attrNameLst>
                                      </p:cBhvr>
                                      <p:to>
                                        <p:strVal val="visible"/>
                                      </p:to>
                                    </p:set>
                                    <p:animEffect transition="in" filter="slide(fromBottom)">
                                      <p:cBhvr>
                                        <p:cTn id="42" dur="500"/>
                                        <p:tgtEl>
                                          <p:spTgt spid="16180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61801"/>
                                        </p:tgtEl>
                                        <p:attrNameLst>
                                          <p:attrName>style.visibility</p:attrName>
                                        </p:attrNameLst>
                                      </p:cBhvr>
                                      <p:to>
                                        <p:strVal val="visible"/>
                                      </p:to>
                                    </p:set>
                                    <p:animEffect transition="in" filter="circle(in)">
                                      <p:cBhvr>
                                        <p:cTn id="47" dur="500"/>
                                        <p:tgtEl>
                                          <p:spTgt spid="16180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61810"/>
                                        </p:tgtEl>
                                        <p:attrNameLst>
                                          <p:attrName>style.visibility</p:attrName>
                                        </p:attrNameLst>
                                      </p:cBhvr>
                                      <p:to>
                                        <p:strVal val="visible"/>
                                      </p:to>
                                    </p:set>
                                    <p:animEffect transition="in" filter="slide(fromBottom)">
                                      <p:cBhvr>
                                        <p:cTn id="52" dur="500"/>
                                        <p:tgtEl>
                                          <p:spTgt spid="16181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61805"/>
                                        </p:tgtEl>
                                        <p:attrNameLst>
                                          <p:attrName>style.visibility</p:attrName>
                                        </p:attrNameLst>
                                      </p:cBhvr>
                                      <p:to>
                                        <p:strVal val="visible"/>
                                      </p:to>
                                    </p:set>
                                    <p:animEffect transition="in" filter="circle(in)">
                                      <p:cBhvr>
                                        <p:cTn id="57" dur="500"/>
                                        <p:tgtEl>
                                          <p:spTgt spid="16180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161809"/>
                                        </p:tgtEl>
                                        <p:attrNameLst>
                                          <p:attrName>style.visibility</p:attrName>
                                        </p:attrNameLst>
                                      </p:cBhvr>
                                      <p:to>
                                        <p:strVal val="visible"/>
                                      </p:to>
                                    </p:set>
                                    <p:animEffect transition="in" filter="slide(fromBottom)">
                                      <p:cBhvr>
                                        <p:cTn id="62" dur="500"/>
                                        <p:tgtEl>
                                          <p:spTgt spid="161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00" grpId="0" animBg="1"/>
      <p:bldP spid="161801" grpId="0" animBg="1"/>
      <p:bldP spid="161802" grpId="0" animBg="1"/>
      <p:bldP spid="161803" grpId="0" animBg="1"/>
      <p:bldP spid="161804" grpId="0" animBg="1"/>
      <p:bldP spid="161805" grpId="0" animBg="1"/>
      <p:bldP spid="161806" grpId="0" animBg="1"/>
      <p:bldP spid="161807" grpId="0" animBg="1"/>
      <p:bldP spid="161808" grpId="0" animBg="1"/>
      <p:bldP spid="161809" grpId="0" animBg="1"/>
      <p:bldP spid="161810" grpId="0" animBg="1"/>
      <p:bldP spid="1618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pPr eaLnBrk="1" hangingPunct="1"/>
            <a:endParaRPr lang="zh-TW" altLang="en-US">
              <a:latin typeface="Arial" charset="0"/>
              <a:ea typeface="MS PGothic" charset="-128"/>
            </a:endParaRPr>
          </a:p>
        </p:txBody>
      </p:sp>
      <p:sp>
        <p:nvSpPr>
          <p:cNvPr id="78850" name="Rectangle 3"/>
          <p:cNvSpPr>
            <a:spLocks noGrp="1" noChangeArrowheads="1"/>
          </p:cNvSpPr>
          <p:nvPr>
            <p:ph idx="1"/>
          </p:nvPr>
        </p:nvSpPr>
        <p:spPr/>
        <p:txBody>
          <a:bodyPr/>
          <a:lstStyle/>
          <a:p>
            <a:pPr eaLnBrk="1" hangingPunct="1"/>
            <a:endParaRPr lang="zh-TW" altLang="en-US">
              <a:latin typeface="Arial" charset="0"/>
              <a:ea typeface="MS PGothic" charset="-128"/>
            </a:endParaRPr>
          </a:p>
        </p:txBody>
      </p:sp>
      <p:pic>
        <p:nvPicPr>
          <p:cNvPr id="78851" name="Picture 7" descr="484ec51c020002r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9144000" cy="691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4" name="Oval 8"/>
          <p:cNvSpPr>
            <a:spLocks noChangeArrowheads="1"/>
          </p:cNvSpPr>
          <p:nvPr/>
        </p:nvSpPr>
        <p:spPr bwMode="auto">
          <a:xfrm>
            <a:off x="1919289" y="476250"/>
            <a:ext cx="1728787" cy="1727200"/>
          </a:xfrm>
          <a:prstGeom prst="ellipse">
            <a:avLst/>
          </a:prstGeom>
          <a:solidFill>
            <a:srgbClr val="FFFF99"/>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Blonde Hair</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Ideal Woman, Innocence, Looks ‘gold’</a:t>
            </a:r>
          </a:p>
        </p:txBody>
      </p:sp>
      <p:sp>
        <p:nvSpPr>
          <p:cNvPr id="162830" name="Oval 14"/>
          <p:cNvSpPr>
            <a:spLocks noChangeArrowheads="1"/>
          </p:cNvSpPr>
          <p:nvPr/>
        </p:nvSpPr>
        <p:spPr bwMode="auto">
          <a:xfrm>
            <a:off x="1524000" y="4797426"/>
            <a:ext cx="1835150" cy="1800225"/>
          </a:xfrm>
          <a:prstGeom prst="ellipse">
            <a:avLst/>
          </a:prstGeom>
          <a:solidFill>
            <a:srgbClr val="FFFF99"/>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300">
                <a:latin typeface="Arial" charset="0"/>
                <a:ea typeface="PMingLiU" charset="-120"/>
              </a:rPr>
              <a:t>SIGNIFIER: </a:t>
            </a:r>
            <a:r>
              <a:rPr lang="en-US" altLang="zh-TW" sz="1300" b="1">
                <a:latin typeface="Arial" charset="0"/>
                <a:ea typeface="PMingLiU" charset="-120"/>
              </a:rPr>
              <a:t>Perfume Bottle</a:t>
            </a:r>
          </a:p>
          <a:p>
            <a:pPr algn="ctr" eaLnBrk="1" hangingPunct="1">
              <a:spcBef>
                <a:spcPct val="0"/>
              </a:spcBef>
              <a:buFontTx/>
              <a:buNone/>
            </a:pPr>
            <a:r>
              <a:rPr lang="en-US" altLang="zh-TW" sz="1300">
                <a:latin typeface="Arial" charset="0"/>
                <a:ea typeface="PMingLiU" charset="-120"/>
              </a:rPr>
              <a:t>Signifies: Looks Jewel-like, Buried Treasure</a:t>
            </a:r>
          </a:p>
          <a:p>
            <a:pPr algn="ctr" eaLnBrk="1" hangingPunct="1">
              <a:spcBef>
                <a:spcPct val="0"/>
              </a:spcBef>
              <a:buFontTx/>
              <a:buNone/>
            </a:pPr>
            <a:endParaRPr lang="en-US" altLang="zh-TW" sz="1300">
              <a:latin typeface="Arial" charset="0"/>
              <a:ea typeface="PMingLiU" charset="-120"/>
            </a:endParaRPr>
          </a:p>
        </p:txBody>
      </p:sp>
      <p:sp>
        <p:nvSpPr>
          <p:cNvPr id="162831" name="Oval 15"/>
          <p:cNvSpPr>
            <a:spLocks noChangeArrowheads="1"/>
          </p:cNvSpPr>
          <p:nvPr/>
        </p:nvSpPr>
        <p:spPr bwMode="auto">
          <a:xfrm>
            <a:off x="8328025" y="4652963"/>
            <a:ext cx="2089150" cy="1871662"/>
          </a:xfrm>
          <a:prstGeom prst="ellipse">
            <a:avLst/>
          </a:prstGeom>
          <a:solidFill>
            <a:srgbClr val="FFFF99"/>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Colour Gold</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Luxury, Riches, Expense, Success, Shimmering</a:t>
            </a:r>
          </a:p>
        </p:txBody>
      </p:sp>
      <p:sp>
        <p:nvSpPr>
          <p:cNvPr id="162832" name="Oval 16"/>
          <p:cNvSpPr>
            <a:spLocks noChangeArrowheads="1"/>
          </p:cNvSpPr>
          <p:nvPr/>
        </p:nvSpPr>
        <p:spPr bwMode="auto">
          <a:xfrm>
            <a:off x="5375276" y="1916113"/>
            <a:ext cx="2087563" cy="1943100"/>
          </a:xfrm>
          <a:prstGeom prst="ellipse">
            <a:avLst/>
          </a:prstGeom>
          <a:solidFill>
            <a:srgbClr val="FFFF99"/>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Jewellery</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Extravagance, Excess, Glamour, Decedance</a:t>
            </a:r>
          </a:p>
          <a:p>
            <a:pPr algn="ctr" eaLnBrk="1" hangingPunct="1">
              <a:spcBef>
                <a:spcPct val="0"/>
              </a:spcBef>
              <a:buFontTx/>
              <a:buNone/>
            </a:pPr>
            <a:endParaRPr lang="en-US" altLang="zh-TW" sz="1400">
              <a:latin typeface="Arial" charset="0"/>
              <a:ea typeface="PMingLiU" charset="-120"/>
            </a:endParaRPr>
          </a:p>
        </p:txBody>
      </p:sp>
      <p:sp>
        <p:nvSpPr>
          <p:cNvPr id="162833" name="Oval 17"/>
          <p:cNvSpPr>
            <a:spLocks noChangeArrowheads="1"/>
          </p:cNvSpPr>
          <p:nvPr/>
        </p:nvSpPr>
        <p:spPr bwMode="auto">
          <a:xfrm>
            <a:off x="5735639" y="4437063"/>
            <a:ext cx="1584325" cy="1655762"/>
          </a:xfrm>
          <a:prstGeom prst="ellipse">
            <a:avLst/>
          </a:prstGeom>
          <a:solidFill>
            <a:srgbClr val="FFFF99"/>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Word ‘Love’</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Passion, Excitement, Lust </a:t>
            </a:r>
          </a:p>
        </p:txBody>
      </p:sp>
      <p:sp>
        <p:nvSpPr>
          <p:cNvPr id="162834" name="Oval 18"/>
          <p:cNvSpPr>
            <a:spLocks noChangeArrowheads="1"/>
          </p:cNvSpPr>
          <p:nvPr/>
        </p:nvSpPr>
        <p:spPr bwMode="auto">
          <a:xfrm>
            <a:off x="8796338" y="2060576"/>
            <a:ext cx="1871662" cy="1871663"/>
          </a:xfrm>
          <a:prstGeom prst="ellipse">
            <a:avLst/>
          </a:prstGeom>
          <a:solidFill>
            <a:srgbClr val="FFFF99"/>
          </a:solidFill>
          <a:ln w="38100">
            <a:solidFill>
              <a:schemeClr val="tx1"/>
            </a:solidFill>
            <a:round/>
            <a:headEnd/>
            <a:tailEnd/>
          </a:ln>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r>
              <a:rPr lang="en-US" altLang="zh-TW" sz="1400">
                <a:latin typeface="Arial" charset="0"/>
                <a:ea typeface="PMingLiU" charset="-120"/>
              </a:rPr>
              <a:t>SIGNIFIER: </a:t>
            </a:r>
            <a:r>
              <a:rPr lang="en-US" altLang="zh-TW" sz="1400" b="1">
                <a:latin typeface="Arial" charset="0"/>
                <a:ea typeface="PMingLiU" charset="-120"/>
              </a:rPr>
              <a:t>Font</a:t>
            </a:r>
          </a:p>
          <a:p>
            <a:pPr algn="ctr" eaLnBrk="1" hangingPunct="1">
              <a:spcBef>
                <a:spcPct val="0"/>
              </a:spcBef>
              <a:buFontTx/>
              <a:buNone/>
            </a:pPr>
            <a:r>
              <a:rPr lang="en-US" altLang="zh-TW" sz="1400">
                <a:latin typeface="Arial" charset="0"/>
                <a:ea typeface="PMingLiU" charset="-120"/>
              </a:rPr>
              <a:t>Signifies:</a:t>
            </a:r>
          </a:p>
          <a:p>
            <a:pPr algn="ctr" eaLnBrk="1" hangingPunct="1">
              <a:spcBef>
                <a:spcPct val="0"/>
              </a:spcBef>
              <a:buFontTx/>
              <a:buNone/>
            </a:pPr>
            <a:r>
              <a:rPr lang="en-US" altLang="zh-TW" sz="1400">
                <a:latin typeface="Arial" charset="0"/>
                <a:ea typeface="PMingLiU" charset="-120"/>
              </a:rPr>
              <a:t>Dior Logo, Brand Name, Designer</a:t>
            </a:r>
          </a:p>
        </p:txBody>
      </p:sp>
      <p:sp>
        <p:nvSpPr>
          <p:cNvPr id="162835" name="Line 19"/>
          <p:cNvSpPr>
            <a:spLocks noChangeShapeType="1"/>
          </p:cNvSpPr>
          <p:nvPr/>
        </p:nvSpPr>
        <p:spPr bwMode="auto">
          <a:xfrm flipV="1">
            <a:off x="2566988" y="4437063"/>
            <a:ext cx="576262" cy="3603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2836" name="Line 20"/>
          <p:cNvSpPr>
            <a:spLocks noChangeShapeType="1"/>
          </p:cNvSpPr>
          <p:nvPr/>
        </p:nvSpPr>
        <p:spPr bwMode="auto">
          <a:xfrm>
            <a:off x="2711450" y="2205038"/>
            <a:ext cx="863600" cy="3603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2837" name="Line 21"/>
          <p:cNvSpPr>
            <a:spLocks noChangeShapeType="1"/>
          </p:cNvSpPr>
          <p:nvPr/>
        </p:nvSpPr>
        <p:spPr bwMode="auto">
          <a:xfrm flipV="1">
            <a:off x="7032626" y="3500439"/>
            <a:ext cx="1008063" cy="11525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2838" name="Line 22"/>
          <p:cNvSpPr>
            <a:spLocks noChangeShapeType="1"/>
          </p:cNvSpPr>
          <p:nvPr/>
        </p:nvSpPr>
        <p:spPr bwMode="auto">
          <a:xfrm flipH="1">
            <a:off x="4151314" y="3284538"/>
            <a:ext cx="12969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2839" name="Line 23"/>
          <p:cNvSpPr>
            <a:spLocks noChangeShapeType="1"/>
          </p:cNvSpPr>
          <p:nvPr/>
        </p:nvSpPr>
        <p:spPr bwMode="auto">
          <a:xfrm flipH="1">
            <a:off x="6600826" y="6308726"/>
            <a:ext cx="2087563" cy="730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2840" name="Line 24"/>
          <p:cNvSpPr>
            <a:spLocks noChangeShapeType="1"/>
          </p:cNvSpPr>
          <p:nvPr/>
        </p:nvSpPr>
        <p:spPr bwMode="auto">
          <a:xfrm flipH="1" flipV="1">
            <a:off x="8832851" y="1844676"/>
            <a:ext cx="358775" cy="3603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324607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2834"/>
                                        </p:tgtEl>
                                        <p:attrNameLst>
                                          <p:attrName>style.visibility</p:attrName>
                                        </p:attrNameLst>
                                      </p:cBhvr>
                                      <p:to>
                                        <p:strVal val="visible"/>
                                      </p:to>
                                    </p:set>
                                    <p:animEffect transition="in" filter="circle(in)">
                                      <p:cBhvr>
                                        <p:cTn id="7" dur="500"/>
                                        <p:tgtEl>
                                          <p:spTgt spid="1628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2840"/>
                                        </p:tgtEl>
                                        <p:attrNameLst>
                                          <p:attrName>style.visibility</p:attrName>
                                        </p:attrNameLst>
                                      </p:cBhvr>
                                      <p:to>
                                        <p:strVal val="visible"/>
                                      </p:to>
                                    </p:set>
                                    <p:animEffect transition="in" filter="slide(fromBottom)">
                                      <p:cBhvr>
                                        <p:cTn id="12" dur="500"/>
                                        <p:tgtEl>
                                          <p:spTgt spid="1628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62831"/>
                                        </p:tgtEl>
                                        <p:attrNameLst>
                                          <p:attrName>style.visibility</p:attrName>
                                        </p:attrNameLst>
                                      </p:cBhvr>
                                      <p:to>
                                        <p:strVal val="visible"/>
                                      </p:to>
                                    </p:set>
                                    <p:animEffect transition="in" filter="circle(in)">
                                      <p:cBhvr>
                                        <p:cTn id="17" dur="500"/>
                                        <p:tgtEl>
                                          <p:spTgt spid="1628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2839"/>
                                        </p:tgtEl>
                                        <p:attrNameLst>
                                          <p:attrName>style.visibility</p:attrName>
                                        </p:attrNameLst>
                                      </p:cBhvr>
                                      <p:to>
                                        <p:strVal val="visible"/>
                                      </p:to>
                                    </p:set>
                                    <p:animEffect transition="in" filter="slide(fromBottom)">
                                      <p:cBhvr>
                                        <p:cTn id="22" dur="500"/>
                                        <p:tgtEl>
                                          <p:spTgt spid="1628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62833"/>
                                        </p:tgtEl>
                                        <p:attrNameLst>
                                          <p:attrName>style.visibility</p:attrName>
                                        </p:attrNameLst>
                                      </p:cBhvr>
                                      <p:to>
                                        <p:strVal val="visible"/>
                                      </p:to>
                                    </p:set>
                                    <p:animEffect transition="in" filter="circle(in)">
                                      <p:cBhvr>
                                        <p:cTn id="27" dur="500"/>
                                        <p:tgtEl>
                                          <p:spTgt spid="1628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62837"/>
                                        </p:tgtEl>
                                        <p:attrNameLst>
                                          <p:attrName>style.visibility</p:attrName>
                                        </p:attrNameLst>
                                      </p:cBhvr>
                                      <p:to>
                                        <p:strVal val="visible"/>
                                      </p:to>
                                    </p:set>
                                    <p:animEffect transition="in" filter="slide(fromBottom)">
                                      <p:cBhvr>
                                        <p:cTn id="32" dur="500"/>
                                        <p:tgtEl>
                                          <p:spTgt spid="1628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62830"/>
                                        </p:tgtEl>
                                        <p:attrNameLst>
                                          <p:attrName>style.visibility</p:attrName>
                                        </p:attrNameLst>
                                      </p:cBhvr>
                                      <p:to>
                                        <p:strVal val="visible"/>
                                      </p:to>
                                    </p:set>
                                    <p:animEffect transition="in" filter="circle(in)">
                                      <p:cBhvr>
                                        <p:cTn id="37" dur="500"/>
                                        <p:tgtEl>
                                          <p:spTgt spid="1628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62835"/>
                                        </p:tgtEl>
                                        <p:attrNameLst>
                                          <p:attrName>style.visibility</p:attrName>
                                        </p:attrNameLst>
                                      </p:cBhvr>
                                      <p:to>
                                        <p:strVal val="visible"/>
                                      </p:to>
                                    </p:set>
                                    <p:animEffect transition="in" filter="slide(fromBottom)">
                                      <p:cBhvr>
                                        <p:cTn id="42" dur="500"/>
                                        <p:tgtEl>
                                          <p:spTgt spid="1628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62824"/>
                                        </p:tgtEl>
                                        <p:attrNameLst>
                                          <p:attrName>style.visibility</p:attrName>
                                        </p:attrNameLst>
                                      </p:cBhvr>
                                      <p:to>
                                        <p:strVal val="visible"/>
                                      </p:to>
                                    </p:set>
                                    <p:animEffect transition="in" filter="circle(in)">
                                      <p:cBhvr>
                                        <p:cTn id="47" dur="500"/>
                                        <p:tgtEl>
                                          <p:spTgt spid="16282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62836"/>
                                        </p:tgtEl>
                                        <p:attrNameLst>
                                          <p:attrName>style.visibility</p:attrName>
                                        </p:attrNameLst>
                                      </p:cBhvr>
                                      <p:to>
                                        <p:strVal val="visible"/>
                                      </p:to>
                                    </p:set>
                                    <p:animEffect transition="in" filter="slide(fromBottom)">
                                      <p:cBhvr>
                                        <p:cTn id="52" dur="500"/>
                                        <p:tgtEl>
                                          <p:spTgt spid="16283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62832"/>
                                        </p:tgtEl>
                                        <p:attrNameLst>
                                          <p:attrName>style.visibility</p:attrName>
                                        </p:attrNameLst>
                                      </p:cBhvr>
                                      <p:to>
                                        <p:strVal val="visible"/>
                                      </p:to>
                                    </p:set>
                                    <p:animEffect transition="in" filter="circle(in)">
                                      <p:cBhvr>
                                        <p:cTn id="57" dur="500"/>
                                        <p:tgtEl>
                                          <p:spTgt spid="16283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162838"/>
                                        </p:tgtEl>
                                        <p:attrNameLst>
                                          <p:attrName>style.visibility</p:attrName>
                                        </p:attrNameLst>
                                      </p:cBhvr>
                                      <p:to>
                                        <p:strVal val="visible"/>
                                      </p:to>
                                    </p:set>
                                    <p:animEffect transition="in" filter="slide(fromBottom)">
                                      <p:cBhvr>
                                        <p:cTn id="62" dur="500"/>
                                        <p:tgtEl>
                                          <p:spTgt spid="162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4" grpId="0" animBg="1"/>
      <p:bldP spid="162830" grpId="0" animBg="1"/>
      <p:bldP spid="162831" grpId="0" animBg="1"/>
      <p:bldP spid="162832" grpId="0" animBg="1"/>
      <p:bldP spid="162833" grpId="0" animBg="1"/>
      <p:bldP spid="162834" grpId="0" animBg="1"/>
      <p:bldP spid="162835" grpId="0" animBg="1"/>
      <p:bldP spid="162836" grpId="0" animBg="1"/>
      <p:bldP spid="162837" grpId="0" animBg="1"/>
      <p:bldP spid="162838" grpId="0" animBg="1"/>
      <p:bldP spid="162839" grpId="0" animBg="1"/>
      <p:bldP spid="16284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p:nvPr>
        </p:nvSpPr>
        <p:spPr>
          <a:xfrm>
            <a:off x="609600" y="274638"/>
            <a:ext cx="5978236" cy="1143000"/>
          </a:xfrm>
        </p:spPr>
        <p:txBody>
          <a:bodyPr/>
          <a:lstStyle/>
          <a:p>
            <a:pPr algn="l" eaLnBrk="1" hangingPunct="1"/>
            <a:r>
              <a:rPr lang="en-US" altLang="en-US" b="1" dirty="0">
                <a:solidFill>
                  <a:srgbClr val="00B050"/>
                </a:solidFill>
                <a:latin typeface="Arial" charset="0"/>
                <a:ea typeface="MS PGothic" charset="-128"/>
              </a:rPr>
              <a:t>TASK</a:t>
            </a:r>
            <a:endParaRPr lang="en-US" altLang="en-US" dirty="0">
              <a:solidFill>
                <a:srgbClr val="00B050"/>
              </a:solidFill>
              <a:latin typeface="Arial" charset="0"/>
              <a:ea typeface="MS PGothic" charset="-128"/>
            </a:endParaRPr>
          </a:p>
        </p:txBody>
      </p:sp>
      <p:sp>
        <p:nvSpPr>
          <p:cNvPr id="79874" name="Rectangle 3"/>
          <p:cNvSpPr>
            <a:spLocks noGrp="1" noChangeArrowheads="1"/>
          </p:cNvSpPr>
          <p:nvPr>
            <p:ph idx="1"/>
          </p:nvPr>
        </p:nvSpPr>
        <p:spPr>
          <a:xfrm>
            <a:off x="1143000" y="1849582"/>
            <a:ext cx="5444836" cy="4779818"/>
          </a:xfrm>
        </p:spPr>
        <p:txBody>
          <a:bodyPr/>
          <a:lstStyle/>
          <a:p>
            <a:pPr eaLnBrk="1" hangingPunct="1">
              <a:lnSpc>
                <a:spcPct val="150000"/>
              </a:lnSpc>
            </a:pPr>
            <a:r>
              <a:rPr lang="en-US" altLang="en-US" dirty="0">
                <a:latin typeface="Arial" charset="0"/>
                <a:ea typeface="MS PGothic" charset="-128"/>
              </a:rPr>
              <a:t>H</a:t>
            </a:r>
            <a:r>
              <a:rPr lang="en-US" altLang="en-US" dirty="0" smtClean="0">
                <a:latin typeface="Arial" charset="0"/>
                <a:ea typeface="MS PGothic" charset="-128"/>
              </a:rPr>
              <a:t>ighlight</a:t>
            </a:r>
            <a:r>
              <a:rPr lang="en-US" altLang="en-US" dirty="0">
                <a:latin typeface="Arial" charset="0"/>
                <a:ea typeface="MS PGothic" charset="-128"/>
              </a:rPr>
              <a:t>:</a:t>
            </a:r>
          </a:p>
          <a:p>
            <a:pPr eaLnBrk="1" hangingPunct="1">
              <a:lnSpc>
                <a:spcPct val="150000"/>
              </a:lnSpc>
            </a:pPr>
            <a:r>
              <a:rPr lang="en-US" altLang="en-US" dirty="0">
                <a:latin typeface="Arial" charset="0"/>
                <a:ea typeface="MS PGothic" charset="-128"/>
              </a:rPr>
              <a:t>A) The key signifiers</a:t>
            </a:r>
          </a:p>
          <a:p>
            <a:pPr eaLnBrk="1" hangingPunct="1">
              <a:lnSpc>
                <a:spcPct val="150000"/>
              </a:lnSpc>
            </a:pPr>
            <a:r>
              <a:rPr lang="en-US" altLang="en-US" dirty="0">
                <a:latin typeface="Arial" charset="0"/>
                <a:ea typeface="MS PGothic" charset="-128"/>
              </a:rPr>
              <a:t>B) Their connotative meaning</a:t>
            </a:r>
          </a:p>
        </p:txBody>
      </p:sp>
      <p:pic>
        <p:nvPicPr>
          <p:cNvPr id="79875" name="Picture 4" descr="Burberry+Brit+for+women_AD_B7_AE_E6_A4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0"/>
            <a:ext cx="51069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TextBox 1"/>
          <p:cNvSpPr txBox="1">
            <a:spLocks noChangeArrowheads="1"/>
          </p:cNvSpPr>
          <p:nvPr/>
        </p:nvSpPr>
        <p:spPr bwMode="auto">
          <a:xfrm>
            <a:off x="7010400" y="257175"/>
            <a:ext cx="793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spcBef>
                <a:spcPct val="0"/>
              </a:spcBef>
              <a:buFontTx/>
              <a:buNone/>
            </a:pPr>
            <a:r>
              <a:rPr lang="en-US" altLang="en-US" sz="1800" b="1">
                <a:solidFill>
                  <a:srgbClr val="FF0000"/>
                </a:solidFill>
                <a:latin typeface="Arial" charset="0"/>
              </a:rPr>
              <a:t>A</a:t>
            </a:r>
          </a:p>
        </p:txBody>
      </p:sp>
    </p:spTree>
    <p:extLst>
      <p:ext uri="{BB962C8B-B14F-4D97-AF65-F5344CB8AC3E}">
        <p14:creationId xmlns:p14="http://schemas.microsoft.com/office/powerpoint/2010/main" val="18587844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p:nvPr>
        </p:nvSpPr>
        <p:spPr/>
        <p:txBody>
          <a:bodyPr/>
          <a:lstStyle/>
          <a:p>
            <a:endParaRPr lang="en-US" altLang="en-US">
              <a:ea typeface="MS PGothic" charset="-128"/>
            </a:endParaRPr>
          </a:p>
        </p:txBody>
      </p:sp>
      <p:pic>
        <p:nvPicPr>
          <p:cNvPr id="80898"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638800" y="274638"/>
            <a:ext cx="4572000" cy="6202362"/>
          </a:xfrm>
        </p:spPr>
      </p:pic>
      <p:sp>
        <p:nvSpPr>
          <p:cNvPr id="80899" name="TextBox 4"/>
          <p:cNvSpPr txBox="1">
            <a:spLocks noChangeArrowheads="1"/>
          </p:cNvSpPr>
          <p:nvPr/>
        </p:nvSpPr>
        <p:spPr bwMode="auto">
          <a:xfrm>
            <a:off x="5745164" y="381000"/>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spcBef>
                <a:spcPct val="0"/>
              </a:spcBef>
              <a:buFontTx/>
              <a:buNone/>
            </a:pPr>
            <a:r>
              <a:rPr lang="en-US" altLang="en-US" sz="1800" b="1">
                <a:solidFill>
                  <a:srgbClr val="FF0000"/>
                </a:solidFill>
                <a:latin typeface="Arial" charset="0"/>
              </a:rPr>
              <a:t>B</a:t>
            </a:r>
          </a:p>
        </p:txBody>
      </p:sp>
      <p:sp>
        <p:nvSpPr>
          <p:cNvPr id="80900" name="Rectangle 3"/>
          <p:cNvSpPr txBox="1">
            <a:spLocks noChangeArrowheads="1"/>
          </p:cNvSpPr>
          <p:nvPr/>
        </p:nvSpPr>
        <p:spPr bwMode="auto">
          <a:xfrm>
            <a:off x="609600" y="1295400"/>
            <a:ext cx="450056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lvl1pPr marL="342900" indent="-342900" defTabSz="457200">
              <a:spcBef>
                <a:spcPct val="20000"/>
              </a:spcBef>
              <a:buFont typeface="Arial" charset="0"/>
              <a:buChar char="•"/>
              <a:defRPr sz="3200">
                <a:solidFill>
                  <a:schemeClr val="tx1"/>
                </a:solidFill>
                <a:latin typeface="Calibri" charset="0"/>
                <a:ea typeface="MS PGothic" charset="-128"/>
              </a:defRPr>
            </a:lvl1pPr>
            <a:lvl2pPr marL="742950" indent="-285750" defTabSz="457200">
              <a:spcBef>
                <a:spcPct val="20000"/>
              </a:spcBef>
              <a:buFont typeface="Arial" charset="0"/>
              <a:buChar char="–"/>
              <a:defRPr sz="2800">
                <a:solidFill>
                  <a:schemeClr val="tx1"/>
                </a:solidFill>
                <a:latin typeface="Calibri" charset="0"/>
                <a:ea typeface="MS PGothic" charset="-128"/>
              </a:defRPr>
            </a:lvl2pPr>
            <a:lvl3pPr marL="1143000" indent="-228600" defTabSz="457200">
              <a:spcBef>
                <a:spcPct val="20000"/>
              </a:spcBef>
              <a:buFont typeface="Arial" charset="0"/>
              <a:buChar char="•"/>
              <a:defRPr sz="2400">
                <a:solidFill>
                  <a:schemeClr val="tx1"/>
                </a:solidFill>
                <a:latin typeface="Calibri" charset="0"/>
                <a:ea typeface="MS PGothic" charset="-128"/>
              </a:defRPr>
            </a:lvl3pPr>
            <a:lvl4pPr marL="1600200" indent="-228600" defTabSz="457200">
              <a:spcBef>
                <a:spcPct val="20000"/>
              </a:spcBef>
              <a:buFont typeface="Arial" charset="0"/>
              <a:buChar char="–"/>
              <a:defRPr sz="2000">
                <a:solidFill>
                  <a:schemeClr val="tx1"/>
                </a:solidFill>
                <a:latin typeface="Calibri" charset="0"/>
                <a:ea typeface="MS PGothic" charset="-128"/>
              </a:defRPr>
            </a:lvl4pPr>
            <a:lvl5pPr marL="2057400" indent="-228600" defTabSz="457200">
              <a:spcBef>
                <a:spcPct val="20000"/>
              </a:spcBef>
              <a:buFont typeface="Arial" charset="0"/>
              <a:buChar char="»"/>
              <a:defRPr sz="2000">
                <a:solidFill>
                  <a:schemeClr val="tx1"/>
                </a:solidFill>
                <a:latin typeface="Calibri" charset="0"/>
                <a:ea typeface="MS PGothic" charset="-128"/>
              </a:defRPr>
            </a:lvl5pPr>
            <a:lvl6pPr marL="2514600" indent="-228600" defTabSz="4572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defTabSz="4572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defTabSz="4572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defTabSz="4572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nSpc>
                <a:spcPct val="150000"/>
              </a:lnSpc>
            </a:pPr>
            <a:r>
              <a:rPr lang="en-US" altLang="en-US" dirty="0">
                <a:latin typeface="Arial" charset="0"/>
              </a:rPr>
              <a:t>Highlight:</a:t>
            </a:r>
          </a:p>
          <a:p>
            <a:pPr>
              <a:lnSpc>
                <a:spcPct val="150000"/>
              </a:lnSpc>
            </a:pPr>
            <a:r>
              <a:rPr lang="en-US" altLang="en-US" dirty="0">
                <a:latin typeface="Arial" charset="0"/>
              </a:rPr>
              <a:t>A) The key signifiers</a:t>
            </a:r>
          </a:p>
          <a:p>
            <a:pPr>
              <a:lnSpc>
                <a:spcPct val="150000"/>
              </a:lnSpc>
            </a:pPr>
            <a:r>
              <a:rPr lang="en-US" altLang="en-US" dirty="0">
                <a:latin typeface="Arial" charset="0"/>
              </a:rPr>
              <a:t>B) Their connotative meaning</a:t>
            </a:r>
          </a:p>
        </p:txBody>
      </p:sp>
    </p:spTree>
    <p:extLst>
      <p:ext uri="{BB962C8B-B14F-4D97-AF65-F5344CB8AC3E}">
        <p14:creationId xmlns:p14="http://schemas.microsoft.com/office/powerpoint/2010/main" val="11454533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5106" name="Group 2"/>
          <p:cNvGraphicFramePr>
            <a:graphicFrameLocks noGrp="1"/>
          </p:cNvGraphicFramePr>
          <p:nvPr/>
        </p:nvGraphicFramePr>
        <p:xfrm>
          <a:off x="2551113" y="-1585913"/>
          <a:ext cx="3816350" cy="517638"/>
        </p:xfrm>
        <a:graphic>
          <a:graphicData uri="http://schemas.openxmlformats.org/drawingml/2006/table">
            <a:tbl>
              <a:tblPr/>
              <a:tblGrid>
                <a:gridCol w="3608100"/>
                <a:gridCol w="208250"/>
              </a:tblGrid>
              <a:tr h="517525">
                <a:tc>
                  <a:txBody>
                    <a:bodyPr/>
                    <a:lstStyle>
                      <a:lvl1pPr>
                        <a:spcBef>
                          <a:spcPct val="20000"/>
                        </a:spcBef>
                        <a:buFont typeface="Arial" charset="0"/>
                        <a:defRPr sz="2800">
                          <a:solidFill>
                            <a:schemeClr val="tx1"/>
                          </a:solidFill>
                          <a:latin typeface="Calibri" charset="0"/>
                          <a:ea typeface="MS PGothic" charset="-128"/>
                        </a:defRPr>
                      </a:lvl1pPr>
                      <a:lvl2pPr marL="742950" indent="-285750">
                        <a:spcBef>
                          <a:spcPct val="20000"/>
                        </a:spcBef>
                        <a:buFont typeface="Arial" charset="0"/>
                        <a:defRPr sz="2400">
                          <a:solidFill>
                            <a:schemeClr val="tx1"/>
                          </a:solidFill>
                          <a:latin typeface="Calibri" charset="0"/>
                          <a:ea typeface="MS PGothic" charset="-128"/>
                        </a:defRPr>
                      </a:lvl2pPr>
                      <a:lvl3pPr marL="1143000" indent="-228600">
                        <a:spcBef>
                          <a:spcPct val="20000"/>
                        </a:spcBef>
                        <a:buFont typeface="Arial" charset="0"/>
                        <a:defRPr sz="2000">
                          <a:solidFill>
                            <a:schemeClr val="tx1"/>
                          </a:solidFill>
                          <a:latin typeface="Calibri" charset="0"/>
                          <a:ea typeface="MS PGothic" charset="-128"/>
                        </a:defRPr>
                      </a:lvl3pPr>
                      <a:lvl4pPr marL="1600200" indent="-228600">
                        <a:spcBef>
                          <a:spcPct val="20000"/>
                        </a:spcBef>
                        <a:buFont typeface="Arial" charset="0"/>
                        <a:defRPr>
                          <a:solidFill>
                            <a:schemeClr val="tx1"/>
                          </a:solidFill>
                          <a:latin typeface="Calibri" charset="0"/>
                          <a:ea typeface="MS PGothic" charset="-128"/>
                        </a:defRPr>
                      </a:lvl4pPr>
                      <a:lvl5pPr marL="2057400" indent="-228600">
                        <a:spcBef>
                          <a:spcPct val="20000"/>
                        </a:spcBef>
                        <a:buFont typeface="Arial" charset="0"/>
                        <a:defRPr>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defRPr>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defRPr>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defRPr>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defRPr>
                          <a:solidFill>
                            <a:schemeClr val="tx1"/>
                          </a:solidFill>
                          <a:latin typeface="Calibri" charset="0"/>
                          <a:ea typeface="MS PGothic"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900" b="0" i="0" u="none" strike="noStrike" cap="none" normalizeH="0" baseline="0">
                          <a:ln>
                            <a:noFill/>
                          </a:ln>
                          <a:solidFill>
                            <a:schemeClr val="tx1"/>
                          </a:solidFill>
                          <a:effectLst/>
                          <a:latin typeface="Arial" charset="0"/>
                          <a:ea typeface="MS PGothic" charset="-128"/>
                        </a:rPr>
                        <a:t>Slide Show</a:t>
                      </a:r>
                      <a:endParaRPr kumimoji="1" lang="en-US" altLang="zh-TW" sz="1100" b="0" i="0" u="none" strike="noStrike" cap="none" normalizeH="0" baseline="0">
                        <a:ln>
                          <a:noFill/>
                        </a:ln>
                        <a:solidFill>
                          <a:schemeClr val="tx1"/>
                        </a:solidFill>
                        <a:effectLst/>
                        <a:latin typeface="Arial" charset="0"/>
                        <a:ea typeface="MS PGothic"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TW" sz="1800" b="0" i="0" u="none" strike="noStrike" cap="none" normalizeH="0" baseline="0">
                          <a:ln>
                            <a:noFill/>
                          </a:ln>
                          <a:solidFill>
                            <a:schemeClr val="tx1"/>
                          </a:solidFill>
                          <a:effectLst/>
                          <a:latin typeface="Arial" charset="0"/>
                          <a:ea typeface="MS PGothic" charset="-128"/>
                        </a:rPr>
                        <a:t>  </a:t>
                      </a:r>
                      <a:r>
                        <a:rPr kumimoji="1" lang="en-US" altLang="zh-TW" sz="1000" b="0" i="0" u="none" strike="noStrike" cap="none" normalizeH="0" baseline="0">
                          <a:ln>
                            <a:noFill/>
                          </a:ln>
                          <a:solidFill>
                            <a:schemeClr val="tx1"/>
                          </a:solidFill>
                          <a:effectLst/>
                          <a:latin typeface="Arial" charset="0"/>
                          <a:ea typeface="MS PGothic" charset="-128"/>
                        </a:rPr>
                        <a:t> </a:t>
                      </a:r>
                      <a:r>
                        <a:rPr kumimoji="1" lang="en-US" altLang="zh-TW" sz="1800" b="0" i="0" u="none" strike="noStrike" cap="none" normalizeH="0" baseline="0">
                          <a:ln>
                            <a:noFill/>
                          </a:ln>
                          <a:solidFill>
                            <a:schemeClr val="tx1"/>
                          </a:solidFill>
                          <a:effectLst/>
                          <a:latin typeface="Arial" charset="0"/>
                          <a:ea typeface="MS PGothic" charset="-128"/>
                        </a:rPr>
                        <a:t>                                                  </a:t>
                      </a:r>
                    </a:p>
                  </a:txBody>
                  <a:tcPr marL="91425" marR="91425" marT="45459" marB="45459" anchor="ctr" horzOverflow="overflow">
                    <a:lnL>
                      <a:noFill/>
                    </a:lnL>
                    <a:lnR>
                      <a:noFill/>
                    </a:lnR>
                    <a:lnT>
                      <a:noFill/>
                    </a:lnT>
                    <a:lnB>
                      <a:noFill/>
                    </a:lnB>
                    <a:lnTlToBr>
                      <a:noFill/>
                    </a:lnTlToBr>
                    <a:lnBlToTr>
                      <a:noFill/>
                    </a:lnBlToTr>
                    <a:noFill/>
                  </a:tcPr>
                </a:tc>
                <a:tc>
                  <a:txBody>
                    <a:bodyPr/>
                    <a:lstStyle>
                      <a:lvl1pPr>
                        <a:spcBef>
                          <a:spcPct val="20000"/>
                        </a:spcBef>
                        <a:buFont typeface="Arial" charset="0"/>
                        <a:defRPr sz="2800">
                          <a:solidFill>
                            <a:schemeClr val="tx1"/>
                          </a:solidFill>
                          <a:latin typeface="Calibri" charset="0"/>
                          <a:ea typeface="MS PGothic" charset="-128"/>
                        </a:defRPr>
                      </a:lvl1pPr>
                      <a:lvl2pPr marL="742950" indent="-285750">
                        <a:spcBef>
                          <a:spcPct val="20000"/>
                        </a:spcBef>
                        <a:buFont typeface="Arial" charset="0"/>
                        <a:defRPr sz="2400">
                          <a:solidFill>
                            <a:schemeClr val="tx1"/>
                          </a:solidFill>
                          <a:latin typeface="Calibri" charset="0"/>
                          <a:ea typeface="MS PGothic" charset="-128"/>
                        </a:defRPr>
                      </a:lvl2pPr>
                      <a:lvl3pPr marL="1143000" indent="-228600">
                        <a:spcBef>
                          <a:spcPct val="20000"/>
                        </a:spcBef>
                        <a:buFont typeface="Arial" charset="0"/>
                        <a:defRPr sz="2000">
                          <a:solidFill>
                            <a:schemeClr val="tx1"/>
                          </a:solidFill>
                          <a:latin typeface="Calibri" charset="0"/>
                          <a:ea typeface="MS PGothic" charset="-128"/>
                        </a:defRPr>
                      </a:lvl3pPr>
                      <a:lvl4pPr marL="1600200" indent="-228600">
                        <a:spcBef>
                          <a:spcPct val="20000"/>
                        </a:spcBef>
                        <a:buFont typeface="Arial" charset="0"/>
                        <a:defRPr>
                          <a:solidFill>
                            <a:schemeClr val="tx1"/>
                          </a:solidFill>
                          <a:latin typeface="Calibri" charset="0"/>
                          <a:ea typeface="MS PGothic" charset="-128"/>
                        </a:defRPr>
                      </a:lvl4pPr>
                      <a:lvl5pPr marL="2057400" indent="-228600">
                        <a:spcBef>
                          <a:spcPct val="20000"/>
                        </a:spcBef>
                        <a:buFont typeface="Arial" charset="0"/>
                        <a:defRPr>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defRPr>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defRPr>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defRPr>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defRPr>
                          <a:solidFill>
                            <a:schemeClr val="tx1"/>
                          </a:solidFill>
                          <a:latin typeface="Calibri"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a:ln>
                          <a:noFill/>
                        </a:ln>
                        <a:solidFill>
                          <a:schemeClr val="tx1"/>
                        </a:solidFill>
                        <a:effectLst/>
                        <a:latin typeface="Arial" charset="0"/>
                        <a:ea typeface="MS PGothic" charset="-128"/>
                      </a:endParaRPr>
                    </a:p>
                  </a:txBody>
                  <a:tcPr marL="91425" marR="91425" marT="45459" marB="45459" anchor="ctr" horzOverflow="overflow">
                    <a:lnL>
                      <a:noFill/>
                    </a:lnL>
                    <a:lnR>
                      <a:noFill/>
                    </a:lnR>
                    <a:lnT>
                      <a:noFill/>
                    </a:lnT>
                    <a:lnB>
                      <a:noFill/>
                    </a:lnB>
                    <a:lnTlToBr>
                      <a:noFill/>
                    </a:lnTlToBr>
                    <a:lnBlToTr>
                      <a:noFill/>
                    </a:lnBlToTr>
                    <a:noFill/>
                  </a:tcPr>
                </a:tc>
              </a:tr>
            </a:tbl>
          </a:graphicData>
        </a:graphic>
      </p:graphicFrame>
      <p:pic>
        <p:nvPicPr>
          <p:cNvPr id="81925" name="Picture 9" descr="butt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1113" y="-1585913"/>
            <a:ext cx="327660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5114" name="Group 10"/>
          <p:cNvGraphicFramePr>
            <a:graphicFrameLocks noGrp="1"/>
          </p:cNvGraphicFramePr>
          <p:nvPr/>
        </p:nvGraphicFramePr>
        <p:xfrm>
          <a:off x="2551114" y="-1068388"/>
          <a:ext cx="3521075" cy="366713"/>
        </p:xfrm>
        <a:graphic>
          <a:graphicData uri="http://schemas.openxmlformats.org/drawingml/2006/table">
            <a:tbl>
              <a:tblPr/>
              <a:tblGrid>
                <a:gridCol w="3521075"/>
              </a:tblGrid>
              <a:tr h="366713">
                <a:tc>
                  <a:txBody>
                    <a:bodyPr/>
                    <a:lstStyle>
                      <a:lvl1pPr>
                        <a:spcBef>
                          <a:spcPct val="20000"/>
                        </a:spcBef>
                        <a:buFont typeface="Arial" charset="0"/>
                        <a:defRPr sz="2800">
                          <a:solidFill>
                            <a:schemeClr val="tx1"/>
                          </a:solidFill>
                          <a:latin typeface="Calibri" charset="0"/>
                          <a:ea typeface="MS PGothic" charset="-128"/>
                        </a:defRPr>
                      </a:lvl1pPr>
                      <a:lvl2pPr marL="742950" indent="-285750">
                        <a:spcBef>
                          <a:spcPct val="20000"/>
                        </a:spcBef>
                        <a:buFont typeface="Arial" charset="0"/>
                        <a:defRPr sz="2400">
                          <a:solidFill>
                            <a:schemeClr val="tx1"/>
                          </a:solidFill>
                          <a:latin typeface="Calibri" charset="0"/>
                          <a:ea typeface="MS PGothic" charset="-128"/>
                        </a:defRPr>
                      </a:lvl2pPr>
                      <a:lvl3pPr marL="1143000" indent="-228600">
                        <a:spcBef>
                          <a:spcPct val="20000"/>
                        </a:spcBef>
                        <a:buFont typeface="Arial" charset="0"/>
                        <a:defRPr sz="2000">
                          <a:solidFill>
                            <a:schemeClr val="tx1"/>
                          </a:solidFill>
                          <a:latin typeface="Calibri" charset="0"/>
                          <a:ea typeface="MS PGothic" charset="-128"/>
                        </a:defRPr>
                      </a:lvl3pPr>
                      <a:lvl4pPr marL="1600200" indent="-228600">
                        <a:spcBef>
                          <a:spcPct val="20000"/>
                        </a:spcBef>
                        <a:buFont typeface="Arial" charset="0"/>
                        <a:defRPr>
                          <a:solidFill>
                            <a:schemeClr val="tx1"/>
                          </a:solidFill>
                          <a:latin typeface="Calibri" charset="0"/>
                          <a:ea typeface="MS PGothic" charset="-128"/>
                        </a:defRPr>
                      </a:lvl4pPr>
                      <a:lvl5pPr marL="2057400" indent="-228600">
                        <a:spcBef>
                          <a:spcPct val="20000"/>
                        </a:spcBef>
                        <a:buFont typeface="Arial" charset="0"/>
                        <a:defRPr>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defRPr>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defRPr>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defRPr>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defRPr>
                          <a:solidFill>
                            <a:schemeClr val="tx1"/>
                          </a:solidFill>
                          <a:latin typeface="Calibri" charset="0"/>
                          <a:ea typeface="MS PGothic"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a:ln>
                            <a:noFill/>
                          </a:ln>
                          <a:solidFill>
                            <a:schemeClr val="tx1"/>
                          </a:solidFill>
                          <a:effectLst/>
                          <a:latin typeface="Arial" charset="0"/>
                          <a:ea typeface="MS PGothic" charset="-128"/>
                        </a:rPr>
                        <a:t>  </a:t>
                      </a:r>
                      <a:r>
                        <a:rPr kumimoji="1" lang="en-US" altLang="zh-TW" sz="1000" b="0" i="0" u="none" strike="noStrike" cap="none" normalizeH="0" baseline="0">
                          <a:ln>
                            <a:noFill/>
                          </a:ln>
                          <a:solidFill>
                            <a:schemeClr val="tx1"/>
                          </a:solidFill>
                          <a:effectLst/>
                          <a:latin typeface="Arial" charset="0"/>
                          <a:ea typeface="MS PGothic" charset="-128"/>
                        </a:rPr>
                        <a:t> </a:t>
                      </a:r>
                      <a:r>
                        <a:rPr kumimoji="1" lang="en-US" altLang="zh-TW" sz="1800" b="0" i="0" u="none" strike="noStrike" cap="none" normalizeH="0" baseline="0">
                          <a:ln>
                            <a:noFill/>
                          </a:ln>
                          <a:solidFill>
                            <a:schemeClr val="tx1"/>
                          </a:solidFill>
                          <a:effectLst/>
                          <a:latin typeface="Arial" charset="0"/>
                          <a:ea typeface="MS PGothic" charset="-128"/>
                        </a:rPr>
                        <a:t>                                                  </a:t>
                      </a:r>
                    </a:p>
                  </a:txBody>
                  <a:tcPr anchor="ctr" horzOverflow="overflow">
                    <a:lnL>
                      <a:noFill/>
                    </a:lnL>
                    <a:lnR>
                      <a:noFill/>
                    </a:lnR>
                    <a:lnT>
                      <a:noFill/>
                    </a:lnT>
                    <a:lnB>
                      <a:noFill/>
                    </a:lnB>
                    <a:lnTlToBr>
                      <a:noFill/>
                    </a:lnTlToBr>
                    <a:lnBlToTr>
                      <a:noFill/>
                    </a:lnBlToTr>
                    <a:noFill/>
                  </a:tcPr>
                </a:tc>
              </a:tr>
            </a:tbl>
          </a:graphicData>
        </a:graphic>
      </p:graphicFrame>
      <p:pic>
        <p:nvPicPr>
          <p:cNvPr id="81928" name="Picture 16" descr="butt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1113" y="-1585913"/>
            <a:ext cx="327660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5121" name="Group 17"/>
          <p:cNvGraphicFramePr>
            <a:graphicFrameLocks noGrp="1"/>
          </p:cNvGraphicFramePr>
          <p:nvPr/>
        </p:nvGraphicFramePr>
        <p:xfrm>
          <a:off x="2551113" y="-701675"/>
          <a:ext cx="207962" cy="517602"/>
        </p:xfrm>
        <a:graphic>
          <a:graphicData uri="http://schemas.openxmlformats.org/drawingml/2006/table">
            <a:tbl>
              <a:tblPr/>
              <a:tblGrid>
                <a:gridCol w="207962"/>
              </a:tblGrid>
              <a:tr h="517525">
                <a:tc>
                  <a:txBody>
                    <a:bodyPr/>
                    <a:lstStyle>
                      <a:lvl1pPr>
                        <a:spcBef>
                          <a:spcPct val="20000"/>
                        </a:spcBef>
                        <a:buFont typeface="Arial" charset="0"/>
                        <a:defRPr sz="2800">
                          <a:solidFill>
                            <a:schemeClr val="tx1"/>
                          </a:solidFill>
                          <a:latin typeface="Calibri" charset="0"/>
                          <a:ea typeface="MS PGothic" charset="-128"/>
                        </a:defRPr>
                      </a:lvl1pPr>
                      <a:lvl2pPr marL="742950" indent="-285750">
                        <a:spcBef>
                          <a:spcPct val="20000"/>
                        </a:spcBef>
                        <a:buFont typeface="Arial" charset="0"/>
                        <a:defRPr sz="2400">
                          <a:solidFill>
                            <a:schemeClr val="tx1"/>
                          </a:solidFill>
                          <a:latin typeface="Calibri" charset="0"/>
                          <a:ea typeface="MS PGothic" charset="-128"/>
                        </a:defRPr>
                      </a:lvl2pPr>
                      <a:lvl3pPr marL="1143000" indent="-228600">
                        <a:spcBef>
                          <a:spcPct val="20000"/>
                        </a:spcBef>
                        <a:buFont typeface="Arial" charset="0"/>
                        <a:defRPr sz="2000">
                          <a:solidFill>
                            <a:schemeClr val="tx1"/>
                          </a:solidFill>
                          <a:latin typeface="Calibri" charset="0"/>
                          <a:ea typeface="MS PGothic" charset="-128"/>
                        </a:defRPr>
                      </a:lvl3pPr>
                      <a:lvl4pPr marL="1600200" indent="-228600">
                        <a:spcBef>
                          <a:spcPct val="20000"/>
                        </a:spcBef>
                        <a:buFont typeface="Arial" charset="0"/>
                        <a:defRPr>
                          <a:solidFill>
                            <a:schemeClr val="tx1"/>
                          </a:solidFill>
                          <a:latin typeface="Calibri" charset="0"/>
                          <a:ea typeface="MS PGothic" charset="-128"/>
                        </a:defRPr>
                      </a:lvl4pPr>
                      <a:lvl5pPr marL="2057400" indent="-228600">
                        <a:spcBef>
                          <a:spcPct val="20000"/>
                        </a:spcBef>
                        <a:buFont typeface="Arial" charset="0"/>
                        <a:defRPr>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defRPr>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defRPr>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defRPr>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defRPr>
                          <a:solidFill>
                            <a:schemeClr val="tx1"/>
                          </a:solidFill>
                          <a:latin typeface="Calibri"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a:ln>
                          <a:noFill/>
                        </a:ln>
                        <a:solidFill>
                          <a:schemeClr val="tx1"/>
                        </a:solidFill>
                        <a:effectLst/>
                        <a:latin typeface="Arial" charset="0"/>
                        <a:ea typeface="ＭＳ Ｐゴシック" charset="-128"/>
                      </a:endParaRPr>
                    </a:p>
                  </a:txBody>
                  <a:tcPr marL="91281" marR="91281" marT="45441" marB="45441" anchor="ctr" horzOverflow="overflow">
                    <a:lnL>
                      <a:noFill/>
                    </a:lnL>
                    <a:lnR>
                      <a:noFill/>
                    </a:lnR>
                    <a:lnT>
                      <a:noFill/>
                    </a:lnT>
                    <a:lnB>
                      <a:noFill/>
                    </a:lnB>
                    <a:lnTlToBr>
                      <a:noFill/>
                    </a:lnTlToBr>
                    <a:lnBlToTr>
                      <a:noFill/>
                    </a:lnBlToTr>
                    <a:noFill/>
                  </a:tcPr>
                </a:tc>
              </a:tr>
            </a:tbl>
          </a:graphicData>
        </a:graphic>
      </p:graphicFrame>
      <p:pic>
        <p:nvPicPr>
          <p:cNvPr id="81931" name="Picture 23" descr="butt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688" y="-1397000"/>
            <a:ext cx="327660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32" name="Picture 24" descr="butt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688" y="-1022350"/>
            <a:ext cx="327660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29" name="Rectangle 25"/>
          <p:cNvSpPr>
            <a:spLocks noChangeArrowheads="1"/>
          </p:cNvSpPr>
          <p:nvPr/>
        </p:nvSpPr>
        <p:spPr bwMode="auto">
          <a:xfrm>
            <a:off x="207818" y="1981199"/>
            <a:ext cx="7031182" cy="5022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eaLnBrk="1" hangingPunct="1">
              <a:buFontTx/>
              <a:buBlip>
                <a:blip r:embed="rId3"/>
              </a:buBlip>
            </a:pPr>
            <a:endParaRPr kumimoji="1" lang="en-US" altLang="zh-TW" sz="2000" dirty="0">
              <a:latin typeface="Arial" charset="0"/>
              <a:ea typeface="PMingLiU" charset="-120"/>
            </a:endParaRPr>
          </a:p>
        </p:txBody>
      </p:sp>
      <p:pic>
        <p:nvPicPr>
          <p:cNvPr id="175130" name="Picture 26" descr="110866324_3891b720bf_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1" y="324991"/>
            <a:ext cx="4423640" cy="635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31" name="Rectangle 27"/>
          <p:cNvSpPr>
            <a:spLocks noChangeArrowheads="1"/>
          </p:cNvSpPr>
          <p:nvPr/>
        </p:nvSpPr>
        <p:spPr bwMode="auto">
          <a:xfrm>
            <a:off x="672703" y="809623"/>
            <a:ext cx="5694760" cy="505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buFontTx/>
              <a:buNone/>
            </a:pPr>
            <a:r>
              <a:rPr lang="en-US" altLang="zh-TW" dirty="0">
                <a:solidFill>
                  <a:srgbClr val="FF0000"/>
                </a:solidFill>
                <a:latin typeface="Arial" charset="0"/>
              </a:rPr>
              <a:t>Gender Representations in Advertising</a:t>
            </a:r>
          </a:p>
          <a:p>
            <a:pPr algn="ctr" eaLnBrk="1" hangingPunct="1">
              <a:buFontTx/>
              <a:buNone/>
            </a:pPr>
            <a:r>
              <a:rPr lang="en-US" altLang="zh-TW" b="1" dirty="0" err="1">
                <a:solidFill>
                  <a:srgbClr val="FF0000"/>
                </a:solidFill>
                <a:latin typeface="Arial" charset="0"/>
              </a:rPr>
              <a:t>Goffmans</a:t>
            </a:r>
            <a:r>
              <a:rPr lang="en-US" altLang="zh-TW" b="1" dirty="0">
                <a:solidFill>
                  <a:srgbClr val="FF0000"/>
                </a:solidFill>
                <a:latin typeface="Arial" charset="0"/>
              </a:rPr>
              <a:t> Theory (1972)</a:t>
            </a:r>
            <a:endParaRPr kumimoji="1" lang="en-US" altLang="zh-TW" dirty="0">
              <a:solidFill>
                <a:srgbClr val="FF0000"/>
              </a:solidFill>
              <a:latin typeface="Arial" charset="0"/>
            </a:endParaRPr>
          </a:p>
        </p:txBody>
      </p:sp>
    </p:spTree>
    <p:extLst>
      <p:ext uri="{BB962C8B-B14F-4D97-AF65-F5344CB8AC3E}">
        <p14:creationId xmlns:p14="http://schemas.microsoft.com/office/powerpoint/2010/main" val="1591277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51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51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499"/>
                                          </p:stCondLst>
                                        </p:cTn>
                                        <p:tgtEl>
                                          <p:spTgt spid="175129">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75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29" grpId="0" build="p" autoUpdateAnimBg="0"/>
      <p:bldP spid="175131"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1999" cy="6858000"/>
          </a:xfrm>
        </p:spPr>
        <p:txBody>
          <a:bodyPr>
            <a:normAutofit fontScale="92500" lnSpcReduction="10000"/>
          </a:bodyPr>
          <a:lstStyle/>
          <a:p>
            <a:pPr eaLnBrk="1" hangingPunct="1">
              <a:buFontTx/>
              <a:buBlip>
                <a:blip r:embed="rId2"/>
              </a:buBlip>
            </a:pPr>
            <a:r>
              <a:rPr lang="en-US" altLang="zh-TW" dirty="0" smtClean="0">
                <a:latin typeface="Arial" charset="0"/>
              </a:rPr>
              <a:t>In the portrayal of men and women, advertising often uses the following codes and conventions:</a:t>
            </a:r>
            <a:br>
              <a:rPr lang="en-US" altLang="zh-TW" dirty="0" smtClean="0">
                <a:latin typeface="Arial" charset="0"/>
              </a:rPr>
            </a:br>
            <a:endParaRPr lang="en-US" altLang="zh-TW" dirty="0" smtClean="0">
              <a:latin typeface="Times" charset="0"/>
              <a:ea typeface="PMingLiU" charset="-120"/>
            </a:endParaRPr>
          </a:p>
          <a:p>
            <a:pPr eaLnBrk="1" hangingPunct="1">
              <a:buFontTx/>
              <a:buBlip>
                <a:blip r:embed="rId2"/>
              </a:buBlip>
            </a:pPr>
            <a:r>
              <a:rPr lang="en-US" altLang="zh-TW" b="1" dirty="0" smtClean="0">
                <a:solidFill>
                  <a:srgbClr val="FF0000"/>
                </a:solidFill>
                <a:latin typeface="Arial" charset="0"/>
                <a:ea typeface="PMingLiU" charset="-120"/>
              </a:rPr>
              <a:t>Superiority, Domination &amp; Body Language:</a:t>
            </a:r>
            <a:r>
              <a:rPr lang="en-US" altLang="zh-TW" dirty="0" smtClean="0">
                <a:solidFill>
                  <a:srgbClr val="FF0000"/>
                </a:solidFill>
                <a:latin typeface="Arial" charset="0"/>
                <a:ea typeface="PMingLiU" charset="-120"/>
              </a:rPr>
              <a:t> Men are shown in dominant positions and appear to be reflective of thought and intelligence. Women are physically portrayed in sexual or reclining poses with blank or inviting expressions. </a:t>
            </a:r>
          </a:p>
          <a:p>
            <a:pPr eaLnBrk="1" hangingPunct="1">
              <a:buFontTx/>
              <a:buBlip>
                <a:blip r:embed="rId2"/>
              </a:buBlip>
            </a:pPr>
            <a:endParaRPr lang="en-US" altLang="zh-TW" dirty="0" smtClean="0">
              <a:latin typeface="Times" charset="0"/>
              <a:ea typeface="PMingLiU" charset="-120"/>
            </a:endParaRPr>
          </a:p>
          <a:p>
            <a:pPr eaLnBrk="1" hangingPunct="1">
              <a:buFontTx/>
              <a:buBlip>
                <a:blip r:embed="rId2"/>
              </a:buBlip>
            </a:pPr>
            <a:r>
              <a:rPr lang="en-US" altLang="zh-TW" b="1" dirty="0" smtClean="0">
                <a:latin typeface="Arial" charset="0"/>
                <a:ea typeface="PMingLiU" charset="-120"/>
              </a:rPr>
              <a:t>Dismemberment:</a:t>
            </a:r>
            <a:r>
              <a:rPr lang="en-US" altLang="zh-TW" dirty="0" smtClean="0">
                <a:latin typeface="Arial" charset="0"/>
                <a:ea typeface="PMingLiU" charset="-120"/>
              </a:rPr>
              <a:t> On females, parts of the body such as legs, chest, etc., are used, rather than the full body. This is often applied to sell products which are not related to the body, such as mobile phones (right) </a:t>
            </a:r>
          </a:p>
          <a:p>
            <a:pPr eaLnBrk="1" hangingPunct="1">
              <a:buFontTx/>
              <a:buBlip>
                <a:blip r:embed="rId2"/>
              </a:buBlip>
            </a:pPr>
            <a:endParaRPr lang="en-US" altLang="zh-TW" dirty="0" smtClean="0">
              <a:latin typeface="Times" charset="0"/>
              <a:ea typeface="PMingLiU" charset="-120"/>
            </a:endParaRPr>
          </a:p>
          <a:p>
            <a:pPr eaLnBrk="1" hangingPunct="1">
              <a:buFontTx/>
              <a:buBlip>
                <a:blip r:embed="rId2"/>
              </a:buBlip>
            </a:pPr>
            <a:r>
              <a:rPr lang="en-US" altLang="zh-TW" b="1" dirty="0" smtClean="0">
                <a:latin typeface="Arial" charset="0"/>
                <a:ea typeface="PMingLiU" charset="-120"/>
              </a:rPr>
              <a:t>The Voice-Over Authority:</a:t>
            </a:r>
            <a:r>
              <a:rPr lang="en-US" altLang="zh-TW" dirty="0" smtClean="0">
                <a:latin typeface="Arial" charset="0"/>
                <a:ea typeface="PMingLiU" charset="-120"/>
              </a:rPr>
              <a:t> In moving image advertisements, male voices are used as voice-over's in commercials rather than females. </a:t>
            </a:r>
            <a:endParaRPr kumimoji="1" lang="en-US" altLang="zh-TW" dirty="0" smtClean="0">
              <a:latin typeface="Arial" charset="0"/>
              <a:ea typeface="PMingLiU" charset="-120"/>
            </a:endParaRPr>
          </a:p>
          <a:p>
            <a:endParaRPr lang="en-US" dirty="0"/>
          </a:p>
        </p:txBody>
      </p:sp>
    </p:spTree>
    <p:extLst>
      <p:ext uri="{BB962C8B-B14F-4D97-AF65-F5344CB8AC3E}">
        <p14:creationId xmlns:p14="http://schemas.microsoft.com/office/powerpoint/2010/main" val="19793551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640419"/>
              </p:ext>
            </p:extLst>
          </p:nvPr>
        </p:nvGraphicFramePr>
        <p:xfrm>
          <a:off x="609600" y="325120"/>
          <a:ext cx="10972800" cy="5549900"/>
        </p:xfrm>
        <a:graphic>
          <a:graphicData uri="http://schemas.openxmlformats.org/drawingml/2006/table">
            <a:tbl>
              <a:tblPr firstRow="1" bandRow="1">
                <a:tableStyleId>{5C22544A-7EE6-4342-B048-85BDC9FD1C3A}</a:tableStyleId>
              </a:tblPr>
              <a:tblGrid>
                <a:gridCol w="3373120"/>
                <a:gridCol w="7599680"/>
              </a:tblGrid>
              <a:tr h="690880">
                <a:tc>
                  <a:txBody>
                    <a:bodyPr/>
                    <a:lstStyle/>
                    <a:p>
                      <a:r>
                        <a:rPr lang="en-US" sz="3200" dirty="0" smtClean="0"/>
                        <a:t>Advertisement </a:t>
                      </a:r>
                      <a:endParaRPr lang="en-US" sz="3200" dirty="0"/>
                    </a:p>
                  </a:txBody>
                  <a:tcPr/>
                </a:tc>
                <a:tc>
                  <a:txBody>
                    <a:bodyPr/>
                    <a:lstStyle/>
                    <a:p>
                      <a:endParaRPr lang="en-US" sz="2400"/>
                    </a:p>
                  </a:txBody>
                  <a:tcPr/>
                </a:tc>
              </a:tr>
              <a:tr h="370840">
                <a:tc>
                  <a:txBody>
                    <a:bodyPr/>
                    <a:lstStyle/>
                    <a:p>
                      <a:pPr>
                        <a:lnSpc>
                          <a:spcPct val="107000"/>
                        </a:lnSpc>
                        <a:spcAft>
                          <a:spcPts val="800"/>
                        </a:spcAft>
                      </a:pPr>
                      <a:r>
                        <a:rPr lang="en-US" sz="2400" dirty="0">
                          <a:effectLst/>
                        </a:rPr>
                        <a:t>German Coast Guard</a:t>
                      </a:r>
                      <a:endParaRPr lang="en-US" sz="2400" dirty="0">
                        <a:effectLst/>
                        <a:latin typeface="Calibri" charset="0"/>
                        <a:ea typeface="Calibri" charset="0"/>
                        <a:cs typeface="Times New Roman" charset="0"/>
                      </a:endParaRPr>
                    </a:p>
                  </a:txBody>
                  <a:tcPr marL="114300" marR="114300" marT="57150" marB="5715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hlinkClick r:id="rId2"/>
                        </a:rPr>
                        <a:t>https://www.youtube.com/watch?v=O7_s8JRiQqU&amp;gl=SG&amp;hl=en-GB</a:t>
                      </a:r>
                      <a:endParaRPr lang="en-US" sz="240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sz="2400" dirty="0" smtClean="0"/>
                    </a:p>
                  </a:txBody>
                  <a:tcPr/>
                </a:tc>
              </a:tr>
              <a:tr h="370840">
                <a:tc>
                  <a:txBody>
                    <a:bodyPr/>
                    <a:lstStyle/>
                    <a:p>
                      <a:pPr>
                        <a:lnSpc>
                          <a:spcPct val="107000"/>
                        </a:lnSpc>
                        <a:spcAft>
                          <a:spcPts val="800"/>
                        </a:spcAft>
                      </a:pPr>
                      <a:r>
                        <a:rPr lang="en-US" sz="2400" dirty="0">
                          <a:effectLst/>
                        </a:rPr>
                        <a:t>Embrace Life</a:t>
                      </a:r>
                      <a:endParaRPr lang="en-US" sz="2400" dirty="0">
                        <a:effectLst/>
                        <a:latin typeface="Calibri" charset="0"/>
                        <a:ea typeface="Calibri" charset="0"/>
                        <a:cs typeface="Times New Roman" charset="0"/>
                      </a:endParaRPr>
                    </a:p>
                  </a:txBody>
                  <a:tcPr marL="114300" marR="114300" marT="57150" marB="5715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hlinkClick r:id="rId3"/>
                        </a:rPr>
                        <a:t>https://www.youtube.com/watch?v=h-8PBx7isoM</a:t>
                      </a:r>
                      <a:endParaRPr lang="en-US" sz="240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sz="240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sz="2400" dirty="0" smtClean="0"/>
                    </a:p>
                  </a:txBody>
                  <a:tcPr/>
                </a:tc>
              </a:tr>
              <a:tr h="129286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191B0E"/>
                          </a:solidFill>
                          <a:effectLst/>
                          <a:uLnTx/>
                          <a:uFillTx/>
                          <a:latin typeface="Franklin Gothic Book" panose="020B0503020102020204"/>
                          <a:ea typeface="+mn-ea"/>
                          <a:cs typeface="+mn-cs"/>
                        </a:rPr>
                        <a:t>MTV Global Warming</a:t>
                      </a:r>
                      <a:endParaRPr lang="en-US" sz="2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hlinkClick r:id="rId4"/>
                        </a:rPr>
                        <a:t>https://www.youtube.com/watch?v=AhxZSs8aMNE</a:t>
                      </a:r>
                      <a:endParaRPr lang="en-US" sz="240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sz="2400" dirty="0" smtClean="0"/>
                    </a:p>
                    <a:p>
                      <a:endParaRPr lang="en-US" sz="2400" dirty="0" smtClean="0"/>
                    </a:p>
                  </a:txBody>
                  <a:tcPr/>
                </a:tc>
              </a:tr>
              <a:tr h="370840">
                <a:tc>
                  <a:txBody>
                    <a:bodyPr/>
                    <a:lstStyle/>
                    <a:p>
                      <a:r>
                        <a:rPr lang="en-US" sz="2400" dirty="0" smtClean="0"/>
                        <a:t>Party All Night </a:t>
                      </a:r>
                      <a:endParaRPr lang="en-US" sz="2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hlinkClick r:id="rId5"/>
                        </a:rPr>
                        <a:t>https://www.youtube.com/watch?v=FHDKHKixKdY</a:t>
                      </a:r>
                      <a:endParaRPr lang="en-US" sz="240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sz="2400" dirty="0" smtClean="0"/>
                    </a:p>
                    <a:p>
                      <a:endParaRPr lang="en-US" sz="2400" dirty="0"/>
                    </a:p>
                  </a:txBody>
                  <a:tcPr/>
                </a:tc>
              </a:tr>
            </a:tbl>
          </a:graphicData>
        </a:graphic>
      </p:graphicFrame>
    </p:spTree>
    <p:extLst>
      <p:ext uri="{BB962C8B-B14F-4D97-AF65-F5344CB8AC3E}">
        <p14:creationId xmlns:p14="http://schemas.microsoft.com/office/powerpoint/2010/main" val="10179155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87268" y="144426"/>
          <a:ext cx="11870413" cy="6427491"/>
        </p:xfrm>
        <a:graphic>
          <a:graphicData uri="http://schemas.openxmlformats.org/drawingml/2006/table">
            <a:tbl>
              <a:tblPr firstRow="1" firstCol="1" bandRow="1">
                <a:tableStyleId>{5C22544A-7EE6-4342-B048-85BDC9FD1C3A}</a:tableStyleId>
              </a:tblPr>
              <a:tblGrid>
                <a:gridCol w="2549378"/>
                <a:gridCol w="9321035"/>
              </a:tblGrid>
              <a:tr h="720111">
                <a:tc>
                  <a:txBody>
                    <a:bodyPr/>
                    <a:lstStyle/>
                    <a:p>
                      <a:pPr>
                        <a:lnSpc>
                          <a:spcPct val="107000"/>
                        </a:lnSpc>
                        <a:spcAft>
                          <a:spcPts val="800"/>
                        </a:spcAft>
                      </a:pPr>
                      <a:r>
                        <a:rPr lang="en-US" sz="2400">
                          <a:effectLst/>
                        </a:rPr>
                        <a:t>Advertisement</a:t>
                      </a:r>
                      <a:endParaRPr lang="en-US" sz="2400">
                        <a:effectLst/>
                        <a:latin typeface="Calibri" charset="0"/>
                        <a:ea typeface="Calibri" charset="0"/>
                        <a:cs typeface="Times New Roman" charset="0"/>
                      </a:endParaRPr>
                    </a:p>
                  </a:txBody>
                  <a:tcPr marL="114300" marR="114300" marT="57150" marB="57150" anchor="ctr"/>
                </a:tc>
                <a:tc>
                  <a:txBody>
                    <a:bodyPr/>
                    <a:lstStyle/>
                    <a:p>
                      <a:pPr>
                        <a:lnSpc>
                          <a:spcPct val="107000"/>
                        </a:lnSpc>
                        <a:spcAft>
                          <a:spcPts val="800"/>
                        </a:spcAft>
                      </a:pPr>
                      <a:r>
                        <a:rPr lang="en-US" sz="2400" dirty="0">
                          <a:effectLst/>
                        </a:rPr>
                        <a:t>What kinds of advertising techniques are used and to what effects?</a:t>
                      </a:r>
                      <a:endParaRPr lang="en-US" sz="2400" dirty="0">
                        <a:effectLst/>
                        <a:latin typeface="Calibri" charset="0"/>
                        <a:ea typeface="Calibri" charset="0"/>
                        <a:cs typeface="Times New Roman" charset="0"/>
                      </a:endParaRPr>
                    </a:p>
                  </a:txBody>
                  <a:tcPr marL="114300" marR="114300" marT="57150" marB="57150" anchor="ctr"/>
                </a:tc>
              </a:tr>
              <a:tr h="2662431">
                <a:tc>
                  <a:txBody>
                    <a:bodyPr/>
                    <a:lstStyle/>
                    <a:p>
                      <a:pPr>
                        <a:lnSpc>
                          <a:spcPct val="107000"/>
                        </a:lnSpc>
                        <a:spcAft>
                          <a:spcPts val="800"/>
                        </a:spcAft>
                      </a:pPr>
                      <a:r>
                        <a:rPr lang="en-US" sz="2800" dirty="0">
                          <a:effectLst/>
                        </a:rPr>
                        <a:t>German Coast Guard</a:t>
                      </a:r>
                      <a:endParaRPr lang="en-US" sz="2800" dirty="0">
                        <a:effectLst/>
                        <a:latin typeface="Calibri" charset="0"/>
                        <a:ea typeface="Calibri" charset="0"/>
                        <a:cs typeface="Times New Roman" charset="0"/>
                      </a:endParaRPr>
                    </a:p>
                  </a:txBody>
                  <a:tcPr marL="114300" marR="114300" marT="57150" marB="57150" anchor="ctr"/>
                </a:tc>
                <a:tc>
                  <a:txBody>
                    <a:bodyPr/>
                    <a:lstStyle/>
                    <a:p>
                      <a:pPr>
                        <a:lnSpc>
                          <a:spcPct val="107000"/>
                        </a:lnSpc>
                        <a:spcAft>
                          <a:spcPts val="800"/>
                        </a:spcAft>
                      </a:pPr>
                      <a:r>
                        <a:rPr lang="en-US" sz="2800" dirty="0">
                          <a:effectLst/>
                        </a:rPr>
                        <a:t>Humor - This ad relies heavily on humor. The joke lies in the misunderstanding between the coast guard man and the sailor aboard the 'sinking' boat. Humor makes the ad memorable. </a:t>
                      </a:r>
                      <a:br>
                        <a:rPr lang="en-US" sz="2800" dirty="0">
                          <a:effectLst/>
                        </a:rPr>
                      </a:br>
                      <a:r>
                        <a:rPr lang="en-US" sz="2800" dirty="0">
                          <a:effectLst/>
                        </a:rPr>
                        <a:t>Problem / benefit - This ad shows what kinds of problems can arise when people do not understand each other. Learning English is the solution to this problem.</a:t>
                      </a:r>
                      <a:endParaRPr lang="en-US" sz="2800" dirty="0">
                        <a:effectLst/>
                        <a:latin typeface="Calibri" charset="0"/>
                        <a:ea typeface="Calibri" charset="0"/>
                        <a:cs typeface="Times New Roman" charset="0"/>
                      </a:endParaRPr>
                    </a:p>
                  </a:txBody>
                  <a:tcPr marL="114300" marR="114300" marT="57150" marB="57150" anchor="ctr"/>
                </a:tc>
              </a:tr>
              <a:tr h="2662431">
                <a:tc>
                  <a:txBody>
                    <a:bodyPr/>
                    <a:lstStyle/>
                    <a:p>
                      <a:pPr>
                        <a:lnSpc>
                          <a:spcPct val="107000"/>
                        </a:lnSpc>
                        <a:spcAft>
                          <a:spcPts val="800"/>
                        </a:spcAft>
                      </a:pPr>
                      <a:r>
                        <a:rPr lang="en-US" sz="2800" dirty="0">
                          <a:effectLst/>
                        </a:rPr>
                        <a:t>Embrace Life</a:t>
                      </a:r>
                      <a:endParaRPr lang="en-US" sz="2800" dirty="0">
                        <a:effectLst/>
                        <a:latin typeface="Calibri" charset="0"/>
                        <a:ea typeface="Calibri" charset="0"/>
                        <a:cs typeface="Times New Roman" charset="0"/>
                      </a:endParaRPr>
                    </a:p>
                  </a:txBody>
                  <a:tcPr marL="114300" marR="114300" marT="57150" marB="57150" anchor="ctr"/>
                </a:tc>
                <a:tc>
                  <a:txBody>
                    <a:bodyPr/>
                    <a:lstStyle/>
                    <a:p>
                      <a:pPr>
                        <a:lnSpc>
                          <a:spcPct val="107000"/>
                        </a:lnSpc>
                        <a:spcAft>
                          <a:spcPts val="800"/>
                        </a:spcAft>
                      </a:pPr>
                      <a:r>
                        <a:rPr lang="en-US" sz="2800" dirty="0">
                          <a:effectLst/>
                        </a:rPr>
                        <a:t>Fear - The expressions on the child and mother's face are scared, as they watch their father crash is make-believe car. They scare the audience into wearing their seatbelt.</a:t>
                      </a:r>
                      <a:br>
                        <a:rPr lang="en-US" sz="2800" dirty="0">
                          <a:effectLst/>
                        </a:rPr>
                      </a:br>
                      <a:r>
                        <a:rPr lang="en-US" sz="2800" dirty="0">
                          <a:effectLst/>
                        </a:rPr>
                        <a:t>Problem / benefit - If you want to prevent your loved ones from getting hurt or killed in a car accident, encourage them to buckle up. The benefit is that you keep your loved one. </a:t>
                      </a:r>
                      <a:endParaRPr lang="en-US" sz="2800" dirty="0">
                        <a:effectLst/>
                        <a:latin typeface="Calibri" charset="0"/>
                        <a:ea typeface="Calibri" charset="0"/>
                        <a:cs typeface="Times New Roman" charset="0"/>
                      </a:endParaRPr>
                    </a:p>
                  </a:txBody>
                  <a:tcPr marL="114300" marR="114300" marT="57150" marB="57150" anchor="ctr"/>
                </a:tc>
              </a:tr>
            </a:tbl>
          </a:graphicData>
        </a:graphic>
      </p:graphicFrame>
    </p:spTree>
    <p:extLst>
      <p:ext uri="{BB962C8B-B14F-4D97-AF65-F5344CB8AC3E}">
        <p14:creationId xmlns:p14="http://schemas.microsoft.com/office/powerpoint/2010/main" val="14987932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25277" y="593428"/>
          <a:ext cx="11854913" cy="5729879"/>
        </p:xfrm>
        <a:graphic>
          <a:graphicData uri="http://schemas.openxmlformats.org/drawingml/2006/table">
            <a:tbl>
              <a:tblPr firstRow="1" firstCol="1" bandRow="1">
                <a:tableStyleId>{5C22544A-7EE6-4342-B048-85BDC9FD1C3A}</a:tableStyleId>
              </a:tblPr>
              <a:tblGrid>
                <a:gridCol w="3195963"/>
                <a:gridCol w="8658950"/>
              </a:tblGrid>
              <a:tr h="1960288">
                <a:tc>
                  <a:txBody>
                    <a:bodyPr/>
                    <a:lstStyle/>
                    <a:p>
                      <a:pPr>
                        <a:lnSpc>
                          <a:spcPct val="107000"/>
                        </a:lnSpc>
                        <a:spcAft>
                          <a:spcPts val="800"/>
                        </a:spcAft>
                      </a:pPr>
                      <a:r>
                        <a:rPr lang="en-US" sz="2800" dirty="0">
                          <a:effectLst/>
                        </a:rPr>
                        <a:t>MTV global warming ad</a:t>
                      </a:r>
                      <a:endParaRPr lang="en-US" sz="2800" dirty="0">
                        <a:effectLst/>
                        <a:latin typeface="Calibri" charset="0"/>
                        <a:ea typeface="Calibri" charset="0"/>
                        <a:cs typeface="Times New Roman" charset="0"/>
                      </a:endParaRPr>
                    </a:p>
                  </a:txBody>
                  <a:tcPr marL="114300" marR="114300" marT="57150" marB="57150" anchor="ctr"/>
                </a:tc>
                <a:tc>
                  <a:txBody>
                    <a:bodyPr/>
                    <a:lstStyle/>
                    <a:p>
                      <a:pPr>
                        <a:lnSpc>
                          <a:spcPct val="107000"/>
                        </a:lnSpc>
                        <a:spcAft>
                          <a:spcPts val="800"/>
                        </a:spcAft>
                      </a:pPr>
                      <a:r>
                        <a:rPr lang="en-US" sz="2800" b="0" dirty="0">
                          <a:solidFill>
                            <a:schemeClr val="tx1"/>
                          </a:solidFill>
                          <a:effectLst/>
                        </a:rPr>
                        <a:t>Fear - The ad scares us about the consequences of global warming. Planet Earth is at first very pristine but eventually very polluted.</a:t>
                      </a:r>
                      <a:endParaRPr lang="en-US" sz="2800" b="0" dirty="0">
                        <a:solidFill>
                          <a:schemeClr val="tx1"/>
                        </a:solidFill>
                        <a:effectLst/>
                        <a:latin typeface="Calibri" charset="0"/>
                        <a:ea typeface="Calibri" charset="0"/>
                        <a:cs typeface="Times New Roman" charset="0"/>
                      </a:endParaRPr>
                    </a:p>
                  </a:txBody>
                  <a:tcPr marL="114300" marR="114300" marT="57150" marB="57150" anchor="ctr">
                    <a:solidFill>
                      <a:schemeClr val="accent5">
                        <a:lumMod val="20000"/>
                        <a:lumOff val="80000"/>
                      </a:schemeClr>
                    </a:solidFill>
                  </a:tcPr>
                </a:tc>
              </a:tr>
              <a:tr h="3769591">
                <a:tc>
                  <a:txBody>
                    <a:bodyPr/>
                    <a:lstStyle/>
                    <a:p>
                      <a:pPr>
                        <a:lnSpc>
                          <a:spcPct val="107000"/>
                        </a:lnSpc>
                        <a:spcAft>
                          <a:spcPts val="800"/>
                        </a:spcAft>
                      </a:pPr>
                      <a:r>
                        <a:rPr lang="en-US" sz="2800">
                          <a:effectLst/>
                        </a:rPr>
                        <a:t>Party All Night</a:t>
                      </a:r>
                      <a:endParaRPr lang="en-US" sz="2800">
                        <a:effectLst/>
                        <a:latin typeface="Calibri" charset="0"/>
                        <a:ea typeface="Calibri" charset="0"/>
                        <a:cs typeface="Times New Roman" charset="0"/>
                      </a:endParaRPr>
                    </a:p>
                  </a:txBody>
                  <a:tcPr marL="114300" marR="114300" marT="57150" marB="57150" anchor="ctr"/>
                </a:tc>
                <a:tc>
                  <a:txBody>
                    <a:bodyPr/>
                    <a:lstStyle/>
                    <a:p>
                      <a:pPr>
                        <a:lnSpc>
                          <a:spcPct val="107000"/>
                        </a:lnSpc>
                        <a:spcAft>
                          <a:spcPts val="800"/>
                        </a:spcAft>
                      </a:pPr>
                      <a:r>
                        <a:rPr lang="en-US" sz="2800" dirty="0">
                          <a:effectLst/>
                        </a:rPr>
                        <a:t>Fear - This ad uses fear to warn young adults about the effects of cocaine. We see the girl deteriorating throughout the evening, ending up at the wrong places with the wrong people</a:t>
                      </a:r>
                      <a:br>
                        <a:rPr lang="en-US" sz="2800" dirty="0">
                          <a:effectLst/>
                        </a:rPr>
                      </a:br>
                      <a:r>
                        <a:rPr lang="en-US" sz="2800" dirty="0">
                          <a:effectLst/>
                        </a:rPr>
                        <a:t>Testimonial - The ad follows one girl. It is her story, which is meant to convince us to stay off drugs. </a:t>
                      </a:r>
                      <a:endParaRPr lang="en-US" sz="2800" dirty="0">
                        <a:effectLst/>
                        <a:latin typeface="Calibri" charset="0"/>
                        <a:ea typeface="Calibri" charset="0"/>
                        <a:cs typeface="Times New Roman" charset="0"/>
                      </a:endParaRPr>
                    </a:p>
                  </a:txBody>
                  <a:tcPr marL="114300" marR="114300" marT="57150" marB="57150" anchor="ctr"/>
                </a:tc>
              </a:tr>
            </a:tbl>
          </a:graphicData>
        </a:graphic>
      </p:graphicFrame>
    </p:spTree>
    <p:extLst>
      <p:ext uri="{BB962C8B-B14F-4D97-AF65-F5344CB8AC3E}">
        <p14:creationId xmlns:p14="http://schemas.microsoft.com/office/powerpoint/2010/main" val="2356625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512736" y="0"/>
          <a:ext cx="11157488" cy="6793593"/>
        </p:xfrm>
        <a:graphic>
          <a:graphicData uri="http://schemas.openxmlformats.org/drawingml/2006/table">
            <a:tbl>
              <a:tblPr firstRow="1" firstCol="1" bandRow="1">
                <a:tableStyleId>{5C22544A-7EE6-4342-B048-85BDC9FD1C3A}</a:tableStyleId>
              </a:tblPr>
              <a:tblGrid>
                <a:gridCol w="2218617"/>
                <a:gridCol w="8938871"/>
              </a:tblGrid>
              <a:tr h="2593494">
                <a:tc>
                  <a:txBody>
                    <a:bodyPr/>
                    <a:lstStyle/>
                    <a:p>
                      <a:pPr>
                        <a:lnSpc>
                          <a:spcPct val="107000"/>
                        </a:lnSpc>
                        <a:spcAft>
                          <a:spcPts val="800"/>
                        </a:spcAft>
                      </a:pPr>
                      <a:r>
                        <a:rPr lang="en-US" sz="2800" dirty="0">
                          <a:effectLst/>
                        </a:rPr>
                        <a:t>Pro-Aging</a:t>
                      </a:r>
                      <a:endParaRPr lang="en-US" sz="2800" dirty="0">
                        <a:effectLst/>
                        <a:latin typeface="Calibri" charset="0"/>
                        <a:ea typeface="Calibri" charset="0"/>
                        <a:cs typeface="Times New Roman" charset="0"/>
                      </a:endParaRPr>
                    </a:p>
                  </a:txBody>
                  <a:tcPr marL="114300" marR="114300" marT="57150" marB="57150" anchor="ctr"/>
                </a:tc>
                <a:tc>
                  <a:txBody>
                    <a:bodyPr/>
                    <a:lstStyle/>
                    <a:p>
                      <a:pPr>
                        <a:lnSpc>
                          <a:spcPct val="107000"/>
                        </a:lnSpc>
                        <a:spcAft>
                          <a:spcPts val="800"/>
                        </a:spcAft>
                      </a:pPr>
                      <a:r>
                        <a:rPr lang="en-US" sz="2800" b="0" dirty="0">
                          <a:solidFill>
                            <a:schemeClr val="tx1"/>
                          </a:solidFill>
                          <a:effectLst/>
                        </a:rPr>
                        <a:t>Anti-advertising - The copy reads: 'Too old to be in an ad'. Ironically this is an ad and older women are in it. This Dove ad comments on the false reality that advertisers present to the public and targets a demographic group that is rarely targeted by ads: older </a:t>
                      </a:r>
                      <a:r>
                        <a:rPr lang="en-US" sz="2800" b="0">
                          <a:solidFill>
                            <a:schemeClr val="tx1"/>
                          </a:solidFill>
                          <a:effectLst/>
                        </a:rPr>
                        <a:t>women</a:t>
                      </a:r>
                      <a:r>
                        <a:rPr lang="en-US" sz="2800" b="0" smtClean="0">
                          <a:solidFill>
                            <a:schemeClr val="tx1"/>
                          </a:solidFill>
                          <a:effectLst/>
                        </a:rPr>
                        <a:t>.</a:t>
                      </a:r>
                    </a:p>
                    <a:p>
                      <a:pPr>
                        <a:lnSpc>
                          <a:spcPct val="107000"/>
                        </a:lnSpc>
                        <a:spcAft>
                          <a:spcPts val="800"/>
                        </a:spcAft>
                      </a:pPr>
                      <a:endParaRPr lang="en-US" sz="2800" b="0" dirty="0">
                        <a:solidFill>
                          <a:schemeClr val="tx1"/>
                        </a:solidFill>
                        <a:effectLst/>
                        <a:latin typeface="Calibri" charset="0"/>
                        <a:ea typeface="Calibri" charset="0"/>
                        <a:cs typeface="Times New Roman" charset="0"/>
                      </a:endParaRPr>
                    </a:p>
                  </a:txBody>
                  <a:tcPr marL="114300" marR="114300" marT="57150" marB="57150" anchor="ctr">
                    <a:solidFill>
                      <a:schemeClr val="accent5">
                        <a:lumMod val="20000"/>
                        <a:lumOff val="80000"/>
                      </a:schemeClr>
                    </a:solidFill>
                  </a:tcPr>
                </a:tc>
              </a:tr>
              <a:tr h="3838303">
                <a:tc>
                  <a:txBody>
                    <a:bodyPr/>
                    <a:lstStyle/>
                    <a:p>
                      <a:pPr>
                        <a:lnSpc>
                          <a:spcPct val="107000"/>
                        </a:lnSpc>
                        <a:spcAft>
                          <a:spcPts val="800"/>
                        </a:spcAft>
                      </a:pPr>
                      <a:r>
                        <a:rPr lang="en-US" sz="2800" dirty="0" err="1">
                          <a:effectLst/>
                        </a:rPr>
                        <a:t>UnHate</a:t>
                      </a:r>
                      <a:endParaRPr lang="en-US" sz="2800" dirty="0">
                        <a:effectLst/>
                        <a:latin typeface="Calibri" charset="0"/>
                        <a:ea typeface="Calibri" charset="0"/>
                        <a:cs typeface="Times New Roman" charset="0"/>
                      </a:endParaRPr>
                    </a:p>
                  </a:txBody>
                  <a:tcPr marL="114300" marR="114300" marT="57150" marB="57150" anchor="ctr"/>
                </a:tc>
                <a:tc>
                  <a:txBody>
                    <a:bodyPr/>
                    <a:lstStyle/>
                    <a:p>
                      <a:pPr>
                        <a:lnSpc>
                          <a:spcPct val="107000"/>
                        </a:lnSpc>
                        <a:spcAft>
                          <a:spcPts val="800"/>
                        </a:spcAft>
                      </a:pPr>
                      <a:r>
                        <a:rPr lang="en-US" sz="2800" dirty="0">
                          <a:effectLst/>
                        </a:rPr>
                        <a:t>Shock - The sight of men kissing and Muslim women kissing is very shocking for a lot of people.</a:t>
                      </a:r>
                      <a:br>
                        <a:rPr lang="en-US" sz="2800" dirty="0">
                          <a:effectLst/>
                        </a:rPr>
                      </a:br>
                      <a:r>
                        <a:rPr lang="en-US" sz="2800" dirty="0">
                          <a:effectLst/>
                        </a:rPr>
                        <a:t>Conflict - There are physical conflicts in this film that catch our attention and startle the audience. These are resolved, as we have a tendency to want to see conflicts resolved.</a:t>
                      </a:r>
                      <a:br>
                        <a:rPr lang="en-US" sz="2800" dirty="0">
                          <a:effectLst/>
                        </a:rPr>
                      </a:br>
                      <a:r>
                        <a:rPr lang="en-US" sz="2800" dirty="0">
                          <a:effectLst/>
                        </a:rPr>
                        <a:t>Bandwagon effect - Everyone seems to be joining in the celebration of love. People begin kissing and dancing. This joy seems to be contagious. </a:t>
                      </a:r>
                      <a:endParaRPr lang="en-US" sz="2800" dirty="0">
                        <a:effectLst/>
                        <a:latin typeface="Calibri" charset="0"/>
                        <a:ea typeface="Calibri" charset="0"/>
                        <a:cs typeface="Times New Roman" charset="0"/>
                      </a:endParaRPr>
                    </a:p>
                  </a:txBody>
                  <a:tcPr marL="114300" marR="114300" marT="57150" marB="57150" anchor="ctr"/>
                </a:tc>
              </a:tr>
            </a:tbl>
          </a:graphicData>
        </a:graphic>
      </p:graphicFrame>
    </p:spTree>
    <p:extLst>
      <p:ext uri="{BB962C8B-B14F-4D97-AF65-F5344CB8AC3E}">
        <p14:creationId xmlns:p14="http://schemas.microsoft.com/office/powerpoint/2010/main" val="8202462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r>
              <a:rPr lang="en-US" sz="3600" b="1" dirty="0" smtClean="0">
                <a:solidFill>
                  <a:srgbClr val="000000"/>
                </a:solidFill>
                <a:latin typeface="Calibri" charset="0"/>
                <a:ea typeface="MS Mincho" charset="-128"/>
                <a:cs typeface="MS Mincho" charset="-128"/>
              </a:rPr>
              <a:t>Reading: Goffman’s Theory docs on </a:t>
            </a:r>
            <a:r>
              <a:rPr lang="en-US" sz="3600" b="1" dirty="0" err="1" smtClean="0">
                <a:solidFill>
                  <a:srgbClr val="000000"/>
                </a:solidFill>
                <a:latin typeface="Calibri" charset="0"/>
                <a:ea typeface="MS Mincho" charset="-128"/>
                <a:cs typeface="MS Mincho" charset="-128"/>
              </a:rPr>
              <a:t>Managebac</a:t>
            </a:r>
            <a:r>
              <a:rPr lang="en-US" sz="3600" b="1" dirty="0" smtClean="0">
                <a:solidFill>
                  <a:srgbClr val="000000"/>
                </a:solidFill>
                <a:latin typeface="Calibri" charset="0"/>
                <a:ea typeface="MS Mincho" charset="-128"/>
                <a:cs typeface="MS Mincho" charset="-128"/>
              </a:rPr>
              <a:t>.</a:t>
            </a: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spTree>
    <p:extLst>
      <p:ext uri="{BB962C8B-B14F-4D97-AF65-F5344CB8AC3E}">
        <p14:creationId xmlns:p14="http://schemas.microsoft.com/office/powerpoint/2010/main" val="6633204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smtClean="0">
                <a:solidFill>
                  <a:schemeClr val="bg1"/>
                </a:solidFill>
                <a:latin typeface="+mn-lt"/>
              </a:rPr>
              <a:t>IB English Language and Literature</a:t>
            </a:r>
            <a:br>
              <a:rPr lang="en-US" b="1" dirty="0" smtClean="0">
                <a:solidFill>
                  <a:schemeClr val="bg1"/>
                </a:solidFill>
                <a:latin typeface="+mn-lt"/>
              </a:rPr>
            </a:br>
            <a:r>
              <a:rPr lang="en-US" b="1" dirty="0" smtClean="0">
                <a:solidFill>
                  <a:schemeClr val="bg1"/>
                </a:solidFill>
                <a:latin typeface="+mn-lt"/>
              </a:rPr>
              <a:t>6 ELL SL 4</a:t>
            </a:r>
            <a:br>
              <a:rPr lang="en-US" b="1" dirty="0" smtClean="0">
                <a:solidFill>
                  <a:schemeClr val="bg1"/>
                </a:solidFill>
                <a:latin typeface="+mn-lt"/>
              </a:rPr>
            </a:br>
            <a:r>
              <a:rPr lang="en-US" b="1" dirty="0" smtClean="0">
                <a:solidFill>
                  <a:schemeClr val="bg1"/>
                </a:solidFill>
                <a:latin typeface="+mn-lt"/>
              </a:rPr>
              <a:t>2019 - 2020</a:t>
            </a:r>
            <a:endParaRPr lang="en-US" b="1" dirty="0">
              <a:solidFill>
                <a:schemeClr val="bg1"/>
              </a:solidFill>
              <a:latin typeface="+mn-lt"/>
            </a:endParaRP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smtClean="0">
                <a:solidFill>
                  <a:schemeClr val="accent1">
                    <a:lumMod val="20000"/>
                    <a:lumOff val="80000"/>
                  </a:schemeClr>
                </a:solidFill>
              </a:rPr>
              <a:t>Shape of the Week (3):</a:t>
            </a:r>
          </a:p>
          <a:p>
            <a:r>
              <a:rPr lang="en-US" sz="3200" dirty="0" smtClean="0">
                <a:solidFill>
                  <a:schemeClr val="bg1"/>
                </a:solidFill>
              </a:rPr>
              <a:t>Lesson 1: Gender </a:t>
            </a:r>
            <a:r>
              <a:rPr lang="en-US" sz="3200" dirty="0">
                <a:solidFill>
                  <a:schemeClr val="bg1"/>
                </a:solidFill>
              </a:rPr>
              <a:t>in </a:t>
            </a:r>
            <a:r>
              <a:rPr lang="en-US" sz="3200" dirty="0" smtClean="0">
                <a:solidFill>
                  <a:schemeClr val="bg1"/>
                </a:solidFill>
              </a:rPr>
              <a:t>Advertising/ Goffman’s Theory</a:t>
            </a:r>
          </a:p>
          <a:p>
            <a:pPr lvl="0"/>
            <a:r>
              <a:rPr lang="en-US" sz="3200" dirty="0">
                <a:solidFill>
                  <a:prstClr val="white"/>
                </a:solidFill>
              </a:rPr>
              <a:t>Lesson </a:t>
            </a:r>
            <a:r>
              <a:rPr lang="en-US" sz="3200" dirty="0" smtClean="0">
                <a:solidFill>
                  <a:prstClr val="white"/>
                </a:solidFill>
              </a:rPr>
              <a:t>2: Goffman’s Theory and Semiotic Analysis</a:t>
            </a:r>
            <a:endParaRPr lang="en-US" sz="3200" dirty="0">
              <a:solidFill>
                <a:prstClr val="white"/>
              </a:solidFill>
            </a:endParaRPr>
          </a:p>
          <a:p>
            <a:endParaRPr lang="en-US" sz="36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2301936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4444" y="328246"/>
            <a:ext cx="12286444" cy="1058941"/>
          </a:xfrm>
        </p:spPr>
        <p:txBody>
          <a:bodyPr>
            <a:noAutofit/>
          </a:bodyPr>
          <a:lstStyle/>
          <a:p>
            <a:pPr lvl="0" algn="ctr"/>
            <a:r>
              <a:rPr lang="en-US" sz="5400" b="1" dirty="0">
                <a:solidFill>
                  <a:srgbClr val="FF0000"/>
                </a:solidFill>
                <a:latin typeface="+mn-lt"/>
              </a:rPr>
              <a:t>Lesson </a:t>
            </a:r>
            <a:r>
              <a:rPr lang="en-US" sz="5400" b="1" dirty="0" smtClean="0">
                <a:solidFill>
                  <a:srgbClr val="FF0000"/>
                </a:solidFill>
                <a:latin typeface="+mn-lt"/>
              </a:rPr>
              <a:t>2: </a:t>
            </a:r>
            <a:r>
              <a:rPr lang="en-US" sz="5400" b="1" dirty="0">
                <a:solidFill>
                  <a:srgbClr val="FF0000"/>
                </a:solidFill>
                <a:latin typeface="Calibri" charset="0"/>
                <a:ea typeface="MS Mincho" charset="-128"/>
                <a:cs typeface="MS Mincho" charset="-128"/>
              </a:rPr>
              <a:t>Goffman’s Theory and Semiotic Analysis</a:t>
            </a:r>
          </a:p>
        </p:txBody>
      </p:sp>
      <p:sp>
        <p:nvSpPr>
          <p:cNvPr id="3" name="Content Placeholder 2"/>
          <p:cNvSpPr>
            <a:spLocks noGrp="1"/>
          </p:cNvSpPr>
          <p:nvPr>
            <p:ph idx="1"/>
          </p:nvPr>
        </p:nvSpPr>
        <p:spPr>
          <a:xfrm>
            <a:off x="302056" y="1947333"/>
            <a:ext cx="11889944" cy="4550570"/>
          </a:xfrm>
        </p:spPr>
        <p:txBody>
          <a:bodyPr>
            <a:normAutofit/>
          </a:bodyPr>
          <a:lstStyle/>
          <a:p>
            <a:pPr marL="0" indent="0">
              <a:buNone/>
            </a:pPr>
            <a:endParaRPr lang="en-US" sz="4000" dirty="0" smtClean="0">
              <a:solidFill>
                <a:srgbClr val="0432FF"/>
              </a:solidFill>
            </a:endParaRPr>
          </a:p>
          <a:p>
            <a:pPr marL="0" indent="0">
              <a:spcAft>
                <a:spcPts val="0"/>
              </a:spcAft>
              <a:buNone/>
            </a:pPr>
            <a:r>
              <a:rPr lang="en-US" sz="4000" dirty="0"/>
              <a:t>☑ </a:t>
            </a:r>
            <a:r>
              <a:rPr lang="en-US" sz="4000" dirty="0" smtClean="0">
                <a:latin typeface="Calibri" charset="0"/>
                <a:ea typeface="MS Mincho" charset="-128"/>
                <a:cs typeface="MS Mincho" charset="-128"/>
              </a:rPr>
              <a:t>Apply Goffman’s theory to semiotic analysis</a:t>
            </a:r>
          </a:p>
          <a:p>
            <a:pPr marL="0" indent="0">
              <a:spcAft>
                <a:spcPts val="0"/>
              </a:spcAft>
              <a:buNone/>
            </a:pPr>
            <a:endParaRPr lang="en-US" sz="4000" dirty="0">
              <a:latin typeface="Calibri" charset="0"/>
              <a:ea typeface="MS Mincho" charset="-128"/>
              <a:cs typeface="MS Mincho" charset="-128"/>
            </a:endParaRPr>
          </a:p>
          <a:p>
            <a:pPr marL="0" indent="0">
              <a:buNone/>
            </a:pPr>
            <a:r>
              <a:rPr lang="en-US" sz="4000" b="1" dirty="0"/>
              <a:t>☑ P</a:t>
            </a:r>
            <a:r>
              <a:rPr lang="en-US" sz="4000" b="1" dirty="0" smtClean="0"/>
              <a:t>resentations</a:t>
            </a:r>
            <a:endParaRPr lang="en-US" sz="4000" b="1" dirty="0"/>
          </a:p>
          <a:p>
            <a:pPr marL="0" indent="0">
              <a:spcAft>
                <a:spcPts val="0"/>
              </a:spcAft>
              <a:buNone/>
            </a:pPr>
            <a:endParaRPr lang="en-US" sz="4000" dirty="0">
              <a:latin typeface="Calibri" charset="0"/>
              <a:ea typeface="MS Mincho" charset="-128"/>
              <a:cs typeface="MS Mincho" charset="-128"/>
            </a:endParaRPr>
          </a:p>
          <a:p>
            <a:pPr marL="0" indent="0">
              <a:buNone/>
            </a:pPr>
            <a:endParaRPr lang="en-US" sz="4000" dirty="0">
              <a:latin typeface="Calibri" charset="0"/>
              <a:ea typeface="MS Mincho" charset="-128"/>
              <a:cs typeface="MS Mincho" charset="-128"/>
            </a:endParaRPr>
          </a:p>
          <a:p>
            <a:pPr marL="0" indent="0">
              <a:buNone/>
            </a:pPr>
            <a:endParaRPr lang="en-US" sz="4000" dirty="0" smtClean="0">
              <a:solidFill>
                <a:srgbClr val="0432FF"/>
              </a:solidFill>
            </a:endParaRPr>
          </a:p>
          <a:p>
            <a:pPr marL="0" indent="0">
              <a:buNone/>
            </a:pPr>
            <a:endParaRPr lang="en-US" sz="4000" dirty="0"/>
          </a:p>
          <a:p>
            <a:pPr marL="0" indent="0">
              <a:buNone/>
            </a:pPr>
            <a:endParaRPr lang="en-US" sz="4000" dirty="0"/>
          </a:p>
          <a:p>
            <a:pPr marL="0" indent="0">
              <a:buNone/>
            </a:pPr>
            <a:endParaRPr lang="en-US" sz="4400" dirty="0" smtClean="0">
              <a:solidFill>
                <a:srgbClr val="0432FF"/>
              </a:solidFill>
            </a:endParaRPr>
          </a:p>
        </p:txBody>
      </p:sp>
    </p:spTree>
    <p:extLst>
      <p:ext uri="{BB962C8B-B14F-4D97-AF65-F5344CB8AC3E}">
        <p14:creationId xmlns:p14="http://schemas.microsoft.com/office/powerpoint/2010/main" val="12465936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smtClean="0">
                <a:solidFill>
                  <a:srgbClr val="FF0000"/>
                </a:solidFill>
                <a:latin typeface="Arial Rounded MT Bold" charset="0"/>
                <a:ea typeface="Arial Rounded MT Bold" charset="0"/>
                <a:cs typeface="Arial Rounded MT Bold" charset="0"/>
              </a:rPr>
              <a:t>ASSESSMENT TERM 1</a:t>
            </a:r>
            <a:endParaRPr lang="en-US" b="1" dirty="0">
              <a:solidFill>
                <a:srgbClr val="FF0000"/>
              </a:solidFill>
              <a:latin typeface="Arial Rounded MT Bold" charset="0"/>
              <a:ea typeface="Arial Rounded MT Bold" charset="0"/>
              <a:cs typeface="Arial Rounded MT Bold" charset="0"/>
            </a:endParaRPr>
          </a:p>
        </p:txBody>
      </p:sp>
      <p:sp>
        <p:nvSpPr>
          <p:cNvPr id="3" name="Content Placeholder 2"/>
          <p:cNvSpPr>
            <a:spLocks noGrp="1"/>
          </p:cNvSpPr>
          <p:nvPr>
            <p:ph sz="half" idx="1"/>
          </p:nvPr>
        </p:nvSpPr>
        <p:spPr>
          <a:xfrm>
            <a:off x="154547" y="1143000"/>
            <a:ext cx="7765960" cy="5486400"/>
          </a:xfrm>
        </p:spPr>
        <p:txBody>
          <a:bodyPr/>
          <a:lstStyle/>
          <a:p>
            <a:pPr marL="0" lvl="0" indent="0">
              <a:buNone/>
            </a:pPr>
            <a:r>
              <a:rPr lang="en-US" sz="3200" b="1" u="sng" dirty="0" smtClean="0">
                <a:solidFill>
                  <a:prstClr val="black"/>
                </a:solidFill>
                <a:latin typeface="Calibri" panose="020F0502020204030204" pitchFamily="34" charset="0"/>
                <a:ea typeface="ＭＳ 明朝" charset="-128"/>
                <a:cs typeface="MS Mincho" charset="-128"/>
              </a:rPr>
              <a:t>School (Report SA)</a:t>
            </a:r>
          </a:p>
          <a:p>
            <a:pPr marL="0" lvl="0" indent="0">
              <a:buNone/>
            </a:pPr>
            <a:r>
              <a:rPr lang="en-US" sz="3200" dirty="0" smtClean="0">
                <a:solidFill>
                  <a:prstClr val="black"/>
                </a:solidFill>
                <a:latin typeface="MS Mincho" charset="-128"/>
                <a:ea typeface="ＭＳ 明朝" charset="-128"/>
                <a:cs typeface="MS Mincho" charset="-128"/>
              </a:rPr>
              <a:t>☑</a:t>
            </a:r>
            <a:r>
              <a:rPr lang="en-US" sz="3200" dirty="0" smtClean="0">
                <a:solidFill>
                  <a:prstClr val="black"/>
                </a:solidFill>
                <a:latin typeface="Calibri" charset="0"/>
                <a:ea typeface="MS Mincho" charset="-128"/>
                <a:cs typeface="MS Mincho" charset="-128"/>
              </a:rPr>
              <a:t> </a:t>
            </a:r>
            <a:r>
              <a:rPr lang="en-US" sz="3200" dirty="0">
                <a:solidFill>
                  <a:prstClr val="black"/>
                </a:solidFill>
                <a:latin typeface="Calibri" charset="0"/>
                <a:ea typeface="MS Mincho" charset="-128"/>
                <a:cs typeface="MS Mincho" charset="-128"/>
              </a:rPr>
              <a:t>Paper 1 Commentary </a:t>
            </a:r>
            <a:r>
              <a:rPr lang="en-US" sz="3200" dirty="0" smtClean="0">
                <a:solidFill>
                  <a:prstClr val="black"/>
                </a:solidFill>
                <a:latin typeface="Calibri" charset="0"/>
                <a:ea typeface="MS Mincho" charset="-128"/>
                <a:cs typeface="MS Mincho" charset="-128"/>
              </a:rPr>
              <a:t>[EXAM </a:t>
            </a:r>
            <a:r>
              <a:rPr lang="en-US" sz="3200" dirty="0">
                <a:solidFill>
                  <a:prstClr val="black"/>
                </a:solidFill>
                <a:latin typeface="Calibri" charset="0"/>
                <a:ea typeface="MS Mincho" charset="-128"/>
                <a:cs typeface="MS Mincho" charset="-128"/>
              </a:rPr>
              <a:t>Rubric] Week 4 50% </a:t>
            </a:r>
            <a:endParaRPr lang="en-US" sz="3200" dirty="0" smtClean="0">
              <a:solidFill>
                <a:prstClr val="black"/>
              </a:solidFill>
              <a:latin typeface="Calibri" charset="0"/>
              <a:ea typeface="MS Mincho" charset="-128"/>
              <a:cs typeface="MS Mincho" charset="-128"/>
            </a:endParaRPr>
          </a:p>
          <a:p>
            <a:pPr marL="0" indent="0">
              <a:buNone/>
            </a:pPr>
            <a:r>
              <a:rPr lang="en-US" sz="3200" dirty="0">
                <a:solidFill>
                  <a:prstClr val="black"/>
                </a:solidFill>
                <a:latin typeface="MS Mincho" charset="-128"/>
                <a:ea typeface="ＭＳ 明朝" charset="-128"/>
                <a:cs typeface="MS Mincho" charset="-128"/>
              </a:rPr>
              <a:t>☑</a:t>
            </a:r>
            <a:r>
              <a:rPr lang="en-US" sz="3200" dirty="0">
                <a:solidFill>
                  <a:prstClr val="black"/>
                </a:solidFill>
                <a:latin typeface="Calibri" charset="0"/>
                <a:ea typeface="MS Mincho" charset="-128"/>
                <a:cs typeface="MS Mincho" charset="-128"/>
              </a:rPr>
              <a:t> </a:t>
            </a:r>
            <a:r>
              <a:rPr lang="en-US" sz="3200" dirty="0" smtClean="0">
                <a:solidFill>
                  <a:prstClr val="black"/>
                </a:solidFill>
                <a:latin typeface="Calibri" charset="0"/>
                <a:ea typeface="MS Mincho" charset="-128"/>
                <a:cs typeface="MS Mincho" charset="-128"/>
              </a:rPr>
              <a:t>Mock Group FOA Week </a:t>
            </a:r>
            <a:r>
              <a:rPr lang="en-US" sz="3200" dirty="0">
                <a:solidFill>
                  <a:prstClr val="black"/>
                </a:solidFill>
                <a:latin typeface="Calibri" charset="0"/>
                <a:ea typeface="MS Mincho" charset="-128"/>
                <a:cs typeface="MS Mincho" charset="-128"/>
              </a:rPr>
              <a:t>6 50% </a:t>
            </a:r>
            <a:endParaRPr lang="en-US" sz="3200" dirty="0" smtClean="0">
              <a:solidFill>
                <a:prstClr val="black"/>
              </a:solidFill>
              <a:latin typeface="Calibri" charset="0"/>
              <a:ea typeface="MS Mincho" charset="-128"/>
              <a:cs typeface="MS Mincho" charset="-128"/>
            </a:endParaRPr>
          </a:p>
          <a:p>
            <a:pPr marL="0" indent="0">
              <a:buNone/>
            </a:pPr>
            <a:endParaRPr lang="en-US" sz="3200" dirty="0" smtClean="0">
              <a:solidFill>
                <a:prstClr val="black"/>
              </a:solidFill>
              <a:latin typeface="Calibri" charset="0"/>
              <a:ea typeface="MS Mincho" charset="-128"/>
              <a:cs typeface="MS Mincho" charset="-128"/>
            </a:endParaRPr>
          </a:p>
          <a:p>
            <a:pPr marL="0" indent="0">
              <a:buNone/>
            </a:pPr>
            <a:r>
              <a:rPr lang="en-US" sz="3200" b="1" u="sng" dirty="0" smtClean="0">
                <a:solidFill>
                  <a:srgbClr val="0432FF"/>
                </a:solidFill>
                <a:latin typeface="Calibri" charset="0"/>
                <a:ea typeface="MS Mincho" charset="-128"/>
                <a:cs typeface="MS Mincho" charset="-128"/>
              </a:rPr>
              <a:t>IB Assessment</a:t>
            </a:r>
            <a:endParaRPr lang="en-US" sz="3200" b="1" u="sng" dirty="0">
              <a:solidFill>
                <a:srgbClr val="0432FF"/>
              </a:solidFill>
              <a:latin typeface="Calibri" charset="0"/>
              <a:ea typeface="MS Mincho" charset="-128"/>
              <a:cs typeface="MS Mincho" charset="-128"/>
            </a:endParaRPr>
          </a:p>
          <a:p>
            <a:pPr marL="0" indent="0">
              <a:buNone/>
            </a:pPr>
            <a:r>
              <a:rPr lang="en-US" sz="3200" dirty="0" smtClean="0">
                <a:solidFill>
                  <a:srgbClr val="0432FF"/>
                </a:solidFill>
                <a:latin typeface="MS Mincho" charset="-128"/>
                <a:ea typeface="ＭＳ 明朝" charset="-128"/>
                <a:cs typeface="MS Mincho" charset="-128"/>
              </a:rPr>
              <a:t>☑ </a:t>
            </a:r>
            <a:r>
              <a:rPr lang="en-US" sz="3200" dirty="0" smtClean="0">
                <a:solidFill>
                  <a:srgbClr val="0432FF"/>
                </a:solidFill>
                <a:latin typeface="Calibri" charset="0"/>
                <a:ea typeface="MS Mincho" charset="-128"/>
                <a:cs typeface="MS Mincho" charset="-128"/>
              </a:rPr>
              <a:t>IB FOA 2: Gender in Ads Proposal due week 6, FOA given week 1&amp;2 term 2</a:t>
            </a:r>
            <a:endParaRPr lang="en-US" sz="3200" dirty="0">
              <a:solidFill>
                <a:srgbClr val="0432FF"/>
              </a:solidFill>
              <a:latin typeface="Calibri" charset="0"/>
              <a:ea typeface="MS Mincho" charset="-128"/>
              <a:cs typeface="MS Mincho" charset="-128"/>
            </a:endParaRPr>
          </a:p>
          <a:p>
            <a:pPr marL="0" lvl="0" indent="0">
              <a:buNone/>
            </a:pPr>
            <a:r>
              <a:rPr lang="en-US" sz="3200" dirty="0">
                <a:solidFill>
                  <a:srgbClr val="0432FF"/>
                </a:solidFill>
                <a:latin typeface="MS Mincho" charset="-128"/>
                <a:ea typeface="ＭＳ 明朝" charset="-128"/>
                <a:cs typeface="MS Mincho" charset="-128"/>
              </a:rPr>
              <a:t>☑</a:t>
            </a:r>
            <a:r>
              <a:rPr lang="en-US" sz="3200" dirty="0">
                <a:solidFill>
                  <a:srgbClr val="0432FF"/>
                </a:solidFill>
                <a:latin typeface="Calibri" charset="0"/>
                <a:ea typeface="MS Mincho" charset="-128"/>
                <a:cs typeface="MS Mincho" charset="-128"/>
              </a:rPr>
              <a:t> </a:t>
            </a:r>
            <a:r>
              <a:rPr lang="en-US" sz="3200" dirty="0" smtClean="0">
                <a:solidFill>
                  <a:srgbClr val="0432FF"/>
                </a:solidFill>
                <a:latin typeface="Calibri" charset="0"/>
                <a:ea typeface="MS Mincho" charset="-128"/>
                <a:cs typeface="MS Mincho" charset="-128"/>
              </a:rPr>
              <a:t> IB WT 2: Speeches/ Letters, First Draft Proposal Week 10, finished proposal week 1.</a:t>
            </a:r>
            <a:endParaRPr lang="en-US" sz="3200" dirty="0">
              <a:solidFill>
                <a:srgbClr val="0432FF"/>
              </a:solidFill>
              <a:latin typeface="Calibri" charset="0"/>
              <a:ea typeface="MS Mincho" charset="-128"/>
              <a:cs typeface="MS Mincho" charset="-128"/>
            </a:endParaRPr>
          </a:p>
          <a:p>
            <a:pPr marL="0" lvl="0" indent="0">
              <a:buNone/>
            </a:pPr>
            <a:endParaRPr lang="en-US" sz="3600" dirty="0" smtClean="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20507" y="1749381"/>
            <a:ext cx="4114800" cy="4114800"/>
          </a:xfrm>
        </p:spPr>
      </p:pic>
    </p:spTree>
    <p:extLst>
      <p:ext uri="{BB962C8B-B14F-4D97-AF65-F5344CB8AC3E}">
        <p14:creationId xmlns:p14="http://schemas.microsoft.com/office/powerpoint/2010/main" val="64967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r>
              <a:rPr lang="en-US" sz="3600" b="1" dirty="0" smtClean="0">
                <a:solidFill>
                  <a:srgbClr val="000000"/>
                </a:solidFill>
                <a:latin typeface="Calibri" charset="0"/>
                <a:ea typeface="MS Mincho" charset="-128"/>
                <a:cs typeface="MS Mincho" charset="-128"/>
              </a:rPr>
              <a:t>Reading: Goffman’s Theory docs on </a:t>
            </a:r>
            <a:r>
              <a:rPr lang="en-US" sz="3600" b="1" dirty="0" err="1" smtClean="0">
                <a:solidFill>
                  <a:srgbClr val="000000"/>
                </a:solidFill>
                <a:latin typeface="Calibri" charset="0"/>
                <a:ea typeface="MS Mincho" charset="-128"/>
                <a:cs typeface="MS Mincho" charset="-128"/>
              </a:rPr>
              <a:t>Managebac</a:t>
            </a:r>
            <a:r>
              <a:rPr lang="en-US" sz="3600" b="1" dirty="0" smtClean="0">
                <a:solidFill>
                  <a:srgbClr val="000000"/>
                </a:solidFill>
                <a:latin typeface="Calibri" charset="0"/>
                <a:ea typeface="MS Mincho" charset="-128"/>
                <a:cs typeface="MS Mincho" charset="-128"/>
              </a:rPr>
              <a:t>.</a:t>
            </a: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spTree>
    <p:extLst>
      <p:ext uri="{BB962C8B-B14F-4D97-AF65-F5344CB8AC3E}">
        <p14:creationId xmlns:p14="http://schemas.microsoft.com/office/powerpoint/2010/main" val="10228539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1" name="Rectangle 48"/>
          <p:cNvSpPr>
            <a:spLocks noGrp="1" noChangeArrowheads="1"/>
          </p:cNvSpPr>
          <p:nvPr>
            <p:ph type="title"/>
          </p:nvPr>
        </p:nvSpPr>
        <p:spPr>
          <a:xfrm>
            <a:off x="854242" y="0"/>
            <a:ext cx="10515600" cy="1287212"/>
          </a:xfrm>
        </p:spPr>
        <p:txBody>
          <a:bodyPr rtlCol="0">
            <a:normAutofit/>
          </a:bodyPr>
          <a:lstStyle/>
          <a:p>
            <a:pPr algn="ctr" eaLnBrk="1" fontAlgn="auto" hangingPunct="1">
              <a:spcAft>
                <a:spcPts val="0"/>
              </a:spcAft>
              <a:defRPr/>
            </a:pPr>
            <a:r>
              <a:rPr lang="en-US" altLang="zh-TW" sz="3200" b="1" dirty="0" smtClean="0">
                <a:latin typeface="Arial" charset="0"/>
                <a:ea typeface="ＭＳ Ｐゴシック" charset="0"/>
                <a:cs typeface="+mj-cs"/>
              </a:rPr>
              <a:t> </a:t>
            </a:r>
            <a:r>
              <a:rPr lang="en-US" altLang="zh-TW" sz="3200" b="1" dirty="0">
                <a:solidFill>
                  <a:srgbClr val="00B050"/>
                </a:solidFill>
                <a:latin typeface="Arial" charset="0"/>
                <a:ea typeface="ＭＳ Ｐゴシック" charset="0"/>
                <a:cs typeface="+mj-cs"/>
              </a:rPr>
              <a:t>ASSIGNMENT:</a:t>
            </a:r>
            <a:r>
              <a:rPr lang="en-US" altLang="zh-TW" sz="3200" dirty="0">
                <a:solidFill>
                  <a:srgbClr val="00B050"/>
                </a:solidFill>
                <a:latin typeface="Arial" charset="0"/>
                <a:ea typeface="ＭＳ Ｐゴシック" charset="0"/>
                <a:cs typeface="+mj-cs"/>
              </a:rPr>
              <a:t> </a:t>
            </a:r>
            <a:br>
              <a:rPr lang="en-US" altLang="zh-TW" sz="3200" dirty="0">
                <a:solidFill>
                  <a:srgbClr val="00B050"/>
                </a:solidFill>
                <a:latin typeface="Arial" charset="0"/>
                <a:ea typeface="ＭＳ Ｐゴシック" charset="0"/>
                <a:cs typeface="+mj-cs"/>
              </a:rPr>
            </a:br>
            <a:r>
              <a:rPr lang="en-US" altLang="zh-TW" sz="2700" dirty="0">
                <a:solidFill>
                  <a:srgbClr val="0432FF"/>
                </a:solidFill>
                <a:latin typeface="Arial" charset="0"/>
                <a:ea typeface="ＭＳ Ｐゴシック" charset="0"/>
                <a:cs typeface="+mj-cs"/>
              </a:rPr>
              <a:t>Carry out a </a:t>
            </a:r>
            <a:r>
              <a:rPr lang="en-US" altLang="zh-TW" sz="2700" i="1" dirty="0">
                <a:solidFill>
                  <a:srgbClr val="0432FF"/>
                </a:solidFill>
                <a:latin typeface="Arial" charset="0"/>
                <a:ea typeface="ＭＳ Ｐゴシック" charset="0"/>
                <a:cs typeface="+mj-cs"/>
              </a:rPr>
              <a:t>Semiotic Analysis</a:t>
            </a:r>
            <a:r>
              <a:rPr lang="en-US" altLang="zh-TW" sz="2700" dirty="0">
                <a:solidFill>
                  <a:srgbClr val="0432FF"/>
                </a:solidFill>
                <a:latin typeface="Arial" charset="0"/>
                <a:ea typeface="ＭＳ Ｐゴシック" charset="0"/>
                <a:cs typeface="+mj-cs"/>
              </a:rPr>
              <a:t> of </a:t>
            </a:r>
            <a:r>
              <a:rPr lang="en-US" altLang="zh-TW" sz="2700" dirty="0" smtClean="0">
                <a:solidFill>
                  <a:srgbClr val="0432FF"/>
                </a:solidFill>
                <a:latin typeface="Arial" charset="0"/>
                <a:ea typeface="ＭＳ Ｐゴシック" charset="0"/>
                <a:cs typeface="+mj-cs"/>
              </a:rPr>
              <a:t>assigned advertisement </a:t>
            </a:r>
            <a:r>
              <a:rPr lang="en-US" altLang="zh-TW" sz="2700" dirty="0">
                <a:solidFill>
                  <a:srgbClr val="0432FF"/>
                </a:solidFill>
                <a:latin typeface="Arial" charset="0"/>
                <a:ea typeface="ＭＳ Ｐゴシック" charset="0"/>
                <a:cs typeface="+mj-cs"/>
              </a:rPr>
              <a:t>commenting on the relevant headings listed below:</a:t>
            </a:r>
          </a:p>
        </p:txBody>
      </p:sp>
      <p:graphicFrame>
        <p:nvGraphicFramePr>
          <p:cNvPr id="155734" name="Group 86"/>
          <p:cNvGraphicFramePr>
            <a:graphicFrameLocks noGrp="1"/>
          </p:cNvGraphicFramePr>
          <p:nvPr>
            <p:ph sz="half" idx="1"/>
            <p:extLst>
              <p:ext uri="{D42A27DB-BD31-4B8C-83A1-F6EECF244321}">
                <p14:modId xmlns:p14="http://schemas.microsoft.com/office/powerpoint/2010/main" val="776077148"/>
              </p:ext>
            </p:extLst>
          </p:nvPr>
        </p:nvGraphicFramePr>
        <p:xfrm>
          <a:off x="549356" y="1364239"/>
          <a:ext cx="5129549" cy="5074910"/>
        </p:xfrm>
        <a:graphic>
          <a:graphicData uri="http://schemas.openxmlformats.org/drawingml/2006/table">
            <a:tbl>
              <a:tblPr/>
              <a:tblGrid>
                <a:gridCol w="5129549"/>
              </a:tblGrid>
              <a:tr h="132918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800" b="1" i="0" u="none" strike="noStrike" cap="none" normalizeH="0" baseline="0" dirty="0" smtClean="0">
                          <a:ln>
                            <a:noFill/>
                          </a:ln>
                          <a:solidFill>
                            <a:schemeClr val="tx1"/>
                          </a:solidFill>
                          <a:effectLst/>
                          <a:latin typeface="Arial" charset="0"/>
                          <a:ea typeface="新細明體" pitchFamily="64" charset="-120"/>
                        </a:rPr>
                        <a:t>1. SYMBOLIC &amp; WRITTEN SIGNIFIERS</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4430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400" b="0" i="0" u="none" strike="noStrike" cap="none" normalizeH="0" baseline="0" dirty="0" smtClean="0">
                          <a:ln>
                            <a:noFill/>
                          </a:ln>
                          <a:solidFill>
                            <a:schemeClr val="tx1"/>
                          </a:solidFill>
                          <a:effectLst/>
                          <a:latin typeface="Arial" charset="0"/>
                          <a:ea typeface="新細明體" pitchFamily="64" charset="-120"/>
                        </a:rPr>
                        <a:t>Lighting &amp; Colours</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19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400" b="0" i="0" u="none" strike="noStrike" cap="none" normalizeH="0" baseline="0" smtClean="0">
                          <a:ln>
                            <a:noFill/>
                          </a:ln>
                          <a:solidFill>
                            <a:schemeClr val="tx1"/>
                          </a:solidFill>
                          <a:effectLst/>
                          <a:latin typeface="Arial" charset="0"/>
                          <a:ea typeface="新細明體" pitchFamily="64" charset="-120"/>
                        </a:rPr>
                        <a:t>Positioning of Words &amp; Images</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30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400" b="0" i="0" u="none" strike="noStrike" cap="none" normalizeH="0" baseline="0" smtClean="0">
                          <a:ln>
                            <a:noFill/>
                          </a:ln>
                          <a:solidFill>
                            <a:schemeClr val="tx1"/>
                          </a:solidFill>
                          <a:effectLst/>
                          <a:latin typeface="Arial" charset="0"/>
                          <a:ea typeface="新細明體" pitchFamily="64" charset="-120"/>
                        </a:rPr>
                        <a:t>Setting &amp; Locations</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9749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400" b="0" i="0" u="none" strike="noStrike" cap="none" normalizeH="0" baseline="0" smtClean="0">
                          <a:ln>
                            <a:noFill/>
                          </a:ln>
                          <a:solidFill>
                            <a:schemeClr val="tx1"/>
                          </a:solidFill>
                          <a:effectLst/>
                          <a:latin typeface="Arial" charset="0"/>
                          <a:ea typeface="新細明體" pitchFamily="64" charset="-120"/>
                        </a:rPr>
                        <a:t>Facial Expressions &amp; Body Language (of people)</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30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400" b="0" i="0" u="none" strike="noStrike" cap="none" normalizeH="0" baseline="0" smtClean="0">
                          <a:ln>
                            <a:noFill/>
                          </a:ln>
                          <a:solidFill>
                            <a:schemeClr val="tx1"/>
                          </a:solidFill>
                          <a:effectLst/>
                          <a:latin typeface="Arial" charset="0"/>
                          <a:ea typeface="新細明體" pitchFamily="64" charset="-120"/>
                        </a:rPr>
                        <a:t>Typeface/Font Style</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0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400" b="0" i="0" u="none" strike="noStrike" cap="none" normalizeH="0" baseline="0" dirty="0" smtClean="0">
                          <a:ln>
                            <a:noFill/>
                          </a:ln>
                          <a:solidFill>
                            <a:schemeClr val="tx1"/>
                          </a:solidFill>
                          <a:effectLst/>
                          <a:latin typeface="Arial" charset="0"/>
                          <a:ea typeface="新細明體" pitchFamily="64" charset="-120"/>
                        </a:rPr>
                        <a:t>Key (Main) Images/Signifiers</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30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400" b="0" i="0" u="none" strike="noStrike" cap="none" normalizeH="0" baseline="0" dirty="0" smtClean="0">
                          <a:ln>
                            <a:noFill/>
                          </a:ln>
                          <a:solidFill>
                            <a:schemeClr val="tx1"/>
                          </a:solidFill>
                          <a:effectLst/>
                          <a:latin typeface="Arial" charset="0"/>
                          <a:ea typeface="新細明體" pitchFamily="64" charset="-120"/>
                        </a:rPr>
                        <a:t>Clothing, Hair &amp; Make Up</a:t>
                      </a:r>
                    </a:p>
                  </a:txBody>
                  <a:tcPr marT="45693" marB="4569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55743" name="Group 95"/>
          <p:cNvGraphicFramePr>
            <a:graphicFrameLocks noGrp="1"/>
          </p:cNvGraphicFramePr>
          <p:nvPr>
            <p:ph sz="half" idx="2"/>
            <p:extLst>
              <p:ext uri="{D42A27DB-BD31-4B8C-83A1-F6EECF244321}">
                <p14:modId xmlns:p14="http://schemas.microsoft.com/office/powerpoint/2010/main" val="2105748813"/>
              </p:ext>
            </p:extLst>
          </p:nvPr>
        </p:nvGraphicFramePr>
        <p:xfrm>
          <a:off x="5791201" y="2258753"/>
          <a:ext cx="5887452" cy="2998257"/>
        </p:xfrm>
        <a:graphic>
          <a:graphicData uri="http://schemas.openxmlformats.org/drawingml/2006/table">
            <a:tbl>
              <a:tblPr/>
              <a:tblGrid>
                <a:gridCol w="5887452"/>
              </a:tblGrid>
              <a:tr h="773205">
                <a:tc>
                  <a:txBody>
                    <a:bodyPr/>
                    <a:lstStyle>
                      <a:lvl1pPr>
                        <a:spcBef>
                          <a:spcPct val="20000"/>
                        </a:spcBef>
                        <a:buFont typeface="Arial" charset="0"/>
                        <a:defRPr sz="2800">
                          <a:solidFill>
                            <a:schemeClr val="tx1"/>
                          </a:solidFill>
                          <a:latin typeface="Calibri" charset="0"/>
                          <a:ea typeface="MS PGothic" charset="-128"/>
                        </a:defRPr>
                      </a:lvl1pPr>
                      <a:lvl2pPr marL="742950" indent="-285750">
                        <a:spcBef>
                          <a:spcPct val="20000"/>
                        </a:spcBef>
                        <a:buFont typeface="Arial" charset="0"/>
                        <a:defRPr sz="2400">
                          <a:solidFill>
                            <a:schemeClr val="tx1"/>
                          </a:solidFill>
                          <a:latin typeface="Calibri" charset="0"/>
                          <a:ea typeface="MS PGothic" charset="-128"/>
                        </a:defRPr>
                      </a:lvl2pPr>
                      <a:lvl3pPr marL="1143000" indent="-228600">
                        <a:spcBef>
                          <a:spcPct val="20000"/>
                        </a:spcBef>
                        <a:buFont typeface="Arial" charset="0"/>
                        <a:defRPr sz="2000">
                          <a:solidFill>
                            <a:schemeClr val="tx1"/>
                          </a:solidFill>
                          <a:latin typeface="Calibri" charset="0"/>
                          <a:ea typeface="MS PGothic" charset="-128"/>
                        </a:defRPr>
                      </a:lvl3pPr>
                      <a:lvl4pPr marL="1600200" indent="-228600">
                        <a:spcBef>
                          <a:spcPct val="20000"/>
                        </a:spcBef>
                        <a:buFont typeface="Arial" charset="0"/>
                        <a:defRPr>
                          <a:solidFill>
                            <a:schemeClr val="tx1"/>
                          </a:solidFill>
                          <a:latin typeface="Calibri" charset="0"/>
                          <a:ea typeface="MS PGothic" charset="-128"/>
                        </a:defRPr>
                      </a:lvl4pPr>
                      <a:lvl5pPr marL="2057400" indent="-228600">
                        <a:spcBef>
                          <a:spcPct val="20000"/>
                        </a:spcBef>
                        <a:buFont typeface="Arial" charset="0"/>
                        <a:defRPr>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defRPr>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defRPr>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defRPr>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defRPr>
                          <a:solidFill>
                            <a:schemeClr val="tx1"/>
                          </a:solidFill>
                          <a:latin typeface="Calibri" charset="0"/>
                          <a:ea typeface="MS PGothic"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800" b="1" i="0" u="none" strike="noStrike" cap="none" normalizeH="0" baseline="0">
                          <a:ln>
                            <a:noFill/>
                          </a:ln>
                          <a:solidFill>
                            <a:schemeClr val="tx1"/>
                          </a:solidFill>
                          <a:effectLst/>
                          <a:latin typeface="Arial" charset="0"/>
                          <a:ea typeface="PMingLiU" charset="-120"/>
                        </a:rPr>
                        <a:t>2. Goffman’s Theory</a:t>
                      </a:r>
                    </a:p>
                  </a:txBody>
                  <a:tcPr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683118">
                <a:tc>
                  <a:txBody>
                    <a:bodyPr/>
                    <a:lstStyle>
                      <a:lvl1pPr>
                        <a:spcBef>
                          <a:spcPct val="20000"/>
                        </a:spcBef>
                        <a:buFont typeface="Arial" charset="0"/>
                        <a:defRPr sz="2800">
                          <a:solidFill>
                            <a:schemeClr val="tx1"/>
                          </a:solidFill>
                          <a:latin typeface="Calibri" charset="0"/>
                          <a:ea typeface="MS PGothic" charset="-128"/>
                        </a:defRPr>
                      </a:lvl1pPr>
                      <a:lvl2pPr marL="742950" indent="-285750">
                        <a:spcBef>
                          <a:spcPct val="20000"/>
                        </a:spcBef>
                        <a:buFont typeface="Arial" charset="0"/>
                        <a:defRPr sz="2400">
                          <a:solidFill>
                            <a:schemeClr val="tx1"/>
                          </a:solidFill>
                          <a:latin typeface="Calibri" charset="0"/>
                          <a:ea typeface="MS PGothic" charset="-128"/>
                        </a:defRPr>
                      </a:lvl2pPr>
                      <a:lvl3pPr marL="1143000" indent="-228600">
                        <a:spcBef>
                          <a:spcPct val="20000"/>
                        </a:spcBef>
                        <a:buFont typeface="Arial" charset="0"/>
                        <a:defRPr sz="2000">
                          <a:solidFill>
                            <a:schemeClr val="tx1"/>
                          </a:solidFill>
                          <a:latin typeface="Calibri" charset="0"/>
                          <a:ea typeface="MS PGothic" charset="-128"/>
                        </a:defRPr>
                      </a:lvl3pPr>
                      <a:lvl4pPr marL="1600200" indent="-228600">
                        <a:spcBef>
                          <a:spcPct val="20000"/>
                        </a:spcBef>
                        <a:buFont typeface="Arial" charset="0"/>
                        <a:defRPr>
                          <a:solidFill>
                            <a:schemeClr val="tx1"/>
                          </a:solidFill>
                          <a:latin typeface="Calibri" charset="0"/>
                          <a:ea typeface="MS PGothic" charset="-128"/>
                        </a:defRPr>
                      </a:lvl4pPr>
                      <a:lvl5pPr marL="2057400" indent="-228600">
                        <a:spcBef>
                          <a:spcPct val="20000"/>
                        </a:spcBef>
                        <a:buFont typeface="Arial" charset="0"/>
                        <a:defRPr>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defRPr>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defRPr>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defRPr>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defRPr>
                          <a:solidFill>
                            <a:schemeClr val="tx1"/>
                          </a:solidFill>
                          <a:latin typeface="Calibri" charset="0"/>
                          <a:ea typeface="MS PGothic"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zh-TW" sz="2800" b="0" i="0" u="none" strike="noStrike" cap="none" normalizeH="0" baseline="0" dirty="0">
                          <a:ln>
                            <a:noFill/>
                          </a:ln>
                          <a:solidFill>
                            <a:schemeClr val="tx1"/>
                          </a:solidFill>
                          <a:effectLst/>
                          <a:latin typeface="Arial" charset="0"/>
                          <a:ea typeface="PMingLiU" charset="-120"/>
                        </a:rPr>
                        <a:t>Does the advert adhere to </a:t>
                      </a:r>
                      <a:r>
                        <a:rPr kumimoji="0" lang="en-GB" altLang="zh-TW" sz="2800" b="0" i="0" u="none" strike="noStrike" cap="none" normalizeH="0" baseline="0" dirty="0" smtClean="0">
                          <a:ln>
                            <a:noFill/>
                          </a:ln>
                          <a:solidFill>
                            <a:schemeClr val="tx1"/>
                          </a:solidFill>
                          <a:effectLst/>
                          <a:latin typeface="Arial" charset="0"/>
                          <a:ea typeface="PMingLiU" charset="-120"/>
                        </a:rPr>
                        <a:t>Goffman’s </a:t>
                      </a:r>
                      <a:r>
                        <a:rPr kumimoji="0" lang="en-GB" altLang="zh-TW" sz="2800" b="0" i="0" u="none" strike="noStrike" cap="none" normalizeH="0" baseline="0" dirty="0">
                          <a:ln>
                            <a:noFill/>
                          </a:ln>
                          <a:solidFill>
                            <a:schemeClr val="tx1"/>
                          </a:solidFill>
                          <a:effectLst/>
                          <a:latin typeface="Arial" charset="0"/>
                          <a:ea typeface="PMingLiU" charset="-120"/>
                        </a:rPr>
                        <a:t>gender theory? Comment on the representation of men/women featured within the advert?</a:t>
                      </a:r>
                    </a:p>
                  </a:txBody>
                  <a:tcPr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530417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57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57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638800" y="274638"/>
            <a:ext cx="4572000" cy="6202362"/>
          </a:xfrm>
        </p:spPr>
      </p:pic>
      <p:sp>
        <p:nvSpPr>
          <p:cNvPr id="80899" name="TextBox 4"/>
          <p:cNvSpPr txBox="1">
            <a:spLocks noChangeArrowheads="1"/>
          </p:cNvSpPr>
          <p:nvPr/>
        </p:nvSpPr>
        <p:spPr bwMode="auto">
          <a:xfrm>
            <a:off x="5745164" y="381000"/>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spcBef>
                <a:spcPct val="0"/>
              </a:spcBef>
              <a:buFontTx/>
              <a:buNone/>
            </a:pPr>
            <a:r>
              <a:rPr lang="en-US" altLang="en-US" sz="1800" b="1">
                <a:solidFill>
                  <a:srgbClr val="FF0000"/>
                </a:solidFill>
                <a:latin typeface="Arial" charset="0"/>
              </a:rPr>
              <a:t>B</a:t>
            </a:r>
          </a:p>
        </p:txBody>
      </p:sp>
    </p:spTree>
    <p:extLst>
      <p:ext uri="{BB962C8B-B14F-4D97-AF65-F5344CB8AC3E}">
        <p14:creationId xmlns:p14="http://schemas.microsoft.com/office/powerpoint/2010/main" val="19504880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p:txBody>
          <a:bodyPr/>
          <a:lstStyle/>
          <a:p>
            <a:pPr eaLnBrk="1" hangingPunct="1"/>
            <a:endParaRPr lang="en-US" altLang="en-US">
              <a:latin typeface="Arial" charset="0"/>
              <a:ea typeface="MS PGothic" charset="-128"/>
            </a:endParaRPr>
          </a:p>
        </p:txBody>
      </p:sp>
      <p:sp>
        <p:nvSpPr>
          <p:cNvPr id="82946" name="Rectangle 3"/>
          <p:cNvSpPr>
            <a:spLocks noGrp="1" noChangeArrowheads="1"/>
          </p:cNvSpPr>
          <p:nvPr>
            <p:ph idx="1"/>
          </p:nvPr>
        </p:nvSpPr>
        <p:spPr/>
        <p:txBody>
          <a:bodyPr/>
          <a:lstStyle/>
          <a:p>
            <a:pPr eaLnBrk="1" hangingPunct="1"/>
            <a:endParaRPr lang="en-US" altLang="en-US">
              <a:latin typeface="Arial" charset="0"/>
              <a:ea typeface="MS PGothic" charset="-128"/>
            </a:endParaRPr>
          </a:p>
        </p:txBody>
      </p:sp>
      <p:sp>
        <p:nvSpPr>
          <p:cNvPr id="82947" name="Rectangle 4"/>
          <p:cNvSpPr>
            <a:spLocks noChangeArrowheads="1"/>
          </p:cNvSpPr>
          <p:nvPr/>
        </p:nvSpPr>
        <p:spPr bwMode="auto">
          <a:xfrm>
            <a:off x="1952625"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endParaRPr lang="en-US" altLang="en-US" sz="4400">
              <a:solidFill>
                <a:schemeClr val="tx2"/>
              </a:solidFill>
              <a:latin typeface="Arial" charset="0"/>
            </a:endParaRPr>
          </a:p>
        </p:txBody>
      </p:sp>
      <p:pic>
        <p:nvPicPr>
          <p:cNvPr id="82948" name="Picture 5" descr="mencontrol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825" y="0"/>
            <a:ext cx="50752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Picture 6" descr="CRYSTAL NOIR, Versac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4725" y="0"/>
            <a:ext cx="4870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WordArt 7"/>
          <p:cNvSpPr>
            <a:spLocks noChangeArrowheads="1" noChangeShapeType="1" noTextEdit="1"/>
          </p:cNvSpPr>
          <p:nvPr/>
        </p:nvSpPr>
        <p:spPr bwMode="auto">
          <a:xfrm>
            <a:off x="1517651" y="260350"/>
            <a:ext cx="352425" cy="6477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charset="0"/>
                <a:ea typeface="Arial Black" charset="0"/>
                <a:cs typeface="Arial Black" charset="0"/>
              </a:rPr>
              <a:t>A</a:t>
            </a:r>
          </a:p>
        </p:txBody>
      </p:sp>
      <p:sp>
        <p:nvSpPr>
          <p:cNvPr id="82951" name="WordArt 8"/>
          <p:cNvSpPr>
            <a:spLocks noChangeArrowheads="1" noChangeShapeType="1" noTextEdit="1"/>
          </p:cNvSpPr>
          <p:nvPr/>
        </p:nvSpPr>
        <p:spPr bwMode="auto">
          <a:xfrm>
            <a:off x="6486526" y="404813"/>
            <a:ext cx="352425" cy="6477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charset="0"/>
                <a:ea typeface="Arial Black" charset="0"/>
                <a:cs typeface="Arial Black" charset="0"/>
              </a:rPr>
              <a:t>B</a:t>
            </a:r>
          </a:p>
        </p:txBody>
      </p:sp>
    </p:spTree>
    <p:extLst>
      <p:ext uri="{BB962C8B-B14F-4D97-AF65-F5344CB8AC3E}">
        <p14:creationId xmlns:p14="http://schemas.microsoft.com/office/powerpoint/2010/main" val="13744936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a:spLocks noChangeArrowheads="1"/>
          </p:cNvSpPr>
          <p:nvPr/>
        </p:nvSpPr>
        <p:spPr bwMode="auto">
          <a:xfrm>
            <a:off x="2300288" y="6000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sz="3200">
                <a:solidFill>
                  <a:schemeClr val="tx1"/>
                </a:solidFill>
                <a:latin typeface="Calibri" charset="0"/>
                <a:ea typeface="MS PGothic" charset="-128"/>
              </a:defRPr>
            </a:lvl1pPr>
            <a:lvl2pPr marL="742950" indent="-285750">
              <a:spcBef>
                <a:spcPct val="20000"/>
              </a:spcBef>
              <a:buFont typeface="Arial" charset="0"/>
              <a:buChar char="–"/>
              <a:defRPr sz="2800">
                <a:solidFill>
                  <a:schemeClr val="tx1"/>
                </a:solidFill>
                <a:latin typeface="Calibri" charset="0"/>
                <a:ea typeface="MS PGothic" charset="-128"/>
              </a:defRPr>
            </a:lvl2pPr>
            <a:lvl3pPr marL="1143000" indent="-228600">
              <a:spcBef>
                <a:spcPct val="20000"/>
              </a:spcBef>
              <a:buFont typeface="Arial" charset="0"/>
              <a:buChar char="•"/>
              <a:defRPr sz="2400">
                <a:solidFill>
                  <a:schemeClr val="tx1"/>
                </a:solidFill>
                <a:latin typeface="Calibri" charset="0"/>
                <a:ea typeface="MS PGothic" charset="-128"/>
              </a:defRPr>
            </a:lvl3pPr>
            <a:lvl4pPr marL="1600200" indent="-228600">
              <a:spcBef>
                <a:spcPct val="20000"/>
              </a:spcBef>
              <a:buFont typeface="Arial" charset="0"/>
              <a:buChar char="–"/>
              <a:defRPr sz="2000">
                <a:solidFill>
                  <a:schemeClr val="tx1"/>
                </a:solidFill>
                <a:latin typeface="Calibri" charset="0"/>
                <a:ea typeface="MS PGothic" charset="-128"/>
              </a:defRPr>
            </a:lvl4pPr>
            <a:lvl5pPr marL="2057400" indent="-228600">
              <a:spcBef>
                <a:spcPct val="20000"/>
              </a:spcBef>
              <a:buFont typeface="Arial" charset="0"/>
              <a:buChar char="»"/>
              <a:defRPr sz="2000">
                <a:solidFill>
                  <a:schemeClr val="tx1"/>
                </a:solidFill>
                <a:latin typeface="Calibri" charset="0"/>
                <a:ea typeface="MS PGothic"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MS PGothic" charset="-128"/>
              </a:defRPr>
            </a:lvl9pPr>
          </a:lstStyle>
          <a:p>
            <a:pPr algn="ctr" eaLnBrk="1" hangingPunct="1">
              <a:spcBef>
                <a:spcPct val="0"/>
              </a:spcBef>
              <a:buFontTx/>
              <a:buNone/>
            </a:pPr>
            <a:endParaRPr lang="en-US" altLang="en-US" sz="4400">
              <a:solidFill>
                <a:schemeClr val="tx2"/>
              </a:solidFill>
              <a:latin typeface="Arial" charset="0"/>
            </a:endParaRPr>
          </a:p>
        </p:txBody>
      </p:sp>
      <p:pic>
        <p:nvPicPr>
          <p:cNvPr id="83971" name="Picture 9" descr="seanjoh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47800"/>
            <a:ext cx="9144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39242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p:txBody>
          <a:bodyPr/>
          <a:lstStyle/>
          <a:p>
            <a:endParaRPr lang="en-US" altLang="en-US">
              <a:ea typeface="MS PGothic" charset="-128"/>
            </a:endParaRPr>
          </a:p>
        </p:txBody>
      </p:sp>
      <p:pic>
        <p:nvPicPr>
          <p:cNvPr id="8499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505200" y="279401"/>
            <a:ext cx="5181600" cy="6354763"/>
          </a:xfrm>
        </p:spPr>
      </p:pic>
    </p:spTree>
    <p:extLst>
      <p:ext uri="{BB962C8B-B14F-4D97-AF65-F5344CB8AC3E}">
        <p14:creationId xmlns:p14="http://schemas.microsoft.com/office/powerpoint/2010/main" val="698984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6" descr="obeymemo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0"/>
            <a:ext cx="44196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50264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5" name="Picture 3" descr="Dove A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49688" y="0"/>
            <a:ext cx="533876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516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89" name="Picture 1" descr="Intel A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52400"/>
            <a:ext cx="624840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093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r>
              <a:rPr lang="en-US" sz="3600" b="1" dirty="0" smtClean="0">
                <a:solidFill>
                  <a:srgbClr val="FF0000"/>
                </a:solidFill>
                <a:latin typeface="Calibri" charset="0"/>
                <a:ea typeface="MS Mincho" charset="-128"/>
                <a:cs typeface="MS Mincho" charset="-128"/>
              </a:rPr>
              <a:t>Reading:</a:t>
            </a:r>
          </a:p>
          <a:p>
            <a:pPr marL="0" indent="0">
              <a:buNone/>
            </a:pPr>
            <a:r>
              <a:rPr lang="en-US" sz="3600" b="1" u="sng" dirty="0" smtClean="0">
                <a:solidFill>
                  <a:srgbClr val="000000"/>
                </a:solidFill>
                <a:latin typeface="Calibri" charset="0"/>
                <a:ea typeface="MS Mincho" charset="-128"/>
                <a:cs typeface="MS Mincho" charset="-128"/>
              </a:rPr>
              <a:t>1984</a:t>
            </a:r>
            <a:r>
              <a:rPr lang="en-US" sz="3600" b="1" dirty="0" smtClean="0">
                <a:solidFill>
                  <a:srgbClr val="000000"/>
                </a:solidFill>
                <a:latin typeface="Calibri" charset="0"/>
                <a:ea typeface="MS Mincho" charset="-128"/>
                <a:cs typeface="MS Mincho" charset="-128"/>
              </a:rPr>
              <a:t> and </a:t>
            </a:r>
            <a:r>
              <a:rPr lang="en-US" sz="3600" b="1" u="sng" dirty="0" smtClean="0">
                <a:solidFill>
                  <a:srgbClr val="000000"/>
                </a:solidFill>
                <a:latin typeface="Calibri" charset="0"/>
                <a:ea typeface="MS Mincho" charset="-128"/>
                <a:cs typeface="MS Mincho" charset="-128"/>
              </a:rPr>
              <a:t>Chronicles </a:t>
            </a:r>
          </a:p>
          <a:p>
            <a:pPr marL="0" indent="0">
              <a:buNone/>
            </a:pPr>
            <a:r>
              <a:rPr lang="en-US" sz="3600" dirty="0" smtClean="0">
                <a:solidFill>
                  <a:srgbClr val="0432FF"/>
                </a:solidFill>
                <a:latin typeface="Calibri" charset="0"/>
                <a:ea typeface="MS Mincho" charset="-128"/>
                <a:cs typeface="MS Mincho" charset="-128"/>
              </a:rPr>
              <a:t>You need to be familiar with these enough to quote and paraphrase in exam conditions! </a:t>
            </a:r>
            <a:endParaRPr lang="en-US" sz="3600" b="1" u="sng" dirty="0" smtClean="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3600" b="1" dirty="0" smtClean="0">
                <a:solidFill>
                  <a:srgbClr val="FF0000"/>
                </a:solidFill>
                <a:latin typeface="Calibri" charset="0"/>
                <a:ea typeface="MS Mincho" charset="-128"/>
                <a:cs typeface="MS Mincho" charset="-128"/>
              </a:rPr>
              <a:t>FOA prep:</a:t>
            </a:r>
          </a:p>
          <a:p>
            <a:pPr marL="0" indent="0">
              <a:buNone/>
            </a:pPr>
            <a:r>
              <a:rPr lang="en-US" sz="3600" b="1" dirty="0" smtClean="0">
                <a:solidFill>
                  <a:srgbClr val="000000"/>
                </a:solidFill>
                <a:latin typeface="Calibri" charset="0"/>
                <a:ea typeface="MS Mincho" charset="-128"/>
                <a:cs typeface="MS Mincho" charset="-128"/>
              </a:rPr>
              <a:t>find your ad</a:t>
            </a:r>
          </a:p>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spTree>
    <p:extLst>
      <p:ext uri="{BB962C8B-B14F-4D97-AF65-F5344CB8AC3E}">
        <p14:creationId xmlns:p14="http://schemas.microsoft.com/office/powerpoint/2010/main" val="51835005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899</Words>
  <Application>Microsoft Macintosh PowerPoint</Application>
  <PresentationFormat>Widescreen</PresentationFormat>
  <Paragraphs>165</Paragraphs>
  <Slides>30</Slides>
  <Notes>2</Notes>
  <HiddenSlides>0</HiddenSlides>
  <MMClips>0</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30</vt:i4>
      </vt:variant>
    </vt:vector>
  </HeadingPairs>
  <TitlesOfParts>
    <vt:vector size="49" baseType="lpstr">
      <vt:lpstr>Arial Black</vt:lpstr>
      <vt:lpstr>Arial Rounded MT Bold</vt:lpstr>
      <vt:lpstr>Calibri</vt:lpstr>
      <vt:lpstr>Calibri Light</vt:lpstr>
      <vt:lpstr>Franklin Gothic Book</vt:lpstr>
      <vt:lpstr>MS Mincho</vt:lpstr>
      <vt:lpstr>MS PGothic</vt:lpstr>
      <vt:lpstr>ＭＳ Ｐゴシック</vt:lpstr>
      <vt:lpstr>ＭＳ 明朝</vt:lpstr>
      <vt:lpstr>Osaka</vt:lpstr>
      <vt:lpstr>PMingLiU</vt:lpstr>
      <vt:lpstr>Times</vt:lpstr>
      <vt:lpstr>Times New Roman</vt:lpstr>
      <vt:lpstr>新細明體</vt:lpstr>
      <vt:lpstr>Arial</vt:lpstr>
      <vt:lpstr>1_Office Theme</vt:lpstr>
      <vt:lpstr>3_Blank Presentation</vt:lpstr>
      <vt:lpstr>8_Office Theme</vt:lpstr>
      <vt:lpstr>Office Theme</vt:lpstr>
      <vt:lpstr>IB English Language and Literature 6 ELL SL 4 2019 - 2020</vt:lpstr>
      <vt:lpstr>Lesson 1: Gender in Advertising/ Goffman’s Theory</vt:lpstr>
      <vt:lpstr>ASSESSMENT TERM 1</vt:lpstr>
      <vt:lpstr>Homework</vt:lpstr>
      <vt:lpstr>How to read the signs and signifiers within a Media Text</vt:lpstr>
      <vt:lpstr>Denotation &amp; Connotation</vt:lpstr>
      <vt:lpstr>PowerPoint Presentation</vt:lpstr>
      <vt:lpstr>PowerPoint Presentation</vt:lpstr>
      <vt:lpstr>TASK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Homework</vt:lpstr>
      <vt:lpstr>IB English Language and Literature 6 ELL SL 4 2019 - 2020</vt:lpstr>
      <vt:lpstr>Lesson 2: Goffman’s Theory and Semiotic Analysis</vt:lpstr>
      <vt:lpstr>ASSESSMENT TERM 1</vt:lpstr>
      <vt:lpstr>Homework</vt:lpstr>
      <vt:lpstr> ASSIGNMENT:  Carry out a Semiotic Analysis of assigned advertisement commenting on the relevant headings listed below: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 English Language and Literature 6 ELL SL 4 2019 - 2020</dc:title>
  <dc:creator>Elisa Simone Zantos - Teacher of English</dc:creator>
  <cp:lastModifiedBy>Elisa Simone Zantos - Teacher of English</cp:lastModifiedBy>
  <cp:revision>11</cp:revision>
  <dcterms:created xsi:type="dcterms:W3CDTF">2020-01-20T23:31:39Z</dcterms:created>
  <dcterms:modified xsi:type="dcterms:W3CDTF">2020-01-21T23:35:30Z</dcterms:modified>
</cp:coreProperties>
</file>