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1"/>
  </p:sldMasterIdLst>
  <p:sldIdLst>
    <p:sldId id="256" r:id="rId2"/>
    <p:sldId id="257" r:id="rId3"/>
    <p:sldId id="271" r:id="rId4"/>
    <p:sldId id="258" r:id="rId5"/>
    <p:sldId id="289" r:id="rId6"/>
    <p:sldId id="286" r:id="rId7"/>
    <p:sldId id="269" r:id="rId8"/>
    <p:sldId id="270" r:id="rId9"/>
    <p:sldId id="259" r:id="rId10"/>
    <p:sldId id="274" r:id="rId11"/>
    <p:sldId id="275" r:id="rId12"/>
    <p:sldId id="276" r:id="rId13"/>
    <p:sldId id="280" r:id="rId14"/>
    <p:sldId id="290" r:id="rId15"/>
    <p:sldId id="279" r:id="rId16"/>
    <p:sldId id="278" r:id="rId17"/>
    <p:sldId id="277" r:id="rId18"/>
    <p:sldId id="261" r:id="rId19"/>
    <p:sldId id="272" r:id="rId20"/>
    <p:sldId id="282" r:id="rId21"/>
    <p:sldId id="262" r:id="rId22"/>
    <p:sldId id="283" r:id="rId23"/>
    <p:sldId id="263" r:id="rId24"/>
    <p:sldId id="264" r:id="rId25"/>
    <p:sldId id="285" r:id="rId26"/>
    <p:sldId id="267" r:id="rId27"/>
    <p:sldId id="281" r:id="rId28"/>
    <p:sldId id="284" r:id="rId29"/>
    <p:sldId id="273" r:id="rId30"/>
    <p:sldId id="268" r:id="rId31"/>
    <p:sldId id="291"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65"/>
  </p:normalViewPr>
  <p:slideViewPr>
    <p:cSldViewPr snapToGrid="0" snapToObjects="1">
      <p:cViewPr varScale="1">
        <p:scale>
          <a:sx n="49" d="100"/>
          <a:sy n="49" d="100"/>
        </p:scale>
        <p:origin x="72" y="54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5BB9B11-0294-0D4F-A411-B9DC3B9D9FDF}" type="datetimeFigureOut">
              <a:rPr lang="en-US" smtClean="0"/>
              <a:t>7/16/2018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56844-9A5E-1F44-8C1F-53ECBE40B5F5}" type="slidenum">
              <a:rPr lang="en-US" smtClean="0"/>
              <a:t>‹#›</a:t>
            </a:fld>
            <a:endParaRPr lang="en-US"/>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49768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5BB9B11-0294-0D4F-A411-B9DC3B9D9FDF}" type="datetimeFigureOut">
              <a:rPr lang="en-US" smtClean="0"/>
              <a:t>7/16/2018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56844-9A5E-1F44-8C1F-53ECBE40B5F5}" type="slidenum">
              <a:rPr lang="en-US" smtClean="0"/>
              <a:t>‹#›</a:t>
            </a:fld>
            <a:endParaRPr lang="en-US"/>
          </a:p>
        </p:txBody>
      </p:sp>
    </p:spTree>
    <p:extLst>
      <p:ext uri="{BB962C8B-B14F-4D97-AF65-F5344CB8AC3E}">
        <p14:creationId xmlns:p14="http://schemas.microsoft.com/office/powerpoint/2010/main" val="118002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5BB9B11-0294-0D4F-A411-B9DC3B9D9FDF}" type="datetimeFigureOut">
              <a:rPr lang="en-US" smtClean="0"/>
              <a:t>7/16/2018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56844-9A5E-1F44-8C1F-53ECBE40B5F5}" type="slidenum">
              <a:rPr lang="en-US" smtClean="0"/>
              <a:t>‹#›</a:t>
            </a:fld>
            <a:endParaRPr lang="en-US"/>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42039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5BB9B11-0294-0D4F-A411-B9DC3B9D9FDF}" type="datetimeFigureOut">
              <a:rPr lang="en-US" smtClean="0"/>
              <a:t>7/16/2018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56844-9A5E-1F44-8C1F-53ECBE40B5F5}" type="slidenum">
              <a:rPr lang="en-US" smtClean="0"/>
              <a:t>‹#›</a:t>
            </a:fld>
            <a:endParaRPr lang="en-US"/>
          </a:p>
        </p:txBody>
      </p:sp>
    </p:spTree>
    <p:extLst>
      <p:ext uri="{BB962C8B-B14F-4D97-AF65-F5344CB8AC3E}">
        <p14:creationId xmlns:p14="http://schemas.microsoft.com/office/powerpoint/2010/main" val="55997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5BB9B11-0294-0D4F-A411-B9DC3B9D9FDF}" type="datetimeFigureOut">
              <a:rPr lang="en-US" smtClean="0"/>
              <a:t>7/16/2018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56844-9A5E-1F44-8C1F-53ECBE40B5F5}" type="slidenum">
              <a:rPr lang="en-US" smtClean="0"/>
              <a:t>‹#›</a:t>
            </a:fld>
            <a:endParaRPr lang="en-US"/>
          </a:p>
        </p:txBody>
      </p:sp>
    </p:spTree>
    <p:extLst>
      <p:ext uri="{BB962C8B-B14F-4D97-AF65-F5344CB8AC3E}">
        <p14:creationId xmlns:p14="http://schemas.microsoft.com/office/powerpoint/2010/main" val="555708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5BB9B11-0294-0D4F-A411-B9DC3B9D9FDF}" type="datetimeFigureOut">
              <a:rPr lang="en-US" smtClean="0"/>
              <a:t>7/16/2018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56844-9A5E-1F44-8C1F-53ECBE40B5F5}" type="slidenum">
              <a:rPr lang="en-US" smtClean="0"/>
              <a:t>‹#›</a:t>
            </a:fld>
            <a:endParaRPr lang="en-US"/>
          </a:p>
        </p:txBody>
      </p:sp>
    </p:spTree>
    <p:extLst>
      <p:ext uri="{BB962C8B-B14F-4D97-AF65-F5344CB8AC3E}">
        <p14:creationId xmlns:p14="http://schemas.microsoft.com/office/powerpoint/2010/main" val="381302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BB9B11-0294-0D4F-A411-B9DC3B9D9FDF}" type="datetimeFigureOut">
              <a:rPr lang="en-US" smtClean="0"/>
              <a:t>7/16/2018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56844-9A5E-1F44-8C1F-53ECBE40B5F5}" type="slidenum">
              <a:rPr lang="en-US" smtClean="0"/>
              <a:t>‹#›</a:t>
            </a:fld>
            <a:endParaRPr lang="en-US"/>
          </a:p>
        </p:txBody>
      </p:sp>
    </p:spTree>
    <p:extLst>
      <p:ext uri="{BB962C8B-B14F-4D97-AF65-F5344CB8AC3E}">
        <p14:creationId xmlns:p14="http://schemas.microsoft.com/office/powerpoint/2010/main" val="468032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BB9B11-0294-0D4F-A411-B9DC3B9D9FDF}" type="datetimeFigureOut">
              <a:rPr lang="en-US" smtClean="0"/>
              <a:t>7/16/2018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56844-9A5E-1F44-8C1F-53ECBE40B5F5}" type="slidenum">
              <a:rPr lang="en-US" smtClean="0"/>
              <a:t>‹#›</a:t>
            </a:fld>
            <a:endParaRPr lang="en-US"/>
          </a:p>
        </p:txBody>
      </p:sp>
    </p:spTree>
    <p:extLst>
      <p:ext uri="{BB962C8B-B14F-4D97-AF65-F5344CB8AC3E}">
        <p14:creationId xmlns:p14="http://schemas.microsoft.com/office/powerpoint/2010/main" val="2139347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BB9B11-0294-0D4F-A411-B9DC3B9D9FDF}" type="datetimeFigureOut">
              <a:rPr lang="en-US" smtClean="0"/>
              <a:t>7/16/2018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56844-9A5E-1F44-8C1F-53ECBE40B5F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016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5BB9B11-0294-0D4F-A411-B9DC3B9D9FDF}" type="datetimeFigureOut">
              <a:rPr lang="en-US" smtClean="0"/>
              <a:t>7/16/2018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56844-9A5E-1F44-8C1F-53ECBE40B5F5}" type="slidenum">
              <a:rPr lang="en-US" smtClean="0"/>
              <a:t>‹#›</a:t>
            </a:fld>
            <a:endParaRPr lang="en-US"/>
          </a:p>
        </p:txBody>
      </p:sp>
    </p:spTree>
    <p:extLst>
      <p:ext uri="{BB962C8B-B14F-4D97-AF65-F5344CB8AC3E}">
        <p14:creationId xmlns:p14="http://schemas.microsoft.com/office/powerpoint/2010/main" val="978725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5BB9B11-0294-0D4F-A411-B9DC3B9D9FDF}" type="datetimeFigureOut">
              <a:rPr lang="en-US" smtClean="0"/>
              <a:t>7/16/2018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56844-9A5E-1F44-8C1F-53ECBE40B5F5}"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158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5BB9B11-0294-0D4F-A411-B9DC3B9D9FDF}" type="datetimeFigureOut">
              <a:rPr lang="en-US" smtClean="0"/>
              <a:t>7/16/2018</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6F56844-9A5E-1F44-8C1F-53ECBE40B5F5}"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073662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google.com.sg/url?sa=i&amp;rct=j&amp;q=&amp;esrc=s&amp;source=images&amp;cd=&amp;cad=rja&amp;uact=8&amp;ved=0ahUKEwjQrt6wx5bVAhXFErwKHdtsCP0QjRwIBw&amp;url=http://storify.com/LourdesTemoche/del-libro-al-escenario-cronica-de-una-muerte-anunc&amp;psig=AFQjCNFKasFCruvyXiXpIcRLNfCpAOmO9A&amp;ust=1500595324657645" TargetMode="Externa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hyperlink" Target="http://www.personal.utulsa.edu/~andrew-wood/carnival/introduction.html" TargetMode="External"/><Relationship Id="rId2" Type="http://schemas.openxmlformats.org/officeDocument/2006/relationships/hyperlink" Target="http://www.educoas.org/Portal/bdigital/contenido/interamer/interamer_34/verg64_cp1.aspx?culture=en" TargetMode="Externa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medium.com/@pambianda/perspective-and-point-of-view-in-chronicle-of-a-death-foretold-865245a52f68"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Chronicle of a death Foretold</a:t>
            </a:r>
            <a:endParaRPr lang="en-US" dirty="0"/>
          </a:p>
        </p:txBody>
      </p:sp>
      <p:sp>
        <p:nvSpPr>
          <p:cNvPr id="3" name="Subtitle 2"/>
          <p:cNvSpPr>
            <a:spLocks noGrp="1"/>
          </p:cNvSpPr>
          <p:nvPr>
            <p:ph type="subTitle" idx="1"/>
          </p:nvPr>
        </p:nvSpPr>
        <p:spPr/>
        <p:txBody>
          <a:bodyPr/>
          <a:lstStyle/>
          <a:p>
            <a:r>
              <a:rPr lang="en-US" smtClean="0"/>
              <a:t>Year </a:t>
            </a:r>
            <a:r>
              <a:rPr lang="en-US" smtClean="0"/>
              <a:t>6ELL</a:t>
            </a:r>
            <a:endParaRPr lang="en-US" dirty="0"/>
          </a:p>
        </p:txBody>
      </p:sp>
    </p:spTree>
    <p:extLst>
      <p:ext uri="{BB962C8B-B14F-4D97-AF65-F5344CB8AC3E}">
        <p14:creationId xmlns:p14="http://schemas.microsoft.com/office/powerpoint/2010/main" val="2279626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christopher.bossan\AppData\Local\Microsoft\Windows\Temporary Internet Files\Content.IE5\ABE1ZH5M\wordclou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1625" y="1237773"/>
            <a:ext cx="6886575" cy="516493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Themes in </a:t>
            </a:r>
            <a:r>
              <a:rPr lang="en-US" dirty="0" err="1" smtClean="0"/>
              <a:t>CoADF</a:t>
            </a:r>
            <a:endParaRPr lang="en-US" dirty="0"/>
          </a:p>
        </p:txBody>
      </p:sp>
      <p:sp>
        <p:nvSpPr>
          <p:cNvPr id="3" name="Content Placeholder 2"/>
          <p:cNvSpPr>
            <a:spLocks noGrp="1"/>
          </p:cNvSpPr>
          <p:nvPr>
            <p:ph idx="1"/>
          </p:nvPr>
        </p:nvSpPr>
        <p:spPr/>
        <p:txBody>
          <a:bodyPr>
            <a:normAutofit fontScale="92500" lnSpcReduction="10000"/>
          </a:bodyPr>
          <a:lstStyle/>
          <a:p>
            <a:r>
              <a:rPr lang="en-US" sz="2400" dirty="0"/>
              <a:t>Rituals</a:t>
            </a:r>
          </a:p>
          <a:p>
            <a:r>
              <a:rPr lang="en-US" sz="2400" dirty="0"/>
              <a:t>Responsibility (Societal and as an Individual)</a:t>
            </a:r>
          </a:p>
          <a:p>
            <a:r>
              <a:rPr lang="en-US" sz="2400" dirty="0" err="1"/>
              <a:t>Honour</a:t>
            </a:r>
            <a:r>
              <a:rPr lang="en-US" sz="2400" dirty="0"/>
              <a:t> / Obligation / Social Expectations</a:t>
            </a:r>
          </a:p>
          <a:p>
            <a:r>
              <a:rPr lang="en-US" sz="2400" dirty="0"/>
              <a:t>Inevitability/ Foretold / Fate / Lack of Freedom</a:t>
            </a:r>
          </a:p>
          <a:p>
            <a:r>
              <a:rPr lang="en-US" sz="2400" dirty="0"/>
              <a:t>Uncertainty / Ambiguity / Mystery</a:t>
            </a:r>
          </a:p>
          <a:p>
            <a:r>
              <a:rPr lang="en-US" sz="2400" dirty="0"/>
              <a:t>Reconstruction /  The Search for Truth </a:t>
            </a:r>
          </a:p>
          <a:p>
            <a:r>
              <a:rPr lang="en-US" sz="2400" dirty="0"/>
              <a:t>Isolation / Alienation</a:t>
            </a:r>
          </a:p>
          <a:p>
            <a:r>
              <a:rPr lang="en-US" sz="2400" dirty="0"/>
              <a:t>Conflict &amp; Violence: Gender, Class, Age</a:t>
            </a:r>
          </a:p>
          <a:p>
            <a:r>
              <a:rPr lang="en-US" sz="2400" dirty="0"/>
              <a:t>Justice: Retributive, Restorative, Distributive</a:t>
            </a:r>
          </a:p>
          <a:p>
            <a:endParaRPr lang="en-US" dirty="0"/>
          </a:p>
        </p:txBody>
      </p:sp>
    </p:spTree>
    <p:extLst>
      <p:ext uri="{BB962C8B-B14F-4D97-AF65-F5344CB8AC3E}">
        <p14:creationId xmlns:p14="http://schemas.microsoft.com/office/powerpoint/2010/main" val="3830904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Rituals</a:t>
            </a:r>
            <a:endParaRPr lang="en-US" dirty="0"/>
          </a:p>
        </p:txBody>
      </p:sp>
      <p:sp>
        <p:nvSpPr>
          <p:cNvPr id="3" name="Content Placeholder 2"/>
          <p:cNvSpPr>
            <a:spLocks noGrp="1"/>
          </p:cNvSpPr>
          <p:nvPr>
            <p:ph idx="1"/>
          </p:nvPr>
        </p:nvSpPr>
        <p:spPr>
          <a:xfrm>
            <a:off x="1024128" y="2285999"/>
            <a:ext cx="10818467" cy="4471639"/>
          </a:xfrm>
        </p:spPr>
        <p:txBody>
          <a:bodyPr>
            <a:normAutofit/>
          </a:bodyPr>
          <a:lstStyle/>
          <a:p>
            <a:r>
              <a:rPr lang="en-US" dirty="0" smtClean="0"/>
              <a:t> </a:t>
            </a:r>
            <a:endParaRPr lang="en-US" dirty="0"/>
          </a:p>
          <a:p>
            <a:endParaRPr lang="en-US" dirty="0"/>
          </a:p>
        </p:txBody>
      </p:sp>
      <p:sp>
        <p:nvSpPr>
          <p:cNvPr id="4" name="Content Placeholder 2"/>
          <p:cNvSpPr txBox="1">
            <a:spLocks/>
          </p:cNvSpPr>
          <p:nvPr/>
        </p:nvSpPr>
        <p:spPr>
          <a:xfrm>
            <a:off x="1024127" y="2084832"/>
            <a:ext cx="10818467" cy="4471639"/>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b="1" dirty="0" smtClean="0"/>
              <a:t>Rituals are an attempt at bringing order. Santiago enjoys the ‘pomp’ of the Bishop’s visit but displays no religious leanings. </a:t>
            </a:r>
          </a:p>
          <a:p>
            <a:r>
              <a:rPr lang="en-US" b="1" dirty="0" smtClean="0"/>
              <a:t>Often more important in divided/unequal societies (context)</a:t>
            </a:r>
          </a:p>
          <a:p>
            <a:r>
              <a:rPr lang="en-US" b="1" dirty="0" smtClean="0"/>
              <a:t>Rituals bring together profane/sacred, dead/living, rich and poor. </a:t>
            </a:r>
          </a:p>
          <a:p>
            <a:r>
              <a:rPr lang="en-US" b="1" dirty="0" smtClean="0"/>
              <a:t>In the novel, rituals can be mundane (daily routines of the town’s tradespeople) or more elaborate (marriage, religious celebration).</a:t>
            </a:r>
            <a:endParaRPr lang="en-US" b="1" dirty="0"/>
          </a:p>
          <a:p>
            <a:r>
              <a:rPr lang="en-US" b="1" dirty="0" smtClean="0"/>
              <a:t>Love, religious </a:t>
            </a:r>
            <a:r>
              <a:rPr lang="en-US" b="1" dirty="0" err="1" smtClean="0"/>
              <a:t>fervour</a:t>
            </a:r>
            <a:r>
              <a:rPr lang="en-US" b="1" dirty="0" smtClean="0"/>
              <a:t>, and revenge are all carried out within the public space</a:t>
            </a:r>
            <a:r>
              <a:rPr lang="en-US" dirty="0" smtClean="0"/>
              <a:t>: The Vicario sisters  mourn their dead sister by “observing </a:t>
            </a:r>
            <a:r>
              <a:rPr lang="en-US" dirty="0"/>
              <a:t>a mourning that was relaxed inside the house but </a:t>
            </a:r>
            <a:r>
              <a:rPr lang="en-US" u="sng" dirty="0"/>
              <a:t>rigorous on the street</a:t>
            </a:r>
            <a:r>
              <a:rPr lang="en-US" dirty="0" smtClean="0"/>
              <a:t>”</a:t>
            </a:r>
          </a:p>
          <a:p>
            <a:r>
              <a:rPr lang="en-US" b="1" dirty="0" smtClean="0"/>
              <a:t>Angela’s letter writing fills little purpose but to show her love/absolve her guilt. </a:t>
            </a:r>
            <a:r>
              <a:rPr lang="en-US" b="1" dirty="0" err="1" smtClean="0"/>
              <a:t>Bayardo</a:t>
            </a:r>
            <a:r>
              <a:rPr lang="en-US" b="1" dirty="0" smtClean="0"/>
              <a:t> San Roman thus does not need to read the letters. As long as ritual has been performed.</a:t>
            </a:r>
            <a:endParaRPr lang="en-US" b="1" dirty="0"/>
          </a:p>
        </p:txBody>
      </p:sp>
    </p:spTree>
    <p:extLst>
      <p:ext uri="{BB962C8B-B14F-4D97-AF65-F5344CB8AC3E}">
        <p14:creationId xmlns:p14="http://schemas.microsoft.com/office/powerpoint/2010/main" val="15226102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Rituals</a:t>
            </a:r>
            <a:endParaRPr lang="en-US" dirty="0"/>
          </a:p>
        </p:txBody>
      </p:sp>
      <p:sp>
        <p:nvSpPr>
          <p:cNvPr id="3" name="Content Placeholder 2"/>
          <p:cNvSpPr>
            <a:spLocks noGrp="1"/>
          </p:cNvSpPr>
          <p:nvPr>
            <p:ph idx="1"/>
          </p:nvPr>
        </p:nvSpPr>
        <p:spPr>
          <a:xfrm>
            <a:off x="1024128" y="2285999"/>
            <a:ext cx="10818467" cy="4471639"/>
          </a:xfrm>
        </p:spPr>
        <p:txBody>
          <a:bodyPr>
            <a:normAutofit fontScale="92500" lnSpcReduction="10000"/>
          </a:bodyPr>
          <a:lstStyle/>
          <a:p>
            <a:r>
              <a:rPr lang="en-US" b="1" dirty="0" smtClean="0"/>
              <a:t>Several forms of ritual</a:t>
            </a:r>
          </a:p>
          <a:p>
            <a:r>
              <a:rPr lang="en-US" dirty="0" smtClean="0"/>
              <a:t>Ritual killing: Santiago is put to death in the middle of the town square in a description that echoes a Bull ring. Origins as a sacrificial event. Associated with religious festival and royal weddings. Considered a noble sport for the rich: </a:t>
            </a:r>
            <a:r>
              <a:rPr lang="en-US" u="sng" dirty="0" smtClean="0"/>
              <a:t>Contrast and inversion </a:t>
            </a:r>
            <a:r>
              <a:rPr lang="en-US" dirty="0" smtClean="0"/>
              <a:t>as the poor brother Vicario kill a rich man.  </a:t>
            </a:r>
            <a:r>
              <a:rPr lang="en-US" dirty="0" err="1" smtClean="0"/>
              <a:t>Bayardo</a:t>
            </a:r>
            <a:r>
              <a:rPr lang="en-US" dirty="0" smtClean="0"/>
              <a:t> San Roman has " </a:t>
            </a:r>
            <a:r>
              <a:rPr lang="en-US" dirty="0"/>
              <a:t>the waist of P a novice </a:t>
            </a:r>
            <a:r>
              <a:rPr lang="en-US" dirty="0" smtClean="0"/>
              <a:t>bullfighter”. The local policeman is </a:t>
            </a:r>
            <a:r>
              <a:rPr lang="en-US" dirty="0" err="1" smtClean="0"/>
              <a:t>gorred</a:t>
            </a:r>
            <a:r>
              <a:rPr lang="en-US" dirty="0" smtClean="0"/>
              <a:t> to death by a bull during a festival the following year. </a:t>
            </a:r>
          </a:p>
          <a:p>
            <a:r>
              <a:rPr lang="en-US" dirty="0" smtClean="0"/>
              <a:t>Sacrificial act: Reference to the vestal like nature of the Vicario sisters(See comprehension notes). </a:t>
            </a:r>
          </a:p>
          <a:p>
            <a:r>
              <a:rPr lang="en-US" dirty="0" smtClean="0"/>
              <a:t>“</a:t>
            </a:r>
            <a:r>
              <a:rPr lang="en-US" dirty="0"/>
              <a:t>The people had stationed themselves on the square the way they did on </a:t>
            </a:r>
            <a:r>
              <a:rPr lang="en-US" u="sng" dirty="0"/>
              <a:t>parade days. </a:t>
            </a:r>
            <a:r>
              <a:rPr lang="en-US" dirty="0" smtClean="0"/>
              <a:t>[</a:t>
            </a:r>
            <a:r>
              <a:rPr lang="is-IS" dirty="0" smtClean="0"/>
              <a:t>…]</a:t>
            </a:r>
            <a:r>
              <a:rPr lang="en-US" dirty="0" smtClean="0"/>
              <a:t>he </a:t>
            </a:r>
            <a:r>
              <a:rPr lang="en-US" dirty="0"/>
              <a:t>was so confused he couldn't find his way home. </a:t>
            </a:r>
            <a:r>
              <a:rPr lang="en-US" dirty="0" smtClean="0"/>
              <a:t>“They </a:t>
            </a:r>
            <a:r>
              <a:rPr lang="en-US" dirty="0"/>
              <a:t>began to shout at him from every side, and Santiago </a:t>
            </a:r>
            <a:r>
              <a:rPr lang="en-US" dirty="0" err="1"/>
              <a:t>Nasar</a:t>
            </a:r>
            <a:r>
              <a:rPr lang="en-US" dirty="0"/>
              <a:t> went backward and forward several times, baffled by hearing so many voices at the same time. </a:t>
            </a:r>
            <a:r>
              <a:rPr lang="en-US" dirty="0" smtClean="0"/>
              <a:t>=&gt; disorientated animal. </a:t>
            </a:r>
          </a:p>
          <a:p>
            <a:r>
              <a:rPr lang="en-US" dirty="0" smtClean="0"/>
              <a:t>The twins carried out their killing almost mechanically. Following rites but do not seem to be truly be in control.</a:t>
            </a:r>
            <a:endParaRPr lang="en-US" dirty="0"/>
          </a:p>
          <a:p>
            <a:r>
              <a:rPr lang="en-US" dirty="0" smtClean="0"/>
              <a:t> </a:t>
            </a:r>
            <a:endParaRPr lang="en-US" dirty="0"/>
          </a:p>
          <a:p>
            <a:endParaRPr lang="en-US" dirty="0"/>
          </a:p>
        </p:txBody>
      </p:sp>
      <p:pic>
        <p:nvPicPr>
          <p:cNvPr id="4" name="Picture 3"/>
          <p:cNvPicPr>
            <a:picLocks noChangeAspect="1"/>
          </p:cNvPicPr>
          <p:nvPr/>
        </p:nvPicPr>
        <p:blipFill>
          <a:blip r:embed="rId2"/>
          <a:stretch>
            <a:fillRect/>
          </a:stretch>
        </p:blipFill>
        <p:spPr>
          <a:xfrm>
            <a:off x="8028879" y="144743"/>
            <a:ext cx="4014118" cy="2372344"/>
          </a:xfrm>
          <a:prstGeom prst="rect">
            <a:avLst/>
          </a:prstGeom>
        </p:spPr>
      </p:pic>
    </p:spTree>
    <p:extLst>
      <p:ext uri="{BB962C8B-B14F-4D97-AF65-F5344CB8AC3E}">
        <p14:creationId xmlns:p14="http://schemas.microsoft.com/office/powerpoint/2010/main" val="10004021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Rituals</a:t>
            </a:r>
            <a:endParaRPr lang="en-US" dirty="0"/>
          </a:p>
        </p:txBody>
      </p:sp>
      <p:sp>
        <p:nvSpPr>
          <p:cNvPr id="3" name="Content Placeholder 2"/>
          <p:cNvSpPr>
            <a:spLocks noGrp="1"/>
          </p:cNvSpPr>
          <p:nvPr>
            <p:ph idx="1"/>
          </p:nvPr>
        </p:nvSpPr>
        <p:spPr>
          <a:xfrm>
            <a:off x="1024128" y="2285999"/>
            <a:ext cx="10818467" cy="4471639"/>
          </a:xfrm>
        </p:spPr>
        <p:txBody>
          <a:bodyPr>
            <a:normAutofit/>
          </a:bodyPr>
          <a:lstStyle/>
          <a:p>
            <a:endParaRPr lang="en-US" dirty="0"/>
          </a:p>
        </p:txBody>
      </p:sp>
      <p:pic>
        <p:nvPicPr>
          <p:cNvPr id="1026" name="Picture 2" descr="Related image">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450" y="2075519"/>
            <a:ext cx="2997200" cy="4515782"/>
          </a:xfrm>
          <a:prstGeom prst="rect">
            <a:avLst/>
          </a:prstGeom>
          <a:noFill/>
          <a:ln w="38100">
            <a:solidFill>
              <a:srgbClr val="92D050"/>
            </a:solidFill>
          </a:ln>
          <a:extLst>
            <a:ext uri="{909E8E84-426E-40DD-AFC4-6F175D3DCCD1}">
              <a14:hiddenFill xmlns:a14="http://schemas.microsoft.com/office/drawing/2010/main">
                <a:solidFill>
                  <a:srgbClr val="FFFFFF"/>
                </a:solidFill>
              </a14:hiddenFill>
            </a:ext>
          </a:extLst>
        </p:spPr>
      </p:pic>
      <p:pic>
        <p:nvPicPr>
          <p:cNvPr id="1028" name="Picture 4" descr="http://www.europeanpublicaffairs.eu/wp-content/uploads/2013/07/silvia-e137422963173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6370" y="2638426"/>
            <a:ext cx="5953125" cy="3952875"/>
          </a:xfrm>
          <a:prstGeom prst="rect">
            <a:avLst/>
          </a:prstGeom>
          <a:noFill/>
          <a:ln w="28575">
            <a:solidFill>
              <a:srgbClr val="92D050"/>
            </a:solidFill>
          </a:ln>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543675" y="142875"/>
            <a:ext cx="5298920" cy="923330"/>
          </a:xfrm>
          <a:prstGeom prst="rect">
            <a:avLst/>
          </a:prstGeom>
          <a:noFill/>
        </p:spPr>
        <p:txBody>
          <a:bodyPr wrap="square" rtlCol="0">
            <a:spAutoFit/>
          </a:bodyPr>
          <a:lstStyle/>
          <a:p>
            <a:r>
              <a:rPr lang="en-US" dirty="0" smtClean="0"/>
              <a:t>Stage setting for a modern production of COADF:</a:t>
            </a:r>
          </a:p>
          <a:p>
            <a:r>
              <a:rPr lang="en-US" dirty="0" smtClean="0"/>
              <a:t>Notice that the stage is set as bull ring (right). Sacrifice and crucifixion also refer to religious rituals (right). </a:t>
            </a:r>
            <a:endParaRPr lang="en-GB" dirty="0"/>
          </a:p>
        </p:txBody>
      </p:sp>
    </p:spTree>
    <p:extLst>
      <p:ext uri="{BB962C8B-B14F-4D97-AF65-F5344CB8AC3E}">
        <p14:creationId xmlns:p14="http://schemas.microsoft.com/office/powerpoint/2010/main" val="22051897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Rituals</a:t>
            </a:r>
            <a:endParaRPr lang="en-US" dirty="0"/>
          </a:p>
        </p:txBody>
      </p:sp>
      <p:sp>
        <p:nvSpPr>
          <p:cNvPr id="3" name="Content Placeholder 2"/>
          <p:cNvSpPr>
            <a:spLocks noGrp="1"/>
          </p:cNvSpPr>
          <p:nvPr>
            <p:ph idx="1"/>
          </p:nvPr>
        </p:nvSpPr>
        <p:spPr>
          <a:xfrm>
            <a:off x="1024128" y="2285999"/>
            <a:ext cx="10818467" cy="4471639"/>
          </a:xfrm>
        </p:spPr>
        <p:txBody>
          <a:bodyPr>
            <a:normAutofit/>
          </a:bodyPr>
          <a:lstStyle/>
          <a:p>
            <a:r>
              <a:rPr lang="en-US" b="1" dirty="0" smtClean="0"/>
              <a:t>Carnival</a:t>
            </a:r>
          </a:p>
          <a:p>
            <a:r>
              <a:rPr lang="en-US" dirty="0" smtClean="0"/>
              <a:t>“</a:t>
            </a:r>
            <a:r>
              <a:rPr lang="en-GB" dirty="0"/>
              <a:t>A carnival-like text, a theatrical spectacle in which there is no distinction between actors and spectators, </a:t>
            </a:r>
            <a:r>
              <a:rPr lang="en-GB" i="1" dirty="0"/>
              <a:t>Chronicle</a:t>
            </a:r>
            <a:r>
              <a:rPr lang="en-GB" dirty="0"/>
              <a:t> makes all its characters actors who are guilty of the crime and participants in it, and culminates with their attendance at Santiago </a:t>
            </a:r>
            <a:r>
              <a:rPr lang="en-GB" dirty="0" err="1"/>
              <a:t>Nasar’s</a:t>
            </a:r>
            <a:r>
              <a:rPr lang="en-GB" dirty="0"/>
              <a:t> murder in the square shown as a public act. To comprehend this </a:t>
            </a:r>
            <a:r>
              <a:rPr lang="en-GB" dirty="0" err="1"/>
              <a:t>theater</a:t>
            </a:r>
            <a:r>
              <a:rPr lang="en-GB" dirty="0"/>
              <a:t> of symbolic signs, we must interpret the names of the characters, the place of sacrifice, and the role of the community in the novel</a:t>
            </a:r>
            <a:r>
              <a:rPr lang="en-GB" dirty="0" smtClean="0"/>
              <a:t>.” </a:t>
            </a:r>
            <a:r>
              <a:rPr lang="en-GB" i="1" dirty="0" smtClean="0">
                <a:hlinkClick r:id="rId2"/>
              </a:rPr>
              <a:t>-Source</a:t>
            </a:r>
            <a:endParaRPr lang="en-US" i="1" dirty="0"/>
          </a:p>
          <a:p>
            <a:pPr>
              <a:buFont typeface="Wingdings" panose="05000000000000000000" pitchFamily="2" charset="2"/>
              <a:buChar char="§"/>
            </a:pPr>
            <a:r>
              <a:rPr lang="en-US" dirty="0" smtClean="0"/>
              <a:t> Wedding, drunkenness and Bishops visit create a </a:t>
            </a:r>
            <a:r>
              <a:rPr lang="en-US" dirty="0" err="1" smtClean="0"/>
              <a:t>carnivalesque</a:t>
            </a:r>
            <a:r>
              <a:rPr lang="en-US" dirty="0" smtClean="0"/>
              <a:t> atmosphere.</a:t>
            </a:r>
          </a:p>
          <a:p>
            <a:pPr>
              <a:buFont typeface="Wingdings" panose="05000000000000000000" pitchFamily="2" charset="2"/>
              <a:buChar char="§"/>
            </a:pPr>
            <a:r>
              <a:rPr lang="en-US" dirty="0" smtClean="0"/>
              <a:t> Carnival is a time of inversion where reality and imaginary collide. </a:t>
            </a:r>
          </a:p>
          <a:p>
            <a:pPr>
              <a:buFont typeface="Wingdings" panose="05000000000000000000" pitchFamily="2" charset="2"/>
              <a:buChar char="§"/>
            </a:pPr>
            <a:r>
              <a:rPr lang="en-US" dirty="0" smtClean="0"/>
              <a:t> Historically used as a pressure valve (social conflict and social class) “</a:t>
            </a:r>
            <a:r>
              <a:rPr lang="en-GB" dirty="0"/>
              <a:t>the European festival generally encouraged a temporary social-cultural inversion of social hierarchy</a:t>
            </a:r>
            <a:r>
              <a:rPr lang="en-GB" dirty="0" smtClean="0"/>
              <a:t>,”- </a:t>
            </a:r>
            <a:r>
              <a:rPr lang="en-GB" dirty="0" smtClean="0">
                <a:hlinkClick r:id="rId3"/>
              </a:rPr>
              <a:t>Source </a:t>
            </a:r>
            <a:endParaRPr lang="en-US" dirty="0"/>
          </a:p>
        </p:txBody>
      </p:sp>
      <p:pic>
        <p:nvPicPr>
          <p:cNvPr id="4098" name="Picture 2" descr="http://quatr.us/medieval/religion/pictures/lent.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345" y="234950"/>
            <a:ext cx="4286250" cy="2238375"/>
          </a:xfrm>
          <a:prstGeom prst="rect">
            <a:avLst/>
          </a:prstGeom>
          <a:noFill/>
          <a:ln w="3810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87498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Rituals</a:t>
            </a:r>
            <a:endParaRPr lang="en-US" dirty="0"/>
          </a:p>
        </p:txBody>
      </p:sp>
      <p:sp>
        <p:nvSpPr>
          <p:cNvPr id="3" name="Content Placeholder 2"/>
          <p:cNvSpPr>
            <a:spLocks noGrp="1"/>
          </p:cNvSpPr>
          <p:nvPr>
            <p:ph idx="1"/>
          </p:nvPr>
        </p:nvSpPr>
        <p:spPr>
          <a:xfrm>
            <a:off x="1024128" y="2285999"/>
            <a:ext cx="10818467" cy="4471639"/>
          </a:xfrm>
        </p:spPr>
        <p:txBody>
          <a:bodyPr>
            <a:normAutofit/>
          </a:bodyPr>
          <a:lstStyle/>
          <a:p>
            <a:r>
              <a:rPr lang="en-US" dirty="0" smtClean="0"/>
              <a:t> </a:t>
            </a:r>
            <a:endParaRPr lang="en-US" dirty="0"/>
          </a:p>
          <a:p>
            <a:r>
              <a:rPr lang="en-US" b="1" u="sng" dirty="0" smtClean="0"/>
              <a:t>Ritual in the structure of the text:</a:t>
            </a:r>
          </a:p>
          <a:p>
            <a:r>
              <a:rPr lang="en-US" dirty="0" smtClean="0"/>
              <a:t>Repetition: The narrator keeps going over the events. Adding minute details. </a:t>
            </a:r>
            <a:endParaRPr lang="en-US" dirty="0"/>
          </a:p>
          <a:p>
            <a:r>
              <a:rPr lang="en-US" dirty="0" smtClean="0"/>
              <a:t>Similar scenes are described several times. </a:t>
            </a:r>
          </a:p>
          <a:p>
            <a:r>
              <a:rPr lang="en-US" dirty="0" smtClean="0"/>
              <a:t>The same words are used over and over again. The novel becomes a form of reenactment of the crime committed. </a:t>
            </a:r>
            <a:r>
              <a:rPr lang="en-US" dirty="0"/>
              <a:t>On the day they were going to kill him," "They've killed Santiago </a:t>
            </a:r>
            <a:r>
              <a:rPr lang="en-US" dirty="0" err="1"/>
              <a:t>Nasar</a:t>
            </a:r>
            <a:r>
              <a:rPr lang="en-US" dirty="0"/>
              <a:t>" and "It was the last time </a:t>
            </a:r>
            <a:r>
              <a:rPr lang="en-US" dirty="0" smtClean="0"/>
              <a:t>they </a:t>
            </a:r>
            <a:r>
              <a:rPr lang="en-US" dirty="0"/>
              <a:t>saw him alive," </a:t>
            </a:r>
            <a:r>
              <a:rPr lang="en-US" dirty="0" smtClean="0"/>
              <a:t>=&gt; Incantation, ceremonial proceedings. </a:t>
            </a:r>
            <a:endParaRPr lang="en-US" dirty="0"/>
          </a:p>
          <a:p>
            <a:r>
              <a:rPr lang="en-US" dirty="0" smtClean="0"/>
              <a:t>The act of writing the chronicle itself becomes a ritual. </a:t>
            </a:r>
          </a:p>
          <a:p>
            <a:r>
              <a:rPr lang="en-US" dirty="0" smtClean="0"/>
              <a:t>Ritual as a desire for absolution of “guilt”</a:t>
            </a:r>
            <a:endParaRPr lang="en-US" dirty="0"/>
          </a:p>
        </p:txBody>
      </p:sp>
      <p:pic>
        <p:nvPicPr>
          <p:cNvPr id="4098" name="Picture 2" descr="https://st3.depositphotos.com/1006360/14673/v/450/depositphotos_146738371-stock-illustration-ritual-word-clou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345" y="585216"/>
            <a:ext cx="4286250" cy="183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823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Rituals</a:t>
            </a:r>
            <a:endParaRPr lang="en-US" dirty="0"/>
          </a:p>
        </p:txBody>
      </p:sp>
      <p:sp>
        <p:nvSpPr>
          <p:cNvPr id="3" name="Content Placeholder 2"/>
          <p:cNvSpPr>
            <a:spLocks noGrp="1"/>
          </p:cNvSpPr>
          <p:nvPr>
            <p:ph idx="1"/>
          </p:nvPr>
        </p:nvSpPr>
        <p:spPr>
          <a:xfrm>
            <a:off x="1024128" y="2285999"/>
            <a:ext cx="10818467" cy="4471639"/>
          </a:xfrm>
        </p:spPr>
        <p:txBody>
          <a:bodyPr>
            <a:normAutofit/>
          </a:bodyPr>
          <a:lstStyle/>
          <a:p>
            <a:r>
              <a:rPr lang="en-US" sz="3200" b="1" dirty="0" smtClean="0"/>
              <a:t>Link to 1984:</a:t>
            </a:r>
          </a:p>
          <a:p>
            <a:r>
              <a:rPr lang="en-US" dirty="0" smtClean="0"/>
              <a:t>The ‘two minutes of hate’pp12-19</a:t>
            </a:r>
          </a:p>
          <a:p>
            <a:r>
              <a:rPr lang="en-US" dirty="0" smtClean="0"/>
              <a:t>Daily rituals used in an oppressive society. </a:t>
            </a:r>
          </a:p>
          <a:p>
            <a:r>
              <a:rPr lang="en-US" dirty="0" smtClean="0"/>
              <a:t>Making sense of what is meaningless. </a:t>
            </a:r>
          </a:p>
        </p:txBody>
      </p:sp>
    </p:spTree>
    <p:extLst>
      <p:ext uri="{BB962C8B-B14F-4D97-AF65-F5344CB8AC3E}">
        <p14:creationId xmlns:p14="http://schemas.microsoft.com/office/powerpoint/2010/main" val="20998586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Responsibility</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Everyone knew but nobody did anything. </a:t>
            </a:r>
          </a:p>
          <a:p>
            <a:r>
              <a:rPr lang="en-US" dirty="0" smtClean="0"/>
              <a:t>Characters tend to give reasons/excuses for not intervening.</a:t>
            </a:r>
          </a:p>
          <a:p>
            <a:r>
              <a:rPr lang="en-US" dirty="0" smtClean="0"/>
              <a:t>Diffusion of responsibility: No one acts when in a group:</a:t>
            </a:r>
            <a:r>
              <a:rPr lang="en-US" dirty="0"/>
              <a:t> </a:t>
            </a:r>
            <a:r>
              <a:rPr lang="en-US" dirty="0" smtClean="0"/>
              <a:t>Links </a:t>
            </a:r>
            <a:r>
              <a:rPr lang="en-US" dirty="0"/>
              <a:t>to the historical context as Colombia’s civil society and its leaders seemed powerless to intervene in La </a:t>
            </a:r>
            <a:r>
              <a:rPr lang="en-US" dirty="0" err="1"/>
              <a:t>Violencia</a:t>
            </a:r>
            <a:r>
              <a:rPr lang="en-US" dirty="0"/>
              <a:t> and the cycle of </a:t>
            </a:r>
            <a:r>
              <a:rPr lang="en-US" dirty="0" smtClean="0"/>
              <a:t>violence. </a:t>
            </a:r>
          </a:p>
          <a:p>
            <a:r>
              <a:rPr lang="en-US" dirty="0" smtClean="0"/>
              <a:t>Some characters seem to accept responsibility and suffer consequences: Placida Lucida “never forgave herself” p98 but “with the passage of time she freed herself from blame” p98. blames herself for misreading the dream: avoids the fact that she locked the door. </a:t>
            </a:r>
          </a:p>
          <a:p>
            <a:r>
              <a:rPr lang="en-US" dirty="0" smtClean="0"/>
              <a:t>Many characters mention code of </a:t>
            </a:r>
            <a:r>
              <a:rPr lang="en-US" dirty="0" err="1" smtClean="0"/>
              <a:t>honour</a:t>
            </a:r>
            <a:r>
              <a:rPr lang="en-US" dirty="0" smtClean="0"/>
              <a:t> or fatality as a way of absolving themselves. </a:t>
            </a:r>
            <a:r>
              <a:rPr lang="en-GB" dirty="0"/>
              <a:t>But most of those who could have done something to prevent the crime and did not consoled themselves with the pretext that affairs of </a:t>
            </a:r>
            <a:r>
              <a:rPr lang="en-GB" dirty="0" err="1"/>
              <a:t>honor</a:t>
            </a:r>
            <a:r>
              <a:rPr lang="en-GB" dirty="0"/>
              <a:t> are sacred monopolies, giving access only to those who are part of the </a:t>
            </a:r>
            <a:r>
              <a:rPr lang="en-GB" dirty="0" smtClean="0"/>
              <a:t>drama”p97</a:t>
            </a:r>
            <a:endParaRPr lang="en-US" dirty="0"/>
          </a:p>
          <a:p>
            <a:endParaRPr lang="en-US" dirty="0"/>
          </a:p>
        </p:txBody>
      </p:sp>
    </p:spTree>
    <p:extLst>
      <p:ext uri="{BB962C8B-B14F-4D97-AF65-F5344CB8AC3E}">
        <p14:creationId xmlns:p14="http://schemas.microsoft.com/office/powerpoint/2010/main" val="11708433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Responsibility &amp; Guilt</a:t>
            </a:r>
            <a:endParaRPr lang="en-US" dirty="0"/>
          </a:p>
        </p:txBody>
      </p:sp>
      <p:sp>
        <p:nvSpPr>
          <p:cNvPr id="3" name="Content Placeholder 2"/>
          <p:cNvSpPr>
            <a:spLocks noGrp="1"/>
          </p:cNvSpPr>
          <p:nvPr>
            <p:ph idx="1"/>
          </p:nvPr>
        </p:nvSpPr>
        <p:spPr>
          <a:xfrm>
            <a:off x="1024128" y="2286000"/>
            <a:ext cx="11031347" cy="4023360"/>
          </a:xfrm>
        </p:spPr>
        <p:txBody>
          <a:bodyPr>
            <a:normAutofit fontScale="92500" lnSpcReduction="20000"/>
          </a:bodyPr>
          <a:lstStyle/>
          <a:p>
            <a:r>
              <a:rPr lang="en-US" b="1" u="sng" dirty="0" smtClean="0"/>
              <a:t>Context: Catholic background</a:t>
            </a:r>
          </a:p>
          <a:p>
            <a:r>
              <a:rPr lang="en-US" dirty="0" smtClean="0"/>
              <a:t>Importance of absolution through confession. Naming and stating precisely allows for absolution hence the digression and personal anecdotes. </a:t>
            </a:r>
          </a:p>
          <a:p>
            <a:r>
              <a:rPr lang="en-US" dirty="0" smtClean="0"/>
              <a:t>The brothers go to the priest who sees their surrender “as an act of dignity”p49</a:t>
            </a:r>
          </a:p>
          <a:p>
            <a:r>
              <a:rPr lang="en-US" dirty="0" smtClean="0"/>
              <a:t>Guilt permeates the work: Citizens become obsessed with Santiago’s story:</a:t>
            </a:r>
            <a:r>
              <a:rPr lang="en-GB" dirty="0"/>
              <a:t> “For years we couldn’t talk about anything else. Our daily conduct, dominated then by so many linear habits, had suddenly begun to spin around a single common </a:t>
            </a:r>
            <a:r>
              <a:rPr lang="en-GB" dirty="0" smtClean="0"/>
              <a:t>anxiety” p96. </a:t>
            </a:r>
          </a:p>
          <a:p>
            <a:r>
              <a:rPr lang="en-GB" dirty="0" smtClean="0"/>
              <a:t>For some characters it seems too much: “</a:t>
            </a:r>
            <a:r>
              <a:rPr lang="en-GB" dirty="0"/>
              <a:t>Hortensia </a:t>
            </a:r>
            <a:r>
              <a:rPr lang="en-GB" dirty="0" err="1"/>
              <a:t>Baute</a:t>
            </a:r>
            <a:r>
              <a:rPr lang="en-GB" dirty="0"/>
              <a:t>, “whose only participation was having seen two bloody knives that weren’t bloody yet, felt so affected by the hallucination that she fell into a </a:t>
            </a:r>
            <a:r>
              <a:rPr lang="en-GB" u="sng" dirty="0"/>
              <a:t>penitential crisis</a:t>
            </a:r>
            <a:r>
              <a:rPr lang="en-GB" dirty="0"/>
              <a:t>, and one day, unable to stand it any longer, she ran out naked into the street</a:t>
            </a:r>
            <a:r>
              <a:rPr lang="en-GB" dirty="0" smtClean="0"/>
              <a:t>” p97=&gt; Christian and catholic imagery. </a:t>
            </a:r>
            <a:r>
              <a:rPr lang="en-US" dirty="0" smtClean="0"/>
              <a:t> </a:t>
            </a:r>
          </a:p>
          <a:p>
            <a:r>
              <a:rPr lang="en-US" dirty="0" smtClean="0"/>
              <a:t>Yet the town struggles with guilt. 27 years later, most characters are still willing to talk and attempt to “</a:t>
            </a:r>
            <a:r>
              <a:rPr lang="en-GB" dirty="0" smtClean="0"/>
              <a:t>put </a:t>
            </a:r>
            <a:r>
              <a:rPr lang="en-GB" dirty="0"/>
              <a:t>the broken mirror of memory back together from so many shattered shards</a:t>
            </a:r>
            <a:r>
              <a:rPr lang="en-US" dirty="0" smtClean="0"/>
              <a:t>.”p6 </a:t>
            </a:r>
            <a:endParaRPr lang="en-US" dirty="0"/>
          </a:p>
        </p:txBody>
      </p:sp>
      <p:pic>
        <p:nvPicPr>
          <p:cNvPr id="1026" name="Picture 2" descr="http://news.bbcimg.co.uk/media/images/73536000/jpg/_73536367_confession_337989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1450" y="87757"/>
            <a:ext cx="4264025" cy="23985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34737375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Responsibility &amp; Guilt</a:t>
            </a:r>
            <a:endParaRPr lang="en-US" dirty="0"/>
          </a:p>
        </p:txBody>
      </p:sp>
      <p:sp>
        <p:nvSpPr>
          <p:cNvPr id="3" name="Content Placeholder 2"/>
          <p:cNvSpPr>
            <a:spLocks noGrp="1"/>
          </p:cNvSpPr>
          <p:nvPr>
            <p:ph idx="1"/>
          </p:nvPr>
        </p:nvSpPr>
        <p:spPr>
          <a:xfrm>
            <a:off x="1024128" y="2286000"/>
            <a:ext cx="11031347" cy="4023360"/>
          </a:xfrm>
        </p:spPr>
        <p:txBody>
          <a:bodyPr>
            <a:normAutofit/>
          </a:bodyPr>
          <a:lstStyle/>
          <a:p>
            <a:r>
              <a:rPr lang="en-US" dirty="0" smtClean="0"/>
              <a:t>The brother refuse responsibility. They actually invoke the code of </a:t>
            </a:r>
            <a:r>
              <a:rPr lang="en-US" dirty="0" err="1" smtClean="0"/>
              <a:t>honour</a:t>
            </a:r>
            <a:r>
              <a:rPr lang="en-US" dirty="0" smtClean="0"/>
              <a:t> as overriding God’s words “ We killed him openly,” Pedro Vicario </a:t>
            </a:r>
            <a:r>
              <a:rPr lang="en-US" dirty="0" err="1" smtClean="0"/>
              <a:t>said,”but</a:t>
            </a:r>
            <a:r>
              <a:rPr lang="en-US" dirty="0" smtClean="0"/>
              <a:t> we’re innocent.”/Perhaps before God,” said Father Amador./”Before God and before </a:t>
            </a:r>
            <a:r>
              <a:rPr lang="en-US" dirty="0" err="1" smtClean="0"/>
              <a:t>men,”Pablo</a:t>
            </a:r>
            <a:r>
              <a:rPr lang="en-US" dirty="0" smtClean="0"/>
              <a:t> Vicario </a:t>
            </a:r>
            <a:r>
              <a:rPr lang="en-US" dirty="0" err="1" smtClean="0"/>
              <a:t>said.”It</a:t>
            </a:r>
            <a:r>
              <a:rPr lang="en-US" dirty="0" smtClean="0"/>
              <a:t> was a matter of honor” p49</a:t>
            </a:r>
          </a:p>
          <a:p>
            <a:r>
              <a:rPr lang="en-US" dirty="0" smtClean="0"/>
              <a:t>At the prison where they are sent for 3 years the twins never showed” any indication of remorse”p49. </a:t>
            </a:r>
          </a:p>
          <a:p>
            <a:r>
              <a:rPr lang="en-US" dirty="0" smtClean="0"/>
              <a:t>However, there is a suggestion they experienced guilt: p78 the brothers cannot get rid of Santiago’s “smell” (</a:t>
            </a:r>
            <a:r>
              <a:rPr lang="en-US" dirty="0" err="1" smtClean="0"/>
              <a:t>cf</a:t>
            </a:r>
            <a:r>
              <a:rPr lang="en-US" dirty="0" smtClean="0"/>
              <a:t> Lady </a:t>
            </a:r>
            <a:r>
              <a:rPr lang="en-US" dirty="0" err="1" smtClean="0"/>
              <a:t>MacBeth</a:t>
            </a:r>
            <a:r>
              <a:rPr lang="en-US" dirty="0" smtClean="0"/>
              <a:t>).  Pablo’s diarrhea may be an expression oh his guilt. We learn later that he is old and married happy. Pedro cannot ‘let go’ and the readers learns later he disappeared while on patrol with the army. </a:t>
            </a:r>
          </a:p>
          <a:p>
            <a:r>
              <a:rPr lang="en-US" dirty="0" smtClean="0"/>
              <a:t> </a:t>
            </a:r>
          </a:p>
          <a:p>
            <a:endParaRPr lang="en-US" dirty="0"/>
          </a:p>
        </p:txBody>
      </p:sp>
      <p:pic>
        <p:nvPicPr>
          <p:cNvPr id="2050" name="Picture 2" descr="http://orig15.deviantart.net/13b4/f/2013/116/2/9/bloody_knife_by_moonglowlilly-d635lz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7325" y="53191"/>
            <a:ext cx="2978150" cy="2232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3759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Honour</a:t>
            </a:r>
            <a:endParaRPr lang="en-US" dirty="0"/>
          </a:p>
        </p:txBody>
      </p:sp>
      <p:sp>
        <p:nvSpPr>
          <p:cNvPr id="3" name="Content Placeholder 2"/>
          <p:cNvSpPr>
            <a:spLocks noGrp="1"/>
          </p:cNvSpPr>
          <p:nvPr>
            <p:ph idx="1"/>
          </p:nvPr>
        </p:nvSpPr>
        <p:spPr/>
        <p:txBody>
          <a:bodyPr>
            <a:normAutofit/>
          </a:bodyPr>
          <a:lstStyle/>
          <a:p>
            <a:r>
              <a:rPr lang="en-US" sz="3200" dirty="0"/>
              <a:t>The quality of knowing and doing what is morally right.</a:t>
            </a:r>
          </a:p>
        </p:txBody>
      </p:sp>
    </p:spTree>
    <p:extLst>
      <p:ext uri="{BB962C8B-B14F-4D97-AF65-F5344CB8AC3E}">
        <p14:creationId xmlns:p14="http://schemas.microsoft.com/office/powerpoint/2010/main" val="11220945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Honour</a:t>
            </a:r>
            <a:endParaRPr lang="en-US" dirty="0"/>
          </a:p>
        </p:txBody>
      </p:sp>
      <p:sp>
        <p:nvSpPr>
          <p:cNvPr id="3" name="Content Placeholder 2"/>
          <p:cNvSpPr>
            <a:spLocks noGrp="1"/>
          </p:cNvSpPr>
          <p:nvPr>
            <p:ph idx="1"/>
          </p:nvPr>
        </p:nvSpPr>
        <p:spPr/>
        <p:txBody>
          <a:bodyPr>
            <a:normAutofit/>
          </a:bodyPr>
          <a:lstStyle/>
          <a:p>
            <a:r>
              <a:rPr lang="en-US" b="1" dirty="0" err="1" smtClean="0"/>
              <a:t>Honour</a:t>
            </a:r>
            <a:r>
              <a:rPr lang="en-US" b="1" dirty="0" smtClean="0"/>
              <a:t> is key in the community. </a:t>
            </a:r>
            <a:r>
              <a:rPr lang="en-US" dirty="0" smtClean="0"/>
              <a:t>To not have </a:t>
            </a:r>
            <a:r>
              <a:rPr lang="en-US" dirty="0" err="1" smtClean="0"/>
              <a:t>honour</a:t>
            </a:r>
            <a:r>
              <a:rPr lang="en-US" dirty="0" smtClean="0"/>
              <a:t> would lead to rejection. This might explain why no one intervenes. </a:t>
            </a:r>
            <a:r>
              <a:rPr lang="en-US" b="1" dirty="0" err="1" smtClean="0"/>
              <a:t>Honour</a:t>
            </a:r>
            <a:r>
              <a:rPr lang="en-US" b="1" dirty="0" smtClean="0"/>
              <a:t> is as much about public opinion as it is about moral codes. </a:t>
            </a:r>
          </a:p>
          <a:p>
            <a:r>
              <a:rPr lang="en-US" dirty="0" err="1" smtClean="0"/>
              <a:t>Honour</a:t>
            </a:r>
            <a:r>
              <a:rPr lang="en-US" dirty="0" smtClean="0"/>
              <a:t> is so important the lawyer uses it as a valid defense. </a:t>
            </a:r>
            <a:r>
              <a:rPr lang="en-US" dirty="0"/>
              <a:t>p</a:t>
            </a:r>
            <a:r>
              <a:rPr lang="en-US" dirty="0" smtClean="0"/>
              <a:t>48. “homicide in legitimate defense of honor”.  </a:t>
            </a:r>
          </a:p>
          <a:p>
            <a:r>
              <a:rPr lang="en-US" dirty="0" smtClean="0"/>
              <a:t>Linked to machismo/gender representation. “ The brothers were brought up to be men. The girls were reared to get married” p31=&gt; difference between ‘to bring up’ and ‘to rear’ someone (connotation with husbandry for the latter).  </a:t>
            </a:r>
          </a:p>
          <a:p>
            <a:r>
              <a:rPr lang="en-US" dirty="0" smtClean="0"/>
              <a:t>The word is repeated throughout the text. After the crime the twins feel “comforted by the honor of having done their duty”p79.</a:t>
            </a:r>
          </a:p>
          <a:p>
            <a:endParaRPr lang="en-US" dirty="0" smtClean="0"/>
          </a:p>
          <a:p>
            <a:endParaRPr lang="en-US" dirty="0" smtClean="0"/>
          </a:p>
          <a:p>
            <a:endParaRPr lang="en-US" dirty="0"/>
          </a:p>
        </p:txBody>
      </p:sp>
    </p:spTree>
    <p:extLst>
      <p:ext uri="{BB962C8B-B14F-4D97-AF65-F5344CB8AC3E}">
        <p14:creationId xmlns:p14="http://schemas.microsoft.com/office/powerpoint/2010/main" val="4176596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Honour</a:t>
            </a:r>
            <a:r>
              <a:rPr lang="en-US" dirty="0" smtClean="0"/>
              <a:t> &amp; Women</a:t>
            </a:r>
            <a:endParaRPr lang="en-US" dirty="0"/>
          </a:p>
        </p:txBody>
      </p:sp>
      <p:sp>
        <p:nvSpPr>
          <p:cNvPr id="3" name="Content Placeholder 2"/>
          <p:cNvSpPr>
            <a:spLocks noGrp="1"/>
          </p:cNvSpPr>
          <p:nvPr>
            <p:ph idx="1"/>
          </p:nvPr>
        </p:nvSpPr>
        <p:spPr/>
        <p:txBody>
          <a:bodyPr>
            <a:normAutofit/>
          </a:bodyPr>
          <a:lstStyle/>
          <a:p>
            <a:r>
              <a:rPr lang="en-US" dirty="0" smtClean="0"/>
              <a:t>Women’s </a:t>
            </a:r>
            <a:r>
              <a:rPr lang="en-US" dirty="0" err="1" smtClean="0"/>
              <a:t>honour</a:t>
            </a:r>
            <a:r>
              <a:rPr lang="en-US" dirty="0" smtClean="0"/>
              <a:t> is public shared with community during wedding and must thus be redeemed publicly. </a:t>
            </a:r>
          </a:p>
          <a:p>
            <a:r>
              <a:rPr lang="en-US" dirty="0" err="1" smtClean="0"/>
              <a:t>Honour</a:t>
            </a:r>
            <a:r>
              <a:rPr lang="en-US" dirty="0" smtClean="0"/>
              <a:t> is coded and highly ritualized. Women also expect it from men “ I never would have married him if he hadn’t done what a man should do”p62.</a:t>
            </a:r>
          </a:p>
          <a:p>
            <a:r>
              <a:rPr lang="en-US" dirty="0" err="1" smtClean="0"/>
              <a:t>Honour</a:t>
            </a:r>
            <a:r>
              <a:rPr lang="en-US" dirty="0" smtClean="0"/>
              <a:t> may also refer to a women’s virginity (old-fashioned). </a:t>
            </a:r>
          </a:p>
          <a:p>
            <a:r>
              <a:rPr lang="en-US" dirty="0" smtClean="0"/>
              <a:t>Women belong to the public space: their actions are judged in public and their sexuality assessed in public. Men do not have to worry with such things. The narrator, the twins, Santiago and their friends all spent time at the brothel the night before. However, the community seems fine with safeguarding their privacy. </a:t>
            </a:r>
          </a:p>
          <a:p>
            <a:endParaRPr lang="en-US" dirty="0" smtClean="0"/>
          </a:p>
          <a:p>
            <a:endParaRPr lang="en-US" dirty="0" smtClean="0"/>
          </a:p>
          <a:p>
            <a:endParaRPr lang="en-US" dirty="0"/>
          </a:p>
        </p:txBody>
      </p:sp>
    </p:spTree>
    <p:extLst>
      <p:ext uri="{BB962C8B-B14F-4D97-AF65-F5344CB8AC3E}">
        <p14:creationId xmlns:p14="http://schemas.microsoft.com/office/powerpoint/2010/main" val="6800940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Honour</a:t>
            </a:r>
            <a:endParaRPr lang="en-US" dirty="0"/>
          </a:p>
        </p:txBody>
      </p:sp>
      <p:sp>
        <p:nvSpPr>
          <p:cNvPr id="3" name="Content Placeholder 2"/>
          <p:cNvSpPr>
            <a:spLocks noGrp="1"/>
          </p:cNvSpPr>
          <p:nvPr>
            <p:ph idx="1"/>
          </p:nvPr>
        </p:nvSpPr>
        <p:spPr/>
        <p:txBody>
          <a:bodyPr>
            <a:normAutofit fontScale="92500"/>
          </a:bodyPr>
          <a:lstStyle/>
          <a:p>
            <a:r>
              <a:rPr lang="en-US" dirty="0" err="1" smtClean="0"/>
              <a:t>Honour</a:t>
            </a:r>
            <a:r>
              <a:rPr lang="en-US" dirty="0" smtClean="0"/>
              <a:t> in COADF is not so much about right or wrong. (Consider the twins’ hesitation).</a:t>
            </a:r>
          </a:p>
          <a:p>
            <a:r>
              <a:rPr lang="en-US" sz="2800" b="1" dirty="0" err="1" smtClean="0"/>
              <a:t>Honour</a:t>
            </a:r>
            <a:r>
              <a:rPr lang="en-US" sz="2800" b="1" dirty="0" smtClean="0"/>
              <a:t> in COADF is about maintaining the appearance of moral conformity.</a:t>
            </a:r>
            <a:endParaRPr lang="en-US" dirty="0" smtClean="0"/>
          </a:p>
          <a:p>
            <a:endParaRPr lang="en-US" dirty="0" smtClean="0"/>
          </a:p>
          <a:p>
            <a:r>
              <a:rPr lang="en-US" dirty="0" smtClean="0"/>
              <a:t>Twist and inversion: This makes </a:t>
            </a:r>
            <a:r>
              <a:rPr lang="en-US" dirty="0"/>
              <a:t>S</a:t>
            </a:r>
            <a:r>
              <a:rPr lang="en-US" dirty="0" smtClean="0"/>
              <a:t>antiago the victim ‘culpable’ and the twin brothers ‘heroic’</a:t>
            </a:r>
            <a:endParaRPr lang="en-US" dirty="0"/>
          </a:p>
          <a:p>
            <a:r>
              <a:rPr lang="en-US" dirty="0" smtClean="0"/>
              <a:t>Societies concept of </a:t>
            </a:r>
            <a:r>
              <a:rPr lang="en-US" dirty="0" err="1" smtClean="0"/>
              <a:t>honour</a:t>
            </a:r>
            <a:r>
              <a:rPr lang="en-US" dirty="0" smtClean="0"/>
              <a:t> condemns Santiago before and after the crime. His last words “They’ve killed me” take on a new meaning here. </a:t>
            </a:r>
          </a:p>
          <a:p>
            <a:r>
              <a:rPr lang="en-US" dirty="0" smtClean="0"/>
              <a:t>Contradiction: most character’s morality is dubious (prostitution, STDs, drinking, lying,</a:t>
            </a:r>
            <a:r>
              <a:rPr lang="is-IS" dirty="0" smtClean="0"/>
              <a:t>…). What does that tell us about the community? How might this tie in with the religious fervour exhibited on the day the bishop is visiting?</a:t>
            </a:r>
            <a:endParaRPr lang="en-US" dirty="0" smtClean="0"/>
          </a:p>
          <a:p>
            <a:endParaRPr lang="en-US" dirty="0" smtClean="0"/>
          </a:p>
          <a:p>
            <a:endParaRPr lang="en-US" dirty="0"/>
          </a:p>
        </p:txBody>
      </p:sp>
    </p:spTree>
    <p:extLst>
      <p:ext uri="{BB962C8B-B14F-4D97-AF65-F5344CB8AC3E}">
        <p14:creationId xmlns:p14="http://schemas.microsoft.com/office/powerpoint/2010/main" val="15207738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Honour</a:t>
            </a:r>
            <a:r>
              <a:rPr lang="en-US" dirty="0" smtClean="0"/>
              <a:t> &amp; Social expectation</a:t>
            </a:r>
            <a:endParaRPr lang="en-US" dirty="0"/>
          </a:p>
        </p:txBody>
      </p:sp>
      <p:sp>
        <p:nvSpPr>
          <p:cNvPr id="3" name="Content Placeholder 2"/>
          <p:cNvSpPr>
            <a:spLocks noGrp="1"/>
          </p:cNvSpPr>
          <p:nvPr>
            <p:ph idx="1"/>
          </p:nvPr>
        </p:nvSpPr>
        <p:spPr/>
        <p:txBody>
          <a:bodyPr>
            <a:normAutofit fontScale="92500" lnSpcReduction="20000"/>
          </a:bodyPr>
          <a:lstStyle/>
          <a:p>
            <a:r>
              <a:rPr lang="en-US" sz="3200" dirty="0" smtClean="0"/>
              <a:t>Women</a:t>
            </a:r>
          </a:p>
          <a:p>
            <a:endParaRPr lang="en-US" dirty="0"/>
          </a:p>
          <a:p>
            <a:r>
              <a:rPr lang="en-US" dirty="0" smtClean="0"/>
              <a:t>Women are keenly aware of their place in society and their role in the </a:t>
            </a:r>
            <a:r>
              <a:rPr lang="en-US" dirty="0" err="1" smtClean="0"/>
              <a:t>honour</a:t>
            </a:r>
            <a:r>
              <a:rPr lang="en-US" dirty="0" smtClean="0"/>
              <a:t> system.</a:t>
            </a:r>
          </a:p>
          <a:p>
            <a:r>
              <a:rPr lang="en-US" dirty="0" smtClean="0"/>
              <a:t>There are multiple references to shame/frustration/humiliation by women:</a:t>
            </a:r>
          </a:p>
          <a:p>
            <a:r>
              <a:rPr lang="en-US" dirty="0" smtClean="0"/>
              <a:t>The narrator’s sister: “I felt I was the one who was going to die”p21</a:t>
            </a:r>
          </a:p>
          <a:p>
            <a:r>
              <a:rPr lang="en-US" dirty="0" smtClean="0"/>
              <a:t>Pablo’s fiancé: encourages him to kill.</a:t>
            </a:r>
          </a:p>
          <a:p>
            <a:r>
              <a:rPr lang="en-US" dirty="0" smtClean="0"/>
              <a:t>Flora Miguel: “She went through a </a:t>
            </a:r>
            <a:r>
              <a:rPr lang="en-US" dirty="0" err="1" smtClean="0"/>
              <a:t>crisi</a:t>
            </a:r>
            <a:r>
              <a:rPr lang="en-US" dirty="0" smtClean="0"/>
              <a:t> of humiliation”p112</a:t>
            </a:r>
          </a:p>
          <a:p>
            <a:r>
              <a:rPr lang="en-US" dirty="0" smtClean="0"/>
              <a:t>Angela Vicario is weary she will be humiliated by </a:t>
            </a:r>
            <a:r>
              <a:rPr lang="en-US" dirty="0" err="1" smtClean="0"/>
              <a:t>Bayardo</a:t>
            </a:r>
            <a:r>
              <a:rPr lang="en-US" dirty="0" smtClean="0"/>
              <a:t> San Roman at her wedding p41.</a:t>
            </a:r>
          </a:p>
          <a:p>
            <a:r>
              <a:rPr lang="en-US" dirty="0" smtClean="0"/>
              <a:t>Conservative Christian (context): Gender roles and the original sin/ Women’s collective responsibility/ Women as the embodiment of community. </a:t>
            </a:r>
          </a:p>
          <a:p>
            <a:endParaRPr lang="en-US" dirty="0" smtClean="0"/>
          </a:p>
          <a:p>
            <a:endParaRPr lang="en-US" dirty="0"/>
          </a:p>
        </p:txBody>
      </p:sp>
    </p:spTree>
    <p:extLst>
      <p:ext uri="{BB962C8B-B14F-4D97-AF65-F5344CB8AC3E}">
        <p14:creationId xmlns:p14="http://schemas.microsoft.com/office/powerpoint/2010/main" val="21289738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Honour</a:t>
            </a:r>
            <a:r>
              <a:rPr lang="en-US" dirty="0" smtClean="0"/>
              <a:t> &amp; Social expectation</a:t>
            </a:r>
            <a:endParaRPr lang="en-US" dirty="0"/>
          </a:p>
        </p:txBody>
      </p:sp>
      <p:sp>
        <p:nvSpPr>
          <p:cNvPr id="3" name="Content Placeholder 2"/>
          <p:cNvSpPr>
            <a:spLocks noGrp="1"/>
          </p:cNvSpPr>
          <p:nvPr>
            <p:ph idx="1"/>
          </p:nvPr>
        </p:nvSpPr>
        <p:spPr>
          <a:xfrm>
            <a:off x="1024128" y="2286000"/>
            <a:ext cx="10682097" cy="4023360"/>
          </a:xfrm>
        </p:spPr>
        <p:txBody>
          <a:bodyPr/>
          <a:lstStyle/>
          <a:p>
            <a:r>
              <a:rPr lang="en-US" b="1" u="sng" dirty="0" smtClean="0">
                <a:effectLst>
                  <a:outerShdw blurRad="38100" dist="38100" dir="2700000" algn="tl">
                    <a:srgbClr val="000000">
                      <a:alpha val="43137"/>
                    </a:srgbClr>
                  </a:outerShdw>
                </a:effectLst>
              </a:rPr>
              <a:t>Context: </a:t>
            </a:r>
          </a:p>
          <a:p>
            <a:r>
              <a:rPr lang="en-US" dirty="0" err="1" smtClean="0"/>
              <a:t>Honour</a:t>
            </a:r>
            <a:r>
              <a:rPr lang="en-US" dirty="0" smtClean="0"/>
              <a:t> is a cultural value and as such is closely connected to the context:</a:t>
            </a:r>
          </a:p>
          <a:p>
            <a:r>
              <a:rPr lang="en-US" dirty="0" smtClean="0"/>
              <a:t>South American Machismo</a:t>
            </a:r>
          </a:p>
          <a:p>
            <a:r>
              <a:rPr lang="en-US" dirty="0" smtClean="0"/>
              <a:t>Family ties/Blood ties</a:t>
            </a:r>
          </a:p>
          <a:p>
            <a:r>
              <a:rPr lang="en-US" dirty="0" smtClean="0"/>
              <a:t>Religion/virginity</a:t>
            </a:r>
          </a:p>
          <a:p>
            <a:r>
              <a:rPr lang="en-US" dirty="0" smtClean="0"/>
              <a:t>Social class</a:t>
            </a:r>
          </a:p>
          <a:p>
            <a:r>
              <a:rPr lang="en-US" b="1" dirty="0" err="1" smtClean="0"/>
              <a:t>Violencia</a:t>
            </a:r>
            <a:r>
              <a:rPr lang="en-US" b="1" dirty="0" smtClean="0"/>
              <a:t>: </a:t>
            </a:r>
            <a:r>
              <a:rPr lang="en-US" dirty="0" smtClean="0"/>
              <a:t>Santiago seems to die without </a:t>
            </a:r>
            <a:r>
              <a:rPr lang="en-US" dirty="0" err="1" smtClean="0"/>
              <a:t>honour</a:t>
            </a:r>
            <a:r>
              <a:rPr lang="en-US" dirty="0" smtClean="0"/>
              <a:t>. He runs away before falling crying for his mother. His intestines falling out. The smell he leaves behind is a smell of shit. This may be an allusion to the fact that the civil conflict denied its victims a dignified death/memory. </a:t>
            </a:r>
            <a:endParaRPr lang="en-US" dirty="0"/>
          </a:p>
        </p:txBody>
      </p:sp>
    </p:spTree>
    <p:extLst>
      <p:ext uri="{BB962C8B-B14F-4D97-AF65-F5344CB8AC3E}">
        <p14:creationId xmlns:p14="http://schemas.microsoft.com/office/powerpoint/2010/main" val="14531350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Fate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Fate and </a:t>
            </a:r>
            <a:r>
              <a:rPr lang="en-US" b="1" dirty="0" smtClean="0"/>
              <a:t>Foreshadowing</a:t>
            </a:r>
            <a:r>
              <a:rPr lang="en-US" dirty="0" smtClean="0"/>
              <a:t> present in the title and the first sentence. </a:t>
            </a:r>
            <a:r>
              <a:rPr lang="en-GB" dirty="0"/>
              <a:t>“On the day they were going to kill him, Santiago </a:t>
            </a:r>
            <a:r>
              <a:rPr lang="en-GB" dirty="0" err="1"/>
              <a:t>Nasar</a:t>
            </a:r>
            <a:r>
              <a:rPr lang="en-GB" dirty="0"/>
              <a:t> got up at five-thirty in the morning to wait for the boat the bishop was coming on.” </a:t>
            </a:r>
            <a:r>
              <a:rPr lang="en-GB" dirty="0" smtClean="0"/>
              <a:t>p1.</a:t>
            </a:r>
          </a:p>
          <a:p>
            <a:r>
              <a:rPr lang="en-GB" dirty="0" smtClean="0"/>
              <a:t>The second sentence reveals he had a strange dream the night before his murder and then failed to “recognize the omen” and his mother did not notice any “ominous augury” in his dream p4. </a:t>
            </a:r>
          </a:p>
          <a:p>
            <a:r>
              <a:rPr lang="en-GB" dirty="0" smtClean="0"/>
              <a:t>Does </a:t>
            </a:r>
            <a:r>
              <a:rPr lang="en-GB" dirty="0"/>
              <a:t>S</a:t>
            </a:r>
            <a:r>
              <a:rPr lang="en-GB" dirty="0" smtClean="0"/>
              <a:t>antiago know? The rabbit scene p10 “make believe it was a human being”.</a:t>
            </a:r>
            <a:endParaRPr lang="en-US" dirty="0" smtClean="0"/>
          </a:p>
          <a:p>
            <a:r>
              <a:rPr lang="en-US" dirty="0" smtClean="0"/>
              <a:t>Inevitability (context civil conflict and fatalism).</a:t>
            </a:r>
          </a:p>
          <a:p>
            <a:r>
              <a:rPr lang="en-US" dirty="0" smtClean="0"/>
              <a:t>Fatalism as a justification for inaction.</a:t>
            </a:r>
          </a:p>
          <a:p>
            <a:r>
              <a:rPr lang="en-US" dirty="0" smtClean="0"/>
              <a:t>Use of semantic field of fate and tragedy : “The Fatal </a:t>
            </a:r>
            <a:r>
              <a:rPr lang="en-US" dirty="0"/>
              <a:t>D</a:t>
            </a:r>
            <a:r>
              <a:rPr lang="en-US" dirty="0" smtClean="0"/>
              <a:t>oor” p12, “mortal mistake” p110. creates an inevitable progression towards Santiago’s murder. =&gt; predestination</a:t>
            </a:r>
          </a:p>
          <a:p>
            <a:pPr marL="0" indent="0">
              <a:buNone/>
            </a:pPr>
            <a:r>
              <a:rPr lang="en-US" b="1" u="sng" dirty="0" smtClean="0"/>
              <a:t>However:</a:t>
            </a:r>
            <a:endParaRPr lang="en-US" b="1" u="sng" dirty="0"/>
          </a:p>
          <a:p>
            <a:pPr marL="0" indent="0">
              <a:buNone/>
            </a:pPr>
            <a:r>
              <a:rPr lang="en-US" dirty="0" smtClean="0"/>
              <a:t>Opposition with the narrator’s insistence this was a crime/ with his will to piece back together the story he seems to imply there was a choice:</a:t>
            </a:r>
          </a:p>
          <a:p>
            <a:pPr marL="0" indent="0">
              <a:buNone/>
            </a:pPr>
            <a:r>
              <a:rPr lang="en-US" dirty="0" smtClean="0"/>
              <a:t>An opposition of Fate and Free-will. </a:t>
            </a:r>
          </a:p>
          <a:p>
            <a:endParaRPr lang="en-US" dirty="0"/>
          </a:p>
          <a:p>
            <a:endParaRPr lang="en-US" dirty="0"/>
          </a:p>
        </p:txBody>
      </p:sp>
    </p:spTree>
    <p:extLst>
      <p:ext uri="{BB962C8B-B14F-4D97-AF65-F5344CB8AC3E}">
        <p14:creationId xmlns:p14="http://schemas.microsoft.com/office/powerpoint/2010/main" val="8380346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Fate</a:t>
            </a:r>
            <a:endParaRPr lang="en-US" dirty="0"/>
          </a:p>
        </p:txBody>
      </p:sp>
      <p:sp>
        <p:nvSpPr>
          <p:cNvPr id="3" name="Content Placeholder 2"/>
          <p:cNvSpPr>
            <a:spLocks noGrp="1"/>
          </p:cNvSpPr>
          <p:nvPr>
            <p:ph idx="1"/>
          </p:nvPr>
        </p:nvSpPr>
        <p:spPr/>
        <p:txBody>
          <a:bodyPr>
            <a:normAutofit fontScale="92500" lnSpcReduction="20000"/>
          </a:bodyPr>
          <a:lstStyle/>
          <a:p>
            <a:r>
              <a:rPr lang="en-US" u="sng" dirty="0" smtClean="0"/>
              <a:t>Fate is also used to look at genre and style:</a:t>
            </a:r>
          </a:p>
          <a:p>
            <a:endParaRPr lang="en-US" dirty="0"/>
          </a:p>
          <a:p>
            <a:r>
              <a:rPr lang="en-US" dirty="0" smtClean="0"/>
              <a:t>COADF assumes certain stylistic element of </a:t>
            </a:r>
            <a:r>
              <a:rPr lang="en-US" b="1" u="sng" dirty="0" smtClean="0"/>
              <a:t>classic tragedy.</a:t>
            </a:r>
          </a:p>
          <a:p>
            <a:r>
              <a:rPr lang="en-US" dirty="0" err="1" smtClean="0"/>
              <a:t>Harmatia</a:t>
            </a:r>
            <a:r>
              <a:rPr lang="en-US" dirty="0" smtClean="0"/>
              <a:t>: a fatal flaw/error of a tragic </a:t>
            </a:r>
            <a:r>
              <a:rPr lang="en-US" dirty="0"/>
              <a:t>G</a:t>
            </a:r>
            <a:r>
              <a:rPr lang="en-US" dirty="0" smtClean="0"/>
              <a:t>reek hero: Did Santiago commit the sin he’s accused of? That would be his flaw. </a:t>
            </a:r>
          </a:p>
          <a:p>
            <a:r>
              <a:rPr lang="en-US" dirty="0" smtClean="0"/>
              <a:t>Hubris: Excessive pride: Santiago </a:t>
            </a:r>
            <a:r>
              <a:rPr lang="en-US" dirty="0"/>
              <a:t>can be seen as </a:t>
            </a:r>
            <a:r>
              <a:rPr lang="en-US" dirty="0" smtClean="0"/>
              <a:t>proud and dominant with women. </a:t>
            </a:r>
            <a:endParaRPr lang="en-US" dirty="0"/>
          </a:p>
          <a:p>
            <a:r>
              <a:rPr lang="en-US" dirty="0" smtClean="0"/>
              <a:t>While the plot does not follow the classic scene in three acts, just as in a tragedy the audience knows the hero will meet a tragic end.</a:t>
            </a:r>
          </a:p>
          <a:p>
            <a:r>
              <a:rPr lang="en-US" dirty="0" smtClean="0"/>
              <a:t>Narrator as the chorus. Retells the story and leads the audience. </a:t>
            </a:r>
          </a:p>
          <a:p>
            <a:r>
              <a:rPr lang="en-US" dirty="0" smtClean="0"/>
              <a:t>Appeal of tragedy: even the princes slip and are the architects of their own downfall (social class division and retribution: see context). Greek theatre fulfilled important social purposes for upper and middle class. Keep power in check and avoid chaos and disorder). </a:t>
            </a:r>
          </a:p>
          <a:p>
            <a:endParaRPr lang="en-US" dirty="0"/>
          </a:p>
          <a:p>
            <a:endParaRPr lang="en-US" dirty="0"/>
          </a:p>
        </p:txBody>
      </p:sp>
    </p:spTree>
    <p:extLst>
      <p:ext uri="{BB962C8B-B14F-4D97-AF65-F5344CB8AC3E}">
        <p14:creationId xmlns:p14="http://schemas.microsoft.com/office/powerpoint/2010/main" val="10488817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Considering Paper 2</a:t>
            </a:r>
            <a:endParaRPr lang="en-US" dirty="0"/>
          </a:p>
        </p:txBody>
      </p:sp>
      <p:sp>
        <p:nvSpPr>
          <p:cNvPr id="3" name="Content Placeholder 2"/>
          <p:cNvSpPr>
            <a:spLocks noGrp="1"/>
          </p:cNvSpPr>
          <p:nvPr>
            <p:ph idx="1"/>
          </p:nvPr>
        </p:nvSpPr>
        <p:spPr/>
        <p:txBody>
          <a:bodyPr>
            <a:normAutofit/>
          </a:bodyPr>
          <a:lstStyle/>
          <a:p>
            <a:r>
              <a:rPr lang="en-US" sz="2800" dirty="0"/>
              <a:t>How do the two writers you have studied foreshadow events or ideas to come later in their </a:t>
            </a:r>
            <a:r>
              <a:rPr lang="en-US" sz="2800" dirty="0" smtClean="0"/>
              <a:t>works, and </a:t>
            </a:r>
            <a:r>
              <a:rPr lang="en-US" sz="2800" dirty="0"/>
              <a:t>what is the effect of such foreshadowing?</a:t>
            </a:r>
          </a:p>
        </p:txBody>
      </p:sp>
      <p:pic>
        <p:nvPicPr>
          <p:cNvPr id="4" name="Picture 3"/>
          <p:cNvPicPr>
            <a:picLocks noChangeAspect="1"/>
          </p:cNvPicPr>
          <p:nvPr/>
        </p:nvPicPr>
        <p:blipFill>
          <a:blip r:embed="rId2"/>
          <a:stretch>
            <a:fillRect/>
          </a:stretch>
        </p:blipFill>
        <p:spPr>
          <a:xfrm>
            <a:off x="7234990" y="3552525"/>
            <a:ext cx="4432975" cy="2958003"/>
          </a:xfrm>
          <a:prstGeom prst="rect">
            <a:avLst/>
          </a:prstGeom>
          <a:ln w="38100">
            <a:solidFill>
              <a:schemeClr val="accent1"/>
            </a:solidFill>
          </a:ln>
        </p:spPr>
      </p:pic>
    </p:spTree>
    <p:extLst>
      <p:ext uri="{BB962C8B-B14F-4D97-AF65-F5344CB8AC3E}">
        <p14:creationId xmlns:p14="http://schemas.microsoft.com/office/powerpoint/2010/main" val="17906669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Uncertainty and Mystery</a:t>
            </a:r>
            <a:endParaRPr lang="en-US" dirty="0"/>
          </a:p>
        </p:txBody>
      </p:sp>
      <p:sp>
        <p:nvSpPr>
          <p:cNvPr id="3" name="Content Placeholder 2"/>
          <p:cNvSpPr>
            <a:spLocks noGrp="1"/>
          </p:cNvSpPr>
          <p:nvPr>
            <p:ph idx="1"/>
          </p:nvPr>
        </p:nvSpPr>
        <p:spPr>
          <a:xfrm>
            <a:off x="208548" y="1780032"/>
            <a:ext cx="11790948" cy="4023360"/>
          </a:xfrm>
        </p:spPr>
        <p:txBody>
          <a:bodyPr>
            <a:noAutofit/>
          </a:bodyPr>
          <a:lstStyle/>
          <a:p>
            <a:pPr>
              <a:buFont typeface="Wingdings" charset="2"/>
              <a:buChar char="v"/>
            </a:pPr>
            <a:r>
              <a:rPr lang="en-US" sz="2400" dirty="0" smtClean="0"/>
              <a:t>Dreams &amp; Magical Realism: Marquez describes his events as real yet actions and characters are sometime so bizarre that it is hard to understand what is real. </a:t>
            </a:r>
          </a:p>
          <a:p>
            <a:pPr>
              <a:buFont typeface="Wingdings" charset="2"/>
              <a:buChar char="v"/>
            </a:pPr>
            <a:r>
              <a:rPr lang="en-US" sz="2400" dirty="0" smtClean="0"/>
              <a:t>Narrator returns to the town to find out more about the murder yet this is inferred from the text as the narrator gives little explanation at the circumstances of his return. </a:t>
            </a:r>
          </a:p>
          <a:p>
            <a:pPr>
              <a:buFont typeface="Wingdings" charset="2"/>
              <a:buChar char="v"/>
            </a:pPr>
            <a:r>
              <a:rPr lang="en-US" sz="2400" dirty="0" smtClean="0"/>
              <a:t>Very little information is given about the villagers. Only the bare minimum. Actually the information given is often anecdotal and apparently irrelevant. </a:t>
            </a:r>
          </a:p>
          <a:p>
            <a:pPr>
              <a:buFont typeface="Wingdings" charset="2"/>
              <a:buChar char="v"/>
            </a:pPr>
            <a:r>
              <a:rPr lang="en-US" sz="2400" dirty="0" smtClean="0"/>
              <a:t>Unreliable witnesses p4: people cannot remember whether it was raining or the sun was out/ Inability to even figure out what the weather was on that day. </a:t>
            </a:r>
            <a:r>
              <a:rPr lang="en-US" sz="2400" dirty="0" smtClean="0">
                <a:hlinkClick r:id="rId2"/>
              </a:rPr>
              <a:t>Click here for a good essay on point of view and perspective. </a:t>
            </a:r>
            <a:endParaRPr lang="en-US" sz="2400" dirty="0"/>
          </a:p>
          <a:p>
            <a:pPr>
              <a:buFont typeface="Wingdings" charset="2"/>
              <a:buChar char="v"/>
            </a:pPr>
            <a:r>
              <a:rPr lang="en-US" sz="2400" dirty="0" smtClean="0"/>
              <a:t>Unreliable narrator: The narrator acts as a journalist/investigator. This creates trust from the audience.  Detached and objective in appearance but how can we trust him? P8 Narrator describes Santiago as “merry and good-hearted” yet Victoria Guzman describes him as a predator. </a:t>
            </a:r>
          </a:p>
          <a:p>
            <a:endParaRPr lang="en-US" sz="2400" dirty="0" smtClean="0"/>
          </a:p>
          <a:p>
            <a:r>
              <a:rPr lang="en-US" sz="2400" dirty="0" smtClean="0"/>
              <a:t> </a:t>
            </a:r>
            <a:endParaRPr lang="en-US" sz="2400" dirty="0"/>
          </a:p>
        </p:txBody>
      </p:sp>
    </p:spTree>
    <p:extLst>
      <p:ext uri="{BB962C8B-B14F-4D97-AF65-F5344CB8AC3E}">
        <p14:creationId xmlns:p14="http://schemas.microsoft.com/office/powerpoint/2010/main" val="19390724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Uncertainty and Mystery</a:t>
            </a:r>
            <a:endParaRPr lang="en-US" dirty="0"/>
          </a:p>
        </p:txBody>
      </p:sp>
      <p:sp>
        <p:nvSpPr>
          <p:cNvPr id="3" name="Content Placeholder 2"/>
          <p:cNvSpPr>
            <a:spLocks noGrp="1"/>
          </p:cNvSpPr>
          <p:nvPr>
            <p:ph idx="1"/>
          </p:nvPr>
        </p:nvSpPr>
        <p:spPr>
          <a:xfrm>
            <a:off x="1024128" y="2084832"/>
            <a:ext cx="10975368" cy="4023360"/>
          </a:xfrm>
        </p:spPr>
        <p:txBody>
          <a:bodyPr>
            <a:noAutofit/>
          </a:bodyPr>
          <a:lstStyle/>
          <a:p>
            <a:pPr>
              <a:buFont typeface="Wingdings" charset="2"/>
              <a:buChar char="v"/>
            </a:pPr>
            <a:r>
              <a:rPr lang="en-US" sz="2400" dirty="0" smtClean="0"/>
              <a:t>Link to social context: </a:t>
            </a:r>
            <a:r>
              <a:rPr lang="en-US" sz="2400" dirty="0" err="1" smtClean="0"/>
              <a:t>Violencia</a:t>
            </a:r>
            <a:r>
              <a:rPr lang="en-US" sz="2400" dirty="0" smtClean="0"/>
              <a:t> and collective trauma different stories and different perspectives. Is it possible to reconcile different sides?</a:t>
            </a:r>
          </a:p>
          <a:p>
            <a:pPr>
              <a:buFont typeface="Wingdings" charset="2"/>
              <a:buChar char="v"/>
            </a:pPr>
            <a:r>
              <a:rPr lang="en-US" sz="2400" dirty="0" err="1" smtClean="0"/>
              <a:t>Violencia</a:t>
            </a:r>
            <a:r>
              <a:rPr lang="en-US" sz="2400" dirty="0" smtClean="0"/>
              <a:t>: Not an ordinary civil war. Politics got mixed up with local rivalries, class animosity, land disputes and </a:t>
            </a:r>
            <a:r>
              <a:rPr lang="en-US" sz="2400" dirty="0" err="1" smtClean="0"/>
              <a:t>organised</a:t>
            </a:r>
            <a:r>
              <a:rPr lang="en-US" sz="2400" dirty="0" smtClean="0"/>
              <a:t> crime. </a:t>
            </a:r>
          </a:p>
          <a:p>
            <a:pPr>
              <a:buFont typeface="Wingdings" charset="2"/>
              <a:buChar char="v"/>
            </a:pPr>
            <a:r>
              <a:rPr lang="en-US" sz="2400" dirty="0" smtClean="0"/>
              <a:t>Community and tradition: difficulty in establishing right and wrong (See </a:t>
            </a:r>
            <a:r>
              <a:rPr lang="en-US" sz="2400" dirty="0" err="1" smtClean="0"/>
              <a:t>honour</a:t>
            </a:r>
            <a:r>
              <a:rPr lang="en-US" sz="2400" dirty="0" smtClean="0"/>
              <a:t>)</a:t>
            </a:r>
          </a:p>
          <a:p>
            <a:pPr>
              <a:buFont typeface="Wingdings" charset="2"/>
              <a:buChar char="v"/>
            </a:pPr>
            <a:r>
              <a:rPr lang="en-US" sz="2400" dirty="0"/>
              <a:t> </a:t>
            </a:r>
            <a:r>
              <a:rPr lang="en-US" sz="2400" b="1" dirty="0" smtClean="0"/>
              <a:t>literary critic: </a:t>
            </a:r>
            <a:r>
              <a:rPr lang="en-US" sz="2400" dirty="0" smtClean="0"/>
              <a:t>Creates a differing reading experience/ no final point of view/ reading changes with the reader’s context. See existentialism: nothing makes sense. We can attempt at </a:t>
            </a:r>
            <a:r>
              <a:rPr lang="en-US" sz="2400" dirty="0" err="1" smtClean="0"/>
              <a:t>organising</a:t>
            </a:r>
            <a:r>
              <a:rPr lang="en-US" sz="2400" dirty="0" smtClean="0"/>
              <a:t> random events but ambiguity will always exist. </a:t>
            </a:r>
          </a:p>
          <a:p>
            <a:endParaRPr lang="en-US" sz="2400" dirty="0" smtClean="0"/>
          </a:p>
          <a:p>
            <a:r>
              <a:rPr lang="en-US" sz="2400" dirty="0" smtClean="0"/>
              <a:t> </a:t>
            </a:r>
            <a:endParaRPr lang="en-US" sz="2400" dirty="0"/>
          </a:p>
        </p:txBody>
      </p:sp>
    </p:spTree>
    <p:extLst>
      <p:ext uri="{BB962C8B-B14F-4D97-AF65-F5344CB8AC3E}">
        <p14:creationId xmlns:p14="http://schemas.microsoft.com/office/powerpoint/2010/main" val="9501782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Reconstruction</a:t>
            </a:r>
            <a:endParaRPr lang="en-US" dirty="0"/>
          </a:p>
        </p:txBody>
      </p:sp>
      <p:sp>
        <p:nvSpPr>
          <p:cNvPr id="3" name="Content Placeholder 2"/>
          <p:cNvSpPr>
            <a:spLocks noGrp="1"/>
          </p:cNvSpPr>
          <p:nvPr>
            <p:ph idx="1"/>
          </p:nvPr>
        </p:nvSpPr>
        <p:spPr/>
        <p:txBody>
          <a:bodyPr/>
          <a:lstStyle/>
          <a:p>
            <a:r>
              <a:rPr lang="en-US" dirty="0" smtClean="0"/>
              <a:t>“Broken mirror”p6 The novel is an attempt at piecing back together the true story.</a:t>
            </a:r>
          </a:p>
          <a:p>
            <a:r>
              <a:rPr lang="en-US" dirty="0" smtClean="0"/>
              <a:t>Over a hundred quotes collected.</a:t>
            </a:r>
          </a:p>
          <a:p>
            <a:r>
              <a:rPr lang="en-US" dirty="0" smtClean="0"/>
              <a:t>The civil judge tried to piece things together.</a:t>
            </a:r>
            <a:r>
              <a:rPr lang="en-GB" dirty="0"/>
              <a:t> </a:t>
            </a:r>
            <a:r>
              <a:rPr lang="en-GB" dirty="0" smtClean="0"/>
              <a:t>Nothing new is revealed </a:t>
            </a:r>
            <a:r>
              <a:rPr lang="en-GB" dirty="0"/>
              <a:t>about the murder that was not already stated in the official report made by the investigating magistrate</a:t>
            </a:r>
            <a:endParaRPr lang="en-US" dirty="0" smtClean="0"/>
          </a:p>
          <a:p>
            <a:r>
              <a:rPr lang="en-US" dirty="0" smtClean="0"/>
              <a:t>The narrator’s visit to the archive (flooded room): Inside an old colonial building: the weight of history (context) makes piecing the story impossible.pp98-99 </a:t>
            </a:r>
          </a:p>
          <a:p>
            <a:r>
              <a:rPr lang="en-US" dirty="0" smtClean="0"/>
              <a:t>Memory and distortion</a:t>
            </a:r>
          </a:p>
          <a:p>
            <a:r>
              <a:rPr lang="en-US" dirty="0" smtClean="0"/>
              <a:t>Modern novel as “collage”</a:t>
            </a:r>
            <a:endParaRPr lang="en-US" dirty="0"/>
          </a:p>
        </p:txBody>
      </p:sp>
      <p:pic>
        <p:nvPicPr>
          <p:cNvPr id="1026" name="Picture 2" descr="http://www.brilliant-books.net/files/brilliantbooks/puzzl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3095" y="138152"/>
            <a:ext cx="2604254" cy="1946680"/>
          </a:xfrm>
          <a:prstGeom prst="rect">
            <a:avLst/>
          </a:prstGeom>
          <a:noFill/>
          <a:ln w="28575">
            <a:solidFill>
              <a:srgbClr val="92D05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51215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Isolation and Alienation</a:t>
            </a:r>
            <a:endParaRPr lang="en-US" dirty="0"/>
          </a:p>
        </p:txBody>
      </p:sp>
      <p:sp>
        <p:nvSpPr>
          <p:cNvPr id="3" name="Content Placeholder 2"/>
          <p:cNvSpPr>
            <a:spLocks noGrp="1"/>
          </p:cNvSpPr>
          <p:nvPr>
            <p:ph idx="1"/>
          </p:nvPr>
        </p:nvSpPr>
        <p:spPr/>
        <p:txBody>
          <a:bodyPr>
            <a:normAutofit lnSpcReduction="10000"/>
          </a:bodyPr>
          <a:lstStyle/>
          <a:p>
            <a:r>
              <a:rPr lang="en-US" b="1" u="sng" dirty="0"/>
              <a:t>Political and social context</a:t>
            </a:r>
          </a:p>
          <a:p>
            <a:endParaRPr lang="en-US" dirty="0" smtClean="0"/>
          </a:p>
          <a:p>
            <a:r>
              <a:rPr lang="en-US" dirty="0" smtClean="0"/>
              <a:t>Existentialist alienation (</a:t>
            </a:r>
            <a:r>
              <a:rPr lang="en-US" b="1" dirty="0" smtClean="0"/>
              <a:t>context: </a:t>
            </a:r>
            <a:r>
              <a:rPr lang="en-US" dirty="0" smtClean="0"/>
              <a:t>Marquez lived in France while such ideas were trending throughout the literary and academic world). </a:t>
            </a:r>
          </a:p>
          <a:p>
            <a:r>
              <a:rPr lang="en-US" b="1" dirty="0" smtClean="0"/>
              <a:t>Images of decay: </a:t>
            </a:r>
            <a:r>
              <a:rPr lang="en-US" dirty="0" smtClean="0"/>
              <a:t>Widowers </a:t>
            </a:r>
            <a:r>
              <a:rPr lang="en-US" dirty="0" err="1" smtClean="0"/>
              <a:t>Xius’s</a:t>
            </a:r>
            <a:r>
              <a:rPr lang="en-US" dirty="0" smtClean="0"/>
              <a:t> old house after the incident. Decaying certainty and institutions. Church, army, politics do not supply answers or certainty. </a:t>
            </a:r>
          </a:p>
          <a:p>
            <a:r>
              <a:rPr lang="en-US" b="1" dirty="0" smtClean="0"/>
              <a:t>Corrupt religious institutions: </a:t>
            </a:r>
            <a:r>
              <a:rPr lang="en-US" dirty="0" smtClean="0"/>
              <a:t>The bishop does not stop despite the fact </a:t>
            </a:r>
            <a:r>
              <a:rPr lang="en-US" dirty="0"/>
              <a:t>t</a:t>
            </a:r>
            <a:r>
              <a:rPr lang="en-US" dirty="0" smtClean="0"/>
              <a:t>hat many villagers have gone to great lengths to make it a memorable day. He is also presented as wasteful and greedy (“comb soup”). </a:t>
            </a:r>
          </a:p>
          <a:p>
            <a:r>
              <a:rPr lang="en-US" dirty="0" smtClean="0"/>
              <a:t>As a result,  individuals no longer have social, religious and political mores to give them a sense of place a direction. </a:t>
            </a:r>
            <a:r>
              <a:rPr lang="en-US" b="1" dirty="0" smtClean="0"/>
              <a:t>Context: </a:t>
            </a:r>
            <a:r>
              <a:rPr lang="en-US" dirty="0" smtClean="0"/>
              <a:t>Colombia and its post-colonial history. </a:t>
            </a:r>
          </a:p>
          <a:p>
            <a:endParaRPr lang="en-US" dirty="0"/>
          </a:p>
        </p:txBody>
      </p:sp>
    </p:spTree>
    <p:extLst>
      <p:ext uri="{BB962C8B-B14F-4D97-AF65-F5344CB8AC3E}">
        <p14:creationId xmlns:p14="http://schemas.microsoft.com/office/powerpoint/2010/main" val="6332428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Isolation and Alienation</a:t>
            </a:r>
            <a:endParaRPr lang="en-US" dirty="0"/>
          </a:p>
        </p:txBody>
      </p:sp>
      <p:sp>
        <p:nvSpPr>
          <p:cNvPr id="3" name="Content Placeholder 2"/>
          <p:cNvSpPr>
            <a:spLocks noGrp="1"/>
          </p:cNvSpPr>
          <p:nvPr>
            <p:ph idx="1"/>
          </p:nvPr>
        </p:nvSpPr>
        <p:spPr/>
        <p:txBody>
          <a:bodyPr/>
          <a:lstStyle/>
          <a:p>
            <a:r>
              <a:rPr lang="en-US" b="1" u="sng" dirty="0"/>
              <a:t>Political and social context</a:t>
            </a:r>
          </a:p>
          <a:p>
            <a:endParaRPr lang="en-US" dirty="0" smtClean="0"/>
          </a:p>
          <a:p>
            <a:r>
              <a:rPr lang="en-US" dirty="0" err="1" smtClean="0"/>
              <a:t>Exitentialist</a:t>
            </a:r>
            <a:r>
              <a:rPr lang="en-US" dirty="0" smtClean="0"/>
              <a:t> alienation (context Marquez lived in France while such ideas were trending throughout the literary and academic world). </a:t>
            </a:r>
          </a:p>
          <a:p>
            <a:r>
              <a:rPr lang="en-US" dirty="0" smtClean="0"/>
              <a:t>Images of decay: Widowers </a:t>
            </a:r>
            <a:r>
              <a:rPr lang="en-US" dirty="0" err="1" smtClean="0"/>
              <a:t>Xius’s</a:t>
            </a:r>
            <a:r>
              <a:rPr lang="en-US" dirty="0" smtClean="0"/>
              <a:t> old house after the incident. Decaying certainty and institutions. Church, army, politics do not supply answers or certainty. </a:t>
            </a:r>
          </a:p>
          <a:p>
            <a:r>
              <a:rPr lang="en-US" dirty="0" smtClean="0"/>
              <a:t>Corrupt religious institutions: The bishop does not stop despite the fact </a:t>
            </a:r>
            <a:r>
              <a:rPr lang="en-US" dirty="0"/>
              <a:t>t</a:t>
            </a:r>
            <a:r>
              <a:rPr lang="en-US" dirty="0" smtClean="0"/>
              <a:t>hat many villagers have gone to great lengths to make it a memorable day. He is also presented as wasteful and greedy (“comb soup”). </a:t>
            </a:r>
          </a:p>
          <a:p>
            <a:r>
              <a:rPr lang="en-US" dirty="0" smtClean="0"/>
              <a:t>As a result,  </a:t>
            </a:r>
          </a:p>
          <a:p>
            <a:endParaRPr lang="en-US" dirty="0"/>
          </a:p>
        </p:txBody>
      </p:sp>
    </p:spTree>
    <p:extLst>
      <p:ext uri="{BB962C8B-B14F-4D97-AF65-F5344CB8AC3E}">
        <p14:creationId xmlns:p14="http://schemas.microsoft.com/office/powerpoint/2010/main" val="4272922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Conflict &amp; Violence</a:t>
            </a:r>
            <a:endParaRPr lang="en-US" dirty="0"/>
          </a:p>
        </p:txBody>
      </p:sp>
      <p:sp>
        <p:nvSpPr>
          <p:cNvPr id="3" name="Content Placeholder 2"/>
          <p:cNvSpPr>
            <a:spLocks noGrp="1"/>
          </p:cNvSpPr>
          <p:nvPr>
            <p:ph idx="1"/>
          </p:nvPr>
        </p:nvSpPr>
        <p:spPr/>
        <p:txBody>
          <a:bodyPr/>
          <a:lstStyle/>
          <a:p>
            <a:r>
              <a:rPr lang="en-US" dirty="0" smtClean="0"/>
              <a:t>Numerous graphic depiction of gore and violence in the novel: the murder and aftermath, autopsy but also in everyday life (rabbits). </a:t>
            </a:r>
          </a:p>
          <a:p>
            <a:r>
              <a:rPr lang="en-US" dirty="0" smtClean="0"/>
              <a:t>Links to rituals (evisceration)/sexual violence</a:t>
            </a:r>
          </a:p>
          <a:p>
            <a:endParaRPr lang="en-US" dirty="0"/>
          </a:p>
        </p:txBody>
      </p:sp>
      <p:pic>
        <p:nvPicPr>
          <p:cNvPr id="3074" name="Picture 2" descr="https://img-s3.onedio.com/id-5794042829e266ce5d5b65ab/rev-0/raw/s-6def45b34c530de20e5ca85708be63332b04e77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5250" y="3340100"/>
            <a:ext cx="5562600" cy="3333750"/>
          </a:xfrm>
          <a:prstGeom prst="rect">
            <a:avLst/>
          </a:prstGeom>
          <a:noFill/>
          <a:ln w="28575">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495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Conflict &amp; Violence</a:t>
            </a:r>
            <a:endParaRPr lang="en-US" dirty="0"/>
          </a:p>
        </p:txBody>
      </p:sp>
      <p:sp>
        <p:nvSpPr>
          <p:cNvPr id="3" name="Content Placeholder 2"/>
          <p:cNvSpPr>
            <a:spLocks noGrp="1"/>
          </p:cNvSpPr>
          <p:nvPr>
            <p:ph idx="1"/>
          </p:nvPr>
        </p:nvSpPr>
        <p:spPr/>
        <p:txBody>
          <a:bodyPr/>
          <a:lstStyle/>
          <a:p>
            <a:r>
              <a:rPr lang="en-US" sz="2800" dirty="0" smtClean="0"/>
              <a:t>Social/Class conflict in COADF</a:t>
            </a:r>
          </a:p>
          <a:p>
            <a:endParaRPr lang="en-US" sz="2800" dirty="0"/>
          </a:p>
          <a:p>
            <a:r>
              <a:rPr lang="en-US" sz="2800" dirty="0" smtClean="0"/>
              <a:t>One critic mentions "the </a:t>
            </a:r>
            <a:r>
              <a:rPr lang="en-US" sz="2800" dirty="0"/>
              <a:t>confluence of economic, personal and possibly political </a:t>
            </a:r>
            <a:r>
              <a:rPr lang="en-US" sz="2800" dirty="0" smtClean="0"/>
              <a:t>interest</a:t>
            </a:r>
            <a:r>
              <a:rPr lang="is-IS" sz="2800" dirty="0" smtClean="0"/>
              <a:t>…underlying Santiago Nasar’s death</a:t>
            </a:r>
            <a:r>
              <a:rPr lang="en-US" sz="2800" dirty="0" smtClean="0"/>
              <a:t>”</a:t>
            </a:r>
          </a:p>
          <a:p>
            <a:r>
              <a:rPr lang="en-US" sz="2800" dirty="0" smtClean="0"/>
              <a:t>Can you you identify some these interests in the text?</a:t>
            </a:r>
          </a:p>
          <a:p>
            <a:endParaRPr lang="en-US" dirty="0" smtClean="0"/>
          </a:p>
        </p:txBody>
      </p:sp>
      <p:pic>
        <p:nvPicPr>
          <p:cNvPr id="4" name="Picture 2" descr="https://img-s3.onedio.com/id-5794042829e266ce5d5b65ab/rev-0/raw/s-6def45b34c530de20e5ca85708be63332b04e77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8300" y="328156"/>
            <a:ext cx="2578100" cy="1545094"/>
          </a:xfrm>
          <a:prstGeom prst="rect">
            <a:avLst/>
          </a:prstGeom>
          <a:noFill/>
          <a:ln w="28575">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080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Conflict &amp; Violence</a:t>
            </a:r>
            <a:endParaRPr lang="en-US" dirty="0"/>
          </a:p>
        </p:txBody>
      </p:sp>
      <p:sp>
        <p:nvSpPr>
          <p:cNvPr id="3" name="Content Placeholder 2"/>
          <p:cNvSpPr>
            <a:spLocks noGrp="1"/>
          </p:cNvSpPr>
          <p:nvPr>
            <p:ph idx="1"/>
          </p:nvPr>
        </p:nvSpPr>
        <p:spPr/>
        <p:txBody>
          <a:bodyPr>
            <a:normAutofit lnSpcReduction="10000"/>
          </a:bodyPr>
          <a:lstStyle/>
          <a:p>
            <a:r>
              <a:rPr lang="en-US" sz="2400" b="1" dirty="0" smtClean="0"/>
              <a:t>Economic</a:t>
            </a:r>
            <a:r>
              <a:rPr lang="en-US" sz="2400" dirty="0" smtClean="0"/>
              <a:t>: Santiago is a land owner. Wealthy. Uses his money for leisure. </a:t>
            </a:r>
          </a:p>
          <a:p>
            <a:r>
              <a:rPr lang="en-US" sz="2400" b="1" dirty="0" smtClean="0"/>
              <a:t>Personal: </a:t>
            </a:r>
            <a:r>
              <a:rPr lang="en-US" sz="2400" dirty="0" smtClean="0"/>
              <a:t>Santiago is of middle eastern decent. Not a blue blooded Spanish elite. Colonial history of Colombia. </a:t>
            </a:r>
            <a:endParaRPr lang="en-US" sz="2400" dirty="0"/>
          </a:p>
          <a:p>
            <a:r>
              <a:rPr lang="en-US" sz="2400" b="1" dirty="0" smtClean="0"/>
              <a:t>Politic: </a:t>
            </a:r>
            <a:r>
              <a:rPr lang="en-US" sz="2400" dirty="0" smtClean="0"/>
              <a:t>Multiple references to military men and military past: </a:t>
            </a:r>
            <a:r>
              <a:rPr lang="en-US" sz="2400" dirty="0" err="1" smtClean="0"/>
              <a:t>Bayardo</a:t>
            </a:r>
            <a:r>
              <a:rPr lang="en-US" sz="2400" dirty="0" smtClean="0"/>
              <a:t> San Roman is rumored to have ”wiped out villages and sown terror in Casanare as troop commander”p33. his father General </a:t>
            </a:r>
            <a:r>
              <a:rPr lang="en-US" sz="2400" dirty="0" err="1" smtClean="0"/>
              <a:t>Petronio</a:t>
            </a:r>
            <a:r>
              <a:rPr lang="en-US" sz="2400" dirty="0" smtClean="0"/>
              <a:t> is a hero of the civil war (see context) and has ordered opponents to be “shot in the back”p34.  </a:t>
            </a:r>
            <a:endParaRPr lang="en-US" sz="2400" dirty="0"/>
          </a:p>
          <a:p>
            <a:r>
              <a:rPr lang="en-US" sz="2400" dirty="0" smtClean="0"/>
              <a:t>Consider how institutions and their representative are presented: justice/the judge, administration/the mayor, army/San Roman’s father, church/ the bishop, Farther angel and Farther Amador =&gt; untrustworthy and corrupt elites. </a:t>
            </a:r>
            <a:r>
              <a:rPr lang="en-US" sz="2400" b="1" dirty="0" smtClean="0"/>
              <a:t>Physical description: </a:t>
            </a:r>
            <a:r>
              <a:rPr lang="en-US" sz="2400" dirty="0" smtClean="0"/>
              <a:t>usually aging men, portly and indecisive. </a:t>
            </a:r>
          </a:p>
          <a:p>
            <a:endParaRPr lang="en-US" dirty="0" smtClean="0"/>
          </a:p>
        </p:txBody>
      </p:sp>
      <p:pic>
        <p:nvPicPr>
          <p:cNvPr id="4" name="Picture 2" descr="https://img-s3.onedio.com/id-5794042829e266ce5d5b65ab/rev-0/raw/s-6def45b34c530de20e5ca85708be63332b04e77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8324" y="324209"/>
            <a:ext cx="2378075" cy="1425216"/>
          </a:xfrm>
          <a:prstGeom prst="rect">
            <a:avLst/>
          </a:prstGeom>
          <a:noFill/>
          <a:ln w="28575">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379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Conflict &amp; Violence</a:t>
            </a:r>
            <a:endParaRPr lang="en-US" dirty="0"/>
          </a:p>
        </p:txBody>
      </p:sp>
      <p:sp>
        <p:nvSpPr>
          <p:cNvPr id="3" name="Content Placeholder 2"/>
          <p:cNvSpPr>
            <a:spLocks noGrp="1"/>
          </p:cNvSpPr>
          <p:nvPr>
            <p:ph idx="1"/>
          </p:nvPr>
        </p:nvSpPr>
        <p:spPr/>
        <p:txBody>
          <a:bodyPr/>
          <a:lstStyle/>
          <a:p>
            <a:r>
              <a:rPr lang="en-US" b="1" dirty="0" smtClean="0"/>
              <a:t>Gender:</a:t>
            </a:r>
          </a:p>
          <a:p>
            <a:r>
              <a:rPr lang="en-US" dirty="0" smtClean="0"/>
              <a:t> p63: “That day I realized how alone we are in the world.” Clotilde Armenta. Women are at the mercy of men. </a:t>
            </a:r>
          </a:p>
          <a:p>
            <a:r>
              <a:rPr lang="en-US" b="1" dirty="0" smtClean="0"/>
              <a:t>Machismo: </a:t>
            </a:r>
            <a:r>
              <a:rPr lang="en-US" dirty="0" smtClean="0"/>
              <a:t>Latin social code : “a cult of virility, the chief characteristic of which are exaggerated aggressiveness in male to male interpersonal relationship and arrogance and sexual aggression in male to female relationship” - Evelyn P Stevens. </a:t>
            </a:r>
          </a:p>
          <a:p>
            <a:r>
              <a:rPr lang="en-US" dirty="0" smtClean="0"/>
              <a:t>Closely linked to code of </a:t>
            </a:r>
            <a:r>
              <a:rPr lang="en-US" dirty="0" err="1" smtClean="0"/>
              <a:t>honour</a:t>
            </a:r>
            <a:r>
              <a:rPr lang="en-US" dirty="0" smtClean="0"/>
              <a:t>: enforced by community and both genders. </a:t>
            </a:r>
            <a:endParaRPr lang="en-US" dirty="0"/>
          </a:p>
        </p:txBody>
      </p:sp>
      <p:pic>
        <p:nvPicPr>
          <p:cNvPr id="2050" name="Picture 2" descr="http://i.huffpost.com/gen/2135794/images/o-DOMESTIC-VIOLENCE-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588" y="285750"/>
            <a:ext cx="4885962" cy="244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5695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Justice</a:t>
            </a:r>
            <a:endParaRPr lang="en-US" dirty="0"/>
          </a:p>
        </p:txBody>
      </p:sp>
      <p:sp>
        <p:nvSpPr>
          <p:cNvPr id="3" name="Content Placeholder 2"/>
          <p:cNvSpPr>
            <a:spLocks noGrp="1"/>
          </p:cNvSpPr>
          <p:nvPr>
            <p:ph idx="1"/>
          </p:nvPr>
        </p:nvSpPr>
        <p:spPr>
          <a:xfrm>
            <a:off x="1024127" y="1733549"/>
            <a:ext cx="10624948" cy="5038725"/>
          </a:xfrm>
        </p:spPr>
        <p:txBody>
          <a:bodyPr>
            <a:normAutofit/>
          </a:bodyPr>
          <a:lstStyle/>
          <a:p>
            <a:r>
              <a:rPr lang="en-US" sz="2800" dirty="0" smtClean="0"/>
              <a:t>Justice: may be understood differently by different characters. The twin’s demand for justice (emotional) may be different from the magistrate’s (reason/legal) or the narrator’s demands. </a:t>
            </a:r>
          </a:p>
          <a:p>
            <a:r>
              <a:rPr lang="en-US" sz="2800" b="1" dirty="0" smtClean="0"/>
              <a:t>Legal Justice: </a:t>
            </a:r>
            <a:r>
              <a:rPr lang="en-US" sz="2800" dirty="0" smtClean="0"/>
              <a:t>Institutions. It is represented by the judge/magistrate pp98-100 and other references in the text. Criticism of the Colombian Justice system:</a:t>
            </a:r>
          </a:p>
          <a:p>
            <a:endParaRPr lang="en-US" sz="2800" dirty="0" smtClean="0"/>
          </a:p>
          <a:p>
            <a:pPr lvl="1"/>
            <a:r>
              <a:rPr lang="en-US" sz="2800" dirty="0" smtClean="0"/>
              <a:t>Unable to give a fair sentence.</a:t>
            </a:r>
          </a:p>
          <a:p>
            <a:pPr lvl="1"/>
            <a:r>
              <a:rPr lang="en-US" sz="2800" dirty="0" smtClean="0"/>
              <a:t>Lets the brothers off after 3 years.</a:t>
            </a:r>
          </a:p>
          <a:p>
            <a:pPr lvl="1"/>
            <a:r>
              <a:rPr lang="en-US" sz="2800" dirty="0" smtClean="0"/>
              <a:t>Magistrate files are important here pp98-100: </a:t>
            </a:r>
          </a:p>
          <a:p>
            <a:pPr lvl="2"/>
            <a:endParaRPr lang="en-US" dirty="0"/>
          </a:p>
        </p:txBody>
      </p:sp>
      <p:pic>
        <p:nvPicPr>
          <p:cNvPr id="1026" name="Picture 2" descr="http://ec.europa.eu/justice/civil/images/20160728_civil-justice-remuneration-banks-investment-firm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1200" y="167626"/>
            <a:ext cx="2254248" cy="1460005"/>
          </a:xfrm>
          <a:prstGeom prst="rect">
            <a:avLst/>
          </a:prstGeom>
          <a:noFill/>
          <a:ln w="3810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6773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Justice</a:t>
            </a:r>
            <a:endParaRPr lang="en-US" dirty="0"/>
          </a:p>
        </p:txBody>
      </p:sp>
      <p:sp>
        <p:nvSpPr>
          <p:cNvPr id="3" name="Content Placeholder 2"/>
          <p:cNvSpPr>
            <a:spLocks noGrp="1"/>
          </p:cNvSpPr>
          <p:nvPr>
            <p:ph idx="1"/>
          </p:nvPr>
        </p:nvSpPr>
        <p:spPr>
          <a:xfrm>
            <a:off x="1024127" y="1733549"/>
            <a:ext cx="10624948" cy="5038725"/>
          </a:xfrm>
        </p:spPr>
        <p:txBody>
          <a:bodyPr>
            <a:normAutofit lnSpcReduction="10000"/>
          </a:bodyPr>
          <a:lstStyle/>
          <a:p>
            <a:pPr marL="310896" lvl="2" indent="0">
              <a:buNone/>
            </a:pPr>
            <a:r>
              <a:rPr lang="en-US" sz="2400" b="1" dirty="0" smtClean="0"/>
              <a:t>Close Reading: pp98-100</a:t>
            </a:r>
          </a:p>
          <a:p>
            <a:pPr lvl="2"/>
            <a:endParaRPr lang="en-US" dirty="0" smtClean="0"/>
          </a:p>
          <a:p>
            <a:pPr lvl="2"/>
            <a:r>
              <a:rPr lang="en-US" sz="1800" dirty="0" smtClean="0"/>
              <a:t>The brief is started late 12 days after the crime by a young novice magistrate “the magistrate was newly graduated and still wore his black linen law school suit and the gold ring with the emblem of his degree”p98: ring needed to show he actually is a magistrate. Anonymous: “I never discovered his name”p98. </a:t>
            </a:r>
          </a:p>
          <a:p>
            <a:pPr lvl="2"/>
            <a:r>
              <a:rPr lang="en-US" sz="1800" dirty="0" smtClean="0"/>
              <a:t>Evidence that the magistrate was distracted described as “a man burning with the fever of literature” p99. A dreamer, interpreting reality through prism of his fantasy. We are told he read the Spanish Classics. </a:t>
            </a:r>
          </a:p>
          <a:p>
            <a:pPr lvl="2"/>
            <a:r>
              <a:rPr lang="en-US" sz="1800" dirty="0" err="1" smtClean="0"/>
              <a:t>Intextuality</a:t>
            </a:r>
            <a:r>
              <a:rPr lang="en-US" sz="1800" dirty="0" smtClean="0"/>
              <a:t> is clear here: </a:t>
            </a:r>
            <a:r>
              <a:rPr lang="en-US" sz="1800" i="1" dirty="0" smtClean="0"/>
              <a:t>Don Quixote </a:t>
            </a:r>
            <a:r>
              <a:rPr lang="en-US" sz="1800" dirty="0" smtClean="0"/>
              <a:t>by Cervantes is the greatest Spanish classic.  Don Quixote is a dreamer, elderly aristocrat who is half mad and has read too much romantic literature and goes off on futile and grotesque quests. Just as Don Quixote the young judge is a romantic “burning with the fever of literature” and “kept falling in lyrical distraction”.</a:t>
            </a:r>
          </a:p>
          <a:p>
            <a:pPr lvl="2"/>
            <a:r>
              <a:rPr lang="en-US" sz="1800" i="1" dirty="0" smtClean="0"/>
              <a:t>Don Quixote </a:t>
            </a:r>
            <a:r>
              <a:rPr lang="en-US" sz="1800" dirty="0" smtClean="0"/>
              <a:t>often used a symbolical image of decaying aristocracy and its value. Here the Colombian Bourgeoisie and its failures.  </a:t>
            </a:r>
          </a:p>
          <a:p>
            <a:pPr lvl="2"/>
            <a:r>
              <a:rPr lang="en-US" sz="1800" dirty="0" err="1" smtClean="0"/>
              <a:t>Nietzche</a:t>
            </a:r>
            <a:r>
              <a:rPr lang="en-US" sz="1800" dirty="0" smtClean="0"/>
              <a:t> associated with Nihilism in contradiction with the precision, unambiguous statements and reason expected from a judge. </a:t>
            </a:r>
          </a:p>
          <a:p>
            <a:pPr lvl="2"/>
            <a:r>
              <a:rPr lang="en-US" sz="1800" dirty="0" smtClean="0"/>
              <a:t>The archive is a decrepit old Colonial building: We are told Sir Francis Drake stayed there: reference to the discrepancy between imported European law and the new continent they inhabit.</a:t>
            </a:r>
          </a:p>
          <a:p>
            <a:pPr lvl="2"/>
            <a:r>
              <a:rPr lang="en-US" sz="1800" dirty="0" smtClean="0"/>
              <a:t>Old Palace Of Justice: Symbol of  dark colonial secrets and the oppressive nature of justice. </a:t>
            </a:r>
          </a:p>
          <a:p>
            <a:pPr lvl="2"/>
            <a:r>
              <a:rPr lang="en-US" sz="1800" dirty="0" smtClean="0"/>
              <a:t>The brief is incomplete and fragmented (see collage and </a:t>
            </a:r>
            <a:r>
              <a:rPr lang="en-US" sz="1800" dirty="0"/>
              <a:t>U</a:t>
            </a:r>
            <a:r>
              <a:rPr lang="en-US" sz="1800" dirty="0" smtClean="0"/>
              <a:t>ncertainty)</a:t>
            </a:r>
          </a:p>
          <a:p>
            <a:pPr lvl="2"/>
            <a:endParaRPr lang="en-US" dirty="0"/>
          </a:p>
        </p:txBody>
      </p:sp>
      <p:pic>
        <p:nvPicPr>
          <p:cNvPr id="1026" name="Picture 2" descr="http://ec.europa.eu/justice/civil/images/20160728_civil-justice-remuneration-banks-investment-firm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1200" y="167626"/>
            <a:ext cx="2254248" cy="1460005"/>
          </a:xfrm>
          <a:prstGeom prst="rect">
            <a:avLst/>
          </a:prstGeom>
          <a:noFill/>
          <a:ln w="3810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28349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Justice</a:t>
            </a:r>
            <a:endParaRPr lang="en-US" dirty="0"/>
          </a:p>
        </p:txBody>
      </p:sp>
      <p:sp>
        <p:nvSpPr>
          <p:cNvPr id="3" name="Content Placeholder 2"/>
          <p:cNvSpPr>
            <a:spLocks noGrp="1"/>
          </p:cNvSpPr>
          <p:nvPr>
            <p:ph idx="1"/>
          </p:nvPr>
        </p:nvSpPr>
        <p:spPr>
          <a:xfrm>
            <a:off x="862202" y="2084832"/>
            <a:ext cx="10624948" cy="5038725"/>
          </a:xfrm>
        </p:spPr>
        <p:txBody>
          <a:bodyPr>
            <a:normAutofit/>
          </a:bodyPr>
          <a:lstStyle/>
          <a:p>
            <a:r>
              <a:rPr lang="en-US" dirty="0" smtClean="0"/>
              <a:t>Interestingly, After the failure of the judge we are immediately presented with another judge: </a:t>
            </a:r>
          </a:p>
          <a:p>
            <a:r>
              <a:rPr lang="en-US" dirty="0" smtClean="0"/>
              <a:t>Angela Vicario. P100 “He was my perpetrator”. Her sentence is short and final. </a:t>
            </a:r>
            <a:r>
              <a:rPr lang="en-US" smtClean="0"/>
              <a:t>While enigmatic </a:t>
            </a:r>
            <a:r>
              <a:rPr lang="en-US" dirty="0" smtClean="0"/>
              <a:t>to some it does not echo the cryptic comments written in the margin by the magistrate. </a:t>
            </a:r>
          </a:p>
          <a:p>
            <a:r>
              <a:rPr lang="en-US" dirty="0" smtClean="0"/>
              <a:t>Natural or community justice meted out by the twin brothers. </a:t>
            </a:r>
          </a:p>
          <a:p>
            <a:r>
              <a:rPr lang="en-US" dirty="0" smtClean="0"/>
              <a:t>Linked to </a:t>
            </a:r>
            <a:r>
              <a:rPr lang="en-US" dirty="0" err="1"/>
              <a:t>H</a:t>
            </a:r>
            <a:r>
              <a:rPr lang="en-US" dirty="0" err="1" smtClean="0"/>
              <a:t>onour</a:t>
            </a:r>
            <a:r>
              <a:rPr lang="en-US" dirty="0" smtClean="0"/>
              <a:t> and Machismo. Justice is about holding your right place in the community. </a:t>
            </a:r>
          </a:p>
          <a:p>
            <a:endParaRPr lang="en-US" dirty="0"/>
          </a:p>
        </p:txBody>
      </p:sp>
      <p:pic>
        <p:nvPicPr>
          <p:cNvPr id="1026" name="Picture 2" descr="http://ec.europa.eu/justice/civil/images/20160728_civil-justice-remuneration-banks-investment-firm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05899" y="180211"/>
            <a:ext cx="2749549" cy="1780796"/>
          </a:xfrm>
          <a:prstGeom prst="rect">
            <a:avLst/>
          </a:prstGeom>
          <a:noFill/>
          <a:ln w="3810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5854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docProps/app.xml><?xml version="1.0" encoding="utf-8"?>
<Properties xmlns="http://schemas.openxmlformats.org/officeDocument/2006/extended-properties" xmlns:vt="http://schemas.openxmlformats.org/officeDocument/2006/docPropsVTypes">
  <Template>Integral</Template>
  <TotalTime>1871</TotalTime>
  <Words>3517</Words>
  <Application>Microsoft Office PowerPoint</Application>
  <PresentationFormat>Widescreen</PresentationFormat>
  <Paragraphs>204</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Tw Cen MT</vt:lpstr>
      <vt:lpstr>Tw Cen MT Condensed</vt:lpstr>
      <vt:lpstr>Wingdings</vt:lpstr>
      <vt:lpstr>Wingdings 3</vt:lpstr>
      <vt:lpstr>Integral</vt:lpstr>
      <vt:lpstr>Chronicle of a death Foretold</vt:lpstr>
      <vt:lpstr>Themes in CoADF</vt:lpstr>
      <vt:lpstr>Rituals</vt:lpstr>
      <vt:lpstr>Rituals</vt:lpstr>
      <vt:lpstr>Rituals</vt:lpstr>
      <vt:lpstr>Rituals</vt:lpstr>
      <vt:lpstr>Rituals</vt:lpstr>
      <vt:lpstr>Rituals</vt:lpstr>
      <vt:lpstr>Responsibility</vt:lpstr>
      <vt:lpstr>Responsibility &amp; Guilt</vt:lpstr>
      <vt:lpstr>Responsibility &amp; Guilt</vt:lpstr>
      <vt:lpstr>Honour</vt:lpstr>
      <vt:lpstr>Honour</vt:lpstr>
      <vt:lpstr>Honour &amp; Women</vt:lpstr>
      <vt:lpstr>Honour</vt:lpstr>
      <vt:lpstr>Honour &amp; Social expectation</vt:lpstr>
      <vt:lpstr>Honour &amp; Social expectation</vt:lpstr>
      <vt:lpstr>Fate</vt:lpstr>
      <vt:lpstr>Fate</vt:lpstr>
      <vt:lpstr>Considering Paper 2</vt:lpstr>
      <vt:lpstr>Uncertainty and Mystery</vt:lpstr>
      <vt:lpstr>Uncertainty and Mystery</vt:lpstr>
      <vt:lpstr>Reconstruction</vt:lpstr>
      <vt:lpstr>Isolation and Alienation</vt:lpstr>
      <vt:lpstr>Isolation and Alienation</vt:lpstr>
      <vt:lpstr>Conflict &amp; Violence</vt:lpstr>
      <vt:lpstr>Conflict &amp; Violence</vt:lpstr>
      <vt:lpstr>Conflict &amp; Violence</vt:lpstr>
      <vt:lpstr>Conflict &amp; Violence</vt:lpstr>
      <vt:lpstr>Justice</vt:lpstr>
      <vt:lpstr>Justice</vt:lpstr>
      <vt:lpstr>Justice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Christopher Bossan - Head of ESOL Faculty</dc:creator>
  <cp:lastModifiedBy>Peter Thompson - Head of English Faculty</cp:lastModifiedBy>
  <cp:revision>100</cp:revision>
  <dcterms:created xsi:type="dcterms:W3CDTF">2017-05-22T15:38:30Z</dcterms:created>
  <dcterms:modified xsi:type="dcterms:W3CDTF">2018-07-16T00:25:43Z</dcterms:modified>
</cp:coreProperties>
</file>