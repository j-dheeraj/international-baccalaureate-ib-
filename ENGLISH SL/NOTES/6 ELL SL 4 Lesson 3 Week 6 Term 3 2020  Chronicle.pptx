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6" r:id="rId2"/>
    <p:sldMasterId id="2147483698" r:id="rId3"/>
    <p:sldMasterId id="2147483716" r:id="rId4"/>
  </p:sldMasterIdLst>
  <p:notesMasterIdLst>
    <p:notesMasterId r:id="rId26"/>
  </p:notesMasterIdLst>
  <p:sldIdLst>
    <p:sldId id="273" r:id="rId5"/>
    <p:sldId id="274" r:id="rId6"/>
    <p:sldId id="275" r:id="rId7"/>
    <p:sldId id="276" r:id="rId8"/>
    <p:sldId id="287" r:id="rId9"/>
    <p:sldId id="288" r:id="rId10"/>
    <p:sldId id="289" r:id="rId11"/>
    <p:sldId id="290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91" r:id="rId20"/>
    <p:sldId id="292" r:id="rId21"/>
    <p:sldId id="293" r:id="rId22"/>
    <p:sldId id="294" r:id="rId23"/>
    <p:sldId id="295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48"/>
    <p:restoredTop sz="93130"/>
  </p:normalViewPr>
  <p:slideViewPr>
    <p:cSldViewPr snapToGrid="0" snapToObjects="1">
      <p:cViewPr varScale="1">
        <p:scale>
          <a:sx n="60" d="100"/>
          <a:sy n="60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2B4E1-BD7A-7D4C-9650-E10C2D0E1319}" type="datetimeFigureOut">
              <a:rPr lang="en-US" smtClean="0"/>
              <a:t>8/6/20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6BA7A-7811-0B4C-BC61-8B02DC0C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0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666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9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03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41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12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75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54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4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8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32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A88FC-3C43-6B43-B454-8E32A009384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933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34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216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1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263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2563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3379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061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158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169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8004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4814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429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D4FE-4210-C74C-BB56-00E0623B44C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26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4A374-29B7-2549-9F69-BB0EA76824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644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81098-DFD4-DE48-A017-B4A20B753CB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1625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CC64D-77FE-A64A-803F-E19F98D60B4D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5932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2964-CA5C-9448-AAC1-CD7A2210F12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5465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6882B-71B3-124A-B7CE-A7024F712FA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9858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C2F09-5DEC-D847-AEA5-DC353A80BCE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3588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37544-67A0-A649-A890-5C1271C708D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7837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2515B-9CAA-174D-B835-410668FA6FB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45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8727-4907-7248-B94F-968B449091C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348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158AE-C725-B448-BD3E-FE9B628D4C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7575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8D0A0-9D96-CC4C-A29E-671D1725271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8571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D727-A4D9-6C4E-8315-99599BC1BF0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667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104C5-BA1F-514A-9E09-A1247DEB83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156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0A8F0-FA8C-E04B-9E29-F1796B1916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4522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217" y="4572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4217" y="19812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4217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F48CE7-194B-D348-A59B-1F1D66A0554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4856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4109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452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321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2545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919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6845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799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8391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36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2270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2612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79329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20800-63EC-0A4C-B45E-A601CC4C780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67973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4B623-AAB8-A64A-8E12-87F7105FD20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339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564217" y="457200"/>
            <a:ext cx="10363200" cy="5638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B89AF-C541-5E47-B368-AC21608EB53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8372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53E0F-ABBD-D944-B58B-0B89088B81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9414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4B76D-F7D2-8F43-AAF5-FE2426304F9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87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1.xml"/><Relationship Id="rId18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7.xml"/><Relationship Id="rId17" Type="http://schemas.openxmlformats.org/officeDocument/2006/relationships/theme" Target="../theme/theme4.xml"/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24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45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Osaka" charset="-128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BBF79-2763-BF4A-BFD3-32471AE9AEA8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95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8/6/20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406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47" y="340659"/>
            <a:ext cx="11510681" cy="316930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n-lt"/>
              </a:rPr>
              <a:t>IB English Language and Literature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6 ELL SL 4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2019 - 2020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906838"/>
            <a:ext cx="12192000" cy="2691186"/>
          </a:xfrm>
        </p:spPr>
        <p:txBody>
          <a:bodyPr>
            <a:noAutofit/>
          </a:bodyPr>
          <a:lstStyle/>
          <a:p>
            <a:r>
              <a:rPr lang="en-US" sz="44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Shape of the Week (6):</a:t>
            </a: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1: Exams Review plus </a:t>
            </a:r>
            <a:r>
              <a:rPr lang="en-US" sz="3200" u="sng" dirty="0" smtClean="0">
                <a:solidFill>
                  <a:prstClr val="white"/>
                </a:solidFill>
              </a:rPr>
              <a:t>COADF</a:t>
            </a: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2: </a:t>
            </a:r>
            <a:r>
              <a:rPr lang="en-US" sz="3200" dirty="0">
                <a:solidFill>
                  <a:prstClr val="white"/>
                </a:solidFill>
              </a:rPr>
              <a:t>Exams Review plus </a:t>
            </a:r>
            <a:r>
              <a:rPr lang="en-US" sz="3200" u="sng" dirty="0" smtClean="0">
                <a:solidFill>
                  <a:prstClr val="white"/>
                </a:solidFill>
              </a:rPr>
              <a:t>COADF</a:t>
            </a:r>
          </a:p>
          <a:p>
            <a:r>
              <a:rPr lang="en-US" sz="3200" dirty="0">
                <a:solidFill>
                  <a:prstClr val="white"/>
                </a:solidFill>
              </a:rPr>
              <a:t>Lesson </a:t>
            </a:r>
            <a:r>
              <a:rPr lang="en-US" sz="3200" dirty="0" smtClean="0">
                <a:solidFill>
                  <a:prstClr val="white"/>
                </a:solidFill>
              </a:rPr>
              <a:t>3: </a:t>
            </a:r>
            <a:r>
              <a:rPr lang="en-US" sz="3200" u="sng" dirty="0" smtClean="0">
                <a:solidFill>
                  <a:prstClr val="white"/>
                </a:solidFill>
              </a:rPr>
              <a:t>COADF</a:t>
            </a:r>
            <a:endParaRPr lang="en-US" sz="3200" u="sng" dirty="0">
              <a:solidFill>
                <a:prstClr val="white"/>
              </a:solidFill>
            </a:endParaRP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11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charset="0"/>
                <a:ea typeface="Arial Rounded MT Bold" charset="0"/>
                <a:cs typeface="Arial Rounded MT Bold" charset="0"/>
              </a:rPr>
              <a:t>SCHOOL ASSESSMENT TERM 3</a:t>
            </a:r>
            <a:endParaRPr lang="en-US" b="1" dirty="0">
              <a:solidFill>
                <a:srgbClr val="FF0000"/>
              </a:solidFill>
              <a:latin typeface="Arial Rounded MT Bold" charset="0"/>
              <a:ea typeface="Arial Rounded MT Bold" charset="0"/>
              <a:cs typeface="Arial Rounded MT Bold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161" y="1745671"/>
            <a:ext cx="6578763" cy="4932219"/>
          </a:xfrm>
        </p:spPr>
        <p:txBody>
          <a:bodyPr/>
          <a:lstStyle/>
          <a:p>
            <a:pPr marL="0" indent="0">
              <a:buNone/>
            </a:pPr>
            <a:r>
              <a:rPr lang="en-US" sz="3200" strike="sngStrike" dirty="0" smtClean="0">
                <a:latin typeface="MS Mincho" charset="-128"/>
                <a:ea typeface="ＭＳ 明朝" charset="-128"/>
                <a:cs typeface="MS Mincho" charset="-128"/>
              </a:rPr>
              <a:t>☑ </a:t>
            </a:r>
            <a:r>
              <a:rPr lang="en-US" sz="3200" b="1" strike="sngStrike" dirty="0" smtClean="0">
                <a:ea typeface="ＭＳ 明朝" charset="-128"/>
                <a:cs typeface="MS Mincho" charset="-128"/>
              </a:rPr>
              <a:t>PRELIMS!!!</a:t>
            </a:r>
            <a:endParaRPr lang="en-US" sz="3200" b="1" u="sng" strike="sngStrike" dirty="0" smtClean="0">
              <a:ea typeface="ＭＳ 明朝" charset="-128"/>
              <a:cs typeface="MS Mincho" charset="-128"/>
            </a:endParaRPr>
          </a:p>
          <a:p>
            <a:endParaRPr lang="en-US" sz="3600" dirty="0" smtClean="0">
              <a:solidFill>
                <a:prstClr val="black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lvl="0" indent="0">
              <a:buNone/>
            </a:pPr>
            <a:endParaRPr lang="en-US" sz="4800" dirty="0">
              <a:solidFill>
                <a:prstClr val="black"/>
              </a:solidFill>
              <a:latin typeface="Calibri" charset="0"/>
              <a:ea typeface="ＭＳ 明朝" charset="-128"/>
              <a:cs typeface="Times New Roman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54" y="1858061"/>
            <a:ext cx="3657600" cy="405627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966" y="387999"/>
            <a:ext cx="1357672" cy="135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93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3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838200" y="1756352"/>
            <a:ext cx="9011194" cy="4949247"/>
          </a:xfrm>
          <a:solidFill>
            <a:srgbClr val="FFE9EE"/>
          </a:solidFill>
        </p:spPr>
        <p:txBody>
          <a:bodyPr/>
          <a:lstStyle/>
          <a:p>
            <a:r>
              <a:rPr lang="en-US" dirty="0" smtClean="0"/>
              <a:t>WEEK 1 Paper 2 Prelim Prep</a:t>
            </a:r>
          </a:p>
          <a:p>
            <a:r>
              <a:rPr lang="en-US" dirty="0" smtClean="0"/>
              <a:t>WEEK 2 </a:t>
            </a:r>
            <a:r>
              <a:rPr lang="en-US" dirty="0"/>
              <a:t>Paper </a:t>
            </a:r>
            <a:r>
              <a:rPr lang="en-US" dirty="0" smtClean="0"/>
              <a:t>1 </a:t>
            </a:r>
            <a:r>
              <a:rPr lang="en-US" dirty="0"/>
              <a:t>Prelim Prep</a:t>
            </a:r>
          </a:p>
          <a:p>
            <a:r>
              <a:rPr lang="en-US" dirty="0" smtClean="0"/>
              <a:t>WEEK 3 Prelims</a:t>
            </a:r>
          </a:p>
          <a:p>
            <a:r>
              <a:rPr lang="en-US" dirty="0" smtClean="0"/>
              <a:t>WEEK 4 </a:t>
            </a:r>
            <a:r>
              <a:rPr lang="en-US" dirty="0"/>
              <a:t>Prelims</a:t>
            </a:r>
          </a:p>
          <a:p>
            <a:r>
              <a:rPr lang="en-US" dirty="0" smtClean="0"/>
              <a:t>WEEK 5 WT </a:t>
            </a:r>
            <a:r>
              <a:rPr lang="en-US" dirty="0" err="1" smtClean="0"/>
              <a:t>finalisation</a:t>
            </a:r>
            <a:endParaRPr lang="en-US" dirty="0" smtClean="0"/>
          </a:p>
          <a:p>
            <a:r>
              <a:rPr lang="en-US" dirty="0"/>
              <a:t>WEEK </a:t>
            </a:r>
            <a:r>
              <a:rPr lang="en-US" dirty="0" smtClean="0"/>
              <a:t>6 Chronicle</a:t>
            </a:r>
            <a:endParaRPr lang="en-US" dirty="0"/>
          </a:p>
          <a:p>
            <a:r>
              <a:rPr lang="en-US" dirty="0"/>
              <a:t>WEEK </a:t>
            </a:r>
            <a:r>
              <a:rPr lang="en-US" dirty="0" smtClean="0"/>
              <a:t>7 </a:t>
            </a:r>
            <a:r>
              <a:rPr lang="en-US" dirty="0"/>
              <a:t>Chronicle</a:t>
            </a:r>
          </a:p>
          <a:p>
            <a:r>
              <a:rPr lang="en-US" dirty="0" smtClean="0"/>
              <a:t>WEEK 8 </a:t>
            </a:r>
            <a:r>
              <a:rPr lang="en-US" dirty="0"/>
              <a:t>Chronicle</a:t>
            </a:r>
          </a:p>
          <a:p>
            <a:r>
              <a:rPr lang="en-US" dirty="0" smtClean="0"/>
              <a:t>WEEK 9 </a:t>
            </a:r>
            <a:r>
              <a:rPr lang="en-US" dirty="0"/>
              <a:t>Chronicle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94" y="365126"/>
            <a:ext cx="1980166" cy="198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7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 smtClean="0">
                <a:solidFill>
                  <a:srgbClr val="FF0000"/>
                </a:solidFill>
                <a:latin typeface="+mn-lt"/>
              </a:rPr>
              <a:t>We are still a digital classroom!</a:t>
            </a:r>
            <a:endParaRPr lang="en-US" sz="7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8" y="2022765"/>
            <a:ext cx="4835235" cy="4835235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80" y="2413794"/>
            <a:ext cx="5269575" cy="3763982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2" y="36554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8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latin typeface="Calibri" charset="0"/>
                <a:ea typeface="MS Mincho" charset="-128"/>
                <a:cs typeface="MS Mincho" charset="-128"/>
              </a:rPr>
              <a:t>Be prepared: Bring Chronicle</a:t>
            </a:r>
          </a:p>
          <a:p>
            <a:pPr marL="0" indent="0">
              <a:buNone/>
            </a:pPr>
            <a:endParaRPr lang="en-US" b="1" dirty="0"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latin typeface="Calibri" charset="0"/>
                <a:ea typeface="MS Mincho" charset="-128"/>
                <a:cs typeface="MS Mincho" charset="-128"/>
              </a:rPr>
              <a:t>Read Context Documents on </a:t>
            </a:r>
            <a:r>
              <a:rPr lang="en-US" b="1" dirty="0" err="1" smtClean="0">
                <a:latin typeface="Calibri" charset="0"/>
                <a:ea typeface="MS Mincho" charset="-128"/>
                <a:cs typeface="MS Mincho" charset="-128"/>
              </a:rPr>
              <a:t>Managebac</a:t>
            </a:r>
            <a:r>
              <a:rPr lang="en-US" b="1" smtClean="0">
                <a:latin typeface="Calibri" charset="0"/>
                <a:ea typeface="MS Mincho" charset="-128"/>
                <a:cs typeface="MS Mincho" charset="-128"/>
              </a:rPr>
              <a:t>, Firefly.</a:t>
            </a:r>
            <a:endParaRPr lang="en-US" b="1" dirty="0" smtClean="0"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Continue to clean up Written Task.</a:t>
            </a: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477" y="4638047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6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631950" y="260350"/>
            <a:ext cx="8915400" cy="1143000"/>
          </a:xfrm>
          <a:noFill/>
          <a:ln w="12700" cap="flat">
            <a:solidFill>
              <a:srgbClr val="800080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/>
          </a:bodyPr>
          <a:lstStyle/>
          <a:p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Chronicle</a:t>
            </a:r>
            <a:r>
              <a:rPr lang="es-ES" altLang="en-US" b="1" dirty="0">
                <a:solidFill>
                  <a:srgbClr val="00B050"/>
                </a:solidFill>
                <a:latin typeface="+mn-lt"/>
              </a:rPr>
              <a:t> of a </a:t>
            </a:r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death</a:t>
            </a:r>
            <a:r>
              <a:rPr lang="es-ES" altLang="en-US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foretold</a:t>
            </a:r>
            <a:r>
              <a:rPr lang="es-ES" altLang="en-US" b="1" dirty="0">
                <a:solidFill>
                  <a:srgbClr val="00B050"/>
                </a:solidFill>
                <a:latin typeface="+mn-lt"/>
              </a:rPr>
              <a:t>: </a:t>
            </a:r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setting</a:t>
            </a:r>
            <a:endParaRPr lang="es-ES" altLang="en-US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487488" y="1628775"/>
            <a:ext cx="9072562" cy="2376488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en-GB" altLang="en-US" dirty="0"/>
              <a:t>It takes place in a </a:t>
            </a:r>
            <a:r>
              <a:rPr lang="en-GB" altLang="en-US" u="sng" dirty="0"/>
              <a:t>small, Latin American river village off the coast of the Caribbean </a:t>
            </a:r>
            <a:r>
              <a:rPr lang="en-GB" altLang="en-US" u="sng" dirty="0" smtClean="0"/>
              <a:t>in the 1950s</a:t>
            </a:r>
            <a:r>
              <a:rPr lang="en-GB" altLang="en-US" dirty="0" smtClean="0"/>
              <a:t>. </a:t>
            </a:r>
            <a:r>
              <a:rPr lang="en-GB" altLang="en-US" dirty="0"/>
              <a:t>Once a busy </a:t>
            </a:r>
            <a:r>
              <a:rPr lang="en-GB" altLang="en-US" dirty="0" err="1"/>
              <a:t>center</a:t>
            </a:r>
            <a:r>
              <a:rPr lang="en-GB" altLang="en-US" dirty="0"/>
              <a:t> for shipping and ocean-going ships, the town now lacks commerce as a result of shifting river currents.</a:t>
            </a:r>
          </a:p>
        </p:txBody>
      </p:sp>
      <p:pic>
        <p:nvPicPr>
          <p:cNvPr id="31748" name="Picture 7" descr="click to zo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365626"/>
            <a:ext cx="4762500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055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94522" y="260350"/>
            <a:ext cx="10853530" cy="1143000"/>
          </a:xfrm>
          <a:noFill/>
          <a:ln w="12700" cap="flat">
            <a:solidFill>
              <a:srgbClr val="800080"/>
            </a:solidFill>
            <a:miter lim="800000"/>
            <a:headEnd/>
            <a:tailEnd/>
          </a:ln>
        </p:spPr>
        <p:txBody>
          <a:bodyPr vert="horz" lIns="90488" tIns="44450" rIns="90488" bIns="44450" rtlCol="0" anchor="ctr">
            <a:normAutofit/>
          </a:bodyPr>
          <a:lstStyle/>
          <a:p>
            <a:pPr algn="ctr"/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Chronicle</a:t>
            </a:r>
            <a:r>
              <a:rPr lang="es-ES" altLang="en-US" b="1" dirty="0">
                <a:solidFill>
                  <a:srgbClr val="00B050"/>
                </a:solidFill>
                <a:latin typeface="+mn-lt"/>
              </a:rPr>
              <a:t> of a </a:t>
            </a:r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death</a:t>
            </a:r>
            <a:r>
              <a:rPr lang="es-ES" altLang="en-US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foretold</a:t>
            </a:r>
            <a:r>
              <a:rPr lang="es-ES" altLang="en-US" b="1" dirty="0">
                <a:solidFill>
                  <a:srgbClr val="00B050"/>
                </a:solidFill>
                <a:latin typeface="+mn-lt"/>
              </a:rPr>
              <a:t>: </a:t>
            </a:r>
            <a:r>
              <a:rPr lang="es-ES" altLang="en-US" b="1" dirty="0" err="1">
                <a:solidFill>
                  <a:srgbClr val="00B050"/>
                </a:solidFill>
                <a:latin typeface="+mn-lt"/>
              </a:rPr>
              <a:t>setting</a:t>
            </a:r>
            <a:endParaRPr lang="es-ES" altLang="en-US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37930" y="1484314"/>
            <a:ext cx="5613609" cy="52292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altLang="en-US" dirty="0"/>
              <a:t>The events evolve over </a:t>
            </a:r>
            <a:r>
              <a:rPr lang="en-GB" altLang="en-US" u="sng" dirty="0"/>
              <a:t>a two-day time period</a:t>
            </a:r>
            <a:r>
              <a:rPr lang="en-GB" altLang="en-US" dirty="0"/>
              <a:t>. </a:t>
            </a:r>
            <a:r>
              <a:rPr lang="en-GB" altLang="en-US" b="1" dirty="0"/>
              <a:t>A wedding has taken place the night before</a:t>
            </a:r>
            <a:r>
              <a:rPr lang="en-GB" altLang="en-US" dirty="0"/>
              <a:t>. On the day of the murder, most of the townspeople have hangovers from the wedding reception. </a:t>
            </a:r>
            <a:r>
              <a:rPr lang="en-GB" altLang="en-US" b="1" dirty="0"/>
              <a:t>Because a visit from the bishop is expected, however, a festive air prevails.</a:t>
            </a:r>
            <a:endParaRPr lang="es-ES" altLang="en-US" b="1" dirty="0"/>
          </a:p>
        </p:txBody>
      </p:sp>
      <p:pic>
        <p:nvPicPr>
          <p:cNvPr id="32772" name="Picture 5" descr="sofasa_magdalena_foto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1628775"/>
            <a:ext cx="4627563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50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latin typeface="+mn-lt"/>
              </a:rPr>
              <a:t>Setting: the society</a:t>
            </a:r>
            <a:endParaRPr lang="en-US" sz="6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9824"/>
            <a:ext cx="11027735" cy="518915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Pre-Vatican II Catholicism dominated society. </a:t>
            </a:r>
          </a:p>
          <a:p>
            <a:pPr lvl="1"/>
            <a:r>
              <a:rPr lang="en-US" dirty="0" smtClean="0"/>
              <a:t>Birth</a:t>
            </a:r>
          </a:p>
          <a:p>
            <a:pPr lvl="1"/>
            <a:r>
              <a:rPr lang="en-US" dirty="0" smtClean="0"/>
              <a:t>Education</a:t>
            </a:r>
          </a:p>
          <a:p>
            <a:pPr lvl="1"/>
            <a:r>
              <a:rPr lang="en-US" dirty="0" smtClean="0"/>
              <a:t>Marriage</a:t>
            </a:r>
          </a:p>
          <a:p>
            <a:pPr lvl="1"/>
            <a:r>
              <a:rPr lang="en-US" dirty="0" smtClean="0"/>
              <a:t>Relationships</a:t>
            </a:r>
          </a:p>
          <a:p>
            <a:pPr lvl="1"/>
            <a:r>
              <a:rPr lang="en-US" dirty="0" smtClean="0"/>
              <a:t>Work </a:t>
            </a:r>
          </a:p>
          <a:p>
            <a:pPr lvl="1"/>
            <a:r>
              <a:rPr lang="en-US" dirty="0" smtClean="0"/>
              <a:t>Justice</a:t>
            </a:r>
          </a:p>
          <a:p>
            <a:pPr lvl="1"/>
            <a:r>
              <a:rPr lang="en-US" dirty="0" smtClean="0"/>
              <a:t>Death</a:t>
            </a:r>
          </a:p>
          <a:p>
            <a:pPr lvl="1"/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Gender expectations/ sexism is extreme: there is a conflict and division in the way men and women are supposed to act and interact.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Class and Racial tensions</a:t>
            </a:r>
          </a:p>
        </p:txBody>
      </p:sp>
    </p:spTree>
    <p:extLst>
      <p:ext uri="{BB962C8B-B14F-4D97-AF65-F5344CB8AC3E}">
        <p14:creationId xmlns:p14="http://schemas.microsoft.com/office/powerpoint/2010/main" val="88589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QUIZ 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810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661" y="357808"/>
            <a:ext cx="7126036" cy="6500191"/>
          </a:xfrm>
        </p:spPr>
        <p:txBody>
          <a:bodyPr>
            <a:normAutofit/>
          </a:bodyPr>
          <a:lstStyle/>
          <a:p>
            <a:r>
              <a:rPr lang="en-US" dirty="0" smtClean="0"/>
              <a:t>What two significant events are mentioned in the  first sentence of the novel? How do you think they correlate?</a:t>
            </a:r>
          </a:p>
          <a:p>
            <a:r>
              <a:rPr lang="en-US" dirty="0">
                <a:solidFill>
                  <a:srgbClr val="0432FF"/>
                </a:solidFill>
              </a:rPr>
              <a:t>Santiago </a:t>
            </a:r>
            <a:r>
              <a:rPr lang="en-US" dirty="0" err="1">
                <a:solidFill>
                  <a:srgbClr val="0432FF"/>
                </a:solidFill>
              </a:rPr>
              <a:t>Nasar</a:t>
            </a:r>
            <a:r>
              <a:rPr lang="en-US" dirty="0">
                <a:solidFill>
                  <a:srgbClr val="0432FF"/>
                </a:solidFill>
              </a:rPr>
              <a:t> woke up at 5:30 in the morning due to the bishop </a:t>
            </a:r>
            <a:r>
              <a:rPr lang="en-US" dirty="0" smtClean="0">
                <a:solidFill>
                  <a:srgbClr val="0432FF"/>
                </a:solidFill>
              </a:rPr>
              <a:t>coming/ going </a:t>
            </a:r>
            <a:r>
              <a:rPr lang="en-US" dirty="0">
                <a:solidFill>
                  <a:srgbClr val="0432FF"/>
                </a:solidFill>
              </a:rPr>
              <a:t>to die that day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realism / magical</a:t>
            </a:r>
            <a:r>
              <a:rPr lang="en-US" dirty="0" smtClean="0">
                <a:solidFill>
                  <a:srgbClr val="0432FF"/>
                </a:solidFill>
              </a:rPr>
              <a:t>. Meeting member of religious (deals w/ supernatural) hierarchy/ Meeting supernatural realm.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How many years have passed since S </a:t>
            </a:r>
            <a:r>
              <a:rPr lang="en-US" dirty="0" err="1" smtClean="0"/>
              <a:t>Nasar’s</a:t>
            </a:r>
            <a:r>
              <a:rPr lang="en-US" dirty="0" smtClean="0"/>
              <a:t> death? Why do you think the narrator waits so many years to return to the village to investigate the murder?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27</a:t>
            </a:r>
            <a:r>
              <a:rPr lang="mr-IN" dirty="0" smtClean="0">
                <a:solidFill>
                  <a:srgbClr val="0432FF"/>
                </a:solidFill>
              </a:rPr>
              <a:t>…</a:t>
            </a:r>
            <a:r>
              <a:rPr lang="en-US" dirty="0" smtClean="0">
                <a:solidFill>
                  <a:srgbClr val="0432FF"/>
                </a:solidFill>
              </a:rPr>
              <a:t> explains (using TRUE STORY NOTES)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697" y="1798584"/>
            <a:ext cx="4572000" cy="3172968"/>
          </a:xfrm>
        </p:spPr>
      </p:pic>
    </p:spTree>
    <p:extLst>
      <p:ext uri="{BB962C8B-B14F-4D97-AF65-F5344CB8AC3E}">
        <p14:creationId xmlns:p14="http://schemas.microsoft.com/office/powerpoint/2010/main" val="69722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799" y="278296"/>
            <a:ext cx="5907157" cy="6579704"/>
          </a:xfrm>
        </p:spPr>
        <p:txBody>
          <a:bodyPr>
            <a:noAutofit/>
          </a:bodyPr>
          <a:lstStyle/>
          <a:p>
            <a:r>
              <a:rPr lang="en-US" dirty="0" smtClean="0"/>
              <a:t>Briefly </a:t>
            </a:r>
            <a:r>
              <a:rPr lang="en-US" dirty="0" err="1" smtClean="0"/>
              <a:t>summarise</a:t>
            </a:r>
            <a:r>
              <a:rPr lang="en-US" dirty="0" smtClean="0"/>
              <a:t> Santiago’s dream the morning of his death. What does his mother believe dreams about birds indicate?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Dreams of being in a grove of timber trees in drizzling rain </a:t>
            </a:r>
            <a:r>
              <a:rPr lang="mr-IN" dirty="0" smtClean="0">
                <a:solidFill>
                  <a:srgbClr val="0432FF"/>
                </a:solidFill>
              </a:rPr>
              <a:t>–</a:t>
            </a:r>
            <a:r>
              <a:rPr lang="en-US" dirty="0" smtClean="0">
                <a:solidFill>
                  <a:srgbClr val="0432FF"/>
                </a:solidFill>
              </a:rPr>
              <a:t> then bird shit.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Birds </a:t>
            </a:r>
            <a:r>
              <a:rPr lang="mr-IN" dirty="0" smtClean="0">
                <a:solidFill>
                  <a:srgbClr val="0432FF"/>
                </a:solidFill>
              </a:rPr>
              <a:t>–</a:t>
            </a:r>
            <a:r>
              <a:rPr lang="en-US" dirty="0" smtClean="0">
                <a:solidFill>
                  <a:srgbClr val="0432FF"/>
                </a:solidFill>
              </a:rPr>
              <a:t> foretell health.</a:t>
            </a:r>
          </a:p>
          <a:p>
            <a:endParaRPr lang="en-US" dirty="0"/>
          </a:p>
          <a:p>
            <a:r>
              <a:rPr lang="en-US" dirty="0" smtClean="0"/>
              <a:t>What is Santiago’s mother’s name? For what is she well known?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Placida </a:t>
            </a:r>
            <a:r>
              <a:rPr lang="en-US" dirty="0" err="1" smtClean="0">
                <a:solidFill>
                  <a:srgbClr val="0432FF"/>
                </a:solidFill>
              </a:rPr>
              <a:t>Linero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Interpreting dreams.</a:t>
            </a:r>
            <a:endParaRPr lang="en-US" dirty="0">
              <a:solidFill>
                <a:srgbClr val="0432FF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28" y="1555715"/>
            <a:ext cx="5684619" cy="1600439"/>
          </a:xfrm>
        </p:spPr>
      </p:pic>
    </p:spTree>
    <p:extLst>
      <p:ext uri="{BB962C8B-B14F-4D97-AF65-F5344CB8AC3E}">
        <p14:creationId xmlns:p14="http://schemas.microsoft.com/office/powerpoint/2010/main" val="160638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661" y="357808"/>
            <a:ext cx="5801139" cy="6500191"/>
          </a:xfrm>
        </p:spPr>
        <p:txBody>
          <a:bodyPr/>
          <a:lstStyle/>
          <a:p>
            <a:r>
              <a:rPr lang="en-US" dirty="0" smtClean="0"/>
              <a:t>What is the Divine Face? What does Santiago do there? Symbolism?</a:t>
            </a:r>
          </a:p>
          <a:p>
            <a:r>
              <a:rPr lang="en-US" dirty="0" err="1" smtClean="0">
                <a:solidFill>
                  <a:srgbClr val="0432FF"/>
                </a:solidFill>
              </a:rPr>
              <a:t>Sanitago’s</a:t>
            </a:r>
            <a:r>
              <a:rPr lang="en-US" dirty="0" smtClean="0">
                <a:solidFill>
                  <a:srgbClr val="0432FF"/>
                </a:solidFill>
              </a:rPr>
              <a:t> inherited ranch.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Castrates (gelds) calves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Masculine Sexuality and this story!</a:t>
            </a:r>
            <a:endParaRPr lang="en-US" dirty="0" smtClean="0">
              <a:solidFill>
                <a:srgbClr val="0432FF"/>
              </a:solidFill>
            </a:endParaRP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Why does Santiago’s mother blame herself for his death?</a:t>
            </a:r>
          </a:p>
          <a:p>
            <a:r>
              <a:rPr lang="en-US" dirty="0" smtClean="0">
                <a:solidFill>
                  <a:srgbClr val="0432FF"/>
                </a:solidFill>
              </a:rPr>
              <a:t>Misinterpreted dream, shut the door on him.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632307"/>
            <a:ext cx="5334000" cy="2661920"/>
          </a:xfrm>
        </p:spPr>
      </p:pic>
    </p:spTree>
    <p:extLst>
      <p:ext uri="{BB962C8B-B14F-4D97-AF65-F5344CB8AC3E}">
        <p14:creationId xmlns:p14="http://schemas.microsoft.com/office/powerpoint/2010/main" val="35630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799" y="278296"/>
            <a:ext cx="5907157" cy="6579704"/>
          </a:xfrm>
        </p:spPr>
        <p:txBody>
          <a:bodyPr>
            <a:normAutofit/>
          </a:bodyPr>
          <a:lstStyle/>
          <a:p>
            <a:r>
              <a:rPr lang="en-US" dirty="0"/>
              <a:t>Who are Victoria Guzman and </a:t>
            </a:r>
            <a:r>
              <a:rPr lang="en-US" dirty="0" err="1"/>
              <a:t>Divina</a:t>
            </a:r>
            <a:r>
              <a:rPr lang="en-US" dirty="0"/>
              <a:t> </a:t>
            </a:r>
            <a:r>
              <a:rPr lang="en-US" dirty="0" err="1"/>
              <a:t>Flor</a:t>
            </a:r>
            <a:r>
              <a:rPr lang="en-US" dirty="0"/>
              <a:t>? How does Victoria feel about Santiago? What do you think his reaction to </a:t>
            </a:r>
            <a:r>
              <a:rPr lang="en-US" dirty="0" err="1"/>
              <a:t>Divina</a:t>
            </a:r>
            <a:r>
              <a:rPr lang="en-US" dirty="0"/>
              <a:t> indicates</a:t>
            </a:r>
            <a:r>
              <a:rPr lang="en-US" dirty="0" smtClean="0"/>
              <a:t>?</a:t>
            </a:r>
          </a:p>
          <a:p>
            <a:pPr fontAlgn="t"/>
            <a:r>
              <a:rPr lang="en-US" dirty="0" smtClean="0">
                <a:solidFill>
                  <a:srgbClr val="0432FF"/>
                </a:solidFill>
              </a:rPr>
              <a:t>They </a:t>
            </a:r>
            <a:r>
              <a:rPr lang="en-US" dirty="0">
                <a:solidFill>
                  <a:srgbClr val="0432FF"/>
                </a:solidFill>
              </a:rPr>
              <a:t>are the maids of the </a:t>
            </a:r>
            <a:r>
              <a:rPr lang="en-US" dirty="0" err="1">
                <a:solidFill>
                  <a:srgbClr val="0432FF"/>
                </a:solidFill>
              </a:rPr>
              <a:t>Nasar</a:t>
            </a:r>
            <a:r>
              <a:rPr lang="en-US" dirty="0">
                <a:solidFill>
                  <a:srgbClr val="0432FF"/>
                </a:solidFill>
              </a:rPr>
              <a:t> home; mother and daughter. Victoria hates him, and his actions toward </a:t>
            </a:r>
            <a:r>
              <a:rPr lang="en-US" dirty="0" err="1">
                <a:solidFill>
                  <a:srgbClr val="0432FF"/>
                </a:solidFill>
              </a:rPr>
              <a:t>Divina</a:t>
            </a:r>
            <a:r>
              <a:rPr lang="en-US" dirty="0">
                <a:solidFill>
                  <a:srgbClr val="0432FF"/>
                </a:solidFill>
              </a:rPr>
              <a:t> indicate that she will be what Victoria was to his father.</a:t>
            </a:r>
          </a:p>
          <a:p>
            <a:endParaRPr lang="en-US" dirty="0"/>
          </a:p>
          <a:p>
            <a:r>
              <a:rPr lang="en-US" dirty="0"/>
              <a:t>What is the Fatal Door? Why is this door important to the plot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It is the door he leaves the day of his death, but he usually never leaves through the door.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1" y="1625048"/>
            <a:ext cx="5181600" cy="3886200"/>
          </a:xfrm>
        </p:spPr>
      </p:pic>
    </p:spTree>
    <p:extLst>
      <p:ext uri="{BB962C8B-B14F-4D97-AF65-F5344CB8AC3E}">
        <p14:creationId xmlns:p14="http://schemas.microsoft.com/office/powerpoint/2010/main" val="1180869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661" y="357808"/>
            <a:ext cx="6543475" cy="65001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do Victoria and </a:t>
            </a:r>
            <a:r>
              <a:rPr lang="en-US" dirty="0" err="1"/>
              <a:t>Divina</a:t>
            </a:r>
            <a:r>
              <a:rPr lang="en-US" dirty="0"/>
              <a:t> learn about the murder plot? Why don't they warn Santiago? What does </a:t>
            </a:r>
            <a:r>
              <a:rPr lang="en-US" dirty="0" err="1"/>
              <a:t>Divina</a:t>
            </a:r>
            <a:r>
              <a:rPr lang="en-US" dirty="0"/>
              <a:t> do in a futile attempt to help him? What do you think this indicates about her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A beggar told them of the murder.</a:t>
            </a:r>
            <a:br>
              <a:rPr lang="en-US" dirty="0">
                <a:solidFill>
                  <a:srgbClr val="0432FF"/>
                </a:solidFill>
              </a:rPr>
            </a:br>
            <a:r>
              <a:rPr lang="en-US" dirty="0">
                <a:solidFill>
                  <a:srgbClr val="0432FF"/>
                </a:solidFill>
              </a:rPr>
              <a:t>Victoria hates Santiago, </a:t>
            </a:r>
            <a:r>
              <a:rPr lang="en-US" dirty="0" err="1">
                <a:solidFill>
                  <a:srgbClr val="0432FF"/>
                </a:solidFill>
              </a:rPr>
              <a:t>Divina</a:t>
            </a:r>
            <a:r>
              <a:rPr lang="en-US" dirty="0">
                <a:solidFill>
                  <a:srgbClr val="0432FF"/>
                </a:solidFill>
              </a:rPr>
              <a:t> is too scared.</a:t>
            </a:r>
            <a:br>
              <a:rPr lang="en-US" dirty="0">
                <a:solidFill>
                  <a:srgbClr val="0432FF"/>
                </a:solidFill>
              </a:rPr>
            </a:br>
            <a:r>
              <a:rPr lang="en-US" dirty="0" err="1">
                <a:solidFill>
                  <a:srgbClr val="0432FF"/>
                </a:solidFill>
              </a:rPr>
              <a:t>Divina</a:t>
            </a:r>
            <a:r>
              <a:rPr lang="en-US" dirty="0">
                <a:solidFill>
                  <a:srgbClr val="0432FF"/>
                </a:solidFill>
              </a:rPr>
              <a:t> leaves the doors unbarred.</a:t>
            </a:r>
            <a:br>
              <a:rPr lang="en-US" dirty="0">
                <a:solidFill>
                  <a:srgbClr val="0432FF"/>
                </a:solidFill>
              </a:rPr>
            </a:br>
            <a:r>
              <a:rPr lang="en-US" dirty="0">
                <a:solidFill>
                  <a:srgbClr val="0432FF"/>
                </a:solidFill>
              </a:rPr>
              <a:t>She still cares for his life, despite his actions.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What does an unidentified person do in attempt to warn Santiago? Why does this fail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They slipped a note under the door, but no one saw it.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67" y="335589"/>
            <a:ext cx="2833313" cy="4351505"/>
          </a:xfrm>
        </p:spPr>
      </p:pic>
    </p:spTree>
    <p:extLst>
      <p:ext uri="{BB962C8B-B14F-4D97-AF65-F5344CB8AC3E}">
        <p14:creationId xmlns:p14="http://schemas.microsoft.com/office/powerpoint/2010/main" val="197140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QUIZ </a:t>
            </a:r>
            <a:r>
              <a:rPr lang="en-US" b="1" dirty="0" smtClean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79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9939" y="278296"/>
            <a:ext cx="7062061" cy="657970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Identify the two men who plan to kill Santiago. How does the narrator feel about them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Pablo and Pedro Vicario, he thought they were honorable and their families knew each </a:t>
            </a:r>
            <a:r>
              <a:rPr lang="en-US" dirty="0" smtClean="0">
                <a:solidFill>
                  <a:srgbClr val="0432FF"/>
                </a:solidFill>
              </a:rPr>
              <a:t>other.</a:t>
            </a:r>
          </a:p>
          <a:p>
            <a:endParaRPr lang="en-US" dirty="0"/>
          </a:p>
          <a:p>
            <a:r>
              <a:rPr lang="en-US" dirty="0"/>
              <a:t>Identify the characters and explain their interaction with Santiago on the day of his death: Margot, Cristo </a:t>
            </a:r>
            <a:r>
              <a:rPr lang="en-US" dirty="0" err="1"/>
              <a:t>Bedoya</a:t>
            </a:r>
            <a:r>
              <a:rPr lang="en-US" dirty="0"/>
              <a:t>, Don Lazaro Aponte, Father Carmen Amador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0432FF"/>
                </a:solidFill>
              </a:rPr>
              <a:t>Margot sees him the morning of, invites him to breakfast.</a:t>
            </a:r>
            <a:br>
              <a:rPr lang="en-US" dirty="0">
                <a:solidFill>
                  <a:srgbClr val="0432FF"/>
                </a:solidFill>
              </a:rPr>
            </a:br>
            <a:endParaRPr lang="en-US" dirty="0" smtClean="0">
              <a:solidFill>
                <a:srgbClr val="0432FF"/>
              </a:solidFill>
            </a:endParaRPr>
          </a:p>
          <a:p>
            <a:r>
              <a:rPr lang="en-US" dirty="0" smtClean="0">
                <a:solidFill>
                  <a:srgbClr val="0432FF"/>
                </a:solidFill>
              </a:rPr>
              <a:t>Cristo </a:t>
            </a:r>
            <a:r>
              <a:rPr lang="en-US" dirty="0" err="1">
                <a:solidFill>
                  <a:srgbClr val="0432FF"/>
                </a:solidFill>
              </a:rPr>
              <a:t>Bedoya</a:t>
            </a:r>
            <a:r>
              <a:rPr lang="en-US" dirty="0">
                <a:solidFill>
                  <a:srgbClr val="0432FF"/>
                </a:solidFill>
              </a:rPr>
              <a:t> attempts to warn Santiago.</a:t>
            </a:r>
            <a:br>
              <a:rPr lang="en-US" dirty="0">
                <a:solidFill>
                  <a:srgbClr val="0432FF"/>
                </a:solidFill>
              </a:rPr>
            </a:br>
            <a:endParaRPr lang="en-US" dirty="0" smtClean="0">
              <a:solidFill>
                <a:srgbClr val="0432FF"/>
              </a:solidFill>
            </a:endParaRPr>
          </a:p>
          <a:p>
            <a:r>
              <a:rPr lang="en-US" dirty="0" smtClean="0">
                <a:solidFill>
                  <a:srgbClr val="0432FF"/>
                </a:solidFill>
              </a:rPr>
              <a:t>Don </a:t>
            </a:r>
            <a:r>
              <a:rPr lang="en-US" dirty="0">
                <a:solidFill>
                  <a:srgbClr val="0432FF"/>
                </a:solidFill>
              </a:rPr>
              <a:t>Lazaro Aponte does nothing, likes dominoes</a:t>
            </a:r>
            <a:br>
              <a:rPr lang="en-US" dirty="0">
                <a:solidFill>
                  <a:srgbClr val="0432FF"/>
                </a:solidFill>
              </a:rPr>
            </a:br>
            <a:endParaRPr lang="en-US" dirty="0" smtClean="0">
              <a:solidFill>
                <a:srgbClr val="0432FF"/>
              </a:solidFill>
            </a:endParaRPr>
          </a:p>
          <a:p>
            <a:r>
              <a:rPr lang="en-US" dirty="0" smtClean="0">
                <a:solidFill>
                  <a:srgbClr val="0432FF"/>
                </a:solidFill>
              </a:rPr>
              <a:t>Father </a:t>
            </a:r>
            <a:r>
              <a:rPr lang="en-US" dirty="0">
                <a:solidFill>
                  <a:srgbClr val="0432FF"/>
                </a:solidFill>
              </a:rPr>
              <a:t>forgets to warn Santiago of his impending </a:t>
            </a:r>
            <a:r>
              <a:rPr lang="en-US" dirty="0" smtClean="0">
                <a:solidFill>
                  <a:srgbClr val="0432FF"/>
                </a:solidFill>
              </a:rPr>
              <a:t>murder.</a:t>
            </a:r>
            <a:endParaRPr lang="en-US" dirty="0">
              <a:solidFill>
                <a:srgbClr val="0432FF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7" y="1392479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7306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8661" y="357808"/>
            <a:ext cx="6543475" cy="6500191"/>
          </a:xfrm>
        </p:spPr>
        <p:txBody>
          <a:bodyPr>
            <a:normAutofit/>
          </a:bodyPr>
          <a:lstStyle/>
          <a:p>
            <a:r>
              <a:rPr lang="en-US" dirty="0"/>
              <a:t>Why does the narrator find it strange that his sister Margot does not know about the plot to murder Santiago? How does Margot feel about Santiago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She was with him the morning of his murder, in the middle of town. Margot thinks he is a catch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endParaRPr lang="en-US" dirty="0" smtClean="0"/>
          </a:p>
          <a:p>
            <a:r>
              <a:rPr lang="en-US" dirty="0"/>
              <a:t>Why does Angela Vicario get returned home the night of her wedding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Because she wasn't a virgin.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49" y="1255363"/>
            <a:ext cx="4174681" cy="4174681"/>
          </a:xfrm>
        </p:spPr>
      </p:pic>
    </p:spTree>
    <p:extLst>
      <p:ext uri="{BB962C8B-B14F-4D97-AF65-F5344CB8AC3E}">
        <p14:creationId xmlns:p14="http://schemas.microsoft.com/office/powerpoint/2010/main" val="94802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4475" y="278296"/>
            <a:ext cx="7387525" cy="6579704"/>
          </a:xfrm>
        </p:spPr>
        <p:txBody>
          <a:bodyPr>
            <a:normAutofit/>
          </a:bodyPr>
          <a:lstStyle/>
          <a:p>
            <a:r>
              <a:rPr lang="en-US" dirty="0"/>
              <a:t>Who is Luisa </a:t>
            </a:r>
            <a:r>
              <a:rPr lang="en-US" dirty="0" err="1"/>
              <a:t>Santiaga</a:t>
            </a:r>
            <a:r>
              <a:rPr lang="en-US" dirty="0"/>
              <a:t> and what is her connection to Santiago and the Vicario family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The narrator's mother; she is Santiago's godmother and is the cousin of </a:t>
            </a:r>
            <a:r>
              <a:rPr lang="en-US" dirty="0" err="1" smtClean="0">
                <a:solidFill>
                  <a:srgbClr val="0432FF"/>
                </a:solidFill>
              </a:rPr>
              <a:t>Purisma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endParaRPr lang="en-US" dirty="0"/>
          </a:p>
          <a:p>
            <a:r>
              <a:rPr lang="en-US" dirty="0"/>
              <a:t>What does Luisa do when she learns of the death threat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Go to the </a:t>
            </a:r>
            <a:r>
              <a:rPr lang="en-US" dirty="0" err="1">
                <a:solidFill>
                  <a:srgbClr val="0432FF"/>
                </a:solidFill>
              </a:rPr>
              <a:t>Nasar</a:t>
            </a:r>
            <a:r>
              <a:rPr lang="en-US" dirty="0">
                <a:solidFill>
                  <a:srgbClr val="0432FF"/>
                </a:solidFill>
              </a:rPr>
              <a:t> home to warn him</a:t>
            </a:r>
            <a:r>
              <a:rPr lang="en-US" dirty="0" smtClean="0">
                <a:solidFill>
                  <a:srgbClr val="0432FF"/>
                </a:solidFill>
              </a:rPr>
              <a:t>.</a:t>
            </a:r>
          </a:p>
          <a:p>
            <a:endParaRPr lang="en-US" dirty="0">
              <a:solidFill>
                <a:srgbClr val="0432FF"/>
              </a:solidFill>
            </a:endParaRPr>
          </a:p>
          <a:p>
            <a:r>
              <a:rPr lang="en-US" dirty="0"/>
              <a:t>What news reaches Luisa before she gets to Santiago's home</a:t>
            </a:r>
            <a:r>
              <a:rPr lang="en-US" dirty="0" smtClean="0"/>
              <a:t>?</a:t>
            </a:r>
          </a:p>
          <a:p>
            <a:r>
              <a:rPr lang="en-US" dirty="0">
                <a:solidFill>
                  <a:srgbClr val="0432FF"/>
                </a:solidFill>
              </a:rPr>
              <a:t>Santiago's dead.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65" y="1700589"/>
            <a:ext cx="4526287" cy="2421960"/>
          </a:xfrm>
        </p:spPr>
      </p:pic>
    </p:spTree>
    <p:extLst>
      <p:ext uri="{BB962C8B-B14F-4D97-AF65-F5344CB8AC3E}">
        <p14:creationId xmlns:p14="http://schemas.microsoft.com/office/powerpoint/2010/main" val="126661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35" y="402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 smtClean="0">
                <a:solidFill>
                  <a:srgbClr val="00B050"/>
                </a:solidFill>
                <a:latin typeface="+mn-lt"/>
              </a:rPr>
              <a:t>Short Answer!</a:t>
            </a:r>
            <a:endParaRPr lang="en-US" sz="66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457" y="1595718"/>
            <a:ext cx="7287084" cy="4811149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i="1" dirty="0">
                <a:solidFill>
                  <a:srgbClr val="0432FF"/>
                </a:solidFill>
              </a:rPr>
              <a:t>What does the cook, Victoria Guzman, think of Santiago? </a:t>
            </a:r>
            <a:endParaRPr lang="en-US" sz="3200" b="1" i="1" dirty="0" smtClean="0">
              <a:solidFill>
                <a:srgbClr val="0432FF"/>
              </a:solidFill>
            </a:endParaRPr>
          </a:p>
          <a:p>
            <a:r>
              <a:rPr lang="en-US" sz="3200" b="1" i="1" dirty="0" smtClean="0">
                <a:solidFill>
                  <a:srgbClr val="0432FF"/>
                </a:solidFill>
              </a:rPr>
              <a:t>How </a:t>
            </a:r>
            <a:r>
              <a:rPr lang="en-US" sz="3200" b="1" i="1" dirty="0" smtClean="0">
                <a:solidFill>
                  <a:srgbClr val="0432FF"/>
                </a:solidFill>
              </a:rPr>
              <a:t>does Santiago </a:t>
            </a:r>
            <a:r>
              <a:rPr lang="en-US" sz="3200" b="1" i="1" dirty="0">
                <a:solidFill>
                  <a:srgbClr val="0432FF"/>
                </a:solidFill>
              </a:rPr>
              <a:t>treat Victoria's daughter, </a:t>
            </a:r>
            <a:r>
              <a:rPr lang="en-US" sz="3200" b="1" i="1" dirty="0" err="1">
                <a:solidFill>
                  <a:srgbClr val="0432FF"/>
                </a:solidFill>
              </a:rPr>
              <a:t>Divina</a:t>
            </a:r>
            <a:r>
              <a:rPr lang="en-US" sz="3200" b="1" i="1" dirty="0">
                <a:solidFill>
                  <a:srgbClr val="0432FF"/>
                </a:solidFill>
              </a:rPr>
              <a:t> </a:t>
            </a:r>
            <a:r>
              <a:rPr lang="en-US" sz="3200" b="1" i="1" dirty="0" err="1">
                <a:solidFill>
                  <a:srgbClr val="0432FF"/>
                </a:solidFill>
              </a:rPr>
              <a:t>Flor</a:t>
            </a:r>
            <a:r>
              <a:rPr lang="en-US" sz="3200" b="1" i="1" dirty="0">
                <a:solidFill>
                  <a:srgbClr val="0432FF"/>
                </a:solidFill>
              </a:rPr>
              <a:t>? </a:t>
            </a:r>
            <a:endParaRPr lang="en-US" sz="3200" b="1" i="1" dirty="0" smtClean="0">
              <a:solidFill>
                <a:srgbClr val="0432FF"/>
              </a:solidFill>
            </a:endParaRPr>
          </a:p>
          <a:p>
            <a:endParaRPr lang="en-US" sz="3200" b="1" i="1" dirty="0" smtClean="0">
              <a:solidFill>
                <a:srgbClr val="0432FF"/>
              </a:solidFill>
            </a:endParaRPr>
          </a:p>
          <a:p>
            <a:r>
              <a:rPr lang="en-US" sz="3200" b="1" dirty="0" smtClean="0"/>
              <a:t>What </a:t>
            </a:r>
            <a:r>
              <a:rPr lang="en-US" sz="3200" b="1" dirty="0"/>
              <a:t>does this suggest </a:t>
            </a:r>
            <a:r>
              <a:rPr lang="en-US" sz="3200" b="1" dirty="0" smtClean="0"/>
              <a:t>about the </a:t>
            </a:r>
            <a:r>
              <a:rPr lang="en-US" sz="3200" b="1" dirty="0"/>
              <a:t>Santiago's treatment of women, and what does this chapter suggest </a:t>
            </a:r>
            <a:r>
              <a:rPr lang="en-US" sz="3200" b="1" dirty="0" smtClean="0"/>
              <a:t>about the </a:t>
            </a:r>
            <a:r>
              <a:rPr lang="en-US" sz="3200" b="1" dirty="0"/>
              <a:t>status of women in this town</a:t>
            </a:r>
            <a:r>
              <a:rPr lang="en-US" sz="3200" b="1" dirty="0" smtClean="0"/>
              <a:t>?</a:t>
            </a:r>
          </a:p>
          <a:p>
            <a:endParaRPr lang="en-US" sz="3200" dirty="0"/>
          </a:p>
          <a:p>
            <a:r>
              <a:rPr lang="en-US" sz="3200" dirty="0" smtClean="0">
                <a:solidFill>
                  <a:srgbClr val="0432FF"/>
                </a:solidFill>
              </a:rPr>
              <a:t>Write a PETEL paragraph </a:t>
            </a:r>
            <a:r>
              <a:rPr lang="en-US" sz="3200" dirty="0" smtClean="0">
                <a:solidFill>
                  <a:srgbClr val="0432FF"/>
                </a:solidFill>
              </a:rPr>
              <a:t>the black question </a:t>
            </a:r>
            <a:r>
              <a:rPr lang="en-US" sz="3200" dirty="0" smtClean="0">
                <a:solidFill>
                  <a:srgbClr val="0432FF"/>
                </a:solidFill>
              </a:rPr>
              <a:t>analytically without falling into description!</a:t>
            </a:r>
            <a:endParaRPr lang="en-US" sz="3200" dirty="0">
              <a:solidFill>
                <a:srgbClr val="0432FF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541" y="1825624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07676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From the start it is established that Santiago </a:t>
            </a:r>
            <a:r>
              <a:rPr lang="en-US" sz="3600" dirty="0" err="1"/>
              <a:t>Nasar</a:t>
            </a:r>
            <a:r>
              <a:rPr lang="en-US" sz="3600" dirty="0"/>
              <a:t> is going to die, his death is the main point of the entire narration either in the past or twenty seven years later. </a:t>
            </a:r>
            <a:endParaRPr lang="en-US" sz="3600" dirty="0" smtClean="0"/>
          </a:p>
          <a:p>
            <a:endParaRPr lang="en-US" sz="3600" dirty="0"/>
          </a:p>
          <a:p>
            <a:r>
              <a:rPr lang="en-US" sz="3600" dirty="0" smtClean="0"/>
              <a:t>Starts </a:t>
            </a:r>
            <a:r>
              <a:rPr lang="en-US" sz="3600" dirty="0"/>
              <a:t>off with massive tension but we are then showered with the mundane which actually increases our anticipation for his death.</a:t>
            </a:r>
            <a:endParaRPr lang="en-GB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88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latin typeface="Calibri" charset="0"/>
                <a:ea typeface="MS Mincho" charset="-128"/>
                <a:cs typeface="MS Mincho" charset="-128"/>
              </a:rPr>
              <a:t>Be prepared: Bring Chronicle</a:t>
            </a:r>
          </a:p>
          <a:p>
            <a:pPr marL="0" indent="0">
              <a:buNone/>
            </a:pPr>
            <a:endParaRPr lang="en-US" b="1" dirty="0"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latin typeface="Calibri" charset="0"/>
                <a:ea typeface="MS Mincho" charset="-128"/>
                <a:cs typeface="MS Mincho" charset="-128"/>
              </a:rPr>
              <a:t>Read Context Documents on </a:t>
            </a:r>
            <a:r>
              <a:rPr lang="en-US" b="1" dirty="0" err="1" smtClean="0">
                <a:latin typeface="Calibri" charset="0"/>
                <a:ea typeface="MS Mincho" charset="-128"/>
                <a:cs typeface="MS Mincho" charset="-128"/>
              </a:rPr>
              <a:t>Managebac</a:t>
            </a:r>
            <a:r>
              <a:rPr lang="en-US" b="1" smtClean="0">
                <a:latin typeface="Calibri" charset="0"/>
                <a:ea typeface="MS Mincho" charset="-128"/>
                <a:cs typeface="MS Mincho" charset="-128"/>
              </a:rPr>
              <a:t>, Firefly.</a:t>
            </a:r>
            <a:endParaRPr lang="en-US" b="1" dirty="0" smtClean="0"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Continue to clean up Written Task.</a:t>
            </a:r>
            <a:endParaRPr lang="en-US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477" y="4638047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0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1695</TotalTime>
  <Words>969</Words>
  <Application>Microsoft Macintosh PowerPoint</Application>
  <PresentationFormat>Widescreen</PresentationFormat>
  <Paragraphs>122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Arial Rounded MT Bold</vt:lpstr>
      <vt:lpstr>Calibri</vt:lpstr>
      <vt:lpstr>Calibri Light</vt:lpstr>
      <vt:lpstr>Mangal</vt:lpstr>
      <vt:lpstr>MS Mincho</vt:lpstr>
      <vt:lpstr>ＭＳ 明朝</vt:lpstr>
      <vt:lpstr>Osaka</vt:lpstr>
      <vt:lpstr>Times New Roman</vt:lpstr>
      <vt:lpstr>Arial</vt:lpstr>
      <vt:lpstr>1_Office Theme</vt:lpstr>
      <vt:lpstr>2_Office Theme</vt:lpstr>
      <vt:lpstr>3_Blank Presentation</vt:lpstr>
      <vt:lpstr>8_Office Theme</vt:lpstr>
      <vt:lpstr>IB English Language and Literature 6 ELL SL 4 2019 - 2020</vt:lpstr>
      <vt:lpstr>SCHOOL ASSESSMENT TERM 3</vt:lpstr>
      <vt:lpstr>General Outline Term 3</vt:lpstr>
      <vt:lpstr>We are still a digital classroom!</vt:lpstr>
      <vt:lpstr>Homework</vt:lpstr>
      <vt:lpstr>Chronicle of a death foretold: setting</vt:lpstr>
      <vt:lpstr>Chronicle of a death foretold: setting</vt:lpstr>
      <vt:lpstr>Setting: the society</vt:lpstr>
      <vt:lpstr>QUIZ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 2</vt:lpstr>
      <vt:lpstr>PowerPoint Presentation</vt:lpstr>
      <vt:lpstr>PowerPoint Presentation</vt:lpstr>
      <vt:lpstr>PowerPoint Presentation</vt:lpstr>
      <vt:lpstr>Short Answer!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Elisa Simone Zantos - Teacher of English</dc:creator>
  <cp:lastModifiedBy>Elisa Simone Zantos - Teacher of English</cp:lastModifiedBy>
  <cp:revision>13</cp:revision>
  <dcterms:created xsi:type="dcterms:W3CDTF">2020-08-04T03:15:33Z</dcterms:created>
  <dcterms:modified xsi:type="dcterms:W3CDTF">2020-08-06T23:52:52Z</dcterms:modified>
</cp:coreProperties>
</file>