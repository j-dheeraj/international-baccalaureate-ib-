
<file path=[Content_Types].xml><?xml version="1.0" encoding="utf-8"?>
<Types xmlns="http://schemas.openxmlformats.org/package/2006/content-types">
  <Default Extension="xml" ContentType="application/xml"/>
  <Default Extension="pdf" ContentType="application/pdf"/>
  <Default Extension="jpeg" ContentType="image/jpeg"/>
  <Default Extension="jpg" ContentType="image/jpeg"/>
  <Default Extension="rels" ContentType="application/vnd.openxmlformats-package.relationships+xml"/>
  <Default Extension="gif" ContentType="image/gif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4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72" r:id="rId3"/>
    <p:sldMasterId id="2147483690" r:id="rId4"/>
    <p:sldMasterId id="2147483719" r:id="rId5"/>
  </p:sldMasterIdLst>
  <p:notesMasterIdLst>
    <p:notesMasterId r:id="rId18"/>
  </p:notesMasterIdLst>
  <p:sldIdLst>
    <p:sldId id="256" r:id="rId6"/>
    <p:sldId id="257" r:id="rId7"/>
    <p:sldId id="258" r:id="rId8"/>
    <p:sldId id="270" r:id="rId9"/>
    <p:sldId id="314" r:id="rId10"/>
    <p:sldId id="259" r:id="rId11"/>
    <p:sldId id="269" r:id="rId12"/>
    <p:sldId id="260" r:id="rId13"/>
    <p:sldId id="266" r:id="rId14"/>
    <p:sldId id="313" r:id="rId15"/>
    <p:sldId id="315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44"/>
    <p:restoredTop sz="93130"/>
  </p:normalViewPr>
  <p:slideViewPr>
    <p:cSldViewPr snapToGrid="0" snapToObjects="1">
      <p:cViewPr varScale="1">
        <p:scale>
          <a:sx n="65" d="100"/>
          <a:sy n="65" d="100"/>
        </p:scale>
        <p:origin x="9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53A3CD-2237-EC49-ABBD-1120AC56E97F}" type="datetimeFigureOut">
              <a:rPr lang="en-US" smtClean="0"/>
              <a:t>9/29/20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4AA6C9-BEA2-CF46-B725-8DE16BFEA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095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53A99-1583-C54C-9E90-B9AE63448093}" type="datetimeFigureOut">
              <a:rPr lang="en-US" smtClean="0"/>
              <a:t>9/29/20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74587-078E-D04C-A0BC-932A712AE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226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53A99-1583-C54C-9E90-B9AE63448093}" type="datetimeFigureOut">
              <a:rPr lang="en-US" smtClean="0"/>
              <a:t>9/29/20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74587-078E-D04C-A0BC-932A712AE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418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53A99-1583-C54C-9E90-B9AE63448093}" type="datetimeFigureOut">
              <a:rPr lang="en-US" smtClean="0"/>
              <a:t>9/29/20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74587-078E-D04C-A0BC-932A712AE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649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53A99-1583-C54C-9E90-B9AE63448093}" type="datetimeFigureOut">
              <a:rPr lang="en-US" smtClean="0"/>
              <a:t>9/29/20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74587-078E-D04C-A0BC-932A712AE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62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53A99-1583-C54C-9E90-B9AE63448093}" type="datetimeFigureOut">
              <a:rPr lang="en-US" smtClean="0"/>
              <a:t>9/29/20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74587-078E-D04C-A0BC-932A712AE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53A99-1583-C54C-9E90-B9AE63448093}" type="datetimeFigureOut">
              <a:rPr lang="en-US" smtClean="0"/>
              <a:t>9/29/20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74587-078E-D04C-A0BC-932A712AE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12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53A99-1583-C54C-9E90-B9AE63448093}" type="datetimeFigureOut">
              <a:rPr lang="en-US" smtClean="0"/>
              <a:t>9/29/20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74587-078E-D04C-A0BC-932A712AE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628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53A99-1583-C54C-9E90-B9AE63448093}" type="datetimeFigureOut">
              <a:rPr lang="en-US" smtClean="0"/>
              <a:t>9/29/20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74587-078E-D04C-A0BC-932A712AE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3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53A99-1583-C54C-9E90-B9AE63448093}" type="datetimeFigureOut">
              <a:rPr lang="en-US" smtClean="0"/>
              <a:t>9/29/20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74587-078E-D04C-A0BC-932A712AE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039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53A99-1583-C54C-9E90-B9AE63448093}" type="datetimeFigureOut">
              <a:rPr lang="en-US" smtClean="0"/>
              <a:t>9/29/20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74587-078E-D04C-A0BC-932A712AE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966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53A99-1583-C54C-9E90-B9AE63448093}" type="datetimeFigureOut">
              <a:rPr lang="en-US" smtClean="0"/>
              <a:t>9/29/20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F74587-078E-D04C-A0BC-932A712AE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349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23563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96377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66862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4122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6890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530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18818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75451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70981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2733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3659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92D4FE-4210-C74C-BB56-00E0623B44CB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06434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74A374-29B7-2549-9F69-BB0EA7682451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130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681098-DFD4-DE48-A017-B4A20B753CB8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4882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5CC64D-77FE-A64A-803F-E19F98D60B4D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77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122964-CA5C-9448-AAC1-CD7A2210F122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759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46882B-71B3-124A-B7CE-A7024F712FA5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04829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DC2F09-5DEC-D847-AEA5-DC353A80BCE1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93619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437544-67A0-A649-A890-5C1271C708D0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677369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82515B-9CAA-174D-B835-410668FA6FBA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1079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A8727-4907-7248-B94F-968B449091CC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713779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7158AE-C725-B448-BD3E-FE9B628D4C99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6950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F8D0A0-9D96-CC4C-A29E-671D17252712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8281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67D727-A4D9-6C4E-8315-99599BC1BF0B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33651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914400" y="41148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F104C5-BA1F-514A-9E09-A1247DEB83C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23815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>
  <p:cSld name="Title, 2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914400" y="41148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A0A8F0-FA8C-E04B-9E29-F1796B19162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093319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4217" y="4572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4217" y="1981200"/>
            <a:ext cx="103632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4217" y="4114800"/>
            <a:ext cx="103632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F48CE7-194B-D348-A59B-1F1D66A05540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05100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914400" y="4114800"/>
            <a:ext cx="103632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C51C2D-0550-6747-9CF3-EED8C7DF884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454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AU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366470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898351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4690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73502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461305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36852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668897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78394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23230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261407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45015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F20800-63EC-0A4C-B45E-A601CC4C780C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52276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914400" y="41148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94B623-AAB8-A64A-8E12-87F7105FD205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89488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1564217" y="457200"/>
            <a:ext cx="10363200" cy="5638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3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1B89AF-C541-5E47-B368-AC21608EB53C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721389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853E0F-ABBD-D944-B58B-0B89088B81F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447973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94B76D-F7D2-8F43-AAF5-FE2426304F9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545340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AU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345950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03249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492278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140632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465440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24078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15492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11317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679967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11984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522411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914400" y="41148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BA88FC-3C43-6B43-B454-8E32A0093844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94824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914400" y="4114800"/>
            <a:ext cx="103632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C51C2D-0550-6747-9CF3-EED8C7DF884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944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39.xml"/><Relationship Id="rId18" Type="http://schemas.openxmlformats.org/officeDocument/2006/relationships/theme" Target="../theme/theme3.xml"/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51.xml"/><Relationship Id="rId13" Type="http://schemas.openxmlformats.org/officeDocument/2006/relationships/slideLayout" Target="../slideLayouts/slideLayout52.xml"/><Relationship Id="rId14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55.xml"/><Relationship Id="rId17" Type="http://schemas.openxmlformats.org/officeDocument/2006/relationships/theme" Target="../theme/theme4.xml"/><Relationship Id="rId1" Type="http://schemas.openxmlformats.org/officeDocument/2006/relationships/slideLayout" Target="../slideLayouts/slideLayout40.xml"/><Relationship Id="rId2" Type="http://schemas.openxmlformats.org/officeDocument/2006/relationships/slideLayout" Target="../slideLayouts/slideLayout41.xml"/><Relationship Id="rId3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6.xml"/><Relationship Id="rId8" Type="http://schemas.openxmlformats.org/officeDocument/2006/relationships/slideLayout" Target="../slideLayouts/slideLayout47.xml"/><Relationship Id="rId9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9.xml"/></Relationships>
</file>

<file path=ppt/slideMasters/_rels/slideMaster5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68.xml"/><Relationship Id="rId14" Type="http://schemas.openxmlformats.org/officeDocument/2006/relationships/theme" Target="../theme/theme5.xml"/><Relationship Id="rId1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9.xml"/><Relationship Id="rId5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2.xml"/><Relationship Id="rId8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53A99-1583-C54C-9E90-B9AE63448093}" type="datetimeFigureOut">
              <a:rPr lang="en-US" smtClean="0"/>
              <a:t>9/29/20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F74587-078E-D04C-A0BC-932A712AE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188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345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ea typeface="+mn-ea"/>
                <a:cs typeface="+mn-cs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ea typeface="+mn-ea"/>
                <a:cs typeface="+mn-cs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ea typeface="Osaka" charset="-128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85BBF79-2763-BF4A-BFD3-32471AE9AEA8}" type="slidenum">
              <a:rPr lang="en-US" altLang="en-US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3158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753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E2EAF-6824-8242-B4F8-308B66DE6A81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9/29/20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2ADF9-07B9-4C4C-85AB-674A84AFC2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0433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3.gi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4" Type="http://schemas.openxmlformats.org/officeDocument/2006/relationships/image" Target="../media/image7.png"/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image" Target="../media/image8.pd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3147" y="3388485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sz="7300" b="1" dirty="0" smtClean="0">
                <a:solidFill>
                  <a:srgbClr val="FFFF00"/>
                </a:solidFill>
                <a:latin typeface="+mn-lt"/>
              </a:rPr>
              <a:t>Welcome Back!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>
                <a:solidFill>
                  <a:schemeClr val="bg1"/>
                </a:solidFill>
              </a:rPr>
              <a:t>Don’t forget to take a tissue to wipe down your desk</a:t>
            </a:r>
            <a:r>
              <a:rPr lang="mr-IN" b="1" dirty="0" smtClean="0">
                <a:solidFill>
                  <a:schemeClr val="bg1"/>
                </a:solidFill>
              </a:rPr>
              <a:t>…</a:t>
            </a:r>
            <a:r>
              <a:rPr lang="en-US" b="1" dirty="0" smtClean="0">
                <a:solidFill>
                  <a:schemeClr val="bg1"/>
                </a:solidFill>
              </a:rPr>
              <a:t/>
            </a:r>
            <a:br>
              <a:rPr lang="en-US" b="1" dirty="0" smtClean="0">
                <a:solidFill>
                  <a:schemeClr val="bg1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/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 smtClean="0">
                <a:solidFill>
                  <a:srgbClr val="FF0000"/>
                </a:solidFill>
                <a:latin typeface="+mn-lt"/>
              </a:rPr>
              <a:t>Please do not sit at desks with boards.</a:t>
            </a:r>
            <a:endParaRPr lang="en-US" b="1" dirty="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7252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2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4447" y="340659"/>
            <a:ext cx="11510681" cy="3169304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+mn-lt"/>
              </a:rPr>
              <a:t>IB English Language and Literature</a:t>
            </a:r>
            <a:br>
              <a:rPr lang="en-US" b="1" dirty="0" smtClean="0">
                <a:solidFill>
                  <a:schemeClr val="bg1"/>
                </a:solidFill>
                <a:latin typeface="+mn-lt"/>
              </a:rPr>
            </a:br>
            <a:r>
              <a:rPr lang="en-US" b="1" dirty="0" smtClean="0">
                <a:solidFill>
                  <a:schemeClr val="bg1"/>
                </a:solidFill>
                <a:latin typeface="+mn-lt"/>
              </a:rPr>
              <a:t>6 ELL SL 4</a:t>
            </a:r>
            <a:br>
              <a:rPr lang="en-US" b="1" dirty="0" smtClean="0">
                <a:solidFill>
                  <a:schemeClr val="bg1"/>
                </a:solidFill>
                <a:latin typeface="+mn-lt"/>
              </a:rPr>
            </a:br>
            <a:r>
              <a:rPr lang="en-US" b="1" dirty="0" smtClean="0">
                <a:solidFill>
                  <a:schemeClr val="bg1"/>
                </a:solidFill>
                <a:latin typeface="+mn-lt"/>
              </a:rPr>
              <a:t>2019 - 2020</a:t>
            </a:r>
            <a:endParaRPr lang="en-US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906838"/>
            <a:ext cx="12192000" cy="2691186"/>
          </a:xfrm>
        </p:spPr>
        <p:txBody>
          <a:bodyPr>
            <a:noAutofit/>
          </a:bodyPr>
          <a:lstStyle/>
          <a:p>
            <a:r>
              <a:rPr lang="en-US" sz="4400" b="1" u="sng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Shape of the Week </a:t>
            </a:r>
            <a:r>
              <a:rPr lang="en-US" sz="4400" b="1" u="sng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(3):</a:t>
            </a:r>
            <a:endParaRPr lang="en-US" sz="4400" b="1" u="sng" dirty="0" smtClean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r>
              <a:rPr lang="en-US" sz="3200" b="1" dirty="0" smtClean="0">
                <a:solidFill>
                  <a:prstClr val="white"/>
                </a:solidFill>
              </a:rPr>
              <a:t>Lesson 1: </a:t>
            </a:r>
            <a:r>
              <a:rPr lang="en-US" sz="3200" b="1" dirty="0">
                <a:solidFill>
                  <a:prstClr val="white"/>
                </a:solidFill>
              </a:rPr>
              <a:t>Paper 2 Revision Structure and Planning Whole Paper</a:t>
            </a:r>
          </a:p>
          <a:p>
            <a:r>
              <a:rPr lang="en-US" sz="3200" b="1" dirty="0" smtClean="0">
                <a:solidFill>
                  <a:prstClr val="white"/>
                </a:solidFill>
              </a:rPr>
              <a:t>Lesson </a:t>
            </a:r>
            <a:r>
              <a:rPr lang="en-US" sz="3200" b="1" dirty="0" smtClean="0">
                <a:solidFill>
                  <a:prstClr val="white"/>
                </a:solidFill>
              </a:rPr>
              <a:t>2: </a:t>
            </a:r>
            <a:r>
              <a:rPr lang="en-US" sz="3200" b="1" dirty="0">
                <a:solidFill>
                  <a:prstClr val="white"/>
                </a:solidFill>
              </a:rPr>
              <a:t>Exam questions spreadsheet and planning (shared doc).</a:t>
            </a:r>
          </a:p>
          <a:p>
            <a:r>
              <a:rPr lang="en-US" sz="3200" b="1" dirty="0" smtClean="0">
                <a:solidFill>
                  <a:prstClr val="white"/>
                </a:solidFill>
              </a:rPr>
              <a:t>Lesson </a:t>
            </a:r>
            <a:r>
              <a:rPr lang="en-US" sz="3200" b="1" dirty="0" smtClean="0">
                <a:solidFill>
                  <a:prstClr val="white"/>
                </a:solidFill>
              </a:rPr>
              <a:t>3: </a:t>
            </a:r>
            <a:r>
              <a:rPr lang="en-US" sz="3200" b="1" dirty="0">
                <a:solidFill>
                  <a:prstClr val="white"/>
                </a:solidFill>
              </a:rPr>
              <a:t>Exam questions spreadsheet and planning (shared doc).</a:t>
            </a:r>
          </a:p>
          <a:p>
            <a:pPr lvl="0"/>
            <a:endParaRPr lang="en-US" sz="3200" u="sng" dirty="0" smtClean="0">
              <a:solidFill>
                <a:prstClr val="white"/>
              </a:solidFill>
            </a:endParaRPr>
          </a:p>
          <a:p>
            <a:pPr lvl="0"/>
            <a:endParaRPr lang="en-US" sz="3200" dirty="0">
              <a:solidFill>
                <a:schemeClr val="bg1"/>
              </a:solidFill>
            </a:endParaRPr>
          </a:p>
          <a:p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848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3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3632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rial Rounded MT Bold" charset="0"/>
                <a:ea typeface="Arial Rounded MT Bold" charset="0"/>
                <a:cs typeface="Arial Rounded MT Bold" charset="0"/>
              </a:rPr>
              <a:t>SCHOOL ASSESSMENT TERM 4</a:t>
            </a:r>
            <a:endParaRPr lang="en-US" b="1" dirty="0">
              <a:solidFill>
                <a:srgbClr val="FF0000"/>
              </a:solidFill>
              <a:latin typeface="Arial Rounded MT Bold" charset="0"/>
              <a:ea typeface="Arial Rounded MT Bold" charset="0"/>
              <a:cs typeface="Arial Rounded MT Bold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161" y="1745671"/>
            <a:ext cx="6578763" cy="4932219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 smtClean="0">
                <a:latin typeface="MS Mincho" charset="-128"/>
                <a:ea typeface="ＭＳ 明朝" charset="-128"/>
                <a:cs typeface="MS Mincho" charset="-128"/>
              </a:rPr>
              <a:t>☑ </a:t>
            </a:r>
            <a:r>
              <a:rPr lang="en-US" sz="3200" b="1" dirty="0" smtClean="0">
                <a:ea typeface="ＭＳ 明朝" charset="-128"/>
                <a:cs typeface="MS Mincho" charset="-128"/>
              </a:rPr>
              <a:t>NOTHING!</a:t>
            </a:r>
            <a:endParaRPr lang="en-US" sz="3200" b="1" u="sng" dirty="0" smtClean="0">
              <a:ea typeface="ＭＳ 明朝" charset="-128"/>
              <a:cs typeface="MS Mincho" charset="-128"/>
            </a:endParaRPr>
          </a:p>
          <a:p>
            <a:endParaRPr lang="en-US" sz="3600" dirty="0" smtClean="0">
              <a:solidFill>
                <a:prstClr val="black"/>
              </a:solidFill>
              <a:latin typeface="Calibri" charset="0"/>
              <a:ea typeface="MS Mincho" charset="-128"/>
              <a:cs typeface="MS Mincho" charset="-128"/>
            </a:endParaRPr>
          </a:p>
          <a:p>
            <a:pPr marL="0" lvl="0" indent="0">
              <a:buNone/>
            </a:pPr>
            <a:endParaRPr lang="en-US" sz="4800" dirty="0">
              <a:solidFill>
                <a:prstClr val="black"/>
              </a:solidFill>
              <a:latin typeface="Calibri" charset="0"/>
              <a:ea typeface="ＭＳ 明朝" charset="-128"/>
              <a:cs typeface="Times New Roman" charset="0"/>
            </a:endParaRPr>
          </a:p>
        </p:txBody>
      </p:sp>
      <p:pic>
        <p:nvPicPr>
          <p:cNvPr id="8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9454" y="1858061"/>
            <a:ext cx="3657600" cy="4056278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966" y="387999"/>
            <a:ext cx="1357672" cy="1357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149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966" y="562206"/>
            <a:ext cx="10333463" cy="5812573"/>
          </a:xfrm>
        </p:spPr>
      </p:pic>
    </p:spTree>
    <p:extLst>
      <p:ext uri="{BB962C8B-B14F-4D97-AF65-F5344CB8AC3E}">
        <p14:creationId xmlns:p14="http://schemas.microsoft.com/office/powerpoint/2010/main" val="2001756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5670176" cy="1138687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+mn-lt"/>
              </a:rPr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180" y="1138687"/>
            <a:ext cx="6898426" cy="5167312"/>
          </a:xfrm>
          <a:solidFill>
            <a:schemeClr val="bg1"/>
          </a:solidFill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4000" dirty="0" smtClean="0"/>
              <a:t>In </a:t>
            </a:r>
            <a:r>
              <a:rPr lang="en-US" sz="4000" dirty="0"/>
              <a:t>pairs (please do not join a pair for this activity), go through the first 5 activities on the handout below, sending them back through Firefly - let me know who you were working with at the top of the </a:t>
            </a:r>
            <a:r>
              <a:rPr lang="en-US" sz="4000" dirty="0" smtClean="0"/>
              <a:t>page</a:t>
            </a:r>
            <a:r>
              <a:rPr lang="mr-IN" sz="4000" dirty="0" smtClean="0"/>
              <a:t>…</a:t>
            </a:r>
            <a:r>
              <a:rPr lang="en-US" sz="4000" dirty="0" smtClean="0"/>
              <a:t> </a:t>
            </a:r>
            <a:r>
              <a:rPr lang="en-US" sz="4000" dirty="0"/>
              <a:t>Use the Google Table handout to help. Please remember that each pair should pick a different essay. There are plenty to go around</a:t>
            </a:r>
            <a:r>
              <a:rPr lang="en-US" sz="4000" dirty="0" smtClean="0"/>
              <a:t>. Homework</a:t>
            </a:r>
            <a:r>
              <a:rPr lang="en-US" sz="4000" dirty="0"/>
              <a:t>: write up the essay - I will be back on Tuesday and will mark anything you have for me.</a:t>
            </a:r>
            <a:endParaRPr lang="en-US" sz="4000" b="1" dirty="0">
              <a:solidFill>
                <a:srgbClr val="0432FF"/>
              </a:solidFill>
              <a:latin typeface="Calibri" charset="0"/>
              <a:ea typeface="MS Mincho" charset="-128"/>
              <a:cs typeface="MS Mincho" charset="-128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836" y="402961"/>
            <a:ext cx="4370420" cy="6070028"/>
          </a:xfrm>
        </p:spPr>
      </p:pic>
    </p:spTree>
    <p:extLst>
      <p:ext uri="{BB962C8B-B14F-4D97-AF65-F5344CB8AC3E}">
        <p14:creationId xmlns:p14="http://schemas.microsoft.com/office/powerpoint/2010/main" val="658401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23877" y="52892"/>
            <a:ext cx="10515600" cy="638484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+mn-lt"/>
              </a:rPr>
              <a:t>General Outline Term 4</a:t>
            </a:r>
            <a:endParaRPr lang="en-US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323876" y="1109581"/>
            <a:ext cx="11505683" cy="5536546"/>
          </a:xfrm>
          <a:solidFill>
            <a:srgbClr val="FFE9EE"/>
          </a:solidFill>
        </p:spPr>
        <p:txBody>
          <a:bodyPr/>
          <a:lstStyle/>
          <a:p>
            <a:pPr marL="0" indent="0">
              <a:spcAft>
                <a:spcPts val="0"/>
              </a:spcAft>
              <a:buNone/>
            </a:pPr>
            <a:r>
              <a:rPr lang="en-US" dirty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Week 1: 14</a:t>
            </a:r>
            <a:r>
              <a:rPr lang="en-US" baseline="30000" dirty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th</a:t>
            </a:r>
            <a:r>
              <a:rPr lang="en-US" dirty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-18</a:t>
            </a:r>
            <a:r>
              <a:rPr lang="en-US" baseline="30000" dirty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th</a:t>
            </a:r>
            <a:r>
              <a:rPr lang="en-US" dirty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 September</a:t>
            </a:r>
            <a:endParaRPr lang="en-GB" dirty="0">
              <a:latin typeface="Calibri" charset="0"/>
              <a:ea typeface="Calibri" charset="0"/>
              <a:cs typeface="Times New Roman" charset="0"/>
            </a:endParaRPr>
          </a:p>
          <a:p>
            <a:pPr marL="0" lvl="0" indent="0">
              <a:spcAft>
                <a:spcPts val="0"/>
              </a:spcAft>
              <a:buNone/>
            </a:pPr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Lesson 1: Recap ‘Big 5’ and Text Types. </a:t>
            </a:r>
            <a:endParaRPr lang="en-GB" dirty="0">
              <a:latin typeface="Calibri" charset="0"/>
              <a:ea typeface="Calibri" charset="0"/>
              <a:cs typeface="Times New Roman" charset="0"/>
            </a:endParaRPr>
          </a:p>
          <a:p>
            <a:pPr marL="0" lvl="0" indent="0">
              <a:spcAft>
                <a:spcPts val="0"/>
              </a:spcAft>
              <a:buNone/>
            </a:pPr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Lesson 2: Planning, paper 1 structure and annotation of example. Complete past paper (HW).</a:t>
            </a:r>
            <a:endParaRPr lang="en-GB" dirty="0">
              <a:latin typeface="Calibri" charset="0"/>
              <a:ea typeface="Calibri" charset="0"/>
              <a:cs typeface="Times New Roman" charset="0"/>
            </a:endParaRPr>
          </a:p>
          <a:p>
            <a:pPr marL="0" lvl="0" indent="0">
              <a:spcAft>
                <a:spcPts val="0"/>
              </a:spcAft>
              <a:buNone/>
            </a:pPr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Lesson 3: Marking peer exam paper 1 and go through the mark schemes. </a:t>
            </a:r>
            <a:endParaRPr lang="en-GB" dirty="0">
              <a:latin typeface="Calibri" charset="0"/>
              <a:ea typeface="Calibri" charset="0"/>
              <a:cs typeface="Times New Roman" charset="0"/>
            </a:endParaRPr>
          </a:p>
          <a:p>
            <a:pPr marL="0" indent="0">
              <a:spcAft>
                <a:spcPts val="0"/>
              </a:spcAft>
              <a:buNone/>
            </a:pPr>
            <a:endParaRPr lang="en-US" dirty="0" smtClean="0">
              <a:highlight>
                <a:srgbClr val="FFFF00"/>
              </a:highlight>
              <a:latin typeface="Calibri" charset="0"/>
              <a:ea typeface="Calibri" charset="0"/>
              <a:cs typeface="Times New Roman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dirty="0" smtClean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Week </a:t>
            </a:r>
            <a:r>
              <a:rPr lang="en-US" dirty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2: 21-25</a:t>
            </a:r>
            <a:r>
              <a:rPr lang="en-US" baseline="30000" dirty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th</a:t>
            </a:r>
            <a:r>
              <a:rPr lang="en-US" dirty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 September</a:t>
            </a:r>
            <a:endParaRPr lang="en-GB" dirty="0">
              <a:latin typeface="Calibri" charset="0"/>
              <a:ea typeface="Calibri" charset="0"/>
              <a:cs typeface="Times New Roman" charset="0"/>
            </a:endParaRPr>
          </a:p>
          <a:p>
            <a:pPr marL="0" lvl="0" indent="0">
              <a:spcAft>
                <a:spcPts val="0"/>
              </a:spcAft>
              <a:buNone/>
            </a:pPr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Lesson 1: Revision of main ideas/themes/issues presented in ‘1984’.</a:t>
            </a:r>
            <a:endParaRPr lang="en-GB" dirty="0">
              <a:latin typeface="Calibri" charset="0"/>
              <a:ea typeface="Calibri" charset="0"/>
              <a:cs typeface="Times New Roman" charset="0"/>
            </a:endParaRPr>
          </a:p>
          <a:p>
            <a:pPr marL="0" lvl="0" indent="0">
              <a:spcAft>
                <a:spcPts val="0"/>
              </a:spcAft>
              <a:buNone/>
            </a:pPr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Lesson 2: Revision of main ideas/themes/issues presented in ‘COADF’.</a:t>
            </a:r>
            <a:endParaRPr lang="en-GB" dirty="0">
              <a:latin typeface="Calibri" charset="0"/>
              <a:ea typeface="Calibri" charset="0"/>
              <a:cs typeface="Times New Roman" charset="0"/>
            </a:endParaRPr>
          </a:p>
          <a:p>
            <a:pPr marL="0" lvl="0" indent="0">
              <a:spcAft>
                <a:spcPts val="0"/>
              </a:spcAft>
              <a:buNone/>
            </a:pPr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Lesson 3: Structure and planning for paper 2. Complete exam questions (HW</a:t>
            </a:r>
            <a:r>
              <a:rPr lang="en-US" dirty="0" smtClean="0">
                <a:latin typeface="Calibri" charset="0"/>
                <a:ea typeface="Calibri" charset="0"/>
                <a:cs typeface="Times New Roman" charset="0"/>
              </a:rPr>
              <a:t>).</a:t>
            </a:r>
            <a:endParaRPr lang="en-GB" dirty="0">
              <a:latin typeface="Calibri" charset="0"/>
              <a:ea typeface="Calibri" charset="0"/>
              <a:cs typeface="Times New Roman" charset="0"/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0258" y="119498"/>
            <a:ext cx="1709302" cy="170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421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23877" y="52892"/>
            <a:ext cx="10515600" cy="638484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+mn-lt"/>
              </a:rPr>
              <a:t>General Outline Term 4</a:t>
            </a:r>
            <a:endParaRPr lang="en-US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323876" y="1109581"/>
            <a:ext cx="11505683" cy="5536546"/>
          </a:xfrm>
          <a:solidFill>
            <a:srgbClr val="FFE9EE"/>
          </a:solidFill>
        </p:spPr>
        <p:txBody>
          <a:bodyPr/>
          <a:lstStyle/>
          <a:p>
            <a:pPr marL="0" indent="0">
              <a:spcAft>
                <a:spcPts val="0"/>
              </a:spcAft>
              <a:buNone/>
            </a:pPr>
            <a:r>
              <a:rPr lang="en-US" sz="3200" dirty="0" smtClean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Week </a:t>
            </a:r>
            <a:r>
              <a:rPr lang="en-US" sz="3200" dirty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3: 28</a:t>
            </a:r>
            <a:r>
              <a:rPr lang="en-US" sz="3200" baseline="30000" dirty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th</a:t>
            </a:r>
            <a:r>
              <a:rPr lang="en-US" sz="3200" dirty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 Sep- 2</a:t>
            </a:r>
            <a:r>
              <a:rPr lang="en-US" sz="3200" baseline="30000" dirty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nd</a:t>
            </a:r>
            <a:r>
              <a:rPr lang="en-US" sz="3200" dirty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 October</a:t>
            </a:r>
            <a:endParaRPr lang="en-GB" sz="3200" dirty="0">
              <a:latin typeface="Calibri" charset="0"/>
              <a:ea typeface="Calibri" charset="0"/>
              <a:cs typeface="Times New Roman" charset="0"/>
            </a:endParaRPr>
          </a:p>
          <a:p>
            <a:pPr marL="0" lvl="0" indent="0">
              <a:spcAft>
                <a:spcPts val="0"/>
              </a:spcAft>
              <a:buNone/>
            </a:pPr>
            <a:r>
              <a:rPr lang="en-US" sz="3200" dirty="0">
                <a:latin typeface="Calibri" charset="0"/>
                <a:ea typeface="Calibri" charset="0"/>
                <a:cs typeface="Times New Roman" charset="0"/>
              </a:rPr>
              <a:t>Lesson 1: Marking peer exam paper 2 and go through the mark schemes.</a:t>
            </a:r>
            <a:endParaRPr lang="en-GB" sz="3200" dirty="0">
              <a:latin typeface="Calibri" charset="0"/>
              <a:ea typeface="Calibri" charset="0"/>
              <a:cs typeface="Times New Roman" charset="0"/>
            </a:endParaRPr>
          </a:p>
          <a:p>
            <a:pPr marL="0" lvl="0" indent="0">
              <a:spcAft>
                <a:spcPts val="0"/>
              </a:spcAft>
              <a:buNone/>
            </a:pPr>
            <a:r>
              <a:rPr lang="en-US" sz="3200" dirty="0">
                <a:latin typeface="Calibri" charset="0"/>
                <a:ea typeface="Calibri" charset="0"/>
                <a:cs typeface="Times New Roman" charset="0"/>
              </a:rPr>
              <a:t>Lesson 2: Exam questions spreadsheet and planning (shared doc).</a:t>
            </a:r>
            <a:endParaRPr lang="en-GB" sz="3200" dirty="0">
              <a:latin typeface="Calibri" charset="0"/>
              <a:ea typeface="Calibri" charset="0"/>
              <a:cs typeface="Times New Roman" charset="0"/>
            </a:endParaRPr>
          </a:p>
          <a:p>
            <a:pPr marL="0" lvl="0" indent="0">
              <a:spcAft>
                <a:spcPts val="0"/>
              </a:spcAft>
              <a:buNone/>
            </a:pPr>
            <a:r>
              <a:rPr lang="en-US" sz="3200" dirty="0">
                <a:latin typeface="Calibri" charset="0"/>
                <a:ea typeface="Calibri" charset="0"/>
                <a:cs typeface="Times New Roman" charset="0"/>
              </a:rPr>
              <a:t>Lesson 3: Exam questions spreadsheet and planning (shared doc</a:t>
            </a:r>
            <a:r>
              <a:rPr lang="en-US" sz="3200" dirty="0" smtClean="0">
                <a:latin typeface="Calibri" charset="0"/>
                <a:ea typeface="Calibri" charset="0"/>
                <a:cs typeface="Times New Roman" charset="0"/>
              </a:rPr>
              <a:t>).</a:t>
            </a:r>
            <a:endParaRPr lang="en-GB" sz="3200" dirty="0">
              <a:latin typeface="Calibri" charset="0"/>
              <a:ea typeface="Calibri" charset="0"/>
              <a:cs typeface="Times New Roman" charset="0"/>
            </a:endParaRPr>
          </a:p>
          <a:p>
            <a:pPr marL="0" indent="0">
              <a:spcAft>
                <a:spcPts val="0"/>
              </a:spcAft>
              <a:buNone/>
            </a:pPr>
            <a:endParaRPr lang="en-US" sz="3200" dirty="0" smtClean="0">
              <a:highlight>
                <a:srgbClr val="FFFF00"/>
              </a:highlight>
              <a:latin typeface="Calibri" charset="0"/>
              <a:ea typeface="Calibri" charset="0"/>
              <a:cs typeface="Times New Roman" charset="0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sz="3200" dirty="0" smtClean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Week </a:t>
            </a:r>
            <a:r>
              <a:rPr lang="en-US" sz="3200" dirty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4: 5</a:t>
            </a:r>
            <a:r>
              <a:rPr lang="en-US" sz="3200" baseline="30000" dirty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th</a:t>
            </a:r>
            <a:r>
              <a:rPr lang="en-US" sz="3200" dirty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-9</a:t>
            </a:r>
            <a:r>
              <a:rPr lang="en-US" sz="3200" baseline="30000" dirty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th</a:t>
            </a:r>
            <a:r>
              <a:rPr lang="en-US" sz="3200" dirty="0">
                <a:highlight>
                  <a:srgbClr val="FFFF00"/>
                </a:highlight>
                <a:latin typeface="Calibri" charset="0"/>
                <a:ea typeface="Calibri" charset="0"/>
                <a:cs typeface="Times New Roman" charset="0"/>
              </a:rPr>
              <a:t> October</a:t>
            </a:r>
            <a:r>
              <a:rPr lang="en-US" sz="3200" dirty="0">
                <a:latin typeface="Calibri" charset="0"/>
                <a:ea typeface="Calibri" charset="0"/>
                <a:cs typeface="Times New Roman" charset="0"/>
              </a:rPr>
              <a:t> </a:t>
            </a:r>
            <a:endParaRPr lang="en-GB" sz="3200" dirty="0">
              <a:latin typeface="Calibri" charset="0"/>
              <a:ea typeface="Calibri" charset="0"/>
              <a:cs typeface="Times New Roman" charset="0"/>
            </a:endParaRPr>
          </a:p>
          <a:p>
            <a:pPr marL="0" lvl="0" indent="0">
              <a:spcAft>
                <a:spcPts val="0"/>
              </a:spcAft>
              <a:buNone/>
            </a:pPr>
            <a:r>
              <a:rPr lang="en-US" sz="3200" dirty="0">
                <a:latin typeface="Calibri" charset="0"/>
                <a:ea typeface="Calibri" charset="0"/>
                <a:cs typeface="Times New Roman" charset="0"/>
              </a:rPr>
              <a:t>Lesson 1: Final Paper </a:t>
            </a:r>
            <a:r>
              <a:rPr lang="en-US" sz="3200" dirty="0" smtClean="0">
                <a:latin typeface="Calibri" charset="0"/>
                <a:ea typeface="Calibri" charset="0"/>
                <a:cs typeface="Times New Roman" charset="0"/>
              </a:rPr>
              <a:t>1 + 2 </a:t>
            </a:r>
            <a:r>
              <a:rPr lang="en-US" sz="3200" dirty="0">
                <a:latin typeface="Calibri" charset="0"/>
                <a:ea typeface="Calibri" charset="0"/>
                <a:cs typeface="Times New Roman" charset="0"/>
              </a:rPr>
              <a:t>Revision</a:t>
            </a:r>
            <a:endParaRPr lang="en-GB" sz="3200" dirty="0">
              <a:latin typeface="Calibri" charset="0"/>
              <a:ea typeface="Calibri" charset="0"/>
              <a:cs typeface="Times New Roman" charset="0"/>
            </a:endParaRPr>
          </a:p>
          <a:p>
            <a:pPr marL="0" lvl="0" indent="0">
              <a:spcAft>
                <a:spcPts val="0"/>
              </a:spcAft>
              <a:buNone/>
            </a:pP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7666" y="237923"/>
            <a:ext cx="1325111" cy="132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249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Autofit/>
          </a:bodyPr>
          <a:lstStyle/>
          <a:p>
            <a:pPr algn="ctr"/>
            <a:r>
              <a:rPr lang="en-US" sz="7200" b="1" dirty="0" smtClean="0">
                <a:solidFill>
                  <a:srgbClr val="FF0000"/>
                </a:solidFill>
                <a:latin typeface="+mn-lt"/>
              </a:rPr>
              <a:t>We are still a digital classroom!</a:t>
            </a:r>
            <a:endParaRPr lang="en-US" sz="7200" b="1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003" y="2022765"/>
            <a:ext cx="4835235" cy="4835235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080" y="2413794"/>
            <a:ext cx="5269575" cy="3763982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892" y="3655412"/>
            <a:ext cx="1362496" cy="128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270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6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FF0000"/>
                </a:solidFill>
              </a:rPr>
              <a:t>Complete </a:t>
            </a:r>
            <a:r>
              <a:rPr lang="en-US" b="1" u="sng" dirty="0" smtClean="0">
                <a:solidFill>
                  <a:srgbClr val="FF0000"/>
                </a:solidFill>
              </a:rPr>
              <a:t>Essay Plans</a:t>
            </a:r>
            <a:endParaRPr lang="en-US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5973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075" y="0"/>
            <a:ext cx="115673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2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00B050"/>
                </a:solidFill>
                <a:latin typeface="Arial" charset="0"/>
                <a:ea typeface="Arial" charset="0"/>
                <a:cs typeface="Arial" charset="0"/>
              </a:rPr>
              <a:t>Go to Google Classroom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77687" y="1825625"/>
            <a:ext cx="6306340" cy="4654688"/>
          </a:xfrm>
        </p:spPr>
        <p:txBody>
          <a:bodyPr>
            <a:normAutofit fontScale="85000" lnSpcReduction="10000"/>
          </a:bodyPr>
          <a:lstStyle/>
          <a:p>
            <a:r>
              <a:rPr lang="en-US" sz="4400" dirty="0"/>
              <a:t>In Pairs</a:t>
            </a:r>
            <a:r>
              <a:rPr lang="en-US" sz="4400" dirty="0" smtClean="0"/>
              <a:t>…</a:t>
            </a:r>
          </a:p>
          <a:p>
            <a:endParaRPr lang="en-US" sz="4400" dirty="0"/>
          </a:p>
          <a:p>
            <a:r>
              <a:rPr lang="en-US" sz="4400" dirty="0" smtClean="0"/>
              <a:t>Fill out the </a:t>
            </a:r>
            <a:r>
              <a:rPr lang="en-US" sz="4400" u="sng" dirty="0" smtClean="0"/>
              <a:t>COADF </a:t>
            </a:r>
            <a:r>
              <a:rPr lang="en-US" sz="4400" dirty="0" smtClean="0"/>
              <a:t>side of the Revision Table, as directed yesterday. Today, you will need to decide which pairs fill out which sections. Don’t forget to put your names to your sections.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4027" y="1825625"/>
            <a:ext cx="4157945" cy="4351338"/>
          </a:xfrm>
        </p:spPr>
      </p:pic>
    </p:spTree>
    <p:extLst>
      <p:ext uri="{BB962C8B-B14F-4D97-AF65-F5344CB8AC3E}">
        <p14:creationId xmlns:p14="http://schemas.microsoft.com/office/powerpoint/2010/main" val="165944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5670176" cy="1138687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+mn-lt"/>
              </a:rPr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180" y="1138687"/>
            <a:ext cx="6898426" cy="5167312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 smtClean="0">
                <a:solidFill>
                  <a:srgbClr val="0432FF"/>
                </a:solidFill>
                <a:latin typeface="Calibri" charset="0"/>
                <a:ea typeface="MS Mincho" charset="-128"/>
                <a:cs typeface="MS Mincho" charset="-128"/>
              </a:rPr>
              <a:t>Complete Paper 2, Preferably under timed conditions.</a:t>
            </a:r>
            <a:endParaRPr lang="en-US" sz="4000" b="1" dirty="0">
              <a:solidFill>
                <a:srgbClr val="0432FF"/>
              </a:solidFill>
              <a:latin typeface="Calibri" charset="0"/>
              <a:ea typeface="MS Mincho" charset="-128"/>
              <a:cs typeface="MS Mincho" charset="-128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836" y="402961"/>
            <a:ext cx="4370420" cy="6070028"/>
          </a:xfrm>
        </p:spPr>
      </p:pic>
    </p:spTree>
    <p:extLst>
      <p:ext uri="{BB962C8B-B14F-4D97-AF65-F5344CB8AC3E}">
        <p14:creationId xmlns:p14="http://schemas.microsoft.com/office/powerpoint/2010/main" val="1044530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Osaka"/>
        <a:cs typeface="Osaka"/>
      </a:majorFont>
      <a:minorFont>
        <a:latin typeface="Arial"/>
        <a:ea typeface="Osaka"/>
        <a:cs typeface="Osak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8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4107</TotalTime>
  <Words>380</Words>
  <Application>Microsoft Macintosh PowerPoint</Application>
  <PresentationFormat>Widescreen</PresentationFormat>
  <Paragraphs>37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12</vt:i4>
      </vt:variant>
    </vt:vector>
  </HeadingPairs>
  <TitlesOfParts>
    <vt:vector size="26" baseType="lpstr">
      <vt:lpstr>Arial Rounded MT Bold</vt:lpstr>
      <vt:lpstr>Calibri</vt:lpstr>
      <vt:lpstr>Calibri Light</vt:lpstr>
      <vt:lpstr>Mangal</vt:lpstr>
      <vt:lpstr>MS Mincho</vt:lpstr>
      <vt:lpstr>ＭＳ 明朝</vt:lpstr>
      <vt:lpstr>Osaka</vt:lpstr>
      <vt:lpstr>Times New Roman</vt:lpstr>
      <vt:lpstr>Arial</vt:lpstr>
      <vt:lpstr>Office Theme</vt:lpstr>
      <vt:lpstr>2_Office Theme</vt:lpstr>
      <vt:lpstr>3_Blank Presentation</vt:lpstr>
      <vt:lpstr>8_Office Theme</vt:lpstr>
      <vt:lpstr>3_Office Theme</vt:lpstr>
      <vt:lpstr>Welcome Back! Don’t forget to take a tissue to wipe down your desk…  Please do not sit at desks with boards.</vt:lpstr>
      <vt:lpstr>IB English Language and Literature 6 ELL SL 4 2019 - 2020</vt:lpstr>
      <vt:lpstr>SCHOOL ASSESSMENT TERM 4</vt:lpstr>
      <vt:lpstr>PowerPoint Presentation</vt:lpstr>
      <vt:lpstr>Homework</vt:lpstr>
      <vt:lpstr>General Outline Term 4</vt:lpstr>
      <vt:lpstr>General Outline Term 4</vt:lpstr>
      <vt:lpstr>We are still a digital classroom!</vt:lpstr>
      <vt:lpstr>Complete Essay Plans</vt:lpstr>
      <vt:lpstr>PowerPoint Presentation</vt:lpstr>
      <vt:lpstr>Go to Google Classroom</vt:lpstr>
      <vt:lpstr>Homework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Back! Don’t forget to take a tissue to wipe down your desk…</dc:title>
  <dc:creator>Elisa Simone Zantos - Teacher of English</dc:creator>
  <cp:lastModifiedBy>Elisa Simone Zantos - Teacher of English</cp:lastModifiedBy>
  <cp:revision>27</cp:revision>
  <dcterms:created xsi:type="dcterms:W3CDTF">2020-09-14T23:26:50Z</dcterms:created>
  <dcterms:modified xsi:type="dcterms:W3CDTF">2020-09-28T20:56:53Z</dcterms:modified>
</cp:coreProperties>
</file>