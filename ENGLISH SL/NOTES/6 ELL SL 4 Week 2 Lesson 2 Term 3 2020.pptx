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91" r:id="rId2"/>
    <p:sldMasterId id="2147483703" r:id="rId3"/>
    <p:sldMasterId id="2147483720" r:id="rId4"/>
    <p:sldMasterId id="2147483734" r:id="rId5"/>
  </p:sldMasterIdLst>
  <p:notesMasterIdLst>
    <p:notesMasterId r:id="rId23"/>
  </p:notesMasterIdLst>
  <p:sldIdLst>
    <p:sldId id="263" r:id="rId6"/>
    <p:sldId id="265" r:id="rId7"/>
    <p:sldId id="266" r:id="rId8"/>
    <p:sldId id="267" r:id="rId9"/>
    <p:sldId id="268" r:id="rId10"/>
    <p:sldId id="275" r:id="rId11"/>
    <p:sldId id="293" r:id="rId12"/>
    <p:sldId id="272" r:id="rId13"/>
    <p:sldId id="270" r:id="rId14"/>
    <p:sldId id="274" r:id="rId15"/>
    <p:sldId id="282" r:id="rId16"/>
    <p:sldId id="281" r:id="rId17"/>
    <p:sldId id="271" r:id="rId18"/>
    <p:sldId id="284" r:id="rId19"/>
    <p:sldId id="283" r:id="rId20"/>
    <p:sldId id="294" r:id="rId21"/>
    <p:sldId id="2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FEE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5"/>
    <p:restoredTop sz="93130"/>
  </p:normalViewPr>
  <p:slideViewPr>
    <p:cSldViewPr snapToGrid="0" snapToObjects="1">
      <p:cViewPr varScale="1">
        <p:scale>
          <a:sx n="115" d="100"/>
          <a:sy n="115" d="100"/>
        </p:scale>
        <p:origin x="47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3010C5-391A-2745-83E5-51072D3B4641}" type="datetimeFigureOut">
              <a:rPr lang="en-US" smtClean="0"/>
              <a:t>7/8/20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1C7EB-E313-3545-8445-61C8D8A0A0BB}" type="slidenum">
              <a:rPr lang="en-US" smtClean="0"/>
              <a:t>‹#›</a:t>
            </a:fld>
            <a:endParaRPr lang="en-US"/>
          </a:p>
        </p:txBody>
      </p:sp>
    </p:spTree>
    <p:extLst>
      <p:ext uri="{BB962C8B-B14F-4D97-AF65-F5344CB8AC3E}">
        <p14:creationId xmlns:p14="http://schemas.microsoft.com/office/powerpoint/2010/main" val="1338983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35D2676E-12E9-6A42-B3AE-9BF27D642443}" type="slidenum">
              <a:rPr lang="en-US" sz="1200"/>
              <a:pPr/>
              <a:t>12</a:t>
            </a:fld>
            <a:endParaRPr lang="en-US" sz="1200"/>
          </a:p>
        </p:txBody>
      </p:sp>
      <p:sp>
        <p:nvSpPr>
          <p:cNvPr id="1361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2227"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798539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DB2049-44E0-B04C-8824-A5BF52B438F9}" type="slidenum">
              <a:rPr lang="en-US" smtClean="0"/>
              <a:t>13</a:t>
            </a:fld>
            <a:endParaRPr lang="en-US"/>
          </a:p>
        </p:txBody>
      </p:sp>
    </p:spTree>
    <p:extLst>
      <p:ext uri="{BB962C8B-B14F-4D97-AF65-F5344CB8AC3E}">
        <p14:creationId xmlns:p14="http://schemas.microsoft.com/office/powerpoint/2010/main" val="1203179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914400" y="2286000"/>
            <a:ext cx="10363200" cy="1143000"/>
          </a:xfrm>
        </p:spPr>
        <p:txBody>
          <a:bodyPr/>
          <a:lstStyle>
            <a:lvl1pPr>
              <a:defRPr/>
            </a:lvl1pPr>
          </a:lstStyle>
          <a:p>
            <a:pPr lvl="0"/>
            <a:r>
              <a:rPr lang="en-US" noProof="0"/>
              <a:t>Click to edit Master title style</a:t>
            </a:r>
          </a:p>
        </p:txBody>
      </p:sp>
      <p:sp>
        <p:nvSpPr>
          <p:cNvPr id="2355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F92D4FE-4210-C74C-BB56-00E0623B44C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05371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874A374-29B7-2549-9F69-BB0EA768245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04813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5681098-DFD4-DE48-A017-B4A20B753CB8}"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798206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F5CC64D-77FE-A64A-803F-E19F98D60B4D}"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073738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6122964-CA5C-9448-AAC1-CD7A2210F12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823995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546882B-71B3-124A-B7CE-A7024F712FA5}"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09912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CDC2F09-5DEC-D847-AEA5-DC353A80BCE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76440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437544-67A0-A649-A890-5C1271C708D0}"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85944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82515B-9CAA-174D-B835-410668FA6FBA}"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91725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E0A8727-4907-7248-B94F-968B449091C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992369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7158AE-C725-B448-BD3E-FE9B628D4C99}"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932137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F8D0A0-9D96-CC4C-A29E-671D1725271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9836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867D727-A4D9-6C4E-8315-99599BC1BF0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133714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F104C5-BA1F-514A-9E09-A1247DEB83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9267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9144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E5A0A8F0-FA8C-E04B-9E29-F1796B19162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438680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564217" y="4572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1564217" y="19812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1564217"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27"/>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28"/>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29"/>
          <p:cNvSpPr>
            <a:spLocks noGrp="1" noChangeArrowheads="1"/>
          </p:cNvSpPr>
          <p:nvPr>
            <p:ph type="sldNum" sz="quarter" idx="12"/>
          </p:nvPr>
        </p:nvSpPr>
        <p:spPr>
          <a:ln/>
        </p:spPr>
        <p:txBody>
          <a:bodyPr/>
          <a:lstStyle>
            <a:lvl1pPr>
              <a:defRPr/>
            </a:lvl1pPr>
          </a:lstStyle>
          <a:p>
            <a:fld id="{95F48CE7-194B-D348-A59B-1F1D66A0554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885114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914400"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C2C51C2D-0550-6747-9CF3-EED8C7DF88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230859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7977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6246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96931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993290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41526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35043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079070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42305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24728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39803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229668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AU"/>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7160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18359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AU"/>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41073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165801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AU"/>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24514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23141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6497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57880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9655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88009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04852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28F20800-63EC-0A4C-B45E-A601CC4C780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524910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US"/>
              <a:t>Click to edit Master title style</a:t>
            </a:r>
          </a:p>
        </p:txBody>
      </p:sp>
      <p:sp>
        <p:nvSpPr>
          <p:cNvPr id="3" name="Content Placeholder 2"/>
          <p:cNvSpPr>
            <a:spLocks noGrp="1"/>
          </p:cNvSpPr>
          <p:nvPr>
            <p:ph sz="quarter" idx="1"/>
          </p:nvPr>
        </p:nvSpPr>
        <p:spPr>
          <a:xfrm>
            <a:off x="9144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9144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9" name="Rectangle 6"/>
          <p:cNvSpPr>
            <a:spLocks noGrp="1" noChangeArrowheads="1"/>
          </p:cNvSpPr>
          <p:nvPr>
            <p:ph type="sldNum" sz="quarter" idx="12"/>
          </p:nvPr>
        </p:nvSpPr>
        <p:spPr>
          <a:ln/>
        </p:spPr>
        <p:txBody>
          <a:bodyPr/>
          <a:lstStyle>
            <a:lvl1pPr>
              <a:defRPr/>
            </a:lvl1pPr>
          </a:lstStyle>
          <a:p>
            <a:fld id="{EA94B623-AAB8-A64A-8E12-87F7105FD205}"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1871152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64217" y="457200"/>
            <a:ext cx="10363200" cy="5638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3" name="Rectangle 27"/>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4" name="Rectangle 28"/>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5" name="Rectangle 29"/>
          <p:cNvSpPr>
            <a:spLocks noGrp="1" noChangeArrowheads="1"/>
          </p:cNvSpPr>
          <p:nvPr>
            <p:ph type="sldNum" sz="quarter" idx="12"/>
          </p:nvPr>
        </p:nvSpPr>
        <p:spPr>
          <a:ln/>
        </p:spPr>
        <p:txBody>
          <a:bodyPr/>
          <a:lstStyle>
            <a:lvl1pPr>
              <a:defRPr/>
            </a:lvl1pPr>
          </a:lstStyle>
          <a:p>
            <a:fld id="{571B89AF-C541-5E47-B368-AC21608EB53C}"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20166587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61976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fld id="{85853E0F-ABBD-D944-B58B-0B89088B81FA}"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8533689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794B76D-F7D2-8F43-AAF5-FE2426304F9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484512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914400"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C2C51C2D-0550-6747-9CF3-EED8C7DF88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417892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222840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23281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36847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24095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336086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02478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681708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182763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773903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216059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73890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867D727-A4D9-6C4E-8315-99599BC1BF0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72355325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914400"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C2C51C2D-0550-6747-9CF3-EED8C7DF88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634880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AU"/>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148384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573766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AU"/>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26275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09341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AU"/>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57696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806907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0799350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257084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67729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354449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95575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28F20800-63EC-0A4C-B45E-A601CC4C780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201372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theme" Target="../theme/theme5.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532"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ct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4"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400">
                <a:latin typeface="Arial" charset="0"/>
                <a:ea typeface="Osaka" charset="-128"/>
              </a:defRPr>
            </a:lvl1pPr>
          </a:lstStyle>
          <a:p>
            <a:pPr eaLnBrk="0" fontAlgn="base" hangingPunct="0">
              <a:spcBef>
                <a:spcPct val="0"/>
              </a:spcBef>
              <a:spcAft>
                <a:spcPct val="0"/>
              </a:spcAft>
              <a:defRPr/>
            </a:pPr>
            <a:fld id="{185BBF79-2763-BF4A-BFD3-32471AE9AEA8}" type="slidenum">
              <a:rPr lang="en-US" altLang="en-US">
                <a:solidFill>
                  <a:srgbClr val="000000"/>
                </a:solidFill>
              </a:rPr>
              <a:pPr eaLnBrk="0" fontAlgn="base" hangingPunct="0">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124913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Osaka" charset="0"/>
          <a:cs typeface="Osaka" charset="0"/>
        </a:defRPr>
      </a:lvl2pPr>
      <a:lvl3pPr algn="ctr" rtl="0" eaLnBrk="0" fontAlgn="base" hangingPunct="0">
        <a:spcBef>
          <a:spcPct val="0"/>
        </a:spcBef>
        <a:spcAft>
          <a:spcPct val="0"/>
        </a:spcAft>
        <a:defRPr sz="4400">
          <a:solidFill>
            <a:schemeClr val="tx2"/>
          </a:solidFill>
          <a:latin typeface="Arial" charset="0"/>
          <a:ea typeface="Osaka" charset="0"/>
          <a:cs typeface="Osaka" charset="0"/>
        </a:defRPr>
      </a:lvl3pPr>
      <a:lvl4pPr algn="ctr" rtl="0" eaLnBrk="0" fontAlgn="base" hangingPunct="0">
        <a:spcBef>
          <a:spcPct val="0"/>
        </a:spcBef>
        <a:spcAft>
          <a:spcPct val="0"/>
        </a:spcAft>
        <a:defRPr sz="4400">
          <a:solidFill>
            <a:schemeClr val="tx2"/>
          </a:solidFill>
          <a:latin typeface="Arial" charset="0"/>
          <a:ea typeface="Osaka" charset="0"/>
          <a:cs typeface="Osaka" charset="0"/>
        </a:defRPr>
      </a:lvl4pPr>
      <a:lvl5pPr algn="ctr" rtl="0" eaLnBrk="0" fontAlgn="base" hangingPunct="0">
        <a:spcBef>
          <a:spcPct val="0"/>
        </a:spcBef>
        <a:spcAft>
          <a:spcPct val="0"/>
        </a:spcAft>
        <a:defRPr sz="4400">
          <a:solidFill>
            <a:schemeClr val="tx2"/>
          </a:solidFill>
          <a:latin typeface="Arial" charset="0"/>
          <a:ea typeface="Osaka" charset="0"/>
          <a:cs typeface="Osaka" charset="0"/>
        </a:defRPr>
      </a:lvl5pPr>
      <a:lvl6pPr marL="457200" algn="ctr" rtl="0" fontAlgn="base">
        <a:spcBef>
          <a:spcPct val="0"/>
        </a:spcBef>
        <a:spcAft>
          <a:spcPct val="0"/>
        </a:spcAft>
        <a:defRPr sz="4400">
          <a:solidFill>
            <a:schemeClr val="tx2"/>
          </a:solidFill>
          <a:latin typeface="Arial" charset="0"/>
          <a:ea typeface="Osaka" charset="0"/>
          <a:cs typeface="Osaka" charset="0"/>
        </a:defRPr>
      </a:lvl6pPr>
      <a:lvl7pPr marL="914400" algn="ctr" rtl="0" fontAlgn="base">
        <a:spcBef>
          <a:spcPct val="0"/>
        </a:spcBef>
        <a:spcAft>
          <a:spcPct val="0"/>
        </a:spcAft>
        <a:defRPr sz="4400">
          <a:solidFill>
            <a:schemeClr val="tx2"/>
          </a:solidFill>
          <a:latin typeface="Arial" charset="0"/>
          <a:ea typeface="Osaka" charset="0"/>
          <a:cs typeface="Osaka" charset="0"/>
        </a:defRPr>
      </a:lvl7pPr>
      <a:lvl8pPr marL="1371600" algn="ctr" rtl="0" fontAlgn="base">
        <a:spcBef>
          <a:spcPct val="0"/>
        </a:spcBef>
        <a:spcAft>
          <a:spcPct val="0"/>
        </a:spcAft>
        <a:defRPr sz="4400">
          <a:solidFill>
            <a:schemeClr val="tx2"/>
          </a:solidFill>
          <a:latin typeface="Arial" charset="0"/>
          <a:ea typeface="Osaka" charset="0"/>
          <a:cs typeface="Osaka" charset="0"/>
        </a:defRPr>
      </a:lvl8pPr>
      <a:lvl9pPr marL="1828800" algn="ctr" rtl="0" fontAlgn="base">
        <a:spcBef>
          <a:spcPct val="0"/>
        </a:spcBef>
        <a:spcAft>
          <a:spcPct val="0"/>
        </a:spcAft>
        <a:defRPr sz="4400">
          <a:solidFill>
            <a:schemeClr val="tx2"/>
          </a:solidFill>
          <a:latin typeface="Arial" charset="0"/>
          <a:ea typeface="Osaka" charset="0"/>
          <a:cs typeface="Osak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267977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026695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4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CDF082-0CFF-3948-879B-35CD2B582D06}"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268837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BB76E-88A9-1142-82B9-33E4469E9A60}" type="datetimeFigureOut">
              <a:rPr lang="en-US" smtClean="0">
                <a:solidFill>
                  <a:prstClr val="black">
                    <a:tint val="75000"/>
                  </a:prstClr>
                </a:solidFill>
              </a:rPr>
              <a:pPr/>
              <a:t>7/8/20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30659567"/>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45.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2B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447" y="340659"/>
            <a:ext cx="11510681" cy="3169304"/>
          </a:xfrm>
        </p:spPr>
        <p:txBody>
          <a:bodyPr>
            <a:normAutofit/>
          </a:bodyPr>
          <a:lstStyle/>
          <a:p>
            <a:r>
              <a:rPr lang="en-US" b="1" dirty="0">
                <a:solidFill>
                  <a:schemeClr val="bg1"/>
                </a:solidFill>
                <a:latin typeface="+mn-lt"/>
              </a:rPr>
              <a:t>IB English Language and Literature</a:t>
            </a:r>
            <a:br>
              <a:rPr lang="en-US" b="1" dirty="0">
                <a:solidFill>
                  <a:schemeClr val="bg1"/>
                </a:solidFill>
                <a:latin typeface="+mn-lt"/>
              </a:rPr>
            </a:br>
            <a:r>
              <a:rPr lang="en-US" b="1" dirty="0">
                <a:solidFill>
                  <a:schemeClr val="bg1"/>
                </a:solidFill>
                <a:latin typeface="+mn-lt"/>
              </a:rPr>
              <a:t>6 ELL SL 4</a:t>
            </a:r>
            <a:br>
              <a:rPr lang="en-US" b="1" dirty="0">
                <a:solidFill>
                  <a:schemeClr val="bg1"/>
                </a:solidFill>
                <a:latin typeface="+mn-lt"/>
              </a:rPr>
            </a:br>
            <a:r>
              <a:rPr lang="en-US" b="1" dirty="0">
                <a:solidFill>
                  <a:schemeClr val="bg1"/>
                </a:solidFill>
                <a:latin typeface="+mn-lt"/>
              </a:rPr>
              <a:t>2019 - 2020</a:t>
            </a:r>
          </a:p>
        </p:txBody>
      </p:sp>
      <p:sp>
        <p:nvSpPr>
          <p:cNvPr id="3" name="Subtitle 2"/>
          <p:cNvSpPr>
            <a:spLocks noGrp="1"/>
          </p:cNvSpPr>
          <p:nvPr>
            <p:ph type="subTitle" idx="1"/>
          </p:nvPr>
        </p:nvSpPr>
        <p:spPr>
          <a:xfrm>
            <a:off x="0" y="3906838"/>
            <a:ext cx="12192000" cy="2691186"/>
          </a:xfrm>
        </p:spPr>
        <p:txBody>
          <a:bodyPr>
            <a:noAutofit/>
          </a:bodyPr>
          <a:lstStyle/>
          <a:p>
            <a:r>
              <a:rPr lang="en-US" sz="4400" b="1" u="sng" dirty="0">
                <a:solidFill>
                  <a:schemeClr val="accent1">
                    <a:lumMod val="20000"/>
                    <a:lumOff val="80000"/>
                  </a:schemeClr>
                </a:solidFill>
              </a:rPr>
              <a:t>Shape of the Week (1):</a:t>
            </a:r>
          </a:p>
          <a:p>
            <a:pPr lvl="0"/>
            <a:r>
              <a:rPr lang="en-US" sz="3200" dirty="0">
                <a:solidFill>
                  <a:prstClr val="white"/>
                </a:solidFill>
              </a:rPr>
              <a:t>Lesson 1: Prelim Prep </a:t>
            </a:r>
            <a:r>
              <a:rPr lang="mr-IN" sz="3200" dirty="0">
                <a:solidFill>
                  <a:prstClr val="white"/>
                </a:solidFill>
              </a:rPr>
              <a:t>–</a:t>
            </a:r>
            <a:r>
              <a:rPr lang="en-US" sz="3200" dirty="0">
                <a:solidFill>
                  <a:prstClr val="white"/>
                </a:solidFill>
              </a:rPr>
              <a:t> Commentary Writing</a:t>
            </a:r>
          </a:p>
          <a:p>
            <a:pPr lvl="0"/>
            <a:r>
              <a:rPr lang="en-US" sz="3200" dirty="0">
                <a:solidFill>
                  <a:prstClr val="white"/>
                </a:solidFill>
              </a:rPr>
              <a:t>Lesson 2: Prelim Prep </a:t>
            </a:r>
            <a:r>
              <a:rPr lang="mr-IN" sz="3200" dirty="0">
                <a:solidFill>
                  <a:prstClr val="white"/>
                </a:solidFill>
              </a:rPr>
              <a:t>–</a:t>
            </a:r>
            <a:r>
              <a:rPr lang="en-US" sz="3200">
                <a:solidFill>
                  <a:prstClr val="white"/>
                </a:solidFill>
              </a:rPr>
              <a:t> Commentary  </a:t>
            </a:r>
            <a:r>
              <a:rPr lang="en-US" sz="3200" dirty="0">
                <a:solidFill>
                  <a:prstClr val="white"/>
                </a:solidFill>
              </a:rPr>
              <a:t>Writing </a:t>
            </a:r>
          </a:p>
          <a:p>
            <a:pPr lvl="0"/>
            <a:endParaRPr lang="en-US" sz="3200" dirty="0">
              <a:solidFill>
                <a:schemeClr val="bg1"/>
              </a:solidFill>
            </a:endParaRPr>
          </a:p>
          <a:p>
            <a:endParaRPr lang="en-US" sz="3600" dirty="0">
              <a:solidFill>
                <a:schemeClr val="bg1"/>
              </a:solidFill>
            </a:endParaRPr>
          </a:p>
        </p:txBody>
      </p:sp>
    </p:spTree>
    <p:extLst>
      <p:ext uri="{BB962C8B-B14F-4D97-AF65-F5344CB8AC3E}">
        <p14:creationId xmlns:p14="http://schemas.microsoft.com/office/powerpoint/2010/main" val="249215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b="1" dirty="0">
                <a:solidFill>
                  <a:srgbClr val="FF0000"/>
                </a:solidFill>
                <a:latin typeface="Arial Rounded MT Bold" charset="0"/>
                <a:ea typeface="Arial Rounded MT Bold" charset="0"/>
                <a:cs typeface="Arial Rounded MT Bold" charset="0"/>
              </a:rPr>
              <a:t>SCHOOL ASSESSMENT TERM 3</a:t>
            </a:r>
          </a:p>
        </p:txBody>
      </p:sp>
      <p:sp>
        <p:nvSpPr>
          <p:cNvPr id="3" name="Content Placeholder 2"/>
          <p:cNvSpPr>
            <a:spLocks noGrp="1"/>
          </p:cNvSpPr>
          <p:nvPr>
            <p:ph sz="half" idx="1"/>
          </p:nvPr>
        </p:nvSpPr>
        <p:spPr>
          <a:xfrm>
            <a:off x="534161" y="1745671"/>
            <a:ext cx="6578763" cy="4932219"/>
          </a:xfrm>
        </p:spPr>
        <p:txBody>
          <a:bodyPr/>
          <a:lstStyle/>
          <a:p>
            <a:pPr marL="0" indent="0">
              <a:buNone/>
            </a:pPr>
            <a:r>
              <a:rPr lang="en-US" sz="3200" dirty="0">
                <a:latin typeface="MS Mincho" charset="-128"/>
                <a:ea typeface="ＭＳ 明朝" charset="-128"/>
                <a:cs typeface="MS Mincho" charset="-128"/>
              </a:rPr>
              <a:t>☑ </a:t>
            </a:r>
            <a:r>
              <a:rPr lang="en-US" sz="3200" b="1" dirty="0">
                <a:ea typeface="ＭＳ 明朝" charset="-128"/>
                <a:cs typeface="MS Mincho" charset="-128"/>
              </a:rPr>
              <a:t>PRELIMS!!!</a:t>
            </a:r>
            <a:endParaRPr lang="en-US" sz="3200" b="1" u="sng" dirty="0">
              <a:ea typeface="ＭＳ 明朝" charset="-128"/>
              <a:cs typeface="MS Mincho" charset="-128"/>
            </a:endParaRPr>
          </a:p>
          <a:p>
            <a:endParaRPr lang="en-US" sz="3600" dirty="0">
              <a:solidFill>
                <a:prstClr val="black"/>
              </a:solidFill>
              <a:latin typeface="Calibri" charset="0"/>
              <a:ea typeface="MS Mincho" charset="-128"/>
              <a:cs typeface="MS Mincho" charset="-128"/>
            </a:endParaRPr>
          </a:p>
          <a:p>
            <a:pPr marL="0" lvl="0" indent="0">
              <a:buNone/>
            </a:pPr>
            <a:endParaRPr lang="en-US" sz="4800" dirty="0">
              <a:solidFill>
                <a:prstClr val="black"/>
              </a:solidFill>
              <a:latin typeface="Calibri" charset="0"/>
              <a:ea typeface="ＭＳ 明朝" charset="-128"/>
              <a:cs typeface="Times New Roman" charset="0"/>
            </a:endParaRPr>
          </a:p>
        </p:txBody>
      </p:sp>
      <p:pic>
        <p:nvPicPr>
          <p:cNvPr id="8"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989454" y="1858061"/>
            <a:ext cx="3657600" cy="405627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0966" y="387999"/>
            <a:ext cx="1357672" cy="1357672"/>
          </a:xfrm>
          <a:prstGeom prst="rect">
            <a:avLst/>
          </a:prstGeom>
        </p:spPr>
      </p:pic>
    </p:spTree>
    <p:extLst>
      <p:ext uri="{BB962C8B-B14F-4D97-AF65-F5344CB8AC3E}">
        <p14:creationId xmlns:p14="http://schemas.microsoft.com/office/powerpoint/2010/main" val="76045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867930"/>
          </a:xfrm>
        </p:spPr>
        <p:txBody>
          <a:bodyPr/>
          <a:lstStyle/>
          <a:p>
            <a:pPr algn="ctr"/>
            <a:r>
              <a:rPr lang="en-US" b="1" dirty="0">
                <a:solidFill>
                  <a:srgbClr val="FF0000"/>
                </a:solidFill>
                <a:latin typeface="+mn-lt"/>
              </a:rPr>
              <a:t>General Outline Term 3</a:t>
            </a:r>
          </a:p>
        </p:txBody>
      </p:sp>
      <p:sp>
        <p:nvSpPr>
          <p:cNvPr id="6" name="Content Placeholder 5"/>
          <p:cNvSpPr>
            <a:spLocks noGrp="1"/>
          </p:cNvSpPr>
          <p:nvPr>
            <p:ph sz="half" idx="1"/>
          </p:nvPr>
        </p:nvSpPr>
        <p:spPr>
          <a:xfrm>
            <a:off x="838200" y="1756352"/>
            <a:ext cx="9011194" cy="4949247"/>
          </a:xfrm>
          <a:solidFill>
            <a:srgbClr val="FFE9EE"/>
          </a:solidFill>
        </p:spPr>
        <p:txBody>
          <a:bodyPr/>
          <a:lstStyle/>
          <a:p>
            <a:r>
              <a:rPr lang="en-US" dirty="0"/>
              <a:t>WEEK 1 Paper 2 Prelim Prep</a:t>
            </a:r>
          </a:p>
          <a:p>
            <a:r>
              <a:rPr lang="en-US" dirty="0"/>
              <a:t>WEEK 2 Paper 1 Prelim Prep</a:t>
            </a:r>
          </a:p>
          <a:p>
            <a:r>
              <a:rPr lang="en-US" dirty="0"/>
              <a:t>WEEK 3 Prelims</a:t>
            </a:r>
          </a:p>
          <a:p>
            <a:r>
              <a:rPr lang="en-US" dirty="0"/>
              <a:t>WEEK 4 Prelims</a:t>
            </a:r>
          </a:p>
          <a:p>
            <a:r>
              <a:rPr lang="en-US" dirty="0"/>
              <a:t>WEEK 5 WT </a:t>
            </a:r>
            <a:r>
              <a:rPr lang="en-US" dirty="0" err="1"/>
              <a:t>finalisation</a:t>
            </a:r>
            <a:endParaRPr lang="en-US" dirty="0"/>
          </a:p>
          <a:p>
            <a:r>
              <a:rPr lang="en-US" dirty="0"/>
              <a:t>WEEK 6 Chronicle</a:t>
            </a:r>
          </a:p>
          <a:p>
            <a:r>
              <a:rPr lang="en-US" dirty="0"/>
              <a:t>WEEK 7 Chronicle</a:t>
            </a:r>
          </a:p>
          <a:p>
            <a:r>
              <a:rPr lang="en-US" dirty="0"/>
              <a:t>WEEK 8 Chronicle</a:t>
            </a:r>
          </a:p>
          <a:p>
            <a:r>
              <a:rPr lang="en-US" dirty="0"/>
              <a:t>WEEK 9 Chronicle</a:t>
            </a:r>
          </a:p>
          <a:p>
            <a:endParaRPr lang="en-US" dirty="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849394" y="365126"/>
            <a:ext cx="1980166" cy="1980166"/>
          </a:xfrm>
          <a:prstGeom prst="rect">
            <a:avLst/>
          </a:prstGeom>
        </p:spPr>
      </p:pic>
    </p:spTree>
    <p:extLst>
      <p:ext uri="{BB962C8B-B14F-4D97-AF65-F5344CB8AC3E}">
        <p14:creationId xmlns:p14="http://schemas.microsoft.com/office/powerpoint/2010/main" val="1224840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p:spPr>
        <p:txBody>
          <a:bodyPr>
            <a:noAutofit/>
          </a:bodyPr>
          <a:lstStyle/>
          <a:p>
            <a:pPr algn="ctr"/>
            <a:r>
              <a:rPr lang="en-US" sz="7200" b="1" dirty="0">
                <a:solidFill>
                  <a:srgbClr val="FF0000"/>
                </a:solidFill>
                <a:latin typeface="+mn-lt"/>
              </a:rPr>
              <a:t>We are still a digital classroom!</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63398" y="2022765"/>
            <a:ext cx="4835235" cy="4835235"/>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62080" y="2413794"/>
            <a:ext cx="5269575" cy="3763982"/>
          </a:xfr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892" y="3655412"/>
            <a:ext cx="1362496" cy="1280746"/>
          </a:xfrm>
          <a:prstGeom prst="rect">
            <a:avLst/>
          </a:prstGeom>
        </p:spPr>
      </p:pic>
    </p:spTree>
    <p:extLst>
      <p:ext uri="{BB962C8B-B14F-4D97-AF65-F5344CB8AC3E}">
        <p14:creationId xmlns:p14="http://schemas.microsoft.com/office/powerpoint/2010/main" val="123287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138687"/>
            <a:ext cx="6898426" cy="5167312"/>
          </a:xfrm>
          <a:solidFill>
            <a:schemeClr val="bg1"/>
          </a:solidFill>
        </p:spPr>
        <p:txBody>
          <a:bodyPr>
            <a:normAutofit/>
          </a:bodyPr>
          <a:lstStyle/>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4800" b="1" dirty="0">
                <a:solidFill>
                  <a:srgbClr val="0432FF"/>
                </a:solidFill>
                <a:latin typeface="Calibri" charset="0"/>
                <a:ea typeface="MS Mincho" charset="-128"/>
                <a:cs typeface="MS Mincho" charset="-128"/>
              </a:rPr>
              <a:t>Try your hand at the introduction given paper 1 2013.</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682" y="4901797"/>
            <a:ext cx="1362496" cy="1280746"/>
          </a:xfrm>
          <a:prstGeom prst="rect">
            <a:avLst/>
          </a:prstGeom>
        </p:spPr>
      </p:pic>
    </p:spTree>
    <p:extLst>
      <p:ext uri="{BB962C8B-B14F-4D97-AF65-F5344CB8AC3E}">
        <p14:creationId xmlns:p14="http://schemas.microsoft.com/office/powerpoint/2010/main" val="1408455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4000" y="0"/>
            <a:ext cx="9144000" cy="841270"/>
          </a:xfrm>
        </p:spPr>
        <p:txBody>
          <a:bodyPr/>
          <a:lstStyle/>
          <a:p>
            <a:r>
              <a:rPr lang="en-US" b="1" dirty="0">
                <a:solidFill>
                  <a:srgbClr val="008000"/>
                </a:solidFill>
              </a:rPr>
              <a:t>What you might see on Paper 1:</a:t>
            </a:r>
          </a:p>
        </p:txBody>
      </p:sp>
      <p:sp>
        <p:nvSpPr>
          <p:cNvPr id="5" name="Content Placeholder 4"/>
          <p:cNvSpPr>
            <a:spLocks noGrp="1"/>
          </p:cNvSpPr>
          <p:nvPr>
            <p:ph sz="half" idx="1"/>
          </p:nvPr>
        </p:nvSpPr>
        <p:spPr>
          <a:xfrm>
            <a:off x="581891" y="1072345"/>
            <a:ext cx="11083636" cy="3166996"/>
          </a:xfrm>
        </p:spPr>
        <p:txBody>
          <a:bodyPr>
            <a:normAutofit fontScale="85000" lnSpcReduction="20000"/>
          </a:bodyPr>
          <a:lstStyle/>
          <a:p>
            <a:r>
              <a:rPr lang="en-US" dirty="0"/>
              <a:t>Two different non- literary texts to be read, for instance:</a:t>
            </a:r>
          </a:p>
          <a:p>
            <a:pPr lvl="1"/>
            <a:r>
              <a:rPr lang="en-US" dirty="0"/>
              <a:t>advertisement </a:t>
            </a:r>
          </a:p>
          <a:p>
            <a:pPr lvl="1"/>
            <a:r>
              <a:rPr lang="en-US" dirty="0"/>
              <a:t>opinion column </a:t>
            </a:r>
          </a:p>
          <a:p>
            <a:pPr lvl="1"/>
            <a:r>
              <a:rPr lang="en-US" dirty="0"/>
              <a:t>extract from an essay </a:t>
            </a:r>
          </a:p>
          <a:p>
            <a:pPr lvl="1"/>
            <a:r>
              <a:rPr lang="en-US" dirty="0"/>
              <a:t>electronic text (such as social networking sites, blogs) </a:t>
            </a:r>
          </a:p>
          <a:p>
            <a:pPr lvl="1"/>
            <a:r>
              <a:rPr lang="en-US" dirty="0"/>
              <a:t>brochure (such as a public information leaflet) </a:t>
            </a:r>
          </a:p>
          <a:p>
            <a:pPr lvl="1"/>
            <a:r>
              <a:rPr lang="en-US" dirty="0"/>
              <a:t>extract from a memoir, diary or other autobiographical text. </a:t>
            </a:r>
          </a:p>
          <a:p>
            <a:pPr lvl="1"/>
            <a:endParaRPr lang="en-US" dirty="0"/>
          </a:p>
          <a:p>
            <a:r>
              <a:rPr lang="en-US" dirty="0"/>
              <a:t>Two guiding questions at the end of each – choose ONE to </a:t>
            </a:r>
            <a:r>
              <a:rPr lang="en-US" dirty="0" err="1"/>
              <a:t>analyse</a:t>
            </a:r>
            <a:r>
              <a:rPr lang="en-US" dirty="0"/>
              <a:t> as written commentary in about 70 minutes.</a:t>
            </a:r>
          </a:p>
          <a:p>
            <a:endParaRPr lang="en-US" dirty="0"/>
          </a:p>
        </p:txBody>
      </p:sp>
      <p:pic>
        <p:nvPicPr>
          <p:cNvPr id="7" name="Content Placeholder 6"/>
          <p:cNvPicPr>
            <a:picLocks noGrp="1" noChangeAspect="1"/>
          </p:cNvPicPr>
          <p:nvPr>
            <p:ph sz="half" idx="2"/>
          </p:nvPr>
        </p:nvPicPr>
        <p:blipFill>
          <a:blip r:embed="rId2"/>
          <a:srcRect l="-5853" r="-5853"/>
          <a:stretch>
            <a:fillRect/>
          </a:stretch>
        </p:blipFill>
        <p:spPr>
          <a:xfrm>
            <a:off x="1194430" y="4271616"/>
            <a:ext cx="10008229" cy="2260598"/>
          </a:xfrm>
        </p:spPr>
      </p:pic>
    </p:spTree>
    <p:extLst>
      <p:ext uri="{BB962C8B-B14F-4D97-AF65-F5344CB8AC3E}">
        <p14:creationId xmlns:p14="http://schemas.microsoft.com/office/powerpoint/2010/main" val="189139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800" b="1" dirty="0">
                <a:solidFill>
                  <a:srgbClr val="00B050"/>
                </a:solidFill>
                <a:latin typeface="+mn-lt"/>
              </a:rPr>
              <a:t>Go to Firefly</a:t>
            </a:r>
          </a:p>
        </p:txBody>
      </p:sp>
      <p:sp>
        <p:nvSpPr>
          <p:cNvPr id="3" name="Text Placeholder 2"/>
          <p:cNvSpPr>
            <a:spLocks noGrp="1"/>
          </p:cNvSpPr>
          <p:nvPr>
            <p:ph type="body" idx="1"/>
          </p:nvPr>
        </p:nvSpPr>
        <p:spPr/>
        <p:txBody>
          <a:bodyPr>
            <a:normAutofit/>
          </a:bodyPr>
          <a:lstStyle/>
          <a:p>
            <a:r>
              <a:rPr lang="en-US" sz="4000" dirty="0">
                <a:solidFill>
                  <a:srgbClr val="0432FF"/>
                </a:solidFill>
              </a:rPr>
              <a:t>Open Paper 1 Template</a:t>
            </a:r>
          </a:p>
        </p:txBody>
      </p:sp>
    </p:spTree>
    <p:extLst>
      <p:ext uri="{BB962C8B-B14F-4D97-AF65-F5344CB8AC3E}">
        <p14:creationId xmlns:p14="http://schemas.microsoft.com/office/powerpoint/2010/main" val="1157269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0" y="274637"/>
            <a:ext cx="5638800" cy="5250951"/>
          </a:xfrm>
        </p:spPr>
        <p:txBody>
          <a:bodyPr/>
          <a:lstStyle/>
          <a:p>
            <a:r>
              <a:rPr lang="en-US" dirty="0">
                <a:solidFill>
                  <a:srgbClr val="0432FF"/>
                </a:solidFill>
              </a:rPr>
              <a:t>Use Handout 1 to </a:t>
            </a:r>
            <a:r>
              <a:rPr lang="en-US" dirty="0" err="1">
                <a:solidFill>
                  <a:srgbClr val="0432FF"/>
                </a:solidFill>
              </a:rPr>
              <a:t>analyse</a:t>
            </a:r>
            <a:r>
              <a:rPr lang="en-US" dirty="0">
                <a:solidFill>
                  <a:srgbClr val="0432FF"/>
                </a:solidFill>
              </a:rPr>
              <a:t> this Paper 1 text for The Big Five.</a:t>
            </a:r>
          </a:p>
        </p:txBody>
      </p:sp>
      <p:pic>
        <p:nvPicPr>
          <p:cNvPr id="4" name="Content Placeholder 4">
            <a:extLst>
              <a:ext uri="{FF2B5EF4-FFF2-40B4-BE49-F238E27FC236}">
                <a16:creationId xmlns:a16="http://schemas.microsoft.com/office/drawing/2014/main" id="{F1616BFD-A174-5C45-A7D4-0383E51B8FC6}"/>
              </a:ext>
            </a:extLst>
          </p:cNvPr>
          <p:cNvPicPr>
            <a:picLocks noGrp="1"/>
          </p:cNvPicPr>
          <p:nvPr>
            <p:ph idx="1"/>
          </p:nvPr>
        </p:nvPicPr>
        <p:blipFill>
          <a:blip r:embed="rId2"/>
          <a:stretch>
            <a:fillRect/>
          </a:stretch>
        </p:blipFill>
        <p:spPr>
          <a:xfrm>
            <a:off x="748142" y="0"/>
            <a:ext cx="4751321" cy="6949440"/>
          </a:xfrm>
          <a:prstGeom prst="rect">
            <a:avLst/>
          </a:prstGeom>
        </p:spPr>
      </p:pic>
    </p:spTree>
    <p:extLst>
      <p:ext uri="{BB962C8B-B14F-4D97-AF65-F5344CB8AC3E}">
        <p14:creationId xmlns:p14="http://schemas.microsoft.com/office/powerpoint/2010/main" val="1486905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88925" y="192088"/>
          <a:ext cx="11064875" cy="6405880"/>
        </p:xfrm>
        <a:graphic>
          <a:graphicData uri="http://schemas.openxmlformats.org/drawingml/2006/table">
            <a:tbl>
              <a:tblPr firstRow="1" bandRow="1">
                <a:tableStyleId>{00A15C55-8517-42AA-B614-E9B94910E393}</a:tableStyleId>
              </a:tblPr>
              <a:tblGrid>
                <a:gridCol w="11064875">
                  <a:extLst>
                    <a:ext uri="{9D8B030D-6E8A-4147-A177-3AD203B41FA5}">
                      <a16:colId xmlns:a16="http://schemas.microsoft.com/office/drawing/2014/main" val="20000"/>
                    </a:ext>
                  </a:extLst>
                </a:gridCol>
              </a:tblGrid>
              <a:tr h="370840">
                <a:tc>
                  <a:txBody>
                    <a:bodyPr/>
                    <a:lstStyle/>
                    <a:p>
                      <a:pPr algn="ctr"/>
                      <a:r>
                        <a:rPr lang="en-US" dirty="0">
                          <a:solidFill>
                            <a:srgbClr val="FF0000"/>
                          </a:solidFill>
                        </a:rPr>
                        <a:t>Model Intro</a:t>
                      </a:r>
                    </a:p>
                  </a:txBody>
                  <a:tcPr/>
                </a:tc>
                <a:extLst>
                  <a:ext uri="{0D108BD9-81ED-4DB2-BD59-A6C34878D82A}">
                    <a16:rowId xmlns:a16="http://schemas.microsoft.com/office/drawing/2014/main" val="10000"/>
                  </a:ext>
                </a:extLst>
              </a:tr>
              <a:tr h="370840">
                <a:tc>
                  <a:txBody>
                    <a:bodyPr/>
                    <a:lstStyle/>
                    <a:p>
                      <a:r>
                        <a:rPr lang="en-US" sz="2400" dirty="0"/>
                        <a:t>Lead-in</a:t>
                      </a:r>
                    </a:p>
                  </a:txBody>
                  <a:tcPr/>
                </a:tc>
                <a:extLst>
                  <a:ext uri="{0D108BD9-81ED-4DB2-BD59-A6C34878D82A}">
                    <a16:rowId xmlns:a16="http://schemas.microsoft.com/office/drawing/2014/main" val="10001"/>
                  </a:ext>
                </a:extLst>
              </a:tr>
              <a:tr h="370840">
                <a:tc>
                  <a:txBody>
                    <a:bodyPr/>
                    <a:lstStyle/>
                    <a:p>
                      <a:r>
                        <a:rPr lang="en-US" sz="2400" dirty="0"/>
                        <a:t>This British magazine advertisement for Albany</a:t>
                      </a:r>
                      <a:r>
                        <a:rPr lang="en-US" sz="2400" baseline="0" dirty="0"/>
                        <a:t> Life insurance, created by Lowe Howard-Spink around the early 1980s uses a contrast between form and content to playfully approach a serious topic, producing a </a:t>
                      </a:r>
                      <a:r>
                        <a:rPr lang="en-US" sz="2400" baseline="0" dirty="0" err="1"/>
                        <a:t>humourous</a:t>
                      </a:r>
                      <a:r>
                        <a:rPr lang="en-US" sz="2400" baseline="0" dirty="0"/>
                        <a:t> yet memorable effect on the reader.</a:t>
                      </a:r>
                      <a:endParaRPr lang="en-US" sz="2400" dirty="0"/>
                    </a:p>
                  </a:txBody>
                  <a:tcPr/>
                </a:tc>
                <a:extLst>
                  <a:ext uri="{0D108BD9-81ED-4DB2-BD59-A6C34878D82A}">
                    <a16:rowId xmlns:a16="http://schemas.microsoft.com/office/drawing/2014/main" val="10002"/>
                  </a:ext>
                </a:extLst>
              </a:tr>
              <a:tr h="370840">
                <a:tc>
                  <a:txBody>
                    <a:bodyPr/>
                    <a:lstStyle/>
                    <a:p>
                      <a:r>
                        <a:rPr lang="en-US" sz="2400" dirty="0"/>
                        <a:t>Thesis</a:t>
                      </a:r>
                      <a:r>
                        <a:rPr lang="en-US" sz="2400" baseline="0" dirty="0"/>
                        <a:t> Statement</a:t>
                      </a:r>
                      <a:endParaRPr lang="en-US" sz="2400" dirty="0"/>
                    </a:p>
                  </a:txBody>
                  <a:tcPr/>
                </a:tc>
                <a:extLst>
                  <a:ext uri="{0D108BD9-81ED-4DB2-BD59-A6C34878D82A}">
                    <a16:rowId xmlns:a16="http://schemas.microsoft.com/office/drawing/2014/main" val="10003"/>
                  </a:ext>
                </a:extLst>
              </a:tr>
              <a:tr h="370840">
                <a:tc>
                  <a:txBody>
                    <a:bodyPr/>
                    <a:lstStyle/>
                    <a:p>
                      <a:r>
                        <a:rPr lang="en-US" sz="2400" dirty="0"/>
                        <a:t>Targeting </a:t>
                      </a:r>
                      <a:r>
                        <a:rPr lang="en-US" sz="2400" baseline="0" dirty="0"/>
                        <a:t>middle-aged and older married men, it aims to convince husbands to purchase life insurance for their wives. </a:t>
                      </a:r>
                      <a:r>
                        <a:rPr lang="en-US" sz="2400" b="1" baseline="0" dirty="0"/>
                        <a:t>The ad’s theme of looking to the future and the event of unhappy possibilities is juxtaposed with its novel method of engaging responders with a light-hearted tone, rather than frightening them with dark predictions. </a:t>
                      </a:r>
                      <a:endParaRPr lang="en-US" sz="2400" b="1" dirty="0"/>
                    </a:p>
                  </a:txBody>
                  <a:tcPr/>
                </a:tc>
                <a:extLst>
                  <a:ext uri="{0D108BD9-81ED-4DB2-BD59-A6C34878D82A}">
                    <a16:rowId xmlns:a16="http://schemas.microsoft.com/office/drawing/2014/main" val="10004"/>
                  </a:ext>
                </a:extLst>
              </a:tr>
              <a:tr h="370840">
                <a:tc>
                  <a:txBody>
                    <a:bodyPr/>
                    <a:lstStyle/>
                    <a:p>
                      <a:r>
                        <a:rPr lang="en-US" sz="2400" dirty="0"/>
                        <a:t>Essay Map</a:t>
                      </a:r>
                    </a:p>
                  </a:txBody>
                  <a:tcPr/>
                </a:tc>
                <a:extLst>
                  <a:ext uri="{0D108BD9-81ED-4DB2-BD59-A6C34878D82A}">
                    <a16:rowId xmlns:a16="http://schemas.microsoft.com/office/drawing/2014/main" val="10005"/>
                  </a:ext>
                </a:extLst>
              </a:tr>
              <a:tr h="370840">
                <a:tc>
                  <a:txBody>
                    <a:bodyPr/>
                    <a:lstStyle/>
                    <a:p>
                      <a:r>
                        <a:rPr lang="en-US" sz="2400" dirty="0"/>
                        <a:t>The mechanism of persuasion lies in the </a:t>
                      </a:r>
                      <a:r>
                        <a:rPr lang="en-US" sz="2400" b="1" dirty="0"/>
                        <a:t>form</a:t>
                      </a:r>
                      <a:r>
                        <a:rPr lang="en-US" sz="2400" dirty="0"/>
                        <a:t> and </a:t>
                      </a:r>
                      <a:r>
                        <a:rPr lang="en-US" sz="2400" b="1" dirty="0"/>
                        <a:t>structure</a:t>
                      </a:r>
                      <a:r>
                        <a:rPr lang="en-US" sz="2400" dirty="0"/>
                        <a:t> of</a:t>
                      </a:r>
                      <a:r>
                        <a:rPr lang="en-US" sz="2400" baseline="0" dirty="0"/>
                        <a:t> the text, as well as the </a:t>
                      </a:r>
                      <a:r>
                        <a:rPr lang="en-US" sz="2400" b="1" baseline="0" dirty="0"/>
                        <a:t>diction</a:t>
                      </a:r>
                      <a:r>
                        <a:rPr lang="en-US" sz="2400" baseline="0" dirty="0"/>
                        <a:t> to maintain an authoritative, yet lively voice appropriate yet unconventional for content and context.</a:t>
                      </a:r>
                      <a:endParaRPr lang="en-US" sz="2400" dirty="0"/>
                    </a:p>
                  </a:txBody>
                  <a:tcPr/>
                </a:tc>
                <a:extLst>
                  <a:ext uri="{0D108BD9-81ED-4DB2-BD59-A6C34878D82A}">
                    <a16:rowId xmlns:a16="http://schemas.microsoft.com/office/drawing/2014/main" val="10006"/>
                  </a:ext>
                </a:extLst>
              </a:tr>
            </a:tbl>
          </a:graphicData>
        </a:graphic>
      </p:graphicFrame>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2027" y="0"/>
            <a:ext cx="1219200" cy="1219200"/>
          </a:xfrm>
          <a:prstGeom prst="rect">
            <a:avLst/>
          </a:prstGeom>
        </p:spPr>
      </p:pic>
    </p:spTree>
    <p:extLst>
      <p:ext uri="{BB962C8B-B14F-4D97-AF65-F5344CB8AC3E}">
        <p14:creationId xmlns:p14="http://schemas.microsoft.com/office/powerpoint/2010/main" val="568811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615" y="216760"/>
            <a:ext cx="4429248" cy="2605274"/>
          </a:xfrm>
        </p:spPr>
        <p:txBody>
          <a:bodyPr>
            <a:noAutofit/>
          </a:bodyPr>
          <a:lstStyle/>
          <a:p>
            <a:r>
              <a:rPr lang="en-US" sz="3200" b="1" dirty="0">
                <a:solidFill>
                  <a:srgbClr val="00B050"/>
                </a:solidFill>
              </a:rPr>
              <a:t>The Big 5 – Revision</a:t>
            </a:r>
            <a:br>
              <a:rPr lang="en-US" sz="3200" b="1" dirty="0">
                <a:solidFill>
                  <a:srgbClr val="FF0000"/>
                </a:solidFill>
              </a:rPr>
            </a:br>
            <a:r>
              <a:rPr lang="en-US" sz="2400" b="1" dirty="0"/>
              <a:t>There are several questions that you can ask of any text. Here are five major questions that apply to almost all types of texts:</a:t>
            </a:r>
            <a:br>
              <a:rPr lang="en-US" sz="2400" b="1" dirty="0"/>
            </a:br>
            <a:endParaRPr lang="en-US" sz="2400" dirty="0"/>
          </a:p>
        </p:txBody>
      </p:sp>
      <p:sp>
        <p:nvSpPr>
          <p:cNvPr id="4" name="Content Placeholder 3"/>
          <p:cNvSpPr>
            <a:spLocks noGrp="1"/>
          </p:cNvSpPr>
          <p:nvPr>
            <p:ph sz="half" idx="2"/>
          </p:nvPr>
        </p:nvSpPr>
        <p:spPr>
          <a:xfrm>
            <a:off x="6172200" y="216760"/>
            <a:ext cx="5715000" cy="6641240"/>
          </a:xfrm>
        </p:spPr>
        <p:txBody>
          <a:bodyPr>
            <a:normAutofit fontScale="85000" lnSpcReduction="20000"/>
          </a:bodyPr>
          <a:lstStyle/>
          <a:p>
            <a:r>
              <a:rPr lang="en-US" b="1" dirty="0"/>
              <a:t>Audience / purpose - </a:t>
            </a:r>
            <a:r>
              <a:rPr lang="en-US" dirty="0"/>
              <a:t>Whom does the text target? What does the author wish to achieve through the text?</a:t>
            </a:r>
          </a:p>
          <a:p>
            <a:endParaRPr lang="en-US" dirty="0"/>
          </a:p>
          <a:p>
            <a:r>
              <a:rPr lang="en-US" b="1" dirty="0"/>
              <a:t>Content / theme -</a:t>
            </a:r>
            <a:r>
              <a:rPr lang="en-US" dirty="0"/>
              <a:t> What is literally ‘happening’ in the text? What is it about? What are the main ideas of the text?</a:t>
            </a:r>
          </a:p>
          <a:p>
            <a:endParaRPr lang="en-US" dirty="0"/>
          </a:p>
          <a:p>
            <a:r>
              <a:rPr lang="en-US" b="1" dirty="0"/>
              <a:t>Tone / mood -</a:t>
            </a:r>
            <a:r>
              <a:rPr lang="en-US" dirty="0"/>
              <a:t> How does the text make you and/or the target audience feel? Describe the atmosphere of the text.</a:t>
            </a:r>
          </a:p>
          <a:p>
            <a:endParaRPr lang="en-US" dirty="0"/>
          </a:p>
          <a:p>
            <a:r>
              <a:rPr lang="en-US" b="1" dirty="0"/>
              <a:t>Stylistic devices - </a:t>
            </a:r>
            <a:r>
              <a:rPr lang="en-US" dirty="0"/>
              <a:t>How does the author use language to convey a sentiment or message? What kinds of linguistic tools does he/she employ?</a:t>
            </a:r>
          </a:p>
          <a:p>
            <a:endParaRPr lang="en-US" dirty="0"/>
          </a:p>
          <a:p>
            <a:r>
              <a:rPr lang="en-US" b="1" dirty="0"/>
              <a:t>Structure -</a:t>
            </a:r>
            <a:r>
              <a:rPr lang="en-US" dirty="0"/>
              <a:t> How is the text organized, literally (i.e. layout/formatting)? What kinds of structural elements of a particular text type do you see?</a:t>
            </a:r>
          </a:p>
          <a:p>
            <a:endParaRPr lang="en-US" dirty="0"/>
          </a:p>
        </p:txBody>
      </p:sp>
      <p:pic>
        <p:nvPicPr>
          <p:cNvPr id="5" name="Content Placeholder 2" descr="Icon-round-Question_mark.jpg"/>
          <p:cNvPicPr>
            <a:picLocks noGrp="1" noChangeAspect="1"/>
          </p:cNvPicPr>
          <p:nvPr>
            <p:ph sz="half" idx="1"/>
          </p:nvPr>
        </p:nvPicPr>
        <p:blipFill>
          <a:blip r:embed="rId2" cstate="email">
            <a:extLst>
              <a:ext uri="{28A0092B-C50C-407E-A947-70E740481C1C}">
                <a14:useLocalDpi xmlns:a14="http://schemas.microsoft.com/office/drawing/2010/main"/>
              </a:ext>
            </a:extLst>
          </a:blip>
          <a:srcRect/>
          <a:stretch>
            <a:fillRect/>
          </a:stretch>
        </p:blipFill>
        <p:spPr>
          <a:xfrm>
            <a:off x="1129089" y="2822034"/>
            <a:ext cx="3065295" cy="3435203"/>
          </a:xfrm>
        </p:spPr>
      </p:pic>
    </p:spTree>
    <p:extLst>
      <p:ext uri="{BB962C8B-B14F-4D97-AF65-F5344CB8AC3E}">
        <p14:creationId xmlns:p14="http://schemas.microsoft.com/office/powerpoint/2010/main" val="171064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85825"/>
          </a:xfrm>
        </p:spPr>
        <p:txBody>
          <a:bodyPr/>
          <a:lstStyle/>
          <a:p>
            <a:pPr algn="ctr"/>
            <a:r>
              <a:rPr lang="en-US" b="1" u="sng" dirty="0">
                <a:solidFill>
                  <a:srgbClr val="FF0000"/>
                </a:solidFill>
              </a:rPr>
              <a:t>Body paragraphs</a:t>
            </a:r>
            <a:endParaRPr lang="en-US" dirty="0">
              <a:solidFill>
                <a:srgbClr val="FF0000"/>
              </a:solidFill>
            </a:endParaRPr>
          </a:p>
        </p:txBody>
      </p:sp>
      <p:sp>
        <p:nvSpPr>
          <p:cNvPr id="3" name="Content Placeholder 2"/>
          <p:cNvSpPr>
            <a:spLocks noGrp="1"/>
          </p:cNvSpPr>
          <p:nvPr>
            <p:ph idx="1"/>
          </p:nvPr>
        </p:nvSpPr>
        <p:spPr>
          <a:xfrm>
            <a:off x="457200" y="1228726"/>
            <a:ext cx="11734800" cy="5629274"/>
          </a:xfrm>
        </p:spPr>
        <p:txBody>
          <a:bodyPr>
            <a:normAutofit fontScale="92500" lnSpcReduction="20000"/>
          </a:bodyPr>
          <a:lstStyle/>
          <a:p>
            <a:pPr lvl="0"/>
            <a:r>
              <a:rPr lang="en-US" b="1" dirty="0"/>
              <a:t>Audience and Purpose Paragraph (PEEL)</a:t>
            </a:r>
            <a:endParaRPr lang="en-GB" dirty="0"/>
          </a:p>
          <a:p>
            <a:pPr lvl="0"/>
            <a:r>
              <a:rPr lang="en-US" b="1" dirty="0"/>
              <a:t>Content and Theme Paragraph (PEEL)</a:t>
            </a:r>
            <a:endParaRPr lang="en-GB" dirty="0"/>
          </a:p>
          <a:p>
            <a:pPr lvl="0"/>
            <a:r>
              <a:rPr lang="en-US" b="1" dirty="0"/>
              <a:t>Tone and Mood Paragraph (PEEL)</a:t>
            </a:r>
            <a:endParaRPr lang="en-GB" dirty="0"/>
          </a:p>
          <a:p>
            <a:pPr lvl="0"/>
            <a:r>
              <a:rPr lang="en-US" b="1" dirty="0"/>
              <a:t>Technique Paragraphs (PETEL)</a:t>
            </a:r>
            <a:endParaRPr lang="en-GB" dirty="0"/>
          </a:p>
          <a:p>
            <a:pPr lvl="0"/>
            <a:r>
              <a:rPr lang="en-US" dirty="0"/>
              <a:t>Follow the simple P.E.T.E.L. structure</a:t>
            </a:r>
            <a:endParaRPr lang="en-GB" dirty="0"/>
          </a:p>
          <a:p>
            <a:pPr lvl="0"/>
            <a:r>
              <a:rPr lang="en-US" b="1" dirty="0"/>
              <a:t>P:</a:t>
            </a:r>
            <a:r>
              <a:rPr lang="en-US" dirty="0"/>
              <a:t> State your topic sentence (what your paragraph will be about – a </a:t>
            </a:r>
            <a:r>
              <a:rPr lang="en-US" b="1" dirty="0"/>
              <a:t>Point</a:t>
            </a:r>
            <a:r>
              <a:rPr lang="en-US" dirty="0"/>
              <a:t> which supports Thesis Statement)</a:t>
            </a:r>
            <a:endParaRPr lang="en-GB" dirty="0"/>
          </a:p>
          <a:p>
            <a:pPr lvl="0"/>
            <a:r>
              <a:rPr lang="en-US" b="1" dirty="0"/>
              <a:t>E:</a:t>
            </a:r>
            <a:r>
              <a:rPr lang="en-US" dirty="0"/>
              <a:t> Refer to specific </a:t>
            </a:r>
            <a:r>
              <a:rPr lang="en-US" b="1" dirty="0"/>
              <a:t>Example</a:t>
            </a:r>
            <a:r>
              <a:rPr lang="en-US" dirty="0"/>
              <a:t> in the text</a:t>
            </a:r>
            <a:endParaRPr lang="en-GB" dirty="0"/>
          </a:p>
          <a:p>
            <a:pPr lvl="0"/>
            <a:r>
              <a:rPr lang="en-US" b="1" dirty="0"/>
              <a:t>T:</a:t>
            </a:r>
            <a:r>
              <a:rPr lang="en-US" dirty="0"/>
              <a:t> Identify a </a:t>
            </a:r>
            <a:r>
              <a:rPr lang="en-US" b="1" dirty="0"/>
              <a:t>Technique</a:t>
            </a:r>
            <a:r>
              <a:rPr lang="en-US" dirty="0"/>
              <a:t> used in the Example to create meaning about the Point. (Device or Structure)</a:t>
            </a:r>
            <a:endParaRPr lang="en-GB" dirty="0"/>
          </a:p>
          <a:p>
            <a:pPr lvl="0"/>
            <a:r>
              <a:rPr lang="en-US" b="1" dirty="0"/>
              <a:t>E:</a:t>
            </a:r>
            <a:r>
              <a:rPr lang="en-US" dirty="0"/>
              <a:t> </a:t>
            </a:r>
            <a:r>
              <a:rPr lang="en-US" b="1" dirty="0"/>
              <a:t>Explain</a:t>
            </a:r>
            <a:r>
              <a:rPr lang="en-US" dirty="0"/>
              <a:t> how this example supports the key concept you are discussing and</a:t>
            </a:r>
            <a:endParaRPr lang="en-GB" dirty="0"/>
          </a:p>
          <a:p>
            <a:pPr lvl="0"/>
            <a:r>
              <a:rPr lang="en-US" b="1" dirty="0"/>
              <a:t>L:</a:t>
            </a:r>
            <a:r>
              <a:rPr lang="en-US" dirty="0"/>
              <a:t> </a:t>
            </a:r>
            <a:r>
              <a:rPr lang="en-US" b="1" dirty="0"/>
              <a:t>Link</a:t>
            </a:r>
            <a:r>
              <a:rPr lang="en-US" dirty="0"/>
              <a:t> its effectiveness for the overall text.</a:t>
            </a:r>
            <a:endParaRPr lang="en-GB" dirty="0"/>
          </a:p>
          <a:p>
            <a:r>
              <a:rPr lang="en-US" dirty="0"/>
              <a:t>(Use your </a:t>
            </a:r>
            <a:r>
              <a:rPr lang="en-US" b="1" dirty="0"/>
              <a:t>Close Reading Template</a:t>
            </a:r>
            <a:r>
              <a:rPr lang="en-US" dirty="0"/>
              <a:t> [Handout 4] to help guide you on what details to include)</a:t>
            </a:r>
          </a:p>
        </p:txBody>
      </p:sp>
    </p:spTree>
    <p:extLst>
      <p:ext uri="{BB962C8B-B14F-4D97-AF65-F5344CB8AC3E}">
        <p14:creationId xmlns:p14="http://schemas.microsoft.com/office/powerpoint/2010/main" val="114260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1524000" y="0"/>
            <a:ext cx="9144000" cy="838200"/>
          </a:xfrm>
        </p:spPr>
        <p:txBody>
          <a:bodyPr/>
          <a:lstStyle/>
          <a:p>
            <a:pPr algn="ctr" eaLnBrk="1" hangingPunct="1"/>
            <a:r>
              <a:rPr lang="en-US" sz="3200" dirty="0">
                <a:solidFill>
                  <a:srgbClr val="FA151B"/>
                </a:solidFill>
                <a:latin typeface="Arial" charset="0"/>
                <a:ea typeface="ＭＳ Ｐゴシック" charset="0"/>
                <a:cs typeface="ＭＳ Ｐゴシック" charset="0"/>
              </a:rPr>
              <a:t>Communication – Response Model</a:t>
            </a:r>
            <a:endParaRPr lang="en-US" dirty="0">
              <a:latin typeface="Arial" charset="0"/>
              <a:ea typeface="ＭＳ Ｐゴシック" charset="0"/>
              <a:cs typeface="ＭＳ Ｐゴシック" charset="0"/>
            </a:endParaRPr>
          </a:p>
        </p:txBody>
      </p:sp>
      <p:pic>
        <p:nvPicPr>
          <p:cNvPr id="51202" name="Picture 8" descr="writing"/>
          <p:cNvPicPr>
            <a:picLocks noGrp="1" noChangeAspect="1" noChangeArrowheads="1"/>
          </p:cNvPicPr>
          <p:nvPr>
            <p:ph sz="quarter" idx="1"/>
          </p:nvPr>
        </p:nvPicPr>
        <p:blipFill>
          <a:blip r:embed="rId3" cstate="email">
            <a:extLst>
              <a:ext uri="{28A0092B-C50C-407E-A947-70E740481C1C}">
                <a14:useLocalDpi xmlns:a14="http://schemas.microsoft.com/office/drawing/2010/main"/>
              </a:ext>
            </a:extLst>
          </a:blip>
          <a:srcRect/>
          <a:stretch>
            <a:fillRect/>
          </a:stretch>
        </p:blipFill>
        <p:spPr>
          <a:xfrm>
            <a:off x="625015" y="2667001"/>
            <a:ext cx="3565985" cy="2409826"/>
          </a:xfrm>
        </p:spPr>
      </p:pic>
      <p:pic>
        <p:nvPicPr>
          <p:cNvPr id="51203" name="Picture 9" descr="logo"/>
          <p:cNvPicPr>
            <a:picLocks noGrp="1" noChangeAspect="1" noChangeArrowheads="1"/>
          </p:cNvPicPr>
          <p:nvPr>
            <p:ph sz="quarter" idx="2"/>
          </p:nvPr>
        </p:nvPicPr>
        <p:blipFill>
          <a:blip r:embed="rId4" cstate="email">
            <a:extLst>
              <a:ext uri="{28A0092B-C50C-407E-A947-70E740481C1C}">
                <a14:useLocalDpi xmlns:a14="http://schemas.microsoft.com/office/drawing/2010/main"/>
              </a:ext>
            </a:extLst>
          </a:blip>
          <a:srcRect/>
          <a:stretch>
            <a:fillRect/>
          </a:stretch>
        </p:blipFill>
        <p:spPr>
          <a:xfrm>
            <a:off x="8458200" y="2429522"/>
            <a:ext cx="2876550" cy="2904478"/>
          </a:xfrm>
        </p:spPr>
      </p:pic>
      <p:sp>
        <p:nvSpPr>
          <p:cNvPr id="51204" name="AutoShape 10"/>
          <p:cNvSpPr>
            <a:spLocks noChangeArrowheads="1"/>
          </p:cNvSpPr>
          <p:nvPr/>
        </p:nvSpPr>
        <p:spPr bwMode="auto">
          <a:xfrm>
            <a:off x="4114800" y="3733800"/>
            <a:ext cx="4495800" cy="914400"/>
          </a:xfrm>
          <a:prstGeom prst="leftRightArrowCallout">
            <a:avLst>
              <a:gd name="adj1" fmla="val 25000"/>
              <a:gd name="adj2" fmla="val 25000"/>
              <a:gd name="adj3" fmla="val 61458"/>
              <a:gd name="adj4" fmla="val 50000"/>
            </a:avLst>
          </a:prstGeom>
          <a:solidFill>
            <a:srgbClr val="FF0000"/>
          </a:solidFill>
          <a:ln w="9525">
            <a:solidFill>
              <a:schemeClr val="tx1"/>
            </a:solidFill>
            <a:miter lim="800000"/>
            <a:headEnd/>
            <a:tailEnd/>
          </a:ln>
        </p:spPr>
        <p:txBody>
          <a:bodyPr/>
          <a:lstStyle/>
          <a:p>
            <a:pPr algn="ctr"/>
            <a:r>
              <a:rPr lang="en-US" sz="2400" b="1" dirty="0">
                <a:solidFill>
                  <a:schemeClr val="bg1"/>
                </a:solidFill>
              </a:rPr>
              <a:t>Communication Process</a:t>
            </a:r>
            <a:endParaRPr lang="en-US" sz="2400" b="1" dirty="0"/>
          </a:p>
        </p:txBody>
      </p:sp>
      <p:sp>
        <p:nvSpPr>
          <p:cNvPr id="10252" name="Comment 12"/>
          <p:cNvSpPr>
            <a:spLocks noChangeArrowheads="1"/>
          </p:cNvSpPr>
          <p:nvPr/>
        </p:nvSpPr>
        <p:spPr bwMode="auto">
          <a:xfrm>
            <a:off x="1524000" y="4800600"/>
            <a:ext cx="3048000" cy="1690688"/>
          </a:xfrm>
          <a:prstGeom prst="rect">
            <a:avLst/>
          </a:prstGeom>
          <a:solidFill>
            <a:srgbClr val="FCFDC6"/>
          </a:solidFill>
          <a:ln w="9525">
            <a:solidFill>
              <a:schemeClr val="tx1"/>
            </a:solidFill>
            <a:miter lim="800000"/>
            <a:headEnd/>
            <a:tailEnd/>
          </a:ln>
          <a:effectLst>
            <a:outerShdw blurRad="63500" dist="107763" dir="2700000" algn="ctr" rotWithShape="0">
              <a:srgbClr val="000000">
                <a:alpha val="74998"/>
              </a:srgbClr>
            </a:outerShdw>
          </a:effectLst>
          <a:extLst>
            <a:ext uri="{53640926-AAD7-44d8-BBD7-CCE9431645EC}">
              <a14:shadowObscured xmlns:a14="http://schemas.microsoft.com/office/drawing/2010/main" xmlns="" val="1"/>
            </a:ext>
          </a:extLst>
        </p:spPr>
        <p:txBody>
          <a:bodyPr>
            <a:spAutoFit/>
          </a:bodyPr>
          <a:lstStyle/>
          <a:p>
            <a:pPr>
              <a:spcBef>
                <a:spcPct val="50000"/>
              </a:spcBef>
              <a:defRPr/>
            </a:pPr>
            <a:r>
              <a:rPr lang="en-US" sz="1600" b="1">
                <a:solidFill>
                  <a:srgbClr val="000000"/>
                </a:solidFill>
                <a:latin typeface="Geneva" charset="0"/>
              </a:rPr>
              <a:t>Composer or producer of the text.</a:t>
            </a:r>
          </a:p>
          <a:p>
            <a:pPr>
              <a:spcBef>
                <a:spcPct val="50000"/>
              </a:spcBef>
              <a:defRPr/>
            </a:pPr>
            <a:r>
              <a:rPr lang="en-US" sz="1600" b="1">
                <a:solidFill>
                  <a:srgbClr val="000000"/>
                </a:solidFill>
                <a:latin typeface="Geneva" charset="0"/>
              </a:rPr>
              <a:t>Context 1 - the immediate social, cultural and historical circumstances of the composition.</a:t>
            </a:r>
            <a:endParaRPr lang="en-US">
              <a:solidFill>
                <a:srgbClr val="000000"/>
              </a:solidFill>
              <a:latin typeface="Geneva" charset="0"/>
            </a:endParaRPr>
          </a:p>
        </p:txBody>
      </p:sp>
      <p:sp>
        <p:nvSpPr>
          <p:cNvPr id="51206" name="Line 13"/>
          <p:cNvSpPr>
            <a:spLocks noChangeShapeType="1"/>
          </p:cNvSpPr>
          <p:nvPr/>
        </p:nvSpPr>
        <p:spPr bwMode="auto">
          <a:xfrm>
            <a:off x="6400800" y="4648200"/>
            <a:ext cx="0" cy="1219200"/>
          </a:xfrm>
          <a:prstGeom prst="line">
            <a:avLst/>
          </a:prstGeom>
          <a:noFill/>
          <a:ln w="6985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51207" name="AutoShape 14"/>
          <p:cNvSpPr>
            <a:spLocks noChangeArrowheads="1"/>
          </p:cNvSpPr>
          <p:nvPr/>
        </p:nvSpPr>
        <p:spPr bwMode="auto">
          <a:xfrm>
            <a:off x="4800600" y="5867400"/>
            <a:ext cx="3200400" cy="533400"/>
          </a:xfrm>
          <a:prstGeom prst="ribbon2">
            <a:avLst>
              <a:gd name="adj1" fmla="val 12500"/>
              <a:gd name="adj2" fmla="val 50000"/>
            </a:avLst>
          </a:prstGeom>
          <a:solidFill>
            <a:srgbClr val="FFFF00"/>
          </a:solidFill>
          <a:ln w="9525">
            <a:solidFill>
              <a:schemeClr val="tx1"/>
            </a:solidFill>
            <a:round/>
            <a:headEnd/>
            <a:tailEnd/>
          </a:ln>
        </p:spPr>
        <p:txBody>
          <a:bodyPr wrap="none" anchor="ctr"/>
          <a:lstStyle/>
          <a:p>
            <a:pPr algn="ctr"/>
            <a:r>
              <a:rPr lang="en-US" b="1" i="1" dirty="0"/>
              <a:t>Meanings</a:t>
            </a:r>
          </a:p>
        </p:txBody>
      </p:sp>
      <p:sp>
        <p:nvSpPr>
          <p:cNvPr id="10256" name="Comment 16"/>
          <p:cNvSpPr>
            <a:spLocks noChangeArrowheads="1"/>
          </p:cNvSpPr>
          <p:nvPr/>
        </p:nvSpPr>
        <p:spPr bwMode="auto">
          <a:xfrm>
            <a:off x="8077200" y="4948238"/>
            <a:ext cx="2857500" cy="1277273"/>
          </a:xfrm>
          <a:prstGeom prst="rect">
            <a:avLst/>
          </a:prstGeom>
          <a:solidFill>
            <a:srgbClr val="FCFDC6"/>
          </a:solidFill>
          <a:ln w="9525">
            <a:solidFill>
              <a:schemeClr val="tx1"/>
            </a:solidFill>
            <a:miter lim="800000"/>
            <a:headEnd/>
            <a:tailEnd/>
          </a:ln>
          <a:effectLst>
            <a:outerShdw blurRad="63500" dist="107763" dir="2700000" algn="ctr" rotWithShape="0">
              <a:srgbClr val="000000">
                <a:alpha val="74998"/>
              </a:srgbClr>
            </a:outerShdw>
          </a:effectLst>
          <a:extLst>
            <a:ext uri="{53640926-AAD7-44d8-BBD7-CCE9431645EC}">
              <a14:shadowObscured xmlns:a14="http://schemas.microsoft.com/office/drawing/2010/main" xmlns="" val="1"/>
            </a:ext>
          </a:extLst>
        </p:spPr>
        <p:txBody>
          <a:bodyPr wrap="square">
            <a:spAutoFit/>
          </a:bodyPr>
          <a:lstStyle/>
          <a:p>
            <a:pPr>
              <a:spcBef>
                <a:spcPct val="50000"/>
              </a:spcBef>
              <a:defRPr/>
            </a:pPr>
            <a:r>
              <a:rPr lang="en-US" sz="1400" b="1">
                <a:solidFill>
                  <a:srgbClr val="000000"/>
                </a:solidFill>
                <a:latin typeface="Geneva" charset="0"/>
              </a:rPr>
              <a:t>Responder or interpreter of text.</a:t>
            </a:r>
          </a:p>
          <a:p>
            <a:pPr>
              <a:spcBef>
                <a:spcPct val="50000"/>
              </a:spcBef>
              <a:defRPr/>
            </a:pPr>
            <a:r>
              <a:rPr lang="en-US" sz="1400" b="1">
                <a:solidFill>
                  <a:srgbClr val="000000"/>
                </a:solidFill>
                <a:latin typeface="Geneva" charset="0"/>
              </a:rPr>
              <a:t>Context 2: the immediate social, cultural and historical circumstance of reception.</a:t>
            </a:r>
            <a:endParaRPr lang="en-US">
              <a:solidFill>
                <a:srgbClr val="000000"/>
              </a:solidFill>
              <a:latin typeface="Geneva" charset="0"/>
            </a:endParaRPr>
          </a:p>
        </p:txBody>
      </p:sp>
      <p:sp>
        <p:nvSpPr>
          <p:cNvPr id="51209" name="Rectangle 17"/>
          <p:cNvSpPr>
            <a:spLocks noChangeArrowheads="1"/>
          </p:cNvSpPr>
          <p:nvPr/>
        </p:nvSpPr>
        <p:spPr bwMode="auto">
          <a:xfrm>
            <a:off x="3352800" y="914400"/>
            <a:ext cx="1752600" cy="2057400"/>
          </a:xfrm>
          <a:prstGeom prst="rect">
            <a:avLst/>
          </a:prstGeom>
          <a:solidFill>
            <a:srgbClr val="33CCCC"/>
          </a:solidFill>
          <a:ln w="9525">
            <a:solidFill>
              <a:schemeClr val="tx1"/>
            </a:solidFill>
            <a:miter lim="800000"/>
            <a:headEnd/>
            <a:tailEnd/>
          </a:ln>
        </p:spPr>
        <p:txBody>
          <a:bodyPr wrap="none" anchor="ctr"/>
          <a:lstStyle/>
          <a:p>
            <a:r>
              <a:rPr lang="en-US">
                <a:solidFill>
                  <a:srgbClr val="FA151B"/>
                </a:solidFill>
              </a:rPr>
              <a:t>Language used </a:t>
            </a:r>
          </a:p>
          <a:p>
            <a:r>
              <a:rPr lang="en-US">
                <a:solidFill>
                  <a:srgbClr val="FA151B"/>
                </a:solidFill>
              </a:rPr>
              <a:t>to create </a:t>
            </a:r>
          </a:p>
          <a:p>
            <a:r>
              <a:rPr lang="en-US">
                <a:solidFill>
                  <a:srgbClr val="FA151B"/>
                </a:solidFill>
              </a:rPr>
              <a:t>meaning</a:t>
            </a:r>
          </a:p>
        </p:txBody>
      </p:sp>
      <p:sp>
        <p:nvSpPr>
          <p:cNvPr id="51210" name="Rectangle 18"/>
          <p:cNvSpPr>
            <a:spLocks noChangeArrowheads="1"/>
          </p:cNvSpPr>
          <p:nvPr/>
        </p:nvSpPr>
        <p:spPr bwMode="auto">
          <a:xfrm>
            <a:off x="5257800" y="914400"/>
            <a:ext cx="3352800" cy="2057400"/>
          </a:xfrm>
          <a:prstGeom prst="rect">
            <a:avLst/>
          </a:prstGeom>
          <a:solidFill>
            <a:srgbClr val="33CCCC"/>
          </a:solidFill>
          <a:ln w="9525">
            <a:solidFill>
              <a:schemeClr val="tx1"/>
            </a:solidFill>
            <a:miter lim="800000"/>
            <a:headEnd/>
            <a:tailEnd/>
          </a:ln>
        </p:spPr>
        <p:txBody>
          <a:bodyPr/>
          <a:lstStyle/>
          <a:p>
            <a:pPr>
              <a:buFontTx/>
              <a:buChar char="•"/>
            </a:pPr>
            <a:r>
              <a:rPr lang="en-US" dirty="0"/>
              <a:t> Medium (text type)</a:t>
            </a:r>
          </a:p>
          <a:p>
            <a:pPr>
              <a:buFontTx/>
              <a:buChar char="•"/>
            </a:pPr>
            <a:r>
              <a:rPr lang="en-US" dirty="0"/>
              <a:t> Genre</a:t>
            </a:r>
          </a:p>
          <a:p>
            <a:pPr>
              <a:buFontTx/>
              <a:buChar char="•"/>
            </a:pPr>
            <a:r>
              <a:rPr lang="en-US" dirty="0"/>
              <a:t> Social Purpose</a:t>
            </a:r>
          </a:p>
          <a:p>
            <a:pPr>
              <a:buFontTx/>
              <a:buChar char="•"/>
            </a:pPr>
            <a:r>
              <a:rPr lang="en-US" dirty="0"/>
              <a:t> Theme</a:t>
            </a:r>
          </a:p>
          <a:p>
            <a:pPr>
              <a:buFontTx/>
              <a:buChar char="•"/>
            </a:pPr>
            <a:r>
              <a:rPr lang="en-US" dirty="0"/>
              <a:t> Ideas and values promoted</a:t>
            </a:r>
          </a:p>
          <a:p>
            <a:pPr>
              <a:buFontTx/>
              <a:buChar char="•"/>
            </a:pPr>
            <a:r>
              <a:rPr lang="en-US" dirty="0"/>
              <a:t> Style</a:t>
            </a:r>
          </a:p>
          <a:p>
            <a:pPr>
              <a:buFontTx/>
              <a:buChar char="•"/>
            </a:pPr>
            <a:r>
              <a:rPr lang="en-US" dirty="0"/>
              <a:t> Structure</a:t>
            </a:r>
          </a:p>
        </p:txBody>
      </p:sp>
      <p:sp>
        <p:nvSpPr>
          <p:cNvPr id="51211" name="Line 21"/>
          <p:cNvSpPr>
            <a:spLocks noChangeShapeType="1"/>
          </p:cNvSpPr>
          <p:nvPr/>
        </p:nvSpPr>
        <p:spPr bwMode="auto">
          <a:xfrm flipV="1">
            <a:off x="6324600" y="2971800"/>
            <a:ext cx="0" cy="762000"/>
          </a:xfrm>
          <a:prstGeom prst="line">
            <a:avLst/>
          </a:prstGeom>
          <a:noFill/>
          <a:ln w="66675">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51212" name="Line 22"/>
          <p:cNvSpPr>
            <a:spLocks noChangeShapeType="1"/>
          </p:cNvSpPr>
          <p:nvPr/>
        </p:nvSpPr>
        <p:spPr bwMode="auto">
          <a:xfrm flipH="1">
            <a:off x="4953000" y="1981200"/>
            <a:ext cx="304800" cy="0"/>
          </a:xfrm>
          <a:prstGeom prst="line">
            <a:avLst/>
          </a:prstGeom>
          <a:noFill/>
          <a:ln w="635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Tree>
    <p:extLst>
      <p:ext uri="{BB962C8B-B14F-4D97-AF65-F5344CB8AC3E}">
        <p14:creationId xmlns:p14="http://schemas.microsoft.com/office/powerpoint/2010/main" val="1109118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sz="6000" b="1" dirty="0">
                <a:solidFill>
                  <a:srgbClr val="FF0000"/>
                </a:solidFill>
                <a:latin typeface="Arial" charset="0"/>
                <a:ea typeface="Arial" charset="0"/>
                <a:cs typeface="Arial" charset="0"/>
              </a:rPr>
              <a:t>PETEL Paragraphs</a:t>
            </a:r>
          </a:p>
        </p:txBody>
      </p:sp>
      <p:sp>
        <p:nvSpPr>
          <p:cNvPr id="3" name="Content Placeholder 2"/>
          <p:cNvSpPr>
            <a:spLocks noGrp="1"/>
          </p:cNvSpPr>
          <p:nvPr>
            <p:ph idx="1"/>
          </p:nvPr>
        </p:nvSpPr>
        <p:spPr>
          <a:xfrm>
            <a:off x="555812" y="1690688"/>
            <a:ext cx="11259670" cy="5167312"/>
          </a:xfrm>
        </p:spPr>
        <p:txBody>
          <a:bodyPr>
            <a:normAutofit fontScale="85000" lnSpcReduction="10000"/>
          </a:bodyPr>
          <a:lstStyle/>
          <a:p>
            <a:r>
              <a:rPr lang="en-US" sz="3900" dirty="0">
                <a:solidFill>
                  <a:srgbClr val="FF0000"/>
                </a:solidFill>
              </a:rPr>
              <a:t>Point</a:t>
            </a:r>
            <a:r>
              <a:rPr lang="en-US" sz="3900" dirty="0"/>
              <a:t> – statement about communicating idea to responders.</a:t>
            </a:r>
          </a:p>
          <a:p>
            <a:endParaRPr lang="en-US" sz="3900" dirty="0"/>
          </a:p>
          <a:p>
            <a:r>
              <a:rPr lang="en-US" sz="3900" dirty="0">
                <a:solidFill>
                  <a:srgbClr val="FF0000"/>
                </a:solidFill>
              </a:rPr>
              <a:t>Examples</a:t>
            </a:r>
            <a:r>
              <a:rPr lang="en-US" sz="3900" dirty="0"/>
              <a:t> – of a particular technique the composer has used to communicate that idea. </a:t>
            </a:r>
            <a:r>
              <a:rPr lang="en-US" sz="3900" dirty="0">
                <a:solidFill>
                  <a:srgbClr val="FF0000"/>
                </a:solidFill>
              </a:rPr>
              <a:t>Techniques</a:t>
            </a:r>
            <a:r>
              <a:rPr lang="en-US" sz="3900" dirty="0"/>
              <a:t> – discussion of the way in which the technique effectively communicates this. These should be addressed together, maybe in the same sentence.</a:t>
            </a:r>
          </a:p>
          <a:p>
            <a:endParaRPr lang="en-US" sz="3900" dirty="0">
              <a:solidFill>
                <a:srgbClr val="FF0000"/>
              </a:solidFill>
            </a:endParaRPr>
          </a:p>
          <a:p>
            <a:r>
              <a:rPr lang="en-US" sz="3900" dirty="0">
                <a:solidFill>
                  <a:srgbClr val="FF0000"/>
                </a:solidFill>
              </a:rPr>
              <a:t>Explanation</a:t>
            </a:r>
            <a:r>
              <a:rPr lang="en-US" sz="3900" dirty="0"/>
              <a:t> – of the effect of technique on the responders.</a:t>
            </a:r>
          </a:p>
          <a:p>
            <a:endParaRPr lang="en-US" sz="3900" dirty="0"/>
          </a:p>
          <a:p>
            <a:r>
              <a:rPr lang="en-US" sz="3900" dirty="0">
                <a:solidFill>
                  <a:srgbClr val="FF0000"/>
                </a:solidFill>
              </a:rPr>
              <a:t>Link</a:t>
            </a:r>
            <a:r>
              <a:rPr lang="en-US" sz="3900" dirty="0"/>
              <a:t> – connects this point to the thesis statement overall.</a:t>
            </a:r>
          </a:p>
          <a:p>
            <a:endParaRPr lang="en-US" dirty="0"/>
          </a:p>
        </p:txBody>
      </p:sp>
      <p:sp>
        <p:nvSpPr>
          <p:cNvPr id="4" name="7-Point Star 3"/>
          <p:cNvSpPr/>
          <p:nvPr/>
        </p:nvSpPr>
        <p:spPr>
          <a:xfrm>
            <a:off x="376518" y="925513"/>
            <a:ext cx="12025032" cy="5618162"/>
          </a:xfrm>
          <a:prstGeom prst="star7">
            <a:avLst>
              <a:gd name="adj" fmla="val 21868"/>
              <a:gd name="hf" fmla="val 102572"/>
              <a:gd name="vf" fmla="val 105210"/>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Now all of you may add more than one technique </a:t>
            </a:r>
            <a:r>
              <a:rPr lang="en-US" sz="4000">
                <a:solidFill>
                  <a:srgbClr val="FF0000"/>
                </a:solidFill>
              </a:rPr>
              <a:t>per PETEL </a:t>
            </a:r>
            <a:r>
              <a:rPr lang="en-US" sz="4000" dirty="0">
                <a:solidFill>
                  <a:srgbClr val="FF0000"/>
                </a:solidFill>
              </a:rPr>
              <a:t>paragraph!</a:t>
            </a:r>
          </a:p>
        </p:txBody>
      </p:sp>
    </p:spTree>
    <p:extLst>
      <p:ext uri="{BB962C8B-B14F-4D97-AF65-F5344CB8AC3E}">
        <p14:creationId xmlns:p14="http://schemas.microsoft.com/office/powerpoint/2010/main" val="812581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1000" fill="hold"/>
                                        <p:tgtEl>
                                          <p:spTgt spid="4"/>
                                        </p:tgtEl>
                                        <p:attrNameLst>
                                          <p:attrName>ppt_w</p:attrName>
                                        </p:attrNameLst>
                                      </p:cBhvr>
                                      <p:tavLst>
                                        <p:tav tm="0">
                                          <p:val>
                                            <p:fltVal val="0"/>
                                          </p:val>
                                        </p:tav>
                                        <p:tav tm="100000">
                                          <p:val>
                                            <p:strVal val="#ppt_w"/>
                                          </p:val>
                                        </p:tav>
                                      </p:tavLst>
                                    </p:anim>
                                    <p:anim calcmode="lin" valueType="num">
                                      <p:cBhvr>
                                        <p:cTn id="24" dur="1000" fill="hold"/>
                                        <p:tgtEl>
                                          <p:spTgt spid="4"/>
                                        </p:tgtEl>
                                        <p:attrNameLst>
                                          <p:attrName>ppt_h</p:attrName>
                                        </p:attrNameLst>
                                      </p:cBhvr>
                                      <p:tavLst>
                                        <p:tav tm="0">
                                          <p:val>
                                            <p:fltVal val="0"/>
                                          </p:val>
                                        </p:tav>
                                        <p:tav tm="100000">
                                          <p:val>
                                            <p:strVal val="#ppt_h"/>
                                          </p:val>
                                        </p:tav>
                                      </p:tavLst>
                                    </p:anim>
                                    <p:anim calcmode="lin" valueType="num">
                                      <p:cBhvr>
                                        <p:cTn id="25" dur="1000" fill="hold"/>
                                        <p:tgtEl>
                                          <p:spTgt spid="4"/>
                                        </p:tgtEl>
                                        <p:attrNameLst>
                                          <p:attrName>style.rotation</p:attrName>
                                        </p:attrNameLst>
                                      </p:cBhvr>
                                      <p:tavLst>
                                        <p:tav tm="0">
                                          <p:val>
                                            <p:fltVal val="90"/>
                                          </p:val>
                                        </p:tav>
                                        <p:tav tm="100000">
                                          <p:val>
                                            <p:fltVal val="0"/>
                                          </p:val>
                                        </p:tav>
                                      </p:tavLst>
                                    </p:anim>
                                    <p:animEffect transition="in" filter="fade">
                                      <p:cBhvr>
                                        <p:cTn id="2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800" b="1" dirty="0">
                <a:solidFill>
                  <a:srgbClr val="00B050"/>
                </a:solidFill>
                <a:latin typeface="+mn-lt"/>
              </a:rPr>
              <a:t>Go to Firefly</a:t>
            </a:r>
          </a:p>
        </p:txBody>
      </p:sp>
      <p:sp>
        <p:nvSpPr>
          <p:cNvPr id="3" name="Text Placeholder 2"/>
          <p:cNvSpPr>
            <a:spLocks noGrp="1"/>
          </p:cNvSpPr>
          <p:nvPr>
            <p:ph type="body" idx="1"/>
          </p:nvPr>
        </p:nvSpPr>
        <p:spPr/>
        <p:txBody>
          <a:bodyPr>
            <a:normAutofit/>
          </a:bodyPr>
          <a:lstStyle/>
          <a:p>
            <a:r>
              <a:rPr lang="en-US" sz="4000" dirty="0">
                <a:solidFill>
                  <a:srgbClr val="0432FF"/>
                </a:solidFill>
              </a:rPr>
              <a:t>Open Past Paper 2013</a:t>
            </a:r>
          </a:p>
        </p:txBody>
      </p:sp>
    </p:spTree>
    <p:extLst>
      <p:ext uri="{BB962C8B-B14F-4D97-AF65-F5344CB8AC3E}">
        <p14:creationId xmlns:p14="http://schemas.microsoft.com/office/powerpoint/2010/main" val="1068740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52480103"/>
              </p:ext>
            </p:extLst>
          </p:nvPr>
        </p:nvGraphicFramePr>
        <p:xfrm>
          <a:off x="288925" y="192088"/>
          <a:ext cx="11064875" cy="3114040"/>
        </p:xfrm>
        <a:graphic>
          <a:graphicData uri="http://schemas.openxmlformats.org/drawingml/2006/table">
            <a:tbl>
              <a:tblPr firstRow="1" bandRow="1">
                <a:tableStyleId>{00A15C55-8517-42AA-B614-E9B94910E393}</a:tableStyleId>
              </a:tblPr>
              <a:tblGrid>
                <a:gridCol w="11064875">
                  <a:extLst>
                    <a:ext uri="{9D8B030D-6E8A-4147-A177-3AD203B41FA5}">
                      <a16:colId xmlns:a16="http://schemas.microsoft.com/office/drawing/2014/main" val="20000"/>
                    </a:ext>
                  </a:extLst>
                </a:gridCol>
              </a:tblGrid>
              <a:tr h="370840">
                <a:tc>
                  <a:txBody>
                    <a:bodyPr/>
                    <a:lstStyle/>
                    <a:p>
                      <a:pPr algn="ctr"/>
                      <a:r>
                        <a:rPr lang="en-US" dirty="0">
                          <a:solidFill>
                            <a:srgbClr val="FF0000"/>
                          </a:solidFill>
                        </a:rPr>
                        <a:t>Model Intro</a:t>
                      </a:r>
                    </a:p>
                  </a:txBody>
                  <a:tcPr/>
                </a:tc>
                <a:extLst>
                  <a:ext uri="{0D108BD9-81ED-4DB2-BD59-A6C34878D82A}">
                    <a16:rowId xmlns:a16="http://schemas.microsoft.com/office/drawing/2014/main" val="10000"/>
                  </a:ext>
                </a:extLst>
              </a:tr>
              <a:tr h="370840">
                <a:tc>
                  <a:txBody>
                    <a:bodyPr/>
                    <a:lstStyle/>
                    <a:p>
                      <a:r>
                        <a:rPr lang="en-US" sz="2400" dirty="0"/>
                        <a:t>Lead-in </a:t>
                      </a:r>
                    </a:p>
                  </a:txBody>
                  <a:tcPr/>
                </a:tc>
                <a:extLst>
                  <a:ext uri="{0D108BD9-81ED-4DB2-BD59-A6C34878D82A}">
                    <a16:rowId xmlns:a16="http://schemas.microsoft.com/office/drawing/2014/main" val="10001"/>
                  </a:ext>
                </a:extLst>
              </a:tr>
              <a:tr h="370840">
                <a:tc>
                  <a:txBody>
                    <a:bodyPr/>
                    <a:lstStyle/>
                    <a:p>
                      <a:endParaRPr lang="en-US" sz="2400" dirty="0"/>
                    </a:p>
                  </a:txBody>
                  <a:tcPr/>
                </a:tc>
                <a:extLst>
                  <a:ext uri="{0D108BD9-81ED-4DB2-BD59-A6C34878D82A}">
                    <a16:rowId xmlns:a16="http://schemas.microsoft.com/office/drawing/2014/main" val="10002"/>
                  </a:ext>
                </a:extLst>
              </a:tr>
              <a:tr h="365473">
                <a:tc>
                  <a:txBody>
                    <a:bodyPr/>
                    <a:lstStyle/>
                    <a:p>
                      <a:r>
                        <a:rPr lang="en-US" sz="2400" dirty="0"/>
                        <a:t>Thesis</a:t>
                      </a:r>
                      <a:r>
                        <a:rPr lang="en-US" sz="2400" baseline="0" dirty="0"/>
                        <a:t> Statement</a:t>
                      </a:r>
                      <a:endParaRPr lang="en-US" sz="2400" dirty="0"/>
                    </a:p>
                  </a:txBody>
                  <a:tcPr/>
                </a:tc>
                <a:extLst>
                  <a:ext uri="{0D108BD9-81ED-4DB2-BD59-A6C34878D82A}">
                    <a16:rowId xmlns:a16="http://schemas.microsoft.com/office/drawing/2014/main" val="10003"/>
                  </a:ext>
                </a:extLst>
              </a:tr>
              <a:tr h="370840">
                <a:tc>
                  <a:txBody>
                    <a:bodyPr/>
                    <a:lstStyle/>
                    <a:p>
                      <a:endParaRPr lang="en-US" sz="2400" b="1" dirty="0"/>
                    </a:p>
                  </a:txBody>
                  <a:tcPr/>
                </a:tc>
                <a:extLst>
                  <a:ext uri="{0D108BD9-81ED-4DB2-BD59-A6C34878D82A}">
                    <a16:rowId xmlns:a16="http://schemas.microsoft.com/office/drawing/2014/main" val="10004"/>
                  </a:ext>
                </a:extLst>
              </a:tr>
              <a:tr h="370840">
                <a:tc>
                  <a:txBody>
                    <a:bodyPr/>
                    <a:lstStyle/>
                    <a:p>
                      <a:r>
                        <a:rPr lang="en-US" sz="2400" dirty="0"/>
                        <a:t>Essay Map</a:t>
                      </a:r>
                    </a:p>
                  </a:txBody>
                  <a:tcPr/>
                </a:tc>
                <a:extLst>
                  <a:ext uri="{0D108BD9-81ED-4DB2-BD59-A6C34878D82A}">
                    <a16:rowId xmlns:a16="http://schemas.microsoft.com/office/drawing/2014/main" val="10005"/>
                  </a:ext>
                </a:extLst>
              </a:tr>
              <a:tr h="370840">
                <a:tc>
                  <a:txBody>
                    <a:bodyPr/>
                    <a:lstStyle/>
                    <a:p>
                      <a:endParaRPr lang="en-US" sz="2400" dirty="0"/>
                    </a:p>
                  </a:txBody>
                  <a:tcPr/>
                </a:tc>
                <a:extLst>
                  <a:ext uri="{0D108BD9-81ED-4DB2-BD59-A6C34878D82A}">
                    <a16:rowId xmlns:a16="http://schemas.microsoft.com/office/drawing/2014/main" val="10006"/>
                  </a:ext>
                </a:extLst>
              </a:tr>
            </a:tbl>
          </a:graphicData>
        </a:graphic>
      </p:graphicFrame>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2027" y="0"/>
            <a:ext cx="1219200" cy="1219200"/>
          </a:xfrm>
          <a:prstGeom prst="rect">
            <a:avLst/>
          </a:prstGeom>
        </p:spPr>
      </p:pic>
    </p:spTree>
    <p:extLst>
      <p:ext uri="{BB962C8B-B14F-4D97-AF65-F5344CB8AC3E}">
        <p14:creationId xmlns:p14="http://schemas.microsoft.com/office/powerpoint/2010/main" val="1402298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What does your essay map look like? What are your 3 points for the PETEL paragraphs?</a:t>
            </a:r>
          </a:p>
        </p:txBody>
      </p:sp>
      <p:sp>
        <p:nvSpPr>
          <p:cNvPr id="3" name="Content Placeholder 2"/>
          <p:cNvSpPr>
            <a:spLocks noGrp="1"/>
          </p:cNvSpPr>
          <p:nvPr>
            <p:ph sz="half" idx="1"/>
          </p:nvPr>
        </p:nvSpPr>
        <p:spPr>
          <a:xfrm>
            <a:off x="6696075" y="1968500"/>
            <a:ext cx="5181600" cy="4351338"/>
          </a:xfrm>
        </p:spPr>
        <p:txBody>
          <a:bodyPr>
            <a:noAutofit/>
          </a:bodyPr>
          <a:lstStyle/>
          <a:p>
            <a:r>
              <a:rPr lang="en-US" sz="1700" dirty="0"/>
              <a:t>Point1</a:t>
            </a:r>
          </a:p>
          <a:p>
            <a:r>
              <a:rPr lang="en-SG" sz="1700" dirty="0"/>
              <a:t>Richards effectively utilises the first person and the second person pronouns in this excerpt to directly 'speak' with the readers thereby establishing a beautiful conversational tone in the text.</a:t>
            </a:r>
            <a:endParaRPr lang="en-US" sz="1700" dirty="0"/>
          </a:p>
          <a:p>
            <a:r>
              <a:rPr lang="en-US" sz="1700" dirty="0"/>
              <a:t>Point 2 </a:t>
            </a:r>
          </a:p>
          <a:p>
            <a:r>
              <a:rPr lang="en-SG" sz="1700" dirty="0"/>
              <a:t>Next, Richards utilises diction, figurative language and tricolon to inform the readers about the pathbreaking invention of music recording and the birth of the blues and jazz, and what it meant for the ordinary people in terms of accessibility to music.</a:t>
            </a:r>
            <a:endParaRPr lang="en-US" sz="1700" dirty="0"/>
          </a:p>
          <a:p>
            <a:r>
              <a:rPr lang="en-US" sz="1700" dirty="0"/>
              <a:t>Point 3</a:t>
            </a:r>
          </a:p>
          <a:p>
            <a:r>
              <a:rPr lang="en-SG" sz="1700" dirty="0"/>
              <a:t>Moreover, Richards effectively uses the handwritten note to establish his stance on music that people should not rely on traditional musical conventions to learn music and that they can learn music through listening. </a:t>
            </a:r>
            <a:endParaRPr lang="en-US" sz="1700" dirty="0"/>
          </a:p>
        </p:txBody>
      </p:sp>
      <p:sp>
        <p:nvSpPr>
          <p:cNvPr id="4" name="Content Placeholder 3"/>
          <p:cNvSpPr>
            <a:spLocks noGrp="1"/>
          </p:cNvSpPr>
          <p:nvPr>
            <p:ph sz="half" idx="2"/>
          </p:nvPr>
        </p:nvSpPr>
        <p:spPr>
          <a:xfrm>
            <a:off x="628650" y="1968500"/>
            <a:ext cx="5181600" cy="4351338"/>
          </a:xfrm>
        </p:spPr>
        <p:txBody>
          <a:bodyPr>
            <a:noAutofit/>
          </a:bodyPr>
          <a:lstStyle/>
          <a:p>
            <a:r>
              <a:rPr lang="en-US" sz="4800" dirty="0">
                <a:solidFill>
                  <a:srgbClr val="0432FF"/>
                </a:solidFill>
              </a:rPr>
              <a:t>Write ONE PETEL paragraph to send through Firefly.</a:t>
            </a:r>
          </a:p>
        </p:txBody>
      </p:sp>
    </p:spTree>
    <p:extLst>
      <p:ext uri="{BB962C8B-B14F-4D97-AF65-F5344CB8AC3E}">
        <p14:creationId xmlns:p14="http://schemas.microsoft.com/office/powerpoint/2010/main" val="89146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138687"/>
            <a:ext cx="6898426" cy="5167312"/>
          </a:xfrm>
          <a:solidFill>
            <a:schemeClr val="bg1"/>
          </a:solidFill>
        </p:spPr>
        <p:txBody>
          <a:bodyPr>
            <a:normAutofit/>
          </a:bodyPr>
          <a:lstStyle/>
          <a:p>
            <a:pPr marL="0" indent="0">
              <a:buNone/>
            </a:pPr>
            <a:endParaRPr lang="en-US" sz="3600" b="1" baseline="30000" dirty="0">
              <a:solidFill>
                <a:srgbClr val="000000"/>
              </a:solidFill>
              <a:latin typeface="Calibri" charset="0"/>
              <a:ea typeface="MS Mincho" charset="-128"/>
              <a:cs typeface="MS Mincho" charset="-128"/>
            </a:endParaRPr>
          </a:p>
          <a:p>
            <a:pPr marL="0" indent="0">
              <a:buNone/>
            </a:pPr>
            <a:r>
              <a:rPr lang="en-US" sz="6600" b="1" baseline="30000" dirty="0">
                <a:solidFill>
                  <a:srgbClr val="000000"/>
                </a:solidFill>
                <a:latin typeface="Calibri" charset="0"/>
                <a:ea typeface="MS Mincho" charset="-128"/>
                <a:cs typeface="MS Mincho" charset="-128"/>
              </a:rPr>
              <a:t>Good Luck on Prelims!</a:t>
            </a:r>
            <a:endParaRPr lang="en-US" sz="6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9653" y="4121212"/>
            <a:ext cx="1362496" cy="1280746"/>
          </a:xfrm>
          <a:prstGeom prst="rect">
            <a:avLst/>
          </a:prstGeom>
        </p:spPr>
      </p:pic>
    </p:spTree>
    <p:extLst>
      <p:ext uri="{BB962C8B-B14F-4D97-AF65-F5344CB8AC3E}">
        <p14:creationId xmlns:p14="http://schemas.microsoft.com/office/powerpoint/2010/main" val="715009095"/>
      </p:ext>
    </p:extLst>
  </p:cSld>
  <p:clrMapOvr>
    <a:masterClrMapping/>
  </p:clrMapOvr>
</p:sld>
</file>

<file path=ppt/theme/theme1.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TotalTime>
  <Words>972</Words>
  <Application>Microsoft Macintosh PowerPoint</Application>
  <PresentationFormat>Widescreen</PresentationFormat>
  <Paragraphs>107</Paragraphs>
  <Slides>17</Slides>
  <Notes>2</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17</vt:i4>
      </vt:variant>
    </vt:vector>
  </HeadingPairs>
  <TitlesOfParts>
    <vt:vector size="28" baseType="lpstr">
      <vt:lpstr>MS Mincho</vt:lpstr>
      <vt:lpstr>Arial</vt:lpstr>
      <vt:lpstr>Arial Rounded MT Bold</vt:lpstr>
      <vt:lpstr>Calibri</vt:lpstr>
      <vt:lpstr>Calibri Light</vt:lpstr>
      <vt:lpstr>Geneva</vt:lpstr>
      <vt:lpstr>3_Blank Presentation</vt:lpstr>
      <vt:lpstr>1_Office Theme</vt:lpstr>
      <vt:lpstr>8_Office Theme</vt:lpstr>
      <vt:lpstr>2_Office Theme</vt:lpstr>
      <vt:lpstr>3_Office Theme</vt:lpstr>
      <vt:lpstr>IB English Language and Literature 6 ELL SL 4 2019 - 2020</vt:lpstr>
      <vt:lpstr>SCHOOL ASSESSMENT TERM 3</vt:lpstr>
      <vt:lpstr>General Outline Term 3</vt:lpstr>
      <vt:lpstr>We are still a digital classroom!</vt:lpstr>
      <vt:lpstr>Homework</vt:lpstr>
      <vt:lpstr>What you might see on Paper 1:</vt:lpstr>
      <vt:lpstr>Go to Firefly</vt:lpstr>
      <vt:lpstr>Use Handout 1 to analyse this Paper 1 text for The Big Five.</vt:lpstr>
      <vt:lpstr>PowerPoint Presentation</vt:lpstr>
      <vt:lpstr>The Big 5 – Revision There are several questions that you can ask of any text. Here are five major questions that apply to almost all types of texts: </vt:lpstr>
      <vt:lpstr>Body paragraphs</vt:lpstr>
      <vt:lpstr>Communication – Response Model</vt:lpstr>
      <vt:lpstr>PETEL Paragraphs</vt:lpstr>
      <vt:lpstr>Go to Firefly</vt:lpstr>
      <vt:lpstr>PowerPoint Presentation</vt:lpstr>
      <vt:lpstr>What does your essay map look like? What are your 3 points for the PETEL paragraphs?</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 English Language and Literature 6 ELL SL 4 2019 - 2020</dc:title>
  <dc:creator>Elisa Simone Zantos - Teacher of English</dc:creator>
  <cp:lastModifiedBy>Jothiligam Dheeraj - Student 2019</cp:lastModifiedBy>
  <cp:revision>48</cp:revision>
  <dcterms:created xsi:type="dcterms:W3CDTF">2020-06-30T22:05:36Z</dcterms:created>
  <dcterms:modified xsi:type="dcterms:W3CDTF">2020-07-08T01:18:22Z</dcterms:modified>
</cp:coreProperties>
</file>