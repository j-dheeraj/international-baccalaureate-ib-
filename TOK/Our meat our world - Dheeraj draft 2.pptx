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comments/comment2.xml" ContentType="application/vnd.openxmlformats-officedocument.presentationml.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comment3.xml" ContentType="application/vnd.openxmlformats-officedocument.presentationml.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comment4.xml" ContentType="application/vnd.openxmlformats-officedocument.presentationml.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0"/>
  </p:notesMasterIdLst>
  <p:sldIdLst>
    <p:sldId id="256" r:id="rId2"/>
    <p:sldId id="273" r:id="rId3"/>
    <p:sldId id="258" r:id="rId4"/>
    <p:sldId id="259" r:id="rId5"/>
    <p:sldId id="260" r:id="rId6"/>
    <p:sldId id="261" r:id="rId7"/>
    <p:sldId id="262" r:id="rId8"/>
    <p:sldId id="263" r:id="rId9"/>
    <p:sldId id="264" r:id="rId10"/>
    <p:sldId id="265" r:id="rId11"/>
    <p:sldId id="266" r:id="rId12"/>
    <p:sldId id="274" r:id="rId13"/>
    <p:sldId id="267" r:id="rId14"/>
    <p:sldId id="268" r:id="rId15"/>
    <p:sldId id="269" r:id="rId16"/>
    <p:sldId id="270" r:id="rId17"/>
    <p:sldId id="271" r:id="rId18"/>
    <p:sldId id="272" r:id="rId1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ivalik pathania" initials="sp" lastIdx="6" clrIdx="0">
    <p:extLst>
      <p:ext uri="{19B8F6BF-5375-455C-9EA6-DF929625EA0E}">
        <p15:presenceInfo xmlns:p15="http://schemas.microsoft.com/office/powerpoint/2012/main" userId="040eb7972bb3772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00FF"/>
    <a:srgbClr val="008000"/>
    <a:srgbClr val="00CC00"/>
    <a:srgbClr val="434343"/>
    <a:srgbClr val="F5FC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5D4D15-6DEB-4B95-89B5-3482897C179A}">
  <a:tblStyle styleId="{955D4D15-6DEB-4B95-89B5-3482897C179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1"/>
  </p:normalViewPr>
  <p:slideViewPr>
    <p:cSldViewPr snapToGrid="0">
      <p:cViewPr varScale="1">
        <p:scale>
          <a:sx n="136" d="100"/>
          <a:sy n="136" d="100"/>
        </p:scale>
        <p:origin x="120"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2-05T09:06:25.383" idx="1">
    <p:pos x="10" y="10"/>
    <p:text/>
    <p:extLst>
      <p:ext uri="{C676402C-5697-4E1C-873F-D02D1690AC5C}">
        <p15:threadingInfo xmlns:p15="http://schemas.microsoft.com/office/powerpoint/2012/main" timeZoneBias="-4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0-02-05T09:10:27.775" idx="3">
    <p:pos x="10" y="10"/>
    <p:text>This is not a KQ. Maybe you can write.....To what extent are the methods of justification different in different areas of knowledge?</p:text>
    <p:extLst>
      <p:ext uri="{C676402C-5697-4E1C-873F-D02D1690AC5C}">
        <p15:threadingInfo xmlns:p15="http://schemas.microsoft.com/office/powerpoint/2012/main" timeZoneBias="-480"/>
      </p:ext>
    </p:extLst>
  </p:cm>
  <p:cm authorId="1" dt="2020-02-05T09:12:54.259" idx="4">
    <p:pos x="106" y="106"/>
    <p:text>Possible KQs;To what extent can reason operate in isolation from other ways of knowing?                                                                         To what extent can we use reason to evaluate two competing ethical systems?</p:text>
    <p:extLst>
      <p:ext uri="{C676402C-5697-4E1C-873F-D02D1690AC5C}">
        <p15:threadingInfo xmlns:p15="http://schemas.microsoft.com/office/powerpoint/2012/main" timeZoneBias="-4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0-02-05T09:15:31.216" idx="5">
    <p:pos x="10" y="10"/>
    <p:text>You need to give claims and counterclaims with evidences that are from the field of ethics but not related to RLS.</p:text>
    <p:extLst>
      <p:ext uri="{C676402C-5697-4E1C-873F-D02D1690AC5C}">
        <p15:threadingInfo xmlns:p15="http://schemas.microsoft.com/office/powerpoint/2012/main" timeZoneBias="-4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0-02-05T09:16:21.875" idx="6">
    <p:pos x="10" y="10"/>
    <p:text/>
    <p:extLst>
      <p:ext uri="{C676402C-5697-4E1C-873F-D02D1690AC5C}">
        <p15:threadingInfo xmlns:p15="http://schemas.microsoft.com/office/powerpoint/2012/main" timeZoneBias="-480"/>
      </p:ext>
    </p:extLst>
  </p:cm>
</p: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493457-C3CF-4D46-B3D5-D5CE32B61F7F}" type="doc">
      <dgm:prSet loTypeId="urn:microsoft.com/office/officeart/2005/8/layout/arrow2" loCatId="process" qsTypeId="urn:microsoft.com/office/officeart/2005/8/quickstyle/simple1" qsCatId="simple" csTypeId="urn:microsoft.com/office/officeart/2005/8/colors/accent1_2" csCatId="accent1" phldr="1"/>
      <dgm:spPr/>
    </dgm:pt>
    <dgm:pt modelId="{42DAC066-86B5-43E6-8027-11083274E2D5}">
      <dgm:prSet phldrT="[Text]" custT="1"/>
      <dgm:spPr/>
      <dgm:t>
        <a:bodyPr/>
        <a:lstStyle/>
        <a:p>
          <a:r>
            <a:rPr lang="en-US" sz="1300" dirty="0" smtClean="0"/>
            <a:t>Part 1:</a:t>
          </a:r>
        </a:p>
        <a:p>
          <a:r>
            <a:rPr lang="en-US" sz="1300" dirty="0" smtClean="0"/>
            <a:t>Real-Life Situation (RLS)</a:t>
          </a:r>
          <a:endParaRPr lang="en-US" sz="1300" dirty="0"/>
        </a:p>
      </dgm:t>
    </dgm:pt>
    <dgm:pt modelId="{2A976F6B-14EE-4707-B68E-E4DA38F9BFBB}" type="parTrans" cxnId="{F83DE8CA-7781-4106-AFCF-D4A2F16BE079}">
      <dgm:prSet/>
      <dgm:spPr/>
      <dgm:t>
        <a:bodyPr/>
        <a:lstStyle/>
        <a:p>
          <a:endParaRPr lang="en-US"/>
        </a:p>
      </dgm:t>
    </dgm:pt>
    <dgm:pt modelId="{01954121-7508-461C-81F8-8B9D732873F1}" type="sibTrans" cxnId="{F83DE8CA-7781-4106-AFCF-D4A2F16BE079}">
      <dgm:prSet/>
      <dgm:spPr/>
      <dgm:t>
        <a:bodyPr/>
        <a:lstStyle/>
        <a:p>
          <a:endParaRPr lang="en-US"/>
        </a:p>
      </dgm:t>
    </dgm:pt>
    <dgm:pt modelId="{8687D4E9-C091-4473-9420-037828E0613A}">
      <dgm:prSet phldrT="[Text]" custT="1"/>
      <dgm:spPr/>
      <dgm:t>
        <a:bodyPr/>
        <a:lstStyle/>
        <a:p>
          <a:r>
            <a:rPr lang="en-US" sz="1300" dirty="0" smtClean="0"/>
            <a:t>Part 2: </a:t>
          </a:r>
        </a:p>
        <a:p>
          <a:r>
            <a:rPr lang="en-US" sz="1300" dirty="0" smtClean="0"/>
            <a:t>1</a:t>
          </a:r>
          <a:r>
            <a:rPr lang="en-US" sz="1300" baseline="30000" dirty="0" smtClean="0"/>
            <a:t>st</a:t>
          </a:r>
          <a:r>
            <a:rPr lang="en-US" sz="1300" dirty="0" smtClean="0"/>
            <a:t> order subject-specific Knowledge Questions (KQ)</a:t>
          </a:r>
          <a:endParaRPr lang="en-US" sz="1300" dirty="0"/>
        </a:p>
      </dgm:t>
    </dgm:pt>
    <dgm:pt modelId="{80F1807B-0908-4B95-90BA-B6F36CBCA13F}" type="parTrans" cxnId="{38136DC3-7642-4E0D-AE18-4901552F4C46}">
      <dgm:prSet/>
      <dgm:spPr/>
      <dgm:t>
        <a:bodyPr/>
        <a:lstStyle/>
        <a:p>
          <a:endParaRPr lang="en-US"/>
        </a:p>
      </dgm:t>
    </dgm:pt>
    <dgm:pt modelId="{9EDD6AB7-2D81-4945-AFCE-E7FA98B0CEC3}" type="sibTrans" cxnId="{38136DC3-7642-4E0D-AE18-4901552F4C46}">
      <dgm:prSet/>
      <dgm:spPr/>
      <dgm:t>
        <a:bodyPr/>
        <a:lstStyle/>
        <a:p>
          <a:endParaRPr lang="en-US"/>
        </a:p>
      </dgm:t>
    </dgm:pt>
    <dgm:pt modelId="{C924CBA1-9676-4351-89D3-6477A9FA2E58}">
      <dgm:prSet phldrT="[Text]" custT="1"/>
      <dgm:spPr/>
      <dgm:t>
        <a:bodyPr/>
        <a:lstStyle/>
        <a:p>
          <a:r>
            <a:rPr lang="en-US" sz="1300" dirty="0" smtClean="0"/>
            <a:t>Part 3:</a:t>
          </a:r>
        </a:p>
        <a:p>
          <a:r>
            <a:rPr lang="en-US" sz="1300" dirty="0" smtClean="0"/>
            <a:t>2</a:t>
          </a:r>
          <a:r>
            <a:rPr lang="en-US" sz="1300" baseline="30000" dirty="0" smtClean="0"/>
            <a:t>nd</a:t>
          </a:r>
          <a:r>
            <a:rPr lang="en-US" sz="1300" dirty="0" smtClean="0"/>
            <a:t> order KQ for the RLS (with the ways of knowing (AOK))</a:t>
          </a:r>
          <a:endParaRPr lang="en-US" sz="1300" dirty="0"/>
        </a:p>
      </dgm:t>
    </dgm:pt>
    <dgm:pt modelId="{F592FEC8-F7FA-49B5-80FD-E9E3A4D3AB2D}" type="parTrans" cxnId="{CEAC2A84-539E-4C42-9C4C-7F6DA684B438}">
      <dgm:prSet/>
      <dgm:spPr/>
      <dgm:t>
        <a:bodyPr/>
        <a:lstStyle/>
        <a:p>
          <a:endParaRPr lang="en-US"/>
        </a:p>
      </dgm:t>
    </dgm:pt>
    <dgm:pt modelId="{AA7EB4E6-7857-402F-BAC0-73E41D338ED4}" type="sibTrans" cxnId="{CEAC2A84-539E-4C42-9C4C-7F6DA684B438}">
      <dgm:prSet/>
      <dgm:spPr/>
      <dgm:t>
        <a:bodyPr/>
        <a:lstStyle/>
        <a:p>
          <a:endParaRPr lang="en-US"/>
        </a:p>
      </dgm:t>
    </dgm:pt>
    <dgm:pt modelId="{D01E3EBE-91BD-4BDA-A707-A760E1A5209F}">
      <dgm:prSet phldrT="[Text]" custT="1"/>
      <dgm:spPr/>
      <dgm:t>
        <a:bodyPr/>
        <a:lstStyle/>
        <a:p>
          <a:r>
            <a:rPr lang="en-US" sz="1300" dirty="0" smtClean="0"/>
            <a:t>Part 4:</a:t>
          </a:r>
        </a:p>
        <a:p>
          <a:r>
            <a:rPr lang="en-US" sz="1300" dirty="0" smtClean="0"/>
            <a:t>Conclusion</a:t>
          </a:r>
          <a:endParaRPr lang="en-US" sz="1300" dirty="0"/>
        </a:p>
      </dgm:t>
    </dgm:pt>
    <dgm:pt modelId="{A3B2349E-3E9F-4919-ACEF-A366B494B485}" type="parTrans" cxnId="{D002D957-6D4D-441C-B0E2-536D078D6345}">
      <dgm:prSet/>
      <dgm:spPr/>
      <dgm:t>
        <a:bodyPr/>
        <a:lstStyle/>
        <a:p>
          <a:endParaRPr lang="en-US"/>
        </a:p>
      </dgm:t>
    </dgm:pt>
    <dgm:pt modelId="{FA5318C3-E039-4B2A-8E2E-2F6BC0537336}" type="sibTrans" cxnId="{D002D957-6D4D-441C-B0E2-536D078D6345}">
      <dgm:prSet/>
      <dgm:spPr/>
      <dgm:t>
        <a:bodyPr/>
        <a:lstStyle/>
        <a:p>
          <a:endParaRPr lang="en-US"/>
        </a:p>
      </dgm:t>
    </dgm:pt>
    <dgm:pt modelId="{91AC37B7-2A69-4F90-B3AD-12BFEB85B6FA}">
      <dgm:prSet phldrT="[Text]" custT="1"/>
      <dgm:spPr/>
      <dgm:t>
        <a:bodyPr/>
        <a:lstStyle/>
        <a:p>
          <a:r>
            <a:rPr lang="en-US" sz="1300" dirty="0" smtClean="0"/>
            <a:t>Part 5:</a:t>
          </a:r>
        </a:p>
        <a:p>
          <a:r>
            <a:rPr lang="en-US" sz="1300" dirty="0" smtClean="0"/>
            <a:t>Other application in the conclusion linking to the analysis</a:t>
          </a:r>
          <a:endParaRPr lang="en-US" sz="1300" dirty="0"/>
        </a:p>
      </dgm:t>
    </dgm:pt>
    <dgm:pt modelId="{27F6A369-C23D-4846-A126-84B21384F245}" type="parTrans" cxnId="{A5499F3F-16CA-4ABC-923A-718220D467CA}">
      <dgm:prSet/>
      <dgm:spPr/>
      <dgm:t>
        <a:bodyPr/>
        <a:lstStyle/>
        <a:p>
          <a:endParaRPr lang="en-US"/>
        </a:p>
      </dgm:t>
    </dgm:pt>
    <dgm:pt modelId="{012C201D-DE12-4F2F-AEE2-F2B4C6525A8C}" type="sibTrans" cxnId="{A5499F3F-16CA-4ABC-923A-718220D467CA}">
      <dgm:prSet/>
      <dgm:spPr/>
      <dgm:t>
        <a:bodyPr/>
        <a:lstStyle/>
        <a:p>
          <a:endParaRPr lang="en-US"/>
        </a:p>
      </dgm:t>
    </dgm:pt>
    <dgm:pt modelId="{7E05506F-706B-4C1E-ADFC-C7313D0BE52D}" type="pres">
      <dgm:prSet presAssocID="{D6493457-C3CF-4D46-B3D5-D5CE32B61F7F}" presName="arrowDiagram" presStyleCnt="0">
        <dgm:presLayoutVars>
          <dgm:chMax val="5"/>
          <dgm:dir/>
          <dgm:resizeHandles val="exact"/>
        </dgm:presLayoutVars>
      </dgm:prSet>
      <dgm:spPr/>
    </dgm:pt>
    <dgm:pt modelId="{01BE6318-209F-4C95-94A5-4181CCDB31A7}" type="pres">
      <dgm:prSet presAssocID="{D6493457-C3CF-4D46-B3D5-D5CE32B61F7F}" presName="arrow" presStyleLbl="bgShp" presStyleIdx="0" presStyleCnt="1"/>
      <dgm:spPr/>
    </dgm:pt>
    <dgm:pt modelId="{981EFAFE-CB60-4D1D-8DB5-1B1291BCB857}" type="pres">
      <dgm:prSet presAssocID="{D6493457-C3CF-4D46-B3D5-D5CE32B61F7F}" presName="arrowDiagram5" presStyleCnt="0"/>
      <dgm:spPr/>
    </dgm:pt>
    <dgm:pt modelId="{B2E22BD0-ECD1-4488-9458-648CC5CE7620}" type="pres">
      <dgm:prSet presAssocID="{42DAC066-86B5-43E6-8027-11083274E2D5}" presName="bullet5a" presStyleLbl="node1" presStyleIdx="0" presStyleCnt="5"/>
      <dgm:spPr/>
    </dgm:pt>
    <dgm:pt modelId="{15F513F3-9C26-4E4F-8FBB-C6A6FDAF6556}" type="pres">
      <dgm:prSet presAssocID="{42DAC066-86B5-43E6-8027-11083274E2D5}" presName="textBox5a" presStyleLbl="revTx" presStyleIdx="0" presStyleCnt="5" custScaleX="119991" custLinFactX="-2569" custLinFactNeighborX="-100000" custLinFactNeighborY="-53377">
        <dgm:presLayoutVars>
          <dgm:bulletEnabled val="1"/>
        </dgm:presLayoutVars>
      </dgm:prSet>
      <dgm:spPr/>
    </dgm:pt>
    <dgm:pt modelId="{F65567AC-ADCB-433F-8BDC-CFBEE30281D3}" type="pres">
      <dgm:prSet presAssocID="{8687D4E9-C091-4473-9420-037828E0613A}" presName="bullet5b" presStyleLbl="node1" presStyleIdx="1" presStyleCnt="5"/>
      <dgm:spPr/>
    </dgm:pt>
    <dgm:pt modelId="{2861AE5A-37F1-41C9-BC6E-8C17FD4987C8}" type="pres">
      <dgm:prSet presAssocID="{8687D4E9-C091-4473-9420-037828E0613A}" presName="textBox5b" presStyleLbl="revTx" presStyleIdx="1" presStyleCnt="5" custScaleX="150728" custScaleY="51801" custLinFactNeighborX="2453" custLinFactNeighborY="-13216">
        <dgm:presLayoutVars>
          <dgm:bulletEnabled val="1"/>
        </dgm:presLayoutVars>
      </dgm:prSet>
      <dgm:spPr/>
      <dgm:t>
        <a:bodyPr/>
        <a:lstStyle/>
        <a:p>
          <a:endParaRPr lang="en-US"/>
        </a:p>
      </dgm:t>
    </dgm:pt>
    <dgm:pt modelId="{EE15096E-1158-4A2F-AC96-70D9D3FD7566}" type="pres">
      <dgm:prSet presAssocID="{C924CBA1-9676-4351-89D3-6477A9FA2E58}" presName="bullet5c" presStyleLbl="node1" presStyleIdx="2" presStyleCnt="5"/>
      <dgm:spPr/>
    </dgm:pt>
    <dgm:pt modelId="{2E4CE844-DD5F-4F9B-A75F-2B68B0EF8564}" type="pres">
      <dgm:prSet presAssocID="{C924CBA1-9676-4351-89D3-6477A9FA2E58}" presName="textBox5c" presStyleLbl="revTx" presStyleIdx="2" presStyleCnt="5" custScaleX="126118" custScaleY="35086" custLinFactNeighborX="-64872" custLinFactNeighborY="-75348">
        <dgm:presLayoutVars>
          <dgm:bulletEnabled val="1"/>
        </dgm:presLayoutVars>
      </dgm:prSet>
      <dgm:spPr/>
      <dgm:t>
        <a:bodyPr/>
        <a:lstStyle/>
        <a:p>
          <a:endParaRPr lang="en-US"/>
        </a:p>
      </dgm:t>
    </dgm:pt>
    <dgm:pt modelId="{C910F793-758C-47E6-ADC0-EA83038C12C5}" type="pres">
      <dgm:prSet presAssocID="{D01E3EBE-91BD-4BDA-A707-A760E1A5209F}" presName="bullet5d" presStyleLbl="node1" presStyleIdx="3" presStyleCnt="5"/>
      <dgm:spPr/>
    </dgm:pt>
    <dgm:pt modelId="{33D41FAF-9FDE-4B8F-995D-2A9ECF7FAF01}" type="pres">
      <dgm:prSet presAssocID="{D01E3EBE-91BD-4BDA-A707-A760E1A5209F}" presName="textBox5d" presStyleLbl="revTx" presStyleIdx="3" presStyleCnt="5" custScaleY="12976" custLinFactNeighborX="-19849" custLinFactNeighborY="-34275">
        <dgm:presLayoutVars>
          <dgm:bulletEnabled val="1"/>
        </dgm:presLayoutVars>
      </dgm:prSet>
      <dgm:spPr/>
      <dgm:t>
        <a:bodyPr/>
        <a:lstStyle/>
        <a:p>
          <a:endParaRPr lang="en-US"/>
        </a:p>
      </dgm:t>
    </dgm:pt>
    <dgm:pt modelId="{38FAD2FF-13CC-484F-A255-91C80E876165}" type="pres">
      <dgm:prSet presAssocID="{91AC37B7-2A69-4F90-B3AD-12BFEB85B6FA}" presName="bullet5e" presStyleLbl="node1" presStyleIdx="4" presStyleCnt="5"/>
      <dgm:spPr/>
    </dgm:pt>
    <dgm:pt modelId="{871A3A97-74CA-4555-AEB3-1608BD36459F}" type="pres">
      <dgm:prSet presAssocID="{91AC37B7-2A69-4F90-B3AD-12BFEB85B6FA}" presName="textBox5e" presStyleLbl="revTx" presStyleIdx="4" presStyleCnt="5" custScaleX="137459" custScaleY="43351" custLinFactNeighborX="23106" custLinFactNeighborY="-34742">
        <dgm:presLayoutVars>
          <dgm:bulletEnabled val="1"/>
        </dgm:presLayoutVars>
      </dgm:prSet>
      <dgm:spPr/>
      <dgm:t>
        <a:bodyPr/>
        <a:lstStyle/>
        <a:p>
          <a:endParaRPr lang="en-US"/>
        </a:p>
      </dgm:t>
    </dgm:pt>
  </dgm:ptLst>
  <dgm:cxnLst>
    <dgm:cxn modelId="{A5499F3F-16CA-4ABC-923A-718220D467CA}" srcId="{D6493457-C3CF-4D46-B3D5-D5CE32B61F7F}" destId="{91AC37B7-2A69-4F90-B3AD-12BFEB85B6FA}" srcOrd="4" destOrd="0" parTransId="{27F6A369-C23D-4846-A126-84B21384F245}" sibTransId="{012C201D-DE12-4F2F-AEE2-F2B4C6525A8C}"/>
    <dgm:cxn modelId="{F3B9E9B1-40EF-4254-ACBA-0CDE85D6D4EC}" type="presOf" srcId="{D01E3EBE-91BD-4BDA-A707-A760E1A5209F}" destId="{33D41FAF-9FDE-4B8F-995D-2A9ECF7FAF01}" srcOrd="0" destOrd="0" presId="urn:microsoft.com/office/officeart/2005/8/layout/arrow2"/>
    <dgm:cxn modelId="{FC28FCB5-C737-4346-B344-C374C24BB3D2}" type="presOf" srcId="{C924CBA1-9676-4351-89D3-6477A9FA2E58}" destId="{2E4CE844-DD5F-4F9B-A75F-2B68B0EF8564}" srcOrd="0" destOrd="0" presId="urn:microsoft.com/office/officeart/2005/8/layout/arrow2"/>
    <dgm:cxn modelId="{D002D957-6D4D-441C-B0E2-536D078D6345}" srcId="{D6493457-C3CF-4D46-B3D5-D5CE32B61F7F}" destId="{D01E3EBE-91BD-4BDA-A707-A760E1A5209F}" srcOrd="3" destOrd="0" parTransId="{A3B2349E-3E9F-4919-ACEF-A366B494B485}" sibTransId="{FA5318C3-E039-4B2A-8E2E-2F6BC0537336}"/>
    <dgm:cxn modelId="{F83DE8CA-7781-4106-AFCF-D4A2F16BE079}" srcId="{D6493457-C3CF-4D46-B3D5-D5CE32B61F7F}" destId="{42DAC066-86B5-43E6-8027-11083274E2D5}" srcOrd="0" destOrd="0" parTransId="{2A976F6B-14EE-4707-B68E-E4DA38F9BFBB}" sibTransId="{01954121-7508-461C-81F8-8B9D732873F1}"/>
    <dgm:cxn modelId="{D5D68B48-5709-45C2-940F-D4CA3076C34C}" type="presOf" srcId="{D6493457-C3CF-4D46-B3D5-D5CE32B61F7F}" destId="{7E05506F-706B-4C1E-ADFC-C7313D0BE52D}" srcOrd="0" destOrd="0" presId="urn:microsoft.com/office/officeart/2005/8/layout/arrow2"/>
    <dgm:cxn modelId="{0099D890-603F-4070-9BA9-81239FA1471A}" type="presOf" srcId="{8687D4E9-C091-4473-9420-037828E0613A}" destId="{2861AE5A-37F1-41C9-BC6E-8C17FD4987C8}" srcOrd="0" destOrd="0" presId="urn:microsoft.com/office/officeart/2005/8/layout/arrow2"/>
    <dgm:cxn modelId="{4EF2F90A-5829-425A-BDBA-D5C4B1C2B2C9}" type="presOf" srcId="{42DAC066-86B5-43E6-8027-11083274E2D5}" destId="{15F513F3-9C26-4E4F-8FBB-C6A6FDAF6556}" srcOrd="0" destOrd="0" presId="urn:microsoft.com/office/officeart/2005/8/layout/arrow2"/>
    <dgm:cxn modelId="{CEAC2A84-539E-4C42-9C4C-7F6DA684B438}" srcId="{D6493457-C3CF-4D46-B3D5-D5CE32B61F7F}" destId="{C924CBA1-9676-4351-89D3-6477A9FA2E58}" srcOrd="2" destOrd="0" parTransId="{F592FEC8-F7FA-49B5-80FD-E9E3A4D3AB2D}" sibTransId="{AA7EB4E6-7857-402F-BAC0-73E41D338ED4}"/>
    <dgm:cxn modelId="{FDFFFED5-EB87-4E03-BBC2-E3814AD8A566}" type="presOf" srcId="{91AC37B7-2A69-4F90-B3AD-12BFEB85B6FA}" destId="{871A3A97-74CA-4555-AEB3-1608BD36459F}" srcOrd="0" destOrd="0" presId="urn:microsoft.com/office/officeart/2005/8/layout/arrow2"/>
    <dgm:cxn modelId="{38136DC3-7642-4E0D-AE18-4901552F4C46}" srcId="{D6493457-C3CF-4D46-B3D5-D5CE32B61F7F}" destId="{8687D4E9-C091-4473-9420-037828E0613A}" srcOrd="1" destOrd="0" parTransId="{80F1807B-0908-4B95-90BA-B6F36CBCA13F}" sibTransId="{9EDD6AB7-2D81-4945-AFCE-E7FA98B0CEC3}"/>
    <dgm:cxn modelId="{1BD6F404-B512-488D-B0FC-F4B0E3CAB474}" type="presParOf" srcId="{7E05506F-706B-4C1E-ADFC-C7313D0BE52D}" destId="{01BE6318-209F-4C95-94A5-4181CCDB31A7}" srcOrd="0" destOrd="0" presId="urn:microsoft.com/office/officeart/2005/8/layout/arrow2"/>
    <dgm:cxn modelId="{F7A13087-29F2-4CC3-A8DC-88F0D4651BBA}" type="presParOf" srcId="{7E05506F-706B-4C1E-ADFC-C7313D0BE52D}" destId="{981EFAFE-CB60-4D1D-8DB5-1B1291BCB857}" srcOrd="1" destOrd="0" presId="urn:microsoft.com/office/officeart/2005/8/layout/arrow2"/>
    <dgm:cxn modelId="{14D0DB86-4C29-469A-BE28-2251021D6F53}" type="presParOf" srcId="{981EFAFE-CB60-4D1D-8DB5-1B1291BCB857}" destId="{B2E22BD0-ECD1-4488-9458-648CC5CE7620}" srcOrd="0" destOrd="0" presId="urn:microsoft.com/office/officeart/2005/8/layout/arrow2"/>
    <dgm:cxn modelId="{144C4DC5-FA7E-457A-9191-292B5D740174}" type="presParOf" srcId="{981EFAFE-CB60-4D1D-8DB5-1B1291BCB857}" destId="{15F513F3-9C26-4E4F-8FBB-C6A6FDAF6556}" srcOrd="1" destOrd="0" presId="urn:microsoft.com/office/officeart/2005/8/layout/arrow2"/>
    <dgm:cxn modelId="{BFC685EE-AFA1-4A31-9FA8-A0BD26A32479}" type="presParOf" srcId="{981EFAFE-CB60-4D1D-8DB5-1B1291BCB857}" destId="{F65567AC-ADCB-433F-8BDC-CFBEE30281D3}" srcOrd="2" destOrd="0" presId="urn:microsoft.com/office/officeart/2005/8/layout/arrow2"/>
    <dgm:cxn modelId="{F48A85E7-E267-4E8F-81CE-5244C36D6809}" type="presParOf" srcId="{981EFAFE-CB60-4D1D-8DB5-1B1291BCB857}" destId="{2861AE5A-37F1-41C9-BC6E-8C17FD4987C8}" srcOrd="3" destOrd="0" presId="urn:microsoft.com/office/officeart/2005/8/layout/arrow2"/>
    <dgm:cxn modelId="{9827D467-9590-4D1F-8E64-37F25CFBF197}" type="presParOf" srcId="{981EFAFE-CB60-4D1D-8DB5-1B1291BCB857}" destId="{EE15096E-1158-4A2F-AC96-70D9D3FD7566}" srcOrd="4" destOrd="0" presId="urn:microsoft.com/office/officeart/2005/8/layout/arrow2"/>
    <dgm:cxn modelId="{89F2B3B2-5D04-43AC-A928-58A4C3D136F8}" type="presParOf" srcId="{981EFAFE-CB60-4D1D-8DB5-1B1291BCB857}" destId="{2E4CE844-DD5F-4F9B-A75F-2B68B0EF8564}" srcOrd="5" destOrd="0" presId="urn:microsoft.com/office/officeart/2005/8/layout/arrow2"/>
    <dgm:cxn modelId="{95C30EBD-F54C-432A-8E1B-619FD434F16F}" type="presParOf" srcId="{981EFAFE-CB60-4D1D-8DB5-1B1291BCB857}" destId="{C910F793-758C-47E6-ADC0-EA83038C12C5}" srcOrd="6" destOrd="0" presId="urn:microsoft.com/office/officeart/2005/8/layout/arrow2"/>
    <dgm:cxn modelId="{E21D039B-F695-44BB-B361-509DA4D4DA0F}" type="presParOf" srcId="{981EFAFE-CB60-4D1D-8DB5-1B1291BCB857}" destId="{33D41FAF-9FDE-4B8F-995D-2A9ECF7FAF01}" srcOrd="7" destOrd="0" presId="urn:microsoft.com/office/officeart/2005/8/layout/arrow2"/>
    <dgm:cxn modelId="{1539BCCB-0D14-4628-A113-03CB6370D8D3}" type="presParOf" srcId="{981EFAFE-CB60-4D1D-8DB5-1B1291BCB857}" destId="{38FAD2FF-13CC-484F-A255-91C80E876165}" srcOrd="8" destOrd="0" presId="urn:microsoft.com/office/officeart/2005/8/layout/arrow2"/>
    <dgm:cxn modelId="{2C61F3CF-554E-4F22-95DA-DE05FC52EE5F}" type="presParOf" srcId="{981EFAFE-CB60-4D1D-8DB5-1B1291BCB857}" destId="{871A3A97-74CA-4555-AEB3-1608BD36459F}" srcOrd="9" destOrd="0" presId="urn:microsoft.com/office/officeart/2005/8/layout/arrow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21445C0-A599-4423-95CC-217960A1ACD2}"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F5C801FD-3251-4D4E-9ED1-877E92EB80AD}">
      <dgm:prSet phldrT="[Text]"/>
      <dgm:spPr/>
      <dgm:t>
        <a:bodyPr/>
        <a:lstStyle/>
        <a:p>
          <a:pPr rtl="0"/>
          <a:r>
            <a:rPr lang="en-US" dirty="0" smtClean="0">
              <a:solidFill>
                <a:srgbClr val="0000CC"/>
              </a:solidFill>
            </a:rPr>
            <a:t>1st-order knowledge questions</a:t>
          </a:r>
          <a:endParaRPr lang="en-US" dirty="0">
            <a:solidFill>
              <a:srgbClr val="0000CC"/>
            </a:solidFill>
          </a:endParaRPr>
        </a:p>
      </dgm:t>
    </dgm:pt>
    <dgm:pt modelId="{C6F0B267-539C-428B-ADF6-A1C46D5BE1A1}" type="parTrans" cxnId="{0E43FAF9-3F43-4D7F-AFF2-1D905AE6F4AC}">
      <dgm:prSet/>
      <dgm:spPr/>
      <dgm:t>
        <a:bodyPr/>
        <a:lstStyle/>
        <a:p>
          <a:endParaRPr lang="en-US"/>
        </a:p>
      </dgm:t>
    </dgm:pt>
    <dgm:pt modelId="{700FAB33-5544-4837-B12F-59E5C1A02BAE}" type="sibTrans" cxnId="{0E43FAF9-3F43-4D7F-AFF2-1D905AE6F4AC}">
      <dgm:prSet/>
      <dgm:spPr/>
      <dgm:t>
        <a:bodyPr/>
        <a:lstStyle/>
        <a:p>
          <a:endParaRPr lang="en-US"/>
        </a:p>
      </dgm:t>
    </dgm:pt>
    <dgm:pt modelId="{20A5F566-8229-4FAC-B1D3-A65E421696D0}">
      <dgm:prSet phldrT="[Text]" custT="1"/>
      <dgm:spPr/>
      <dgm:t>
        <a:bodyPr/>
        <a:lstStyle/>
        <a:p>
          <a:pPr rtl="0">
            <a:spcAft>
              <a:spcPts val="1200"/>
            </a:spcAft>
          </a:pPr>
          <a:r>
            <a:rPr lang="en-US" sz="2000" dirty="0" smtClean="0">
              <a:solidFill>
                <a:srgbClr val="002060"/>
              </a:solidFill>
            </a:rPr>
            <a:t>Why do the different stakeholders in the RLS interpret the situation on the Amazon fires differently? </a:t>
          </a:r>
          <a:endParaRPr lang="en-US" sz="2000" dirty="0">
            <a:solidFill>
              <a:srgbClr val="002060"/>
            </a:solidFill>
          </a:endParaRPr>
        </a:p>
      </dgm:t>
    </dgm:pt>
    <dgm:pt modelId="{9A498AE8-EDF8-4E6D-BDE8-4F5A37892243}" type="parTrans" cxnId="{CCAC4FCC-9BC9-4379-80DB-81C9EB4D81F8}">
      <dgm:prSet/>
      <dgm:spPr/>
      <dgm:t>
        <a:bodyPr/>
        <a:lstStyle/>
        <a:p>
          <a:endParaRPr lang="en-US"/>
        </a:p>
      </dgm:t>
    </dgm:pt>
    <dgm:pt modelId="{E3FD90E6-6FF3-4403-9476-E0A14312E9D4}" type="sibTrans" cxnId="{CCAC4FCC-9BC9-4379-80DB-81C9EB4D81F8}">
      <dgm:prSet/>
      <dgm:spPr/>
      <dgm:t>
        <a:bodyPr/>
        <a:lstStyle/>
        <a:p>
          <a:endParaRPr lang="en-US"/>
        </a:p>
      </dgm:t>
    </dgm:pt>
    <dgm:pt modelId="{FFB38BBA-EF12-4175-AB3C-AA99CF0D3933}">
      <dgm:prSet phldrT="[Text]"/>
      <dgm:spPr/>
      <dgm:t>
        <a:bodyPr/>
        <a:lstStyle/>
        <a:p>
          <a:pPr rtl="0"/>
          <a:r>
            <a:rPr lang="en-US" dirty="0" smtClean="0">
              <a:solidFill>
                <a:srgbClr val="0000CC"/>
              </a:solidFill>
            </a:rPr>
            <a:t>Possible inferences</a:t>
          </a:r>
          <a:endParaRPr lang="en-US" dirty="0">
            <a:solidFill>
              <a:srgbClr val="0000CC"/>
            </a:solidFill>
          </a:endParaRPr>
        </a:p>
      </dgm:t>
    </dgm:pt>
    <dgm:pt modelId="{B3CAA408-0EDE-43BD-84BE-3A1AABF72E6B}" type="parTrans" cxnId="{D0A26D84-264C-432C-80E2-898AC802FA2B}">
      <dgm:prSet/>
      <dgm:spPr/>
      <dgm:t>
        <a:bodyPr/>
        <a:lstStyle/>
        <a:p>
          <a:endParaRPr lang="en-US"/>
        </a:p>
      </dgm:t>
    </dgm:pt>
    <dgm:pt modelId="{37368D06-2E3A-41D0-9F74-7DB9A6A2D4AA}" type="sibTrans" cxnId="{D0A26D84-264C-432C-80E2-898AC802FA2B}">
      <dgm:prSet/>
      <dgm:spPr/>
      <dgm:t>
        <a:bodyPr/>
        <a:lstStyle/>
        <a:p>
          <a:endParaRPr lang="en-US"/>
        </a:p>
      </dgm:t>
    </dgm:pt>
    <dgm:pt modelId="{9FA6B322-A0DD-4147-95B7-595D291AC5F5}">
      <dgm:prSet phldrT="[Text]" custT="1"/>
      <dgm:spPr/>
      <dgm:t>
        <a:bodyPr/>
        <a:lstStyle/>
        <a:p>
          <a:pPr rtl="0">
            <a:spcAft>
              <a:spcPts val="1200"/>
            </a:spcAft>
          </a:pPr>
          <a:r>
            <a:rPr lang="en-US" sz="2000" dirty="0" smtClean="0">
              <a:solidFill>
                <a:srgbClr val="002060"/>
              </a:solidFill>
            </a:rPr>
            <a:t>Different groups of people have a variety of moral principles and values. This means that they will have their own perceptions of what is right or wrong and thus, form their own judgements to explain their principles.</a:t>
          </a:r>
          <a:endParaRPr lang="en-US" sz="2000" dirty="0">
            <a:solidFill>
              <a:srgbClr val="002060"/>
            </a:solidFill>
          </a:endParaRPr>
        </a:p>
      </dgm:t>
    </dgm:pt>
    <dgm:pt modelId="{5D185A26-3B12-4BDB-B858-E8029F805B6B}" type="parTrans" cxnId="{77AC3076-DDFD-422B-A274-200598D07249}">
      <dgm:prSet/>
      <dgm:spPr/>
      <dgm:t>
        <a:bodyPr/>
        <a:lstStyle/>
        <a:p>
          <a:endParaRPr lang="en-US"/>
        </a:p>
      </dgm:t>
    </dgm:pt>
    <dgm:pt modelId="{D1C4D8B1-CD2E-48C8-8C8C-5B6198096B6A}" type="sibTrans" cxnId="{77AC3076-DDFD-422B-A274-200598D07249}">
      <dgm:prSet/>
      <dgm:spPr/>
      <dgm:t>
        <a:bodyPr/>
        <a:lstStyle/>
        <a:p>
          <a:endParaRPr lang="en-US"/>
        </a:p>
      </dgm:t>
    </dgm:pt>
    <dgm:pt modelId="{EEEDE3D8-70CA-4DA5-A542-E751369C0424}">
      <dgm:prSet custT="1"/>
      <dgm:spPr/>
      <dgm:t>
        <a:bodyPr/>
        <a:lstStyle/>
        <a:p>
          <a:pPr rtl="0">
            <a:spcAft>
              <a:spcPts val="1200"/>
            </a:spcAft>
          </a:pPr>
          <a:r>
            <a:rPr lang="en-US" sz="2000" dirty="0" smtClean="0">
              <a:solidFill>
                <a:srgbClr val="002060"/>
              </a:solidFill>
            </a:rPr>
            <a:t>Is one of the stakeholders in the RLS given more importance than the other?</a:t>
          </a:r>
          <a:endParaRPr lang="en-US" sz="2000" dirty="0">
            <a:solidFill>
              <a:srgbClr val="002060"/>
            </a:solidFill>
          </a:endParaRPr>
        </a:p>
      </dgm:t>
    </dgm:pt>
    <dgm:pt modelId="{F3A2935D-6DE5-446F-A4F8-3B7B01D20460}" type="parTrans" cxnId="{6E9B9E00-76CF-42AB-B152-7D57E85A82F1}">
      <dgm:prSet/>
      <dgm:spPr/>
      <dgm:t>
        <a:bodyPr/>
        <a:lstStyle/>
        <a:p>
          <a:endParaRPr lang="en-US"/>
        </a:p>
      </dgm:t>
    </dgm:pt>
    <dgm:pt modelId="{92610F18-AB22-4442-BBEF-5C659D09F1DF}" type="sibTrans" cxnId="{6E9B9E00-76CF-42AB-B152-7D57E85A82F1}">
      <dgm:prSet/>
      <dgm:spPr/>
      <dgm:t>
        <a:bodyPr/>
        <a:lstStyle/>
        <a:p>
          <a:endParaRPr lang="en-US"/>
        </a:p>
      </dgm:t>
    </dgm:pt>
    <dgm:pt modelId="{DD6627F9-E82A-4531-B89C-4202B85D94C6}">
      <dgm:prSet custT="1"/>
      <dgm:spPr/>
      <dgm:t>
        <a:bodyPr/>
        <a:lstStyle/>
        <a:p>
          <a:pPr rtl="0">
            <a:spcAft>
              <a:spcPts val="1200"/>
            </a:spcAft>
          </a:pPr>
          <a:r>
            <a:rPr lang="en-US" sz="2000" dirty="0" smtClean="0">
              <a:solidFill>
                <a:srgbClr val="002060"/>
              </a:solidFill>
            </a:rPr>
            <a:t>All are given equal importance, but the indigenous tribes are given the highest priority because the Amazon forest is their home.</a:t>
          </a:r>
          <a:endParaRPr lang="en-US" sz="2000" dirty="0">
            <a:solidFill>
              <a:srgbClr val="002060"/>
            </a:solidFill>
          </a:endParaRPr>
        </a:p>
      </dgm:t>
    </dgm:pt>
    <dgm:pt modelId="{A8B2BAB2-F5A8-4B32-B9C8-BB430195D256}" type="parTrans" cxnId="{B0993463-6193-4E5A-B00B-10DB47DDF2BA}">
      <dgm:prSet/>
      <dgm:spPr/>
      <dgm:t>
        <a:bodyPr/>
        <a:lstStyle/>
        <a:p>
          <a:endParaRPr lang="en-US"/>
        </a:p>
      </dgm:t>
    </dgm:pt>
    <dgm:pt modelId="{6F2CFA74-8CCC-49D1-B320-226436E1BD0F}" type="sibTrans" cxnId="{B0993463-6193-4E5A-B00B-10DB47DDF2BA}">
      <dgm:prSet/>
      <dgm:spPr/>
      <dgm:t>
        <a:bodyPr/>
        <a:lstStyle/>
        <a:p>
          <a:endParaRPr lang="en-US"/>
        </a:p>
      </dgm:t>
    </dgm:pt>
    <dgm:pt modelId="{60EB40D3-EBBC-45A9-A137-C2DAABFB1346}" type="pres">
      <dgm:prSet presAssocID="{721445C0-A599-4423-95CC-217960A1ACD2}" presName="Name0" presStyleCnt="0">
        <dgm:presLayoutVars>
          <dgm:dir/>
          <dgm:animLvl val="lvl"/>
          <dgm:resizeHandles val="exact"/>
        </dgm:presLayoutVars>
      </dgm:prSet>
      <dgm:spPr/>
    </dgm:pt>
    <dgm:pt modelId="{A6DC8BD8-083C-44A7-BD37-667B60E2A475}" type="pres">
      <dgm:prSet presAssocID="{F5C801FD-3251-4D4E-9ED1-877E92EB80AD}" presName="composite" presStyleCnt="0"/>
      <dgm:spPr/>
    </dgm:pt>
    <dgm:pt modelId="{5A39964B-3C97-4240-B1FA-7B6718F21C1F}" type="pres">
      <dgm:prSet presAssocID="{F5C801FD-3251-4D4E-9ED1-877E92EB80AD}" presName="parTx" presStyleLbl="alignNode1" presStyleIdx="0" presStyleCnt="2">
        <dgm:presLayoutVars>
          <dgm:chMax val="0"/>
          <dgm:chPref val="0"/>
          <dgm:bulletEnabled val="1"/>
        </dgm:presLayoutVars>
      </dgm:prSet>
      <dgm:spPr/>
      <dgm:t>
        <a:bodyPr/>
        <a:lstStyle/>
        <a:p>
          <a:endParaRPr lang="en-US"/>
        </a:p>
      </dgm:t>
    </dgm:pt>
    <dgm:pt modelId="{1649F51E-05F4-4EF2-9A0C-8A37C1F13715}" type="pres">
      <dgm:prSet presAssocID="{F5C801FD-3251-4D4E-9ED1-877E92EB80AD}" presName="desTx" presStyleLbl="alignAccFollowNode1" presStyleIdx="0" presStyleCnt="2">
        <dgm:presLayoutVars>
          <dgm:bulletEnabled val="1"/>
        </dgm:presLayoutVars>
      </dgm:prSet>
      <dgm:spPr/>
      <dgm:t>
        <a:bodyPr/>
        <a:lstStyle/>
        <a:p>
          <a:endParaRPr lang="en-US"/>
        </a:p>
      </dgm:t>
    </dgm:pt>
    <dgm:pt modelId="{0655FBE6-2426-4965-8DF4-1E5F4392EE0C}" type="pres">
      <dgm:prSet presAssocID="{700FAB33-5544-4837-B12F-59E5C1A02BAE}" presName="space" presStyleCnt="0"/>
      <dgm:spPr/>
    </dgm:pt>
    <dgm:pt modelId="{34A3863A-D251-4422-9D99-302B3A8D8913}" type="pres">
      <dgm:prSet presAssocID="{FFB38BBA-EF12-4175-AB3C-AA99CF0D3933}" presName="composite" presStyleCnt="0"/>
      <dgm:spPr/>
    </dgm:pt>
    <dgm:pt modelId="{72BCF5ED-775F-4626-92F2-3F83D9166F3C}" type="pres">
      <dgm:prSet presAssocID="{FFB38BBA-EF12-4175-AB3C-AA99CF0D3933}" presName="parTx" presStyleLbl="alignNode1" presStyleIdx="1" presStyleCnt="2" custLinFactNeighborY="1498">
        <dgm:presLayoutVars>
          <dgm:chMax val="0"/>
          <dgm:chPref val="0"/>
          <dgm:bulletEnabled val="1"/>
        </dgm:presLayoutVars>
      </dgm:prSet>
      <dgm:spPr/>
      <dgm:t>
        <a:bodyPr/>
        <a:lstStyle/>
        <a:p>
          <a:endParaRPr lang="en-US"/>
        </a:p>
      </dgm:t>
    </dgm:pt>
    <dgm:pt modelId="{29EB371C-6110-411A-BD0D-01D9443B1DE3}" type="pres">
      <dgm:prSet presAssocID="{FFB38BBA-EF12-4175-AB3C-AA99CF0D3933}" presName="desTx" presStyleLbl="alignAccFollowNode1" presStyleIdx="1" presStyleCnt="2">
        <dgm:presLayoutVars>
          <dgm:bulletEnabled val="1"/>
        </dgm:presLayoutVars>
      </dgm:prSet>
      <dgm:spPr/>
      <dgm:t>
        <a:bodyPr/>
        <a:lstStyle/>
        <a:p>
          <a:endParaRPr lang="en-US"/>
        </a:p>
      </dgm:t>
    </dgm:pt>
  </dgm:ptLst>
  <dgm:cxnLst>
    <dgm:cxn modelId="{CCAC4FCC-9BC9-4379-80DB-81C9EB4D81F8}" srcId="{F5C801FD-3251-4D4E-9ED1-877E92EB80AD}" destId="{20A5F566-8229-4FAC-B1D3-A65E421696D0}" srcOrd="0" destOrd="0" parTransId="{9A498AE8-EDF8-4E6D-BDE8-4F5A37892243}" sibTransId="{E3FD90E6-6FF3-4403-9476-E0A14312E9D4}"/>
    <dgm:cxn modelId="{6C411C43-6892-4CA7-8FCA-F5251F473D52}" type="presOf" srcId="{9FA6B322-A0DD-4147-95B7-595D291AC5F5}" destId="{29EB371C-6110-411A-BD0D-01D9443B1DE3}" srcOrd="0" destOrd="0" presId="urn:microsoft.com/office/officeart/2005/8/layout/hList1"/>
    <dgm:cxn modelId="{77AC3076-DDFD-422B-A274-200598D07249}" srcId="{FFB38BBA-EF12-4175-AB3C-AA99CF0D3933}" destId="{9FA6B322-A0DD-4147-95B7-595D291AC5F5}" srcOrd="0" destOrd="0" parTransId="{5D185A26-3B12-4BDB-B858-E8029F805B6B}" sibTransId="{D1C4D8B1-CD2E-48C8-8C8C-5B6198096B6A}"/>
    <dgm:cxn modelId="{B0993463-6193-4E5A-B00B-10DB47DDF2BA}" srcId="{FFB38BBA-EF12-4175-AB3C-AA99CF0D3933}" destId="{DD6627F9-E82A-4531-B89C-4202B85D94C6}" srcOrd="1" destOrd="0" parTransId="{A8B2BAB2-F5A8-4B32-B9C8-BB430195D256}" sibTransId="{6F2CFA74-8CCC-49D1-B320-226436E1BD0F}"/>
    <dgm:cxn modelId="{D0A26D84-264C-432C-80E2-898AC802FA2B}" srcId="{721445C0-A599-4423-95CC-217960A1ACD2}" destId="{FFB38BBA-EF12-4175-AB3C-AA99CF0D3933}" srcOrd="1" destOrd="0" parTransId="{B3CAA408-0EDE-43BD-84BE-3A1AABF72E6B}" sibTransId="{37368D06-2E3A-41D0-9F74-7DB9A6A2D4AA}"/>
    <dgm:cxn modelId="{EFB4F89D-4EB1-43AF-AAF6-46DA28CD6E05}" type="presOf" srcId="{FFB38BBA-EF12-4175-AB3C-AA99CF0D3933}" destId="{72BCF5ED-775F-4626-92F2-3F83D9166F3C}" srcOrd="0" destOrd="0" presId="urn:microsoft.com/office/officeart/2005/8/layout/hList1"/>
    <dgm:cxn modelId="{D8BB97BA-80DD-4BD9-8A40-3347383D8ED7}" type="presOf" srcId="{F5C801FD-3251-4D4E-9ED1-877E92EB80AD}" destId="{5A39964B-3C97-4240-B1FA-7B6718F21C1F}" srcOrd="0" destOrd="0" presId="urn:microsoft.com/office/officeart/2005/8/layout/hList1"/>
    <dgm:cxn modelId="{A3D7C834-1885-44F2-80FD-515932F88B69}" type="presOf" srcId="{20A5F566-8229-4FAC-B1D3-A65E421696D0}" destId="{1649F51E-05F4-4EF2-9A0C-8A37C1F13715}" srcOrd="0" destOrd="0" presId="urn:microsoft.com/office/officeart/2005/8/layout/hList1"/>
    <dgm:cxn modelId="{6E9B9E00-76CF-42AB-B152-7D57E85A82F1}" srcId="{F5C801FD-3251-4D4E-9ED1-877E92EB80AD}" destId="{EEEDE3D8-70CA-4DA5-A542-E751369C0424}" srcOrd="1" destOrd="0" parTransId="{F3A2935D-6DE5-446F-A4F8-3B7B01D20460}" sibTransId="{92610F18-AB22-4442-BBEF-5C659D09F1DF}"/>
    <dgm:cxn modelId="{F6F30E68-5249-4CCD-B345-104DDE50AE77}" type="presOf" srcId="{DD6627F9-E82A-4531-B89C-4202B85D94C6}" destId="{29EB371C-6110-411A-BD0D-01D9443B1DE3}" srcOrd="0" destOrd="1" presId="urn:microsoft.com/office/officeart/2005/8/layout/hList1"/>
    <dgm:cxn modelId="{149874F4-B25C-4419-9970-1269B993EF56}" type="presOf" srcId="{721445C0-A599-4423-95CC-217960A1ACD2}" destId="{60EB40D3-EBBC-45A9-A137-C2DAABFB1346}" srcOrd="0" destOrd="0" presId="urn:microsoft.com/office/officeart/2005/8/layout/hList1"/>
    <dgm:cxn modelId="{0E43FAF9-3F43-4D7F-AFF2-1D905AE6F4AC}" srcId="{721445C0-A599-4423-95CC-217960A1ACD2}" destId="{F5C801FD-3251-4D4E-9ED1-877E92EB80AD}" srcOrd="0" destOrd="0" parTransId="{C6F0B267-539C-428B-ADF6-A1C46D5BE1A1}" sibTransId="{700FAB33-5544-4837-B12F-59E5C1A02BAE}"/>
    <dgm:cxn modelId="{545CF741-6B75-4194-BF62-8D9645BDF4A3}" type="presOf" srcId="{EEEDE3D8-70CA-4DA5-A542-E751369C0424}" destId="{1649F51E-05F4-4EF2-9A0C-8A37C1F13715}" srcOrd="0" destOrd="1" presId="urn:microsoft.com/office/officeart/2005/8/layout/hList1"/>
    <dgm:cxn modelId="{4E457102-8B8F-4218-BACA-B48678938693}" type="presParOf" srcId="{60EB40D3-EBBC-45A9-A137-C2DAABFB1346}" destId="{A6DC8BD8-083C-44A7-BD37-667B60E2A475}" srcOrd="0" destOrd="0" presId="urn:microsoft.com/office/officeart/2005/8/layout/hList1"/>
    <dgm:cxn modelId="{85592B68-7C1B-40B4-BDED-A9DAC697AB5B}" type="presParOf" srcId="{A6DC8BD8-083C-44A7-BD37-667B60E2A475}" destId="{5A39964B-3C97-4240-B1FA-7B6718F21C1F}" srcOrd="0" destOrd="0" presId="urn:microsoft.com/office/officeart/2005/8/layout/hList1"/>
    <dgm:cxn modelId="{7EDC39F8-6588-4FD2-B35E-4833061789FC}" type="presParOf" srcId="{A6DC8BD8-083C-44A7-BD37-667B60E2A475}" destId="{1649F51E-05F4-4EF2-9A0C-8A37C1F13715}" srcOrd="1" destOrd="0" presId="urn:microsoft.com/office/officeart/2005/8/layout/hList1"/>
    <dgm:cxn modelId="{776272DC-9070-4F65-AEB1-F89E5B75910C}" type="presParOf" srcId="{60EB40D3-EBBC-45A9-A137-C2DAABFB1346}" destId="{0655FBE6-2426-4965-8DF4-1E5F4392EE0C}" srcOrd="1" destOrd="0" presId="urn:microsoft.com/office/officeart/2005/8/layout/hList1"/>
    <dgm:cxn modelId="{184D0F0E-B956-4C88-B548-80D5F8624E31}" type="presParOf" srcId="{60EB40D3-EBBC-45A9-A137-C2DAABFB1346}" destId="{34A3863A-D251-4422-9D99-302B3A8D8913}" srcOrd="2" destOrd="0" presId="urn:microsoft.com/office/officeart/2005/8/layout/hList1"/>
    <dgm:cxn modelId="{F92229CF-1CB6-4848-9C60-F7B2D86F4232}" type="presParOf" srcId="{34A3863A-D251-4422-9D99-302B3A8D8913}" destId="{72BCF5ED-775F-4626-92F2-3F83D9166F3C}" srcOrd="0" destOrd="0" presId="urn:microsoft.com/office/officeart/2005/8/layout/hList1"/>
    <dgm:cxn modelId="{14FF6C45-5A30-4C84-9AA7-235B8DD66FE4}" type="presParOf" srcId="{34A3863A-D251-4422-9D99-302B3A8D8913}" destId="{29EB371C-6110-411A-BD0D-01D9443B1DE3}"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BE6318-209F-4C95-94A5-4181CCDB31A7}">
      <dsp:nvSpPr>
        <dsp:cNvPr id="0" name=""/>
        <dsp:cNvSpPr/>
      </dsp:nvSpPr>
      <dsp:spPr>
        <a:xfrm>
          <a:off x="396709" y="0"/>
          <a:ext cx="6910051" cy="4318782"/>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E22BD0-ECD1-4488-9458-648CC5CE7620}">
      <dsp:nvSpPr>
        <dsp:cNvPr id="0" name=""/>
        <dsp:cNvSpPr/>
      </dsp:nvSpPr>
      <dsp:spPr>
        <a:xfrm>
          <a:off x="1077349" y="3211446"/>
          <a:ext cx="158931" cy="15893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5F513F3-9C26-4E4F-8FBB-C6A6FDAF6556}">
      <dsp:nvSpPr>
        <dsp:cNvPr id="0" name=""/>
        <dsp:cNvSpPr/>
      </dsp:nvSpPr>
      <dsp:spPr>
        <a:xfrm>
          <a:off x="137862" y="2742265"/>
          <a:ext cx="1086178" cy="10278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14" tIns="0" rIns="0" bIns="0" numCol="1" spcCol="1270" anchor="t" anchorCtr="0">
          <a:noAutofit/>
        </a:bodyPr>
        <a:lstStyle/>
        <a:p>
          <a:pPr lvl="0" algn="l" defTabSz="577850">
            <a:lnSpc>
              <a:spcPct val="90000"/>
            </a:lnSpc>
            <a:spcBef>
              <a:spcPct val="0"/>
            </a:spcBef>
            <a:spcAft>
              <a:spcPct val="35000"/>
            </a:spcAft>
          </a:pPr>
          <a:r>
            <a:rPr lang="en-US" sz="1300" kern="1200" dirty="0" smtClean="0"/>
            <a:t>Part 1:</a:t>
          </a:r>
        </a:p>
        <a:p>
          <a:pPr lvl="0" algn="l" defTabSz="577850">
            <a:lnSpc>
              <a:spcPct val="90000"/>
            </a:lnSpc>
            <a:spcBef>
              <a:spcPct val="0"/>
            </a:spcBef>
            <a:spcAft>
              <a:spcPct val="35000"/>
            </a:spcAft>
          </a:pPr>
          <a:r>
            <a:rPr lang="en-US" sz="1300" kern="1200" dirty="0" smtClean="0"/>
            <a:t>Real-Life Situation (RLS)</a:t>
          </a:r>
          <a:endParaRPr lang="en-US" sz="1300" kern="1200" dirty="0"/>
        </a:p>
      </dsp:txBody>
      <dsp:txXfrm>
        <a:off x="137862" y="2742265"/>
        <a:ext cx="1086178" cy="1027870"/>
      </dsp:txXfrm>
    </dsp:sp>
    <dsp:sp modelId="{F65567AC-ADCB-433F-8BDC-CFBEE30281D3}">
      <dsp:nvSpPr>
        <dsp:cNvPr id="0" name=""/>
        <dsp:cNvSpPr/>
      </dsp:nvSpPr>
      <dsp:spPr>
        <a:xfrm>
          <a:off x="1937651" y="2384831"/>
          <a:ext cx="248761" cy="24876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61AE5A-37F1-41C9-BC6E-8C17FD4987C8}">
      <dsp:nvSpPr>
        <dsp:cNvPr id="0" name=""/>
        <dsp:cNvSpPr/>
      </dsp:nvSpPr>
      <dsp:spPr>
        <a:xfrm>
          <a:off x="1799227" y="2706156"/>
          <a:ext cx="1728953" cy="937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814" tIns="0" rIns="0" bIns="0" numCol="1" spcCol="1270" anchor="t" anchorCtr="0">
          <a:noAutofit/>
        </a:bodyPr>
        <a:lstStyle/>
        <a:p>
          <a:pPr lvl="0" algn="l" defTabSz="577850">
            <a:lnSpc>
              <a:spcPct val="90000"/>
            </a:lnSpc>
            <a:spcBef>
              <a:spcPct val="0"/>
            </a:spcBef>
            <a:spcAft>
              <a:spcPct val="35000"/>
            </a:spcAft>
          </a:pPr>
          <a:r>
            <a:rPr lang="en-US" sz="1300" kern="1200" dirty="0" smtClean="0"/>
            <a:t>Part 2: </a:t>
          </a:r>
        </a:p>
        <a:p>
          <a:pPr lvl="0" algn="l" defTabSz="577850">
            <a:lnSpc>
              <a:spcPct val="90000"/>
            </a:lnSpc>
            <a:spcBef>
              <a:spcPct val="0"/>
            </a:spcBef>
            <a:spcAft>
              <a:spcPct val="35000"/>
            </a:spcAft>
          </a:pPr>
          <a:r>
            <a:rPr lang="en-US" sz="1300" kern="1200" dirty="0" smtClean="0"/>
            <a:t>1</a:t>
          </a:r>
          <a:r>
            <a:rPr lang="en-US" sz="1300" kern="1200" baseline="30000" dirty="0" smtClean="0"/>
            <a:t>st</a:t>
          </a:r>
          <a:r>
            <a:rPr lang="en-US" sz="1300" kern="1200" dirty="0" smtClean="0"/>
            <a:t> order subject-specific Knowledge Questions (KQ)</a:t>
          </a:r>
          <a:endParaRPr lang="en-US" sz="1300" kern="1200" dirty="0"/>
        </a:p>
      </dsp:txBody>
      <dsp:txXfrm>
        <a:off x="1799227" y="2706156"/>
        <a:ext cx="1728953" cy="937375"/>
      </dsp:txXfrm>
    </dsp:sp>
    <dsp:sp modelId="{EE15096E-1158-4A2F-AC96-70D9D3FD7566}">
      <dsp:nvSpPr>
        <dsp:cNvPr id="0" name=""/>
        <dsp:cNvSpPr/>
      </dsp:nvSpPr>
      <dsp:spPr>
        <a:xfrm>
          <a:off x="3043259" y="1725785"/>
          <a:ext cx="331682" cy="33168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E4CE844-DD5F-4F9B-A75F-2B68B0EF8564}">
      <dsp:nvSpPr>
        <dsp:cNvPr id="0" name=""/>
        <dsp:cNvSpPr/>
      </dsp:nvSpPr>
      <dsp:spPr>
        <a:xfrm>
          <a:off x="2169781" y="850595"/>
          <a:ext cx="1681959" cy="8515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752" tIns="0" rIns="0" bIns="0" numCol="1" spcCol="1270" anchor="t" anchorCtr="0">
          <a:noAutofit/>
        </a:bodyPr>
        <a:lstStyle/>
        <a:p>
          <a:pPr lvl="0" algn="l" defTabSz="577850">
            <a:lnSpc>
              <a:spcPct val="90000"/>
            </a:lnSpc>
            <a:spcBef>
              <a:spcPct val="0"/>
            </a:spcBef>
            <a:spcAft>
              <a:spcPct val="35000"/>
            </a:spcAft>
          </a:pPr>
          <a:r>
            <a:rPr lang="en-US" sz="1300" kern="1200" dirty="0" smtClean="0"/>
            <a:t>Part 3:</a:t>
          </a:r>
        </a:p>
        <a:p>
          <a:pPr lvl="0" algn="l" defTabSz="577850">
            <a:lnSpc>
              <a:spcPct val="90000"/>
            </a:lnSpc>
            <a:spcBef>
              <a:spcPct val="0"/>
            </a:spcBef>
            <a:spcAft>
              <a:spcPct val="35000"/>
            </a:spcAft>
          </a:pPr>
          <a:r>
            <a:rPr lang="en-US" sz="1300" kern="1200" dirty="0" smtClean="0"/>
            <a:t>2</a:t>
          </a:r>
          <a:r>
            <a:rPr lang="en-US" sz="1300" kern="1200" baseline="30000" dirty="0" smtClean="0"/>
            <a:t>nd</a:t>
          </a:r>
          <a:r>
            <a:rPr lang="en-US" sz="1300" kern="1200" dirty="0" smtClean="0"/>
            <a:t> order KQ for the RLS (with the ways of knowing (AOK))</a:t>
          </a:r>
          <a:endParaRPr lang="en-US" sz="1300" kern="1200" dirty="0"/>
        </a:p>
      </dsp:txBody>
      <dsp:txXfrm>
        <a:off x="2169781" y="850595"/>
        <a:ext cx="1681959" cy="851591"/>
      </dsp:txXfrm>
    </dsp:sp>
    <dsp:sp modelId="{C910F793-758C-47E6-ADC0-EA83038C12C5}">
      <dsp:nvSpPr>
        <dsp:cNvPr id="0" name=""/>
        <dsp:cNvSpPr/>
      </dsp:nvSpPr>
      <dsp:spPr>
        <a:xfrm>
          <a:off x="4328528" y="1210986"/>
          <a:ext cx="428423" cy="42842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3D41FAF-9FDE-4B8F-995D-2A9ECF7FAF01}">
      <dsp:nvSpPr>
        <dsp:cNvPr id="0" name=""/>
        <dsp:cNvSpPr/>
      </dsp:nvSpPr>
      <dsp:spPr>
        <a:xfrm>
          <a:off x="4268425" y="1692478"/>
          <a:ext cx="1382010" cy="3754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7013" tIns="0" rIns="0" bIns="0" numCol="1" spcCol="1270" anchor="t" anchorCtr="0">
          <a:noAutofit/>
        </a:bodyPr>
        <a:lstStyle/>
        <a:p>
          <a:pPr lvl="0" algn="l" defTabSz="577850">
            <a:lnSpc>
              <a:spcPct val="90000"/>
            </a:lnSpc>
            <a:spcBef>
              <a:spcPct val="0"/>
            </a:spcBef>
            <a:spcAft>
              <a:spcPct val="35000"/>
            </a:spcAft>
          </a:pPr>
          <a:r>
            <a:rPr lang="en-US" sz="1300" kern="1200" dirty="0" smtClean="0"/>
            <a:t>Part 4:</a:t>
          </a:r>
        </a:p>
        <a:p>
          <a:pPr lvl="0" algn="l" defTabSz="577850">
            <a:lnSpc>
              <a:spcPct val="90000"/>
            </a:lnSpc>
            <a:spcBef>
              <a:spcPct val="0"/>
            </a:spcBef>
            <a:spcAft>
              <a:spcPct val="35000"/>
            </a:spcAft>
          </a:pPr>
          <a:r>
            <a:rPr lang="en-US" sz="1300" kern="1200" dirty="0" smtClean="0"/>
            <a:t>Conclusion</a:t>
          </a:r>
          <a:endParaRPr lang="en-US" sz="1300" kern="1200" dirty="0"/>
        </a:p>
      </dsp:txBody>
      <dsp:txXfrm>
        <a:off x="4268425" y="1692478"/>
        <a:ext cx="1382010" cy="375471"/>
      </dsp:txXfrm>
    </dsp:sp>
    <dsp:sp modelId="{38FAD2FF-13CC-484F-A255-91C80E876165}">
      <dsp:nvSpPr>
        <dsp:cNvPr id="0" name=""/>
        <dsp:cNvSpPr/>
      </dsp:nvSpPr>
      <dsp:spPr>
        <a:xfrm>
          <a:off x="5651803" y="867211"/>
          <a:ext cx="545894" cy="54589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71A3A97-74CA-4555-AEB3-1608BD36459F}">
      <dsp:nvSpPr>
        <dsp:cNvPr id="0" name=""/>
        <dsp:cNvSpPr/>
      </dsp:nvSpPr>
      <dsp:spPr>
        <a:xfrm>
          <a:off x="5985234" y="936170"/>
          <a:ext cx="1899697" cy="13779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9258" tIns="0" rIns="0" bIns="0" numCol="1" spcCol="1270" anchor="t" anchorCtr="0">
          <a:noAutofit/>
        </a:bodyPr>
        <a:lstStyle/>
        <a:p>
          <a:pPr lvl="0" algn="l" defTabSz="577850">
            <a:lnSpc>
              <a:spcPct val="90000"/>
            </a:lnSpc>
            <a:spcBef>
              <a:spcPct val="0"/>
            </a:spcBef>
            <a:spcAft>
              <a:spcPct val="35000"/>
            </a:spcAft>
          </a:pPr>
          <a:r>
            <a:rPr lang="en-US" sz="1300" kern="1200" dirty="0" smtClean="0"/>
            <a:t>Part 5:</a:t>
          </a:r>
        </a:p>
        <a:p>
          <a:pPr lvl="0" algn="l" defTabSz="577850">
            <a:lnSpc>
              <a:spcPct val="90000"/>
            </a:lnSpc>
            <a:spcBef>
              <a:spcPct val="0"/>
            </a:spcBef>
            <a:spcAft>
              <a:spcPct val="35000"/>
            </a:spcAft>
          </a:pPr>
          <a:r>
            <a:rPr lang="en-US" sz="1300" kern="1200" dirty="0" smtClean="0"/>
            <a:t>Other application in the conclusion linking to the analysis</a:t>
          </a:r>
          <a:endParaRPr lang="en-US" sz="1300" kern="1200" dirty="0"/>
        </a:p>
      </dsp:txBody>
      <dsp:txXfrm>
        <a:off x="5985234" y="936170"/>
        <a:ext cx="1899697" cy="13779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39964B-3C97-4240-B1FA-7B6718F21C1F}">
      <dsp:nvSpPr>
        <dsp:cNvPr id="0" name=""/>
        <dsp:cNvSpPr/>
      </dsp:nvSpPr>
      <dsp:spPr>
        <a:xfrm>
          <a:off x="41" y="14954"/>
          <a:ext cx="3938283" cy="903771"/>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05664" rIns="184912" bIns="105664" numCol="1" spcCol="1270" anchor="ctr" anchorCtr="0">
          <a:noAutofit/>
        </a:bodyPr>
        <a:lstStyle/>
        <a:p>
          <a:pPr lvl="0" algn="ctr" defTabSz="1155700" rtl="0">
            <a:lnSpc>
              <a:spcPct val="90000"/>
            </a:lnSpc>
            <a:spcBef>
              <a:spcPct val="0"/>
            </a:spcBef>
            <a:spcAft>
              <a:spcPct val="35000"/>
            </a:spcAft>
          </a:pPr>
          <a:r>
            <a:rPr lang="en-US" sz="2600" kern="1200" dirty="0" smtClean="0">
              <a:solidFill>
                <a:srgbClr val="0000CC"/>
              </a:solidFill>
            </a:rPr>
            <a:t>1st-order knowledge questions</a:t>
          </a:r>
          <a:endParaRPr lang="en-US" sz="2600" kern="1200" dirty="0">
            <a:solidFill>
              <a:srgbClr val="0000CC"/>
            </a:solidFill>
          </a:endParaRPr>
        </a:p>
      </dsp:txBody>
      <dsp:txXfrm>
        <a:off x="41" y="14954"/>
        <a:ext cx="3938283" cy="903771"/>
      </dsp:txXfrm>
    </dsp:sp>
    <dsp:sp modelId="{1649F51E-05F4-4EF2-9A0C-8A37C1F13715}">
      <dsp:nvSpPr>
        <dsp:cNvPr id="0" name=""/>
        <dsp:cNvSpPr/>
      </dsp:nvSpPr>
      <dsp:spPr>
        <a:xfrm>
          <a:off x="41" y="918725"/>
          <a:ext cx="3938283" cy="385398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rtl="0">
            <a:lnSpc>
              <a:spcPct val="90000"/>
            </a:lnSpc>
            <a:spcBef>
              <a:spcPct val="0"/>
            </a:spcBef>
            <a:spcAft>
              <a:spcPts val="1200"/>
            </a:spcAft>
            <a:buChar char="••"/>
          </a:pPr>
          <a:r>
            <a:rPr lang="en-US" sz="2000" kern="1200" dirty="0" smtClean="0">
              <a:solidFill>
                <a:srgbClr val="002060"/>
              </a:solidFill>
            </a:rPr>
            <a:t>Why do the different stakeholders in the RLS interpret the situation on the Amazon fires differently? </a:t>
          </a:r>
          <a:endParaRPr lang="en-US" sz="2000" kern="1200" dirty="0">
            <a:solidFill>
              <a:srgbClr val="002060"/>
            </a:solidFill>
          </a:endParaRPr>
        </a:p>
        <a:p>
          <a:pPr marL="228600" lvl="1" indent="-228600" algn="l" defTabSz="889000" rtl="0">
            <a:lnSpc>
              <a:spcPct val="90000"/>
            </a:lnSpc>
            <a:spcBef>
              <a:spcPct val="0"/>
            </a:spcBef>
            <a:spcAft>
              <a:spcPts val="1200"/>
            </a:spcAft>
            <a:buChar char="••"/>
          </a:pPr>
          <a:r>
            <a:rPr lang="en-US" sz="2000" kern="1200" dirty="0" smtClean="0">
              <a:solidFill>
                <a:srgbClr val="002060"/>
              </a:solidFill>
            </a:rPr>
            <a:t>Is one of the stakeholders in the RLS given more importance than the other?</a:t>
          </a:r>
          <a:endParaRPr lang="en-US" sz="2000" kern="1200" dirty="0">
            <a:solidFill>
              <a:srgbClr val="002060"/>
            </a:solidFill>
          </a:endParaRPr>
        </a:p>
      </dsp:txBody>
      <dsp:txXfrm>
        <a:off x="41" y="918725"/>
        <a:ext cx="3938283" cy="3853980"/>
      </dsp:txXfrm>
    </dsp:sp>
    <dsp:sp modelId="{72BCF5ED-775F-4626-92F2-3F83D9166F3C}">
      <dsp:nvSpPr>
        <dsp:cNvPr id="0" name=""/>
        <dsp:cNvSpPr/>
      </dsp:nvSpPr>
      <dsp:spPr>
        <a:xfrm>
          <a:off x="4489683" y="28492"/>
          <a:ext cx="3938283" cy="903771"/>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05664" rIns="184912" bIns="105664" numCol="1" spcCol="1270" anchor="ctr" anchorCtr="0">
          <a:noAutofit/>
        </a:bodyPr>
        <a:lstStyle/>
        <a:p>
          <a:pPr lvl="0" algn="ctr" defTabSz="1155700" rtl="0">
            <a:lnSpc>
              <a:spcPct val="90000"/>
            </a:lnSpc>
            <a:spcBef>
              <a:spcPct val="0"/>
            </a:spcBef>
            <a:spcAft>
              <a:spcPct val="35000"/>
            </a:spcAft>
          </a:pPr>
          <a:r>
            <a:rPr lang="en-US" sz="2600" kern="1200" dirty="0" smtClean="0">
              <a:solidFill>
                <a:srgbClr val="0000CC"/>
              </a:solidFill>
            </a:rPr>
            <a:t>Possible inferences</a:t>
          </a:r>
          <a:endParaRPr lang="en-US" sz="2600" kern="1200" dirty="0">
            <a:solidFill>
              <a:srgbClr val="0000CC"/>
            </a:solidFill>
          </a:endParaRPr>
        </a:p>
      </dsp:txBody>
      <dsp:txXfrm>
        <a:off x="4489683" y="28492"/>
        <a:ext cx="3938283" cy="903771"/>
      </dsp:txXfrm>
    </dsp:sp>
    <dsp:sp modelId="{29EB371C-6110-411A-BD0D-01D9443B1DE3}">
      <dsp:nvSpPr>
        <dsp:cNvPr id="0" name=""/>
        <dsp:cNvSpPr/>
      </dsp:nvSpPr>
      <dsp:spPr>
        <a:xfrm>
          <a:off x="4489683" y="918725"/>
          <a:ext cx="3938283" cy="385398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rtl="0">
            <a:lnSpc>
              <a:spcPct val="90000"/>
            </a:lnSpc>
            <a:spcBef>
              <a:spcPct val="0"/>
            </a:spcBef>
            <a:spcAft>
              <a:spcPts val="1200"/>
            </a:spcAft>
            <a:buChar char="••"/>
          </a:pPr>
          <a:r>
            <a:rPr lang="en-US" sz="2000" kern="1200" dirty="0" smtClean="0">
              <a:solidFill>
                <a:srgbClr val="002060"/>
              </a:solidFill>
            </a:rPr>
            <a:t>Different groups of people have a variety of moral principles and values. This means that they will have their own perceptions of what is right or wrong and thus, form their own judgements to explain their principles.</a:t>
          </a:r>
          <a:endParaRPr lang="en-US" sz="2000" kern="1200" dirty="0">
            <a:solidFill>
              <a:srgbClr val="002060"/>
            </a:solidFill>
          </a:endParaRPr>
        </a:p>
        <a:p>
          <a:pPr marL="228600" lvl="1" indent="-228600" algn="l" defTabSz="889000" rtl="0">
            <a:lnSpc>
              <a:spcPct val="90000"/>
            </a:lnSpc>
            <a:spcBef>
              <a:spcPct val="0"/>
            </a:spcBef>
            <a:spcAft>
              <a:spcPts val="1200"/>
            </a:spcAft>
            <a:buChar char="••"/>
          </a:pPr>
          <a:r>
            <a:rPr lang="en-US" sz="2000" kern="1200" dirty="0" smtClean="0">
              <a:solidFill>
                <a:srgbClr val="002060"/>
              </a:solidFill>
            </a:rPr>
            <a:t>All are given equal importance, but the indigenous tribes are given the highest priority because the Amazon forest is their home.</a:t>
          </a:r>
          <a:endParaRPr lang="en-US" sz="2000" kern="1200" dirty="0">
            <a:solidFill>
              <a:srgbClr val="002060"/>
            </a:solidFill>
          </a:endParaRPr>
        </a:p>
      </dsp:txBody>
      <dsp:txXfrm>
        <a:off x="4489683" y="918725"/>
        <a:ext cx="3938283" cy="3853980"/>
      </dsp:txXfrm>
    </dsp:sp>
  </dsp:spTree>
</dsp:drawing>
</file>

<file path=ppt/diagrams/layout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297"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c6f9e470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c6f9e470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t>RLS(various stakeholders, opinions)-AOK-Big ideas-Knowledge framework</a:t>
            </a:r>
            <a:endParaRPr/>
          </a:p>
          <a:p>
            <a:pPr marL="0" lvl="0" indent="0" algn="l" rtl="0">
              <a:spcBef>
                <a:spcPts val="0"/>
              </a:spcBef>
              <a:spcAft>
                <a:spcPts val="0"/>
              </a:spcAft>
              <a:buNone/>
            </a:pPr>
            <a:endParaRPr/>
          </a:p>
          <a:p>
            <a:pPr marL="0" lvl="0" indent="0" algn="l" rtl="0">
              <a:spcBef>
                <a:spcPts val="0"/>
              </a:spcBef>
              <a:spcAft>
                <a:spcPts val="0"/>
              </a:spcAft>
              <a:buNone/>
            </a:pPr>
            <a:r>
              <a:rPr lang="en"/>
              <a:t>Analysis on how knowledge is learnt, communicated, verified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396f6dc1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396f6dc1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Limitations of our knowledge tools:</a:t>
            </a:r>
            <a:endParaRPr/>
          </a:p>
          <a:p>
            <a:pPr marL="0" lvl="0" indent="0" algn="l" rtl="0">
              <a:spcBef>
                <a:spcPts val="0"/>
              </a:spcBef>
              <a:spcAft>
                <a:spcPts val="0"/>
              </a:spcAft>
              <a:buNone/>
            </a:pPr>
            <a:r>
              <a:rPr lang="en"/>
              <a:t>Perception(awareness through our five senses)</a:t>
            </a:r>
            <a:endParaRPr/>
          </a:p>
          <a:p>
            <a:pPr marL="0" lvl="0" indent="457200" algn="l" rtl="0">
              <a:spcBef>
                <a:spcPts val="0"/>
              </a:spcBef>
              <a:spcAft>
                <a:spcPts val="0"/>
              </a:spcAft>
              <a:buNone/>
            </a:pPr>
            <a:r>
              <a:rPr lang="en"/>
              <a:t>Three views on the relationship between perception and reality(Phenomenalism, common-sense and scientific realism)</a:t>
            </a:r>
            <a:endParaRPr/>
          </a:p>
          <a:p>
            <a:pPr marL="0" lvl="0" indent="457200" algn="l" rtl="0">
              <a:spcBef>
                <a:spcPts val="0"/>
              </a:spcBef>
              <a:spcAft>
                <a:spcPts val="0"/>
              </a:spcAft>
              <a:buNone/>
            </a:pPr>
            <a:r>
              <a:rPr lang="en"/>
              <a:t>How heavily can we rely on them? What limitations are we faced with?</a:t>
            </a:r>
            <a:endParaRPr/>
          </a:p>
          <a:p>
            <a:pPr marL="0" lvl="0" indent="0" algn="l" rtl="0">
              <a:spcBef>
                <a:spcPts val="0"/>
              </a:spcBef>
              <a:spcAft>
                <a:spcPts val="0"/>
              </a:spcAft>
              <a:buNone/>
            </a:pPr>
            <a:r>
              <a:rPr lang="en"/>
              <a:t>Language</a:t>
            </a:r>
            <a:endParaRPr/>
          </a:p>
          <a:p>
            <a:pPr marL="0" lvl="0" indent="0" algn="l" rtl="0">
              <a:spcBef>
                <a:spcPts val="0"/>
              </a:spcBef>
              <a:spcAft>
                <a:spcPts val="0"/>
              </a:spcAft>
              <a:buNone/>
            </a:pPr>
            <a:r>
              <a:rPr lang="en"/>
              <a:t>Reason</a:t>
            </a:r>
            <a:endParaRPr/>
          </a:p>
          <a:p>
            <a:pPr marL="0" lvl="0" indent="0" algn="l" rtl="0">
              <a:spcBef>
                <a:spcPts val="0"/>
              </a:spcBef>
              <a:spcAft>
                <a:spcPts val="0"/>
              </a:spcAft>
              <a:buNone/>
            </a:pPr>
            <a:r>
              <a:rPr lang="en"/>
              <a:t>Emotion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c6f9e470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c6f9e470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61834ea309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61834ea309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648b1737ee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648b1737ee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c6f9e470d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c6f9e470d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There is no need to take side. It is what basis.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64627e0c90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64627e0c9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648b1737e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648b1737e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64a13c215a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64a13c215a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64a13c215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64a13c215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64a13c215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64a13c215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29023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64a13c215a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64a13c215a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Beliefs, practices, traditions, how they pass down knowledge, way of life, perception on Amazon Fires, how do they acquire knowledge, how they communicate their knowledge.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64d4f3bf67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64d4f3bf67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6e8b8e4c5b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6e8b8e4c5b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64a13c215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64a13c215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c6f9e470d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c6f9e470d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7ca8b9a742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7ca8b9a742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49950" tIns="49950" rIns="49950" bIns="49950" anchor="b"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
        <p:nvSpPr>
          <p:cNvPr id="11" name="Google Shape;11;p2"/>
          <p:cNvSpPr txBox="1">
            <a:spLocks noGrp="1"/>
          </p:cNvSpPr>
          <p:nvPr>
            <p:ph type="subTitle" idx="1"/>
          </p:nvPr>
        </p:nvSpPr>
        <p:spPr>
          <a:xfrm>
            <a:off x="311700" y="2834125"/>
            <a:ext cx="8520600" cy="792900"/>
          </a:xfrm>
          <a:prstGeom prst="rect">
            <a:avLst/>
          </a:prstGeom>
        </p:spPr>
        <p:txBody>
          <a:bodyPr spcFirstLastPara="1" wrap="square" lIns="49950" tIns="49950" rIns="49950" bIns="49950" anchor="t" anchorCtr="0">
            <a:noAutofit/>
          </a:bodyPr>
          <a:lstStyle>
            <a:lvl1pPr lvl="0" algn="ctr">
              <a:lnSpc>
                <a:spcPct val="100000"/>
              </a:lnSpc>
              <a:spcBef>
                <a:spcPts val="0"/>
              </a:spcBef>
              <a:spcAft>
                <a:spcPts val="0"/>
              </a:spcAft>
              <a:buSzPts val="1500"/>
              <a:buNone/>
              <a:defRPr sz="1500"/>
            </a:lvl1pPr>
            <a:lvl2pPr lvl="1" algn="ctr">
              <a:lnSpc>
                <a:spcPct val="100000"/>
              </a:lnSpc>
              <a:spcBef>
                <a:spcPts val="0"/>
              </a:spcBef>
              <a:spcAft>
                <a:spcPts val="0"/>
              </a:spcAft>
              <a:buSzPts val="1500"/>
              <a:buNone/>
              <a:defRPr sz="1500"/>
            </a:lvl2pPr>
            <a:lvl3pPr lvl="2" algn="ctr">
              <a:lnSpc>
                <a:spcPct val="100000"/>
              </a:lnSpc>
              <a:spcBef>
                <a:spcPts val="0"/>
              </a:spcBef>
              <a:spcAft>
                <a:spcPts val="0"/>
              </a:spcAft>
              <a:buSzPts val="1500"/>
              <a:buNone/>
              <a:defRPr sz="1500"/>
            </a:lvl3pPr>
            <a:lvl4pPr lvl="3" algn="ctr">
              <a:lnSpc>
                <a:spcPct val="100000"/>
              </a:lnSpc>
              <a:spcBef>
                <a:spcPts val="0"/>
              </a:spcBef>
              <a:spcAft>
                <a:spcPts val="0"/>
              </a:spcAft>
              <a:buSzPts val="1500"/>
              <a:buNone/>
              <a:defRPr sz="1500"/>
            </a:lvl4pPr>
            <a:lvl5pPr lvl="4" algn="ctr">
              <a:lnSpc>
                <a:spcPct val="100000"/>
              </a:lnSpc>
              <a:spcBef>
                <a:spcPts val="0"/>
              </a:spcBef>
              <a:spcAft>
                <a:spcPts val="0"/>
              </a:spcAft>
              <a:buSzPts val="1500"/>
              <a:buNone/>
              <a:defRPr sz="1500"/>
            </a:lvl5pPr>
            <a:lvl6pPr lvl="5" algn="ctr">
              <a:lnSpc>
                <a:spcPct val="100000"/>
              </a:lnSpc>
              <a:spcBef>
                <a:spcPts val="0"/>
              </a:spcBef>
              <a:spcAft>
                <a:spcPts val="0"/>
              </a:spcAft>
              <a:buSzPts val="1500"/>
              <a:buNone/>
              <a:defRPr sz="1500"/>
            </a:lvl6pPr>
            <a:lvl7pPr lvl="6" algn="ctr">
              <a:lnSpc>
                <a:spcPct val="100000"/>
              </a:lnSpc>
              <a:spcBef>
                <a:spcPts val="0"/>
              </a:spcBef>
              <a:spcAft>
                <a:spcPts val="0"/>
              </a:spcAft>
              <a:buSzPts val="1500"/>
              <a:buNone/>
              <a:defRPr sz="1500"/>
            </a:lvl7pPr>
            <a:lvl8pPr lvl="7" algn="ctr">
              <a:lnSpc>
                <a:spcPct val="100000"/>
              </a:lnSpc>
              <a:spcBef>
                <a:spcPts val="0"/>
              </a:spcBef>
              <a:spcAft>
                <a:spcPts val="0"/>
              </a:spcAft>
              <a:buSzPts val="1500"/>
              <a:buNone/>
              <a:defRPr sz="1500"/>
            </a:lvl8pPr>
            <a:lvl9pPr lvl="8" algn="ctr">
              <a:lnSpc>
                <a:spcPct val="100000"/>
              </a:lnSpc>
              <a:spcBef>
                <a:spcPts val="0"/>
              </a:spcBef>
              <a:spcAft>
                <a:spcPts val="0"/>
              </a:spcAft>
              <a:buSzPts val="1500"/>
              <a:buNone/>
              <a:defRPr sz="15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49950" tIns="49950" rIns="49950" bIns="499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49950" tIns="49950" rIns="49950" bIns="49950" anchor="ctr" anchorCtr="0">
            <a:noAutofit/>
          </a:bodyPr>
          <a:lstStyle>
            <a:lvl1pPr lvl="0" algn="ctr">
              <a:spcBef>
                <a:spcPts val="0"/>
              </a:spcBef>
              <a:spcAft>
                <a:spcPts val="0"/>
              </a:spcAft>
              <a:buSzPts val="2000"/>
              <a:buNone/>
              <a:defRPr sz="2000"/>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49950" tIns="49950" rIns="49950" bIns="499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49950" tIns="49950" rIns="49950" bIns="49950" anchor="t" anchorCtr="0">
            <a:noAutofit/>
          </a:bodyPr>
          <a:lstStyle>
            <a:lvl1pPr lvl="0">
              <a:spcBef>
                <a:spcPts val="0"/>
              </a:spcBef>
              <a:spcAft>
                <a:spcPts val="0"/>
              </a:spcAft>
              <a:buSzPts val="1500"/>
              <a:buNone/>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49950" tIns="49950" rIns="49950" bIns="49950" anchor="t" anchorCtr="0">
            <a:noAutofit/>
          </a:bodyPr>
          <a:lstStyle>
            <a:lvl1pPr marL="457200" lvl="0" indent="-292100">
              <a:spcBef>
                <a:spcPts val="0"/>
              </a:spcBef>
              <a:spcAft>
                <a:spcPts val="0"/>
              </a:spcAft>
              <a:buSzPts val="1000"/>
              <a:buChar char="●"/>
              <a:defRPr/>
            </a:lvl1pPr>
            <a:lvl2pPr marL="914400" lvl="1" indent="-279400">
              <a:spcBef>
                <a:spcPts val="900"/>
              </a:spcBef>
              <a:spcAft>
                <a:spcPts val="0"/>
              </a:spcAft>
              <a:buSzPts val="800"/>
              <a:buChar char="○"/>
              <a:defRPr/>
            </a:lvl2pPr>
            <a:lvl3pPr marL="1371600" lvl="2" indent="-279400">
              <a:spcBef>
                <a:spcPts val="900"/>
              </a:spcBef>
              <a:spcAft>
                <a:spcPts val="0"/>
              </a:spcAft>
              <a:buSzPts val="800"/>
              <a:buChar char="■"/>
              <a:defRPr/>
            </a:lvl3pPr>
            <a:lvl4pPr marL="1828800" lvl="3" indent="-279400">
              <a:spcBef>
                <a:spcPts val="900"/>
              </a:spcBef>
              <a:spcAft>
                <a:spcPts val="0"/>
              </a:spcAft>
              <a:buSzPts val="800"/>
              <a:buChar char="●"/>
              <a:defRPr/>
            </a:lvl4pPr>
            <a:lvl5pPr marL="2286000" lvl="4" indent="-279400">
              <a:spcBef>
                <a:spcPts val="900"/>
              </a:spcBef>
              <a:spcAft>
                <a:spcPts val="0"/>
              </a:spcAft>
              <a:buSzPts val="800"/>
              <a:buChar char="○"/>
              <a:defRPr/>
            </a:lvl5pPr>
            <a:lvl6pPr marL="2743200" lvl="5" indent="-279400">
              <a:spcBef>
                <a:spcPts val="900"/>
              </a:spcBef>
              <a:spcAft>
                <a:spcPts val="0"/>
              </a:spcAft>
              <a:buSzPts val="800"/>
              <a:buChar char="■"/>
              <a:defRPr/>
            </a:lvl6pPr>
            <a:lvl7pPr marL="3200400" lvl="6" indent="-279400">
              <a:spcBef>
                <a:spcPts val="900"/>
              </a:spcBef>
              <a:spcAft>
                <a:spcPts val="0"/>
              </a:spcAft>
              <a:buSzPts val="800"/>
              <a:buChar char="●"/>
              <a:defRPr/>
            </a:lvl7pPr>
            <a:lvl8pPr marL="3657600" lvl="7" indent="-279400">
              <a:spcBef>
                <a:spcPts val="900"/>
              </a:spcBef>
              <a:spcAft>
                <a:spcPts val="0"/>
              </a:spcAft>
              <a:buSzPts val="800"/>
              <a:buChar char="○"/>
              <a:defRPr/>
            </a:lvl8pPr>
            <a:lvl9pPr marL="4114800" lvl="8" indent="-279400">
              <a:spcBef>
                <a:spcPts val="900"/>
              </a:spcBef>
              <a:spcAft>
                <a:spcPts val="900"/>
              </a:spcAft>
              <a:buSzPts val="8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49950" tIns="49950" rIns="49950" bIns="499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49950" tIns="49950" rIns="49950" bIns="49950" anchor="t" anchorCtr="0">
            <a:noAutofit/>
          </a:bodyPr>
          <a:lstStyle>
            <a:lvl1pPr lvl="0">
              <a:spcBef>
                <a:spcPts val="0"/>
              </a:spcBef>
              <a:spcAft>
                <a:spcPts val="0"/>
              </a:spcAft>
              <a:buSzPts val="1500"/>
              <a:buNone/>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49950" tIns="49950" rIns="49950" bIns="49950" anchor="t" anchorCtr="0">
            <a:noAutofit/>
          </a:bodyPr>
          <a:lstStyle>
            <a:lvl1pPr marL="457200" lvl="0" indent="-279400">
              <a:spcBef>
                <a:spcPts val="0"/>
              </a:spcBef>
              <a:spcAft>
                <a:spcPts val="0"/>
              </a:spcAft>
              <a:buSzPts val="800"/>
              <a:buChar char="●"/>
              <a:defRPr sz="800"/>
            </a:lvl1pPr>
            <a:lvl2pPr marL="914400" lvl="1" indent="-273050">
              <a:spcBef>
                <a:spcPts val="900"/>
              </a:spcBef>
              <a:spcAft>
                <a:spcPts val="0"/>
              </a:spcAft>
              <a:buSzPts val="700"/>
              <a:buChar char="○"/>
              <a:defRPr sz="700"/>
            </a:lvl2pPr>
            <a:lvl3pPr marL="1371600" lvl="2" indent="-273050">
              <a:spcBef>
                <a:spcPts val="900"/>
              </a:spcBef>
              <a:spcAft>
                <a:spcPts val="0"/>
              </a:spcAft>
              <a:buSzPts val="700"/>
              <a:buChar char="■"/>
              <a:defRPr sz="700"/>
            </a:lvl3pPr>
            <a:lvl4pPr marL="1828800" lvl="3" indent="-273050">
              <a:spcBef>
                <a:spcPts val="900"/>
              </a:spcBef>
              <a:spcAft>
                <a:spcPts val="0"/>
              </a:spcAft>
              <a:buSzPts val="700"/>
              <a:buChar char="●"/>
              <a:defRPr sz="700"/>
            </a:lvl4pPr>
            <a:lvl5pPr marL="2286000" lvl="4" indent="-273050">
              <a:spcBef>
                <a:spcPts val="900"/>
              </a:spcBef>
              <a:spcAft>
                <a:spcPts val="0"/>
              </a:spcAft>
              <a:buSzPts val="700"/>
              <a:buChar char="○"/>
              <a:defRPr sz="700"/>
            </a:lvl5pPr>
            <a:lvl6pPr marL="2743200" lvl="5" indent="-273050">
              <a:spcBef>
                <a:spcPts val="900"/>
              </a:spcBef>
              <a:spcAft>
                <a:spcPts val="0"/>
              </a:spcAft>
              <a:buSzPts val="700"/>
              <a:buChar char="■"/>
              <a:defRPr sz="700"/>
            </a:lvl6pPr>
            <a:lvl7pPr marL="3200400" lvl="6" indent="-273050">
              <a:spcBef>
                <a:spcPts val="900"/>
              </a:spcBef>
              <a:spcAft>
                <a:spcPts val="0"/>
              </a:spcAft>
              <a:buSzPts val="700"/>
              <a:buChar char="●"/>
              <a:defRPr sz="700"/>
            </a:lvl7pPr>
            <a:lvl8pPr marL="3657600" lvl="7" indent="-273050">
              <a:spcBef>
                <a:spcPts val="900"/>
              </a:spcBef>
              <a:spcAft>
                <a:spcPts val="0"/>
              </a:spcAft>
              <a:buSzPts val="700"/>
              <a:buChar char="○"/>
              <a:defRPr sz="700"/>
            </a:lvl8pPr>
            <a:lvl9pPr marL="4114800" lvl="8" indent="-273050">
              <a:spcBef>
                <a:spcPts val="900"/>
              </a:spcBef>
              <a:spcAft>
                <a:spcPts val="900"/>
              </a:spcAft>
              <a:buSzPts val="700"/>
              <a:buChar char="■"/>
              <a:defRPr sz="7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49950" tIns="49950" rIns="49950" bIns="49950" anchor="t" anchorCtr="0">
            <a:noAutofit/>
          </a:bodyPr>
          <a:lstStyle>
            <a:lvl1pPr marL="457200" lvl="0" indent="-279400">
              <a:spcBef>
                <a:spcPts val="0"/>
              </a:spcBef>
              <a:spcAft>
                <a:spcPts val="0"/>
              </a:spcAft>
              <a:buSzPts val="800"/>
              <a:buChar char="●"/>
              <a:defRPr sz="800"/>
            </a:lvl1pPr>
            <a:lvl2pPr marL="914400" lvl="1" indent="-273050">
              <a:spcBef>
                <a:spcPts val="900"/>
              </a:spcBef>
              <a:spcAft>
                <a:spcPts val="0"/>
              </a:spcAft>
              <a:buSzPts val="700"/>
              <a:buChar char="○"/>
              <a:defRPr sz="700"/>
            </a:lvl2pPr>
            <a:lvl3pPr marL="1371600" lvl="2" indent="-273050">
              <a:spcBef>
                <a:spcPts val="900"/>
              </a:spcBef>
              <a:spcAft>
                <a:spcPts val="0"/>
              </a:spcAft>
              <a:buSzPts val="700"/>
              <a:buChar char="■"/>
              <a:defRPr sz="700"/>
            </a:lvl3pPr>
            <a:lvl4pPr marL="1828800" lvl="3" indent="-273050">
              <a:spcBef>
                <a:spcPts val="900"/>
              </a:spcBef>
              <a:spcAft>
                <a:spcPts val="0"/>
              </a:spcAft>
              <a:buSzPts val="700"/>
              <a:buChar char="●"/>
              <a:defRPr sz="700"/>
            </a:lvl4pPr>
            <a:lvl5pPr marL="2286000" lvl="4" indent="-273050">
              <a:spcBef>
                <a:spcPts val="900"/>
              </a:spcBef>
              <a:spcAft>
                <a:spcPts val="0"/>
              </a:spcAft>
              <a:buSzPts val="700"/>
              <a:buChar char="○"/>
              <a:defRPr sz="700"/>
            </a:lvl5pPr>
            <a:lvl6pPr marL="2743200" lvl="5" indent="-273050">
              <a:spcBef>
                <a:spcPts val="900"/>
              </a:spcBef>
              <a:spcAft>
                <a:spcPts val="0"/>
              </a:spcAft>
              <a:buSzPts val="700"/>
              <a:buChar char="■"/>
              <a:defRPr sz="700"/>
            </a:lvl6pPr>
            <a:lvl7pPr marL="3200400" lvl="6" indent="-273050">
              <a:spcBef>
                <a:spcPts val="900"/>
              </a:spcBef>
              <a:spcAft>
                <a:spcPts val="0"/>
              </a:spcAft>
              <a:buSzPts val="700"/>
              <a:buChar char="●"/>
              <a:defRPr sz="700"/>
            </a:lvl7pPr>
            <a:lvl8pPr marL="3657600" lvl="7" indent="-273050">
              <a:spcBef>
                <a:spcPts val="900"/>
              </a:spcBef>
              <a:spcAft>
                <a:spcPts val="0"/>
              </a:spcAft>
              <a:buSzPts val="700"/>
              <a:buChar char="○"/>
              <a:defRPr sz="700"/>
            </a:lvl8pPr>
            <a:lvl9pPr marL="4114800" lvl="8" indent="-273050">
              <a:spcBef>
                <a:spcPts val="900"/>
              </a:spcBef>
              <a:spcAft>
                <a:spcPts val="900"/>
              </a:spcAft>
              <a:buSzPts val="700"/>
              <a:buChar char="■"/>
              <a:defRPr sz="7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49950" tIns="49950" rIns="49950" bIns="499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49950" tIns="49950" rIns="49950" bIns="49950" anchor="t" anchorCtr="0">
            <a:noAutofit/>
          </a:bodyPr>
          <a:lstStyle>
            <a:lvl1pPr lvl="0">
              <a:spcBef>
                <a:spcPts val="0"/>
              </a:spcBef>
              <a:spcAft>
                <a:spcPts val="0"/>
              </a:spcAft>
              <a:buSzPts val="1500"/>
              <a:buNone/>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49950" tIns="49950" rIns="49950" bIns="499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49950" tIns="49950" rIns="49950" bIns="49950" anchor="b" anchorCtr="0">
            <a:noAutofit/>
          </a:bodyPr>
          <a:lstStyle>
            <a:lvl1pPr lvl="0">
              <a:spcBef>
                <a:spcPts val="0"/>
              </a:spcBef>
              <a:spcAft>
                <a:spcPts val="0"/>
              </a:spcAft>
              <a:buSzPts val="1300"/>
              <a:buNone/>
              <a:defRPr sz="1300"/>
            </a:lvl1pPr>
            <a:lvl2pPr lvl="1">
              <a:spcBef>
                <a:spcPts val="0"/>
              </a:spcBef>
              <a:spcAft>
                <a:spcPts val="0"/>
              </a:spcAft>
              <a:buSzPts val="1300"/>
              <a:buNone/>
              <a:defRPr sz="1300"/>
            </a:lvl2pPr>
            <a:lvl3pPr lvl="2">
              <a:spcBef>
                <a:spcPts val="0"/>
              </a:spcBef>
              <a:spcAft>
                <a:spcPts val="0"/>
              </a:spcAft>
              <a:buSzPts val="1300"/>
              <a:buNone/>
              <a:defRPr sz="1300"/>
            </a:lvl3pPr>
            <a:lvl4pPr lvl="3">
              <a:spcBef>
                <a:spcPts val="0"/>
              </a:spcBef>
              <a:spcAft>
                <a:spcPts val="0"/>
              </a:spcAft>
              <a:buSzPts val="1300"/>
              <a:buNone/>
              <a:defRPr sz="1300"/>
            </a:lvl4pPr>
            <a:lvl5pPr lvl="4">
              <a:spcBef>
                <a:spcPts val="0"/>
              </a:spcBef>
              <a:spcAft>
                <a:spcPts val="0"/>
              </a:spcAft>
              <a:buSzPts val="1300"/>
              <a:buNone/>
              <a:defRPr sz="1300"/>
            </a:lvl5pPr>
            <a:lvl6pPr lvl="5">
              <a:spcBef>
                <a:spcPts val="0"/>
              </a:spcBef>
              <a:spcAft>
                <a:spcPts val="0"/>
              </a:spcAft>
              <a:buSzPts val="1300"/>
              <a:buNone/>
              <a:defRPr sz="1300"/>
            </a:lvl6pPr>
            <a:lvl7pPr lvl="6">
              <a:spcBef>
                <a:spcPts val="0"/>
              </a:spcBef>
              <a:spcAft>
                <a:spcPts val="0"/>
              </a:spcAft>
              <a:buSzPts val="1300"/>
              <a:buNone/>
              <a:defRPr sz="1300"/>
            </a:lvl7pPr>
            <a:lvl8pPr lvl="7">
              <a:spcBef>
                <a:spcPts val="0"/>
              </a:spcBef>
              <a:spcAft>
                <a:spcPts val="0"/>
              </a:spcAft>
              <a:buSzPts val="1300"/>
              <a:buNone/>
              <a:defRPr sz="1300"/>
            </a:lvl8pPr>
            <a:lvl9pPr lvl="8">
              <a:spcBef>
                <a:spcPts val="0"/>
              </a:spcBef>
              <a:spcAft>
                <a:spcPts val="0"/>
              </a:spcAft>
              <a:buSzPts val="1300"/>
              <a:buNone/>
              <a:defRPr sz="13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49950" tIns="49950" rIns="49950" bIns="49950" anchor="t" anchorCtr="0">
            <a:noAutofit/>
          </a:bodyPr>
          <a:lstStyle>
            <a:lvl1pPr marL="457200" lvl="0" indent="-273050">
              <a:spcBef>
                <a:spcPts val="0"/>
              </a:spcBef>
              <a:spcAft>
                <a:spcPts val="0"/>
              </a:spcAft>
              <a:buSzPts val="700"/>
              <a:buChar char="●"/>
              <a:defRPr sz="700"/>
            </a:lvl1pPr>
            <a:lvl2pPr marL="914400" lvl="1" indent="-273050">
              <a:spcBef>
                <a:spcPts val="900"/>
              </a:spcBef>
              <a:spcAft>
                <a:spcPts val="0"/>
              </a:spcAft>
              <a:buSzPts val="700"/>
              <a:buChar char="○"/>
              <a:defRPr sz="700"/>
            </a:lvl2pPr>
            <a:lvl3pPr marL="1371600" lvl="2" indent="-273050">
              <a:spcBef>
                <a:spcPts val="900"/>
              </a:spcBef>
              <a:spcAft>
                <a:spcPts val="0"/>
              </a:spcAft>
              <a:buSzPts val="700"/>
              <a:buChar char="■"/>
              <a:defRPr sz="700"/>
            </a:lvl3pPr>
            <a:lvl4pPr marL="1828800" lvl="3" indent="-273050">
              <a:spcBef>
                <a:spcPts val="900"/>
              </a:spcBef>
              <a:spcAft>
                <a:spcPts val="0"/>
              </a:spcAft>
              <a:buSzPts val="700"/>
              <a:buChar char="●"/>
              <a:defRPr sz="700"/>
            </a:lvl4pPr>
            <a:lvl5pPr marL="2286000" lvl="4" indent="-273050">
              <a:spcBef>
                <a:spcPts val="900"/>
              </a:spcBef>
              <a:spcAft>
                <a:spcPts val="0"/>
              </a:spcAft>
              <a:buSzPts val="700"/>
              <a:buChar char="○"/>
              <a:defRPr sz="700"/>
            </a:lvl5pPr>
            <a:lvl6pPr marL="2743200" lvl="5" indent="-273050">
              <a:spcBef>
                <a:spcPts val="900"/>
              </a:spcBef>
              <a:spcAft>
                <a:spcPts val="0"/>
              </a:spcAft>
              <a:buSzPts val="700"/>
              <a:buChar char="■"/>
              <a:defRPr sz="700"/>
            </a:lvl6pPr>
            <a:lvl7pPr marL="3200400" lvl="6" indent="-273050">
              <a:spcBef>
                <a:spcPts val="900"/>
              </a:spcBef>
              <a:spcAft>
                <a:spcPts val="0"/>
              </a:spcAft>
              <a:buSzPts val="700"/>
              <a:buChar char="●"/>
              <a:defRPr sz="700"/>
            </a:lvl7pPr>
            <a:lvl8pPr marL="3657600" lvl="7" indent="-273050">
              <a:spcBef>
                <a:spcPts val="900"/>
              </a:spcBef>
              <a:spcAft>
                <a:spcPts val="0"/>
              </a:spcAft>
              <a:buSzPts val="700"/>
              <a:buChar char="○"/>
              <a:defRPr sz="700"/>
            </a:lvl8pPr>
            <a:lvl9pPr marL="4114800" lvl="8" indent="-273050">
              <a:spcBef>
                <a:spcPts val="900"/>
              </a:spcBef>
              <a:spcAft>
                <a:spcPts val="900"/>
              </a:spcAft>
              <a:buSzPts val="700"/>
              <a:buChar char="■"/>
              <a:defRPr sz="7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49950" tIns="49950" rIns="49950" bIns="499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49950" tIns="49950" rIns="49950" bIns="49950" anchor="ctr" anchorCtr="0">
            <a:no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49950" tIns="49950" rIns="49950" bIns="499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49950" tIns="49950" rIns="49950" bIns="49950"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49950" tIns="49950" rIns="49950" bIns="49950" anchor="b" anchorCtr="0">
            <a:noAutofit/>
          </a:bodyPr>
          <a:lstStyle>
            <a:lvl1pPr lvl="0" algn="ctr">
              <a:spcBef>
                <a:spcPts val="0"/>
              </a:spcBef>
              <a:spcAft>
                <a:spcPts val="0"/>
              </a:spcAft>
              <a:buSzPts val="2300"/>
              <a:buNone/>
              <a:defRPr sz="2300"/>
            </a:lvl1pPr>
            <a:lvl2pPr lvl="1" algn="ctr">
              <a:spcBef>
                <a:spcPts val="0"/>
              </a:spcBef>
              <a:spcAft>
                <a:spcPts val="0"/>
              </a:spcAft>
              <a:buSzPts val="2300"/>
              <a:buNone/>
              <a:defRPr sz="2300"/>
            </a:lvl2pPr>
            <a:lvl3pPr lvl="2" algn="ctr">
              <a:spcBef>
                <a:spcPts val="0"/>
              </a:spcBef>
              <a:spcAft>
                <a:spcPts val="0"/>
              </a:spcAft>
              <a:buSzPts val="2300"/>
              <a:buNone/>
              <a:defRPr sz="2300"/>
            </a:lvl3pPr>
            <a:lvl4pPr lvl="3" algn="ctr">
              <a:spcBef>
                <a:spcPts val="0"/>
              </a:spcBef>
              <a:spcAft>
                <a:spcPts val="0"/>
              </a:spcAft>
              <a:buSzPts val="2300"/>
              <a:buNone/>
              <a:defRPr sz="2300"/>
            </a:lvl4pPr>
            <a:lvl5pPr lvl="4" algn="ctr">
              <a:spcBef>
                <a:spcPts val="0"/>
              </a:spcBef>
              <a:spcAft>
                <a:spcPts val="0"/>
              </a:spcAft>
              <a:buSzPts val="2300"/>
              <a:buNone/>
              <a:defRPr sz="2300"/>
            </a:lvl5pPr>
            <a:lvl6pPr lvl="5" algn="ctr">
              <a:spcBef>
                <a:spcPts val="0"/>
              </a:spcBef>
              <a:spcAft>
                <a:spcPts val="0"/>
              </a:spcAft>
              <a:buSzPts val="2300"/>
              <a:buNone/>
              <a:defRPr sz="2300"/>
            </a:lvl6pPr>
            <a:lvl7pPr lvl="6" algn="ctr">
              <a:spcBef>
                <a:spcPts val="0"/>
              </a:spcBef>
              <a:spcAft>
                <a:spcPts val="0"/>
              </a:spcAft>
              <a:buSzPts val="2300"/>
              <a:buNone/>
              <a:defRPr sz="2300"/>
            </a:lvl7pPr>
            <a:lvl8pPr lvl="7" algn="ctr">
              <a:spcBef>
                <a:spcPts val="0"/>
              </a:spcBef>
              <a:spcAft>
                <a:spcPts val="0"/>
              </a:spcAft>
              <a:buSzPts val="2300"/>
              <a:buNone/>
              <a:defRPr sz="2300"/>
            </a:lvl8pPr>
            <a:lvl9pPr lvl="8" algn="ctr">
              <a:spcBef>
                <a:spcPts val="0"/>
              </a:spcBef>
              <a:spcAft>
                <a:spcPts val="0"/>
              </a:spcAft>
              <a:buSzPts val="2300"/>
              <a:buNone/>
              <a:defRPr sz="23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49950" tIns="49950" rIns="49950" bIns="49950" anchor="t" anchorCtr="0">
            <a:noAutofit/>
          </a:bodyPr>
          <a:lstStyle>
            <a:lvl1pPr lvl="0" algn="ctr">
              <a:lnSpc>
                <a:spcPct val="100000"/>
              </a:lnSpc>
              <a:spcBef>
                <a:spcPts val="0"/>
              </a:spcBef>
              <a:spcAft>
                <a:spcPts val="0"/>
              </a:spcAft>
              <a:buSzPts val="1100"/>
              <a:buNone/>
              <a:defRPr sz="1100"/>
            </a:lvl1pPr>
            <a:lvl2pPr lvl="1" algn="ctr">
              <a:lnSpc>
                <a:spcPct val="100000"/>
              </a:lnSpc>
              <a:spcBef>
                <a:spcPts val="0"/>
              </a:spcBef>
              <a:spcAft>
                <a:spcPts val="0"/>
              </a:spcAft>
              <a:buSzPts val="1100"/>
              <a:buNone/>
              <a:defRPr sz="1100"/>
            </a:lvl2pPr>
            <a:lvl3pPr lvl="2" algn="ctr">
              <a:lnSpc>
                <a:spcPct val="100000"/>
              </a:lnSpc>
              <a:spcBef>
                <a:spcPts val="0"/>
              </a:spcBef>
              <a:spcAft>
                <a:spcPts val="0"/>
              </a:spcAft>
              <a:buSzPts val="1100"/>
              <a:buNone/>
              <a:defRPr sz="1100"/>
            </a:lvl3pPr>
            <a:lvl4pPr lvl="3" algn="ctr">
              <a:lnSpc>
                <a:spcPct val="100000"/>
              </a:lnSpc>
              <a:spcBef>
                <a:spcPts val="0"/>
              </a:spcBef>
              <a:spcAft>
                <a:spcPts val="0"/>
              </a:spcAft>
              <a:buSzPts val="1100"/>
              <a:buNone/>
              <a:defRPr sz="1100"/>
            </a:lvl4pPr>
            <a:lvl5pPr lvl="4" algn="ctr">
              <a:lnSpc>
                <a:spcPct val="100000"/>
              </a:lnSpc>
              <a:spcBef>
                <a:spcPts val="0"/>
              </a:spcBef>
              <a:spcAft>
                <a:spcPts val="0"/>
              </a:spcAft>
              <a:buSzPts val="1100"/>
              <a:buNone/>
              <a:defRPr sz="1100"/>
            </a:lvl5pPr>
            <a:lvl6pPr lvl="5" algn="ctr">
              <a:lnSpc>
                <a:spcPct val="100000"/>
              </a:lnSpc>
              <a:spcBef>
                <a:spcPts val="0"/>
              </a:spcBef>
              <a:spcAft>
                <a:spcPts val="0"/>
              </a:spcAft>
              <a:buSzPts val="1100"/>
              <a:buNone/>
              <a:defRPr sz="1100"/>
            </a:lvl6pPr>
            <a:lvl7pPr lvl="6" algn="ctr">
              <a:lnSpc>
                <a:spcPct val="100000"/>
              </a:lnSpc>
              <a:spcBef>
                <a:spcPts val="0"/>
              </a:spcBef>
              <a:spcAft>
                <a:spcPts val="0"/>
              </a:spcAft>
              <a:buSzPts val="1100"/>
              <a:buNone/>
              <a:defRPr sz="1100"/>
            </a:lvl7pPr>
            <a:lvl8pPr lvl="7" algn="ctr">
              <a:lnSpc>
                <a:spcPct val="100000"/>
              </a:lnSpc>
              <a:spcBef>
                <a:spcPts val="0"/>
              </a:spcBef>
              <a:spcAft>
                <a:spcPts val="0"/>
              </a:spcAft>
              <a:buSzPts val="1100"/>
              <a:buNone/>
              <a:defRPr sz="1100"/>
            </a:lvl8pPr>
            <a:lvl9pPr lvl="8" algn="ctr">
              <a:lnSpc>
                <a:spcPct val="100000"/>
              </a:lnSpc>
              <a:spcBef>
                <a:spcPts val="0"/>
              </a:spcBef>
              <a:spcAft>
                <a:spcPts val="0"/>
              </a:spcAft>
              <a:buSzPts val="1100"/>
              <a:buNone/>
              <a:defRPr sz="1100"/>
            </a:lvl9pPr>
          </a:lstStyle>
          <a:p>
            <a:endParaRPr/>
          </a:p>
        </p:txBody>
      </p:sp>
      <p:sp>
        <p:nvSpPr>
          <p:cNvPr id="39" name="Google Shape;39;p9"/>
          <p:cNvSpPr txBox="1">
            <a:spLocks noGrp="1"/>
          </p:cNvSpPr>
          <p:nvPr>
            <p:ph type="body" idx="2"/>
          </p:nvPr>
        </p:nvSpPr>
        <p:spPr>
          <a:xfrm>
            <a:off x="4939500" y="724075"/>
            <a:ext cx="3837000" cy="3695400"/>
          </a:xfrm>
          <a:prstGeom prst="rect">
            <a:avLst/>
          </a:prstGeom>
        </p:spPr>
        <p:txBody>
          <a:bodyPr spcFirstLastPara="1" wrap="square" lIns="49950" tIns="49950" rIns="49950" bIns="49950" anchor="ctr" anchorCtr="0">
            <a:noAutofit/>
          </a:bodyPr>
          <a:lstStyle>
            <a:lvl1pPr marL="457200" lvl="0" indent="-292100">
              <a:spcBef>
                <a:spcPts val="0"/>
              </a:spcBef>
              <a:spcAft>
                <a:spcPts val="0"/>
              </a:spcAft>
              <a:buSzPts val="1000"/>
              <a:buChar char="●"/>
              <a:defRPr/>
            </a:lvl1pPr>
            <a:lvl2pPr marL="914400" lvl="1" indent="-279400">
              <a:spcBef>
                <a:spcPts val="900"/>
              </a:spcBef>
              <a:spcAft>
                <a:spcPts val="0"/>
              </a:spcAft>
              <a:buSzPts val="800"/>
              <a:buChar char="○"/>
              <a:defRPr/>
            </a:lvl2pPr>
            <a:lvl3pPr marL="1371600" lvl="2" indent="-279400">
              <a:spcBef>
                <a:spcPts val="900"/>
              </a:spcBef>
              <a:spcAft>
                <a:spcPts val="0"/>
              </a:spcAft>
              <a:buSzPts val="800"/>
              <a:buChar char="■"/>
              <a:defRPr/>
            </a:lvl3pPr>
            <a:lvl4pPr marL="1828800" lvl="3" indent="-279400">
              <a:spcBef>
                <a:spcPts val="900"/>
              </a:spcBef>
              <a:spcAft>
                <a:spcPts val="0"/>
              </a:spcAft>
              <a:buSzPts val="800"/>
              <a:buChar char="●"/>
              <a:defRPr/>
            </a:lvl4pPr>
            <a:lvl5pPr marL="2286000" lvl="4" indent="-279400">
              <a:spcBef>
                <a:spcPts val="900"/>
              </a:spcBef>
              <a:spcAft>
                <a:spcPts val="0"/>
              </a:spcAft>
              <a:buSzPts val="800"/>
              <a:buChar char="○"/>
              <a:defRPr/>
            </a:lvl5pPr>
            <a:lvl6pPr marL="2743200" lvl="5" indent="-279400">
              <a:spcBef>
                <a:spcPts val="900"/>
              </a:spcBef>
              <a:spcAft>
                <a:spcPts val="0"/>
              </a:spcAft>
              <a:buSzPts val="800"/>
              <a:buChar char="■"/>
              <a:defRPr/>
            </a:lvl6pPr>
            <a:lvl7pPr marL="3200400" lvl="6" indent="-279400">
              <a:spcBef>
                <a:spcPts val="900"/>
              </a:spcBef>
              <a:spcAft>
                <a:spcPts val="0"/>
              </a:spcAft>
              <a:buSzPts val="800"/>
              <a:buChar char="●"/>
              <a:defRPr/>
            </a:lvl7pPr>
            <a:lvl8pPr marL="3657600" lvl="7" indent="-279400">
              <a:spcBef>
                <a:spcPts val="900"/>
              </a:spcBef>
              <a:spcAft>
                <a:spcPts val="0"/>
              </a:spcAft>
              <a:buSzPts val="800"/>
              <a:buChar char="○"/>
              <a:defRPr/>
            </a:lvl8pPr>
            <a:lvl9pPr marL="4114800" lvl="8" indent="-279400">
              <a:spcBef>
                <a:spcPts val="900"/>
              </a:spcBef>
              <a:spcAft>
                <a:spcPts val="900"/>
              </a:spcAft>
              <a:buSzPts val="8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49950" tIns="49950" rIns="49950" bIns="499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49950" tIns="49950" rIns="49950" bIns="49950" anchor="ctr" anchorCtr="0">
            <a:noAutofit/>
          </a:bodyPr>
          <a:lstStyle>
            <a:lvl1pPr marL="457200" lvl="0" indent="-228600">
              <a:lnSpc>
                <a:spcPct val="100000"/>
              </a:lnSpc>
              <a:spcBef>
                <a:spcPts val="0"/>
              </a:spcBef>
              <a:spcAft>
                <a:spcPts val="0"/>
              </a:spcAft>
              <a:buSzPts val="10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49950" tIns="49950" rIns="49950" bIns="499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49950" tIns="49950" rIns="49950" bIns="49950" anchor="b" anchorCtr="0">
            <a:noAutofit/>
          </a:bodyPr>
          <a:lstStyle>
            <a:lvl1pPr lvl="0" algn="ctr">
              <a:spcBef>
                <a:spcPts val="0"/>
              </a:spcBef>
              <a:spcAft>
                <a:spcPts val="0"/>
              </a:spcAft>
              <a:buSzPts val="6600"/>
              <a:buNone/>
              <a:defRPr sz="6600"/>
            </a:lvl1pPr>
            <a:lvl2pPr lvl="1" algn="ctr">
              <a:spcBef>
                <a:spcPts val="0"/>
              </a:spcBef>
              <a:spcAft>
                <a:spcPts val="0"/>
              </a:spcAft>
              <a:buSzPts val="6600"/>
              <a:buNone/>
              <a:defRPr sz="6600"/>
            </a:lvl2pPr>
            <a:lvl3pPr lvl="2" algn="ctr">
              <a:spcBef>
                <a:spcPts val="0"/>
              </a:spcBef>
              <a:spcAft>
                <a:spcPts val="0"/>
              </a:spcAft>
              <a:buSzPts val="6600"/>
              <a:buNone/>
              <a:defRPr sz="6600"/>
            </a:lvl3pPr>
            <a:lvl4pPr lvl="3" algn="ctr">
              <a:spcBef>
                <a:spcPts val="0"/>
              </a:spcBef>
              <a:spcAft>
                <a:spcPts val="0"/>
              </a:spcAft>
              <a:buSzPts val="6600"/>
              <a:buNone/>
              <a:defRPr sz="6600"/>
            </a:lvl4pPr>
            <a:lvl5pPr lvl="4" algn="ctr">
              <a:spcBef>
                <a:spcPts val="0"/>
              </a:spcBef>
              <a:spcAft>
                <a:spcPts val="0"/>
              </a:spcAft>
              <a:buSzPts val="6600"/>
              <a:buNone/>
              <a:defRPr sz="6600"/>
            </a:lvl5pPr>
            <a:lvl6pPr lvl="5" algn="ctr">
              <a:spcBef>
                <a:spcPts val="0"/>
              </a:spcBef>
              <a:spcAft>
                <a:spcPts val="0"/>
              </a:spcAft>
              <a:buSzPts val="6600"/>
              <a:buNone/>
              <a:defRPr sz="6600"/>
            </a:lvl6pPr>
            <a:lvl7pPr lvl="6" algn="ctr">
              <a:spcBef>
                <a:spcPts val="0"/>
              </a:spcBef>
              <a:spcAft>
                <a:spcPts val="0"/>
              </a:spcAft>
              <a:buSzPts val="6600"/>
              <a:buNone/>
              <a:defRPr sz="6600"/>
            </a:lvl7pPr>
            <a:lvl8pPr lvl="7" algn="ctr">
              <a:spcBef>
                <a:spcPts val="0"/>
              </a:spcBef>
              <a:spcAft>
                <a:spcPts val="0"/>
              </a:spcAft>
              <a:buSzPts val="6600"/>
              <a:buNone/>
              <a:defRPr sz="6600"/>
            </a:lvl8pPr>
            <a:lvl9pPr lvl="8" algn="ctr">
              <a:spcBef>
                <a:spcPts val="0"/>
              </a:spcBef>
              <a:spcAft>
                <a:spcPts val="0"/>
              </a:spcAft>
              <a:buSzPts val="6600"/>
              <a:buNone/>
              <a:defRPr sz="66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49950" tIns="49950" rIns="49950" bIns="49950" anchor="t" anchorCtr="0">
            <a:noAutofit/>
          </a:bodyPr>
          <a:lstStyle>
            <a:lvl1pPr marL="457200" lvl="0" indent="-292100" algn="ctr">
              <a:spcBef>
                <a:spcPts val="0"/>
              </a:spcBef>
              <a:spcAft>
                <a:spcPts val="0"/>
              </a:spcAft>
              <a:buSzPts val="1000"/>
              <a:buChar char="●"/>
              <a:defRPr/>
            </a:lvl1pPr>
            <a:lvl2pPr marL="914400" lvl="1" indent="-279400" algn="ctr">
              <a:spcBef>
                <a:spcPts val="900"/>
              </a:spcBef>
              <a:spcAft>
                <a:spcPts val="0"/>
              </a:spcAft>
              <a:buSzPts val="800"/>
              <a:buChar char="○"/>
              <a:defRPr/>
            </a:lvl2pPr>
            <a:lvl3pPr marL="1371600" lvl="2" indent="-279400" algn="ctr">
              <a:spcBef>
                <a:spcPts val="900"/>
              </a:spcBef>
              <a:spcAft>
                <a:spcPts val="0"/>
              </a:spcAft>
              <a:buSzPts val="800"/>
              <a:buChar char="■"/>
              <a:defRPr/>
            </a:lvl3pPr>
            <a:lvl4pPr marL="1828800" lvl="3" indent="-279400" algn="ctr">
              <a:spcBef>
                <a:spcPts val="900"/>
              </a:spcBef>
              <a:spcAft>
                <a:spcPts val="0"/>
              </a:spcAft>
              <a:buSzPts val="800"/>
              <a:buChar char="●"/>
              <a:defRPr/>
            </a:lvl4pPr>
            <a:lvl5pPr marL="2286000" lvl="4" indent="-279400" algn="ctr">
              <a:spcBef>
                <a:spcPts val="900"/>
              </a:spcBef>
              <a:spcAft>
                <a:spcPts val="0"/>
              </a:spcAft>
              <a:buSzPts val="800"/>
              <a:buChar char="○"/>
              <a:defRPr/>
            </a:lvl5pPr>
            <a:lvl6pPr marL="2743200" lvl="5" indent="-279400" algn="ctr">
              <a:spcBef>
                <a:spcPts val="900"/>
              </a:spcBef>
              <a:spcAft>
                <a:spcPts val="0"/>
              </a:spcAft>
              <a:buSzPts val="800"/>
              <a:buChar char="■"/>
              <a:defRPr/>
            </a:lvl6pPr>
            <a:lvl7pPr marL="3200400" lvl="6" indent="-279400" algn="ctr">
              <a:spcBef>
                <a:spcPts val="900"/>
              </a:spcBef>
              <a:spcAft>
                <a:spcPts val="0"/>
              </a:spcAft>
              <a:buSzPts val="800"/>
              <a:buChar char="●"/>
              <a:defRPr/>
            </a:lvl7pPr>
            <a:lvl8pPr marL="3657600" lvl="7" indent="-279400" algn="ctr">
              <a:spcBef>
                <a:spcPts val="900"/>
              </a:spcBef>
              <a:spcAft>
                <a:spcPts val="0"/>
              </a:spcAft>
              <a:buSzPts val="800"/>
              <a:buChar char="○"/>
              <a:defRPr/>
            </a:lvl8pPr>
            <a:lvl9pPr marL="4114800" lvl="8" indent="-279400" algn="ctr">
              <a:spcBef>
                <a:spcPts val="900"/>
              </a:spcBef>
              <a:spcAft>
                <a:spcPts val="900"/>
              </a:spcAft>
              <a:buSzPts val="8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49950" tIns="49950" rIns="49950" bIns="499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49950" tIns="49950" rIns="49950" bIns="499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49950" tIns="49950" rIns="49950" bIns="49950" anchor="t" anchorCtr="0">
            <a:noAutofit/>
          </a:bodyPr>
          <a:lstStyle>
            <a:lvl1pPr lvl="0">
              <a:spcBef>
                <a:spcPts val="0"/>
              </a:spcBef>
              <a:spcAft>
                <a:spcPts val="0"/>
              </a:spcAft>
              <a:buClr>
                <a:schemeClr val="dk1"/>
              </a:buClr>
              <a:buSzPts val="1500"/>
              <a:buNone/>
              <a:defRPr sz="1500">
                <a:solidFill>
                  <a:schemeClr val="dk1"/>
                </a:solidFill>
              </a:defRPr>
            </a:lvl1pPr>
            <a:lvl2pPr lvl="1">
              <a:spcBef>
                <a:spcPts val="0"/>
              </a:spcBef>
              <a:spcAft>
                <a:spcPts val="0"/>
              </a:spcAft>
              <a:buClr>
                <a:schemeClr val="dk1"/>
              </a:buClr>
              <a:buSzPts val="1500"/>
              <a:buNone/>
              <a:defRPr sz="1500">
                <a:solidFill>
                  <a:schemeClr val="dk1"/>
                </a:solidFill>
              </a:defRPr>
            </a:lvl2pPr>
            <a:lvl3pPr lvl="2">
              <a:spcBef>
                <a:spcPts val="0"/>
              </a:spcBef>
              <a:spcAft>
                <a:spcPts val="0"/>
              </a:spcAft>
              <a:buClr>
                <a:schemeClr val="dk1"/>
              </a:buClr>
              <a:buSzPts val="1500"/>
              <a:buNone/>
              <a:defRPr sz="1500">
                <a:solidFill>
                  <a:schemeClr val="dk1"/>
                </a:solidFill>
              </a:defRPr>
            </a:lvl3pPr>
            <a:lvl4pPr lvl="3">
              <a:spcBef>
                <a:spcPts val="0"/>
              </a:spcBef>
              <a:spcAft>
                <a:spcPts val="0"/>
              </a:spcAft>
              <a:buClr>
                <a:schemeClr val="dk1"/>
              </a:buClr>
              <a:buSzPts val="1500"/>
              <a:buNone/>
              <a:defRPr sz="1500">
                <a:solidFill>
                  <a:schemeClr val="dk1"/>
                </a:solidFill>
              </a:defRPr>
            </a:lvl4pPr>
            <a:lvl5pPr lvl="4">
              <a:spcBef>
                <a:spcPts val="0"/>
              </a:spcBef>
              <a:spcAft>
                <a:spcPts val="0"/>
              </a:spcAft>
              <a:buClr>
                <a:schemeClr val="dk1"/>
              </a:buClr>
              <a:buSzPts val="1500"/>
              <a:buNone/>
              <a:defRPr sz="1500">
                <a:solidFill>
                  <a:schemeClr val="dk1"/>
                </a:solidFill>
              </a:defRPr>
            </a:lvl5pPr>
            <a:lvl6pPr lvl="5">
              <a:spcBef>
                <a:spcPts val="0"/>
              </a:spcBef>
              <a:spcAft>
                <a:spcPts val="0"/>
              </a:spcAft>
              <a:buClr>
                <a:schemeClr val="dk1"/>
              </a:buClr>
              <a:buSzPts val="1500"/>
              <a:buNone/>
              <a:defRPr sz="1500">
                <a:solidFill>
                  <a:schemeClr val="dk1"/>
                </a:solidFill>
              </a:defRPr>
            </a:lvl6pPr>
            <a:lvl7pPr lvl="6">
              <a:spcBef>
                <a:spcPts val="0"/>
              </a:spcBef>
              <a:spcAft>
                <a:spcPts val="0"/>
              </a:spcAft>
              <a:buClr>
                <a:schemeClr val="dk1"/>
              </a:buClr>
              <a:buSzPts val="1500"/>
              <a:buNone/>
              <a:defRPr sz="1500">
                <a:solidFill>
                  <a:schemeClr val="dk1"/>
                </a:solidFill>
              </a:defRPr>
            </a:lvl7pPr>
            <a:lvl8pPr lvl="7">
              <a:spcBef>
                <a:spcPts val="0"/>
              </a:spcBef>
              <a:spcAft>
                <a:spcPts val="0"/>
              </a:spcAft>
              <a:buClr>
                <a:schemeClr val="dk1"/>
              </a:buClr>
              <a:buSzPts val="1500"/>
              <a:buNone/>
              <a:defRPr sz="1500">
                <a:solidFill>
                  <a:schemeClr val="dk1"/>
                </a:solidFill>
              </a:defRPr>
            </a:lvl8pPr>
            <a:lvl9pPr lvl="8">
              <a:spcBef>
                <a:spcPts val="0"/>
              </a:spcBef>
              <a:spcAft>
                <a:spcPts val="0"/>
              </a:spcAft>
              <a:buClr>
                <a:schemeClr val="dk1"/>
              </a:buClr>
              <a:buSzPts val="1500"/>
              <a:buNone/>
              <a:defRPr sz="15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49950" tIns="49950" rIns="49950" bIns="49950" anchor="t" anchorCtr="0">
            <a:noAutofit/>
          </a:bodyPr>
          <a:lstStyle>
            <a:lvl1pPr marL="457200" lvl="0" indent="-292100">
              <a:lnSpc>
                <a:spcPct val="115000"/>
              </a:lnSpc>
              <a:spcBef>
                <a:spcPts val="0"/>
              </a:spcBef>
              <a:spcAft>
                <a:spcPts val="0"/>
              </a:spcAft>
              <a:buClr>
                <a:schemeClr val="dk2"/>
              </a:buClr>
              <a:buSzPts val="1000"/>
              <a:buChar char="●"/>
              <a:defRPr sz="1000">
                <a:solidFill>
                  <a:schemeClr val="dk2"/>
                </a:solidFill>
              </a:defRPr>
            </a:lvl1pPr>
            <a:lvl2pPr marL="914400" lvl="1" indent="-279400">
              <a:lnSpc>
                <a:spcPct val="115000"/>
              </a:lnSpc>
              <a:spcBef>
                <a:spcPts val="900"/>
              </a:spcBef>
              <a:spcAft>
                <a:spcPts val="0"/>
              </a:spcAft>
              <a:buClr>
                <a:schemeClr val="dk2"/>
              </a:buClr>
              <a:buSzPts val="800"/>
              <a:buChar char="○"/>
              <a:defRPr sz="800">
                <a:solidFill>
                  <a:schemeClr val="dk2"/>
                </a:solidFill>
              </a:defRPr>
            </a:lvl2pPr>
            <a:lvl3pPr marL="1371600" lvl="2" indent="-279400">
              <a:lnSpc>
                <a:spcPct val="115000"/>
              </a:lnSpc>
              <a:spcBef>
                <a:spcPts val="900"/>
              </a:spcBef>
              <a:spcAft>
                <a:spcPts val="0"/>
              </a:spcAft>
              <a:buClr>
                <a:schemeClr val="dk2"/>
              </a:buClr>
              <a:buSzPts val="800"/>
              <a:buChar char="■"/>
              <a:defRPr sz="800">
                <a:solidFill>
                  <a:schemeClr val="dk2"/>
                </a:solidFill>
              </a:defRPr>
            </a:lvl3pPr>
            <a:lvl4pPr marL="1828800" lvl="3" indent="-279400">
              <a:lnSpc>
                <a:spcPct val="115000"/>
              </a:lnSpc>
              <a:spcBef>
                <a:spcPts val="900"/>
              </a:spcBef>
              <a:spcAft>
                <a:spcPts val="0"/>
              </a:spcAft>
              <a:buClr>
                <a:schemeClr val="dk2"/>
              </a:buClr>
              <a:buSzPts val="800"/>
              <a:buChar char="●"/>
              <a:defRPr sz="800">
                <a:solidFill>
                  <a:schemeClr val="dk2"/>
                </a:solidFill>
              </a:defRPr>
            </a:lvl4pPr>
            <a:lvl5pPr marL="2286000" lvl="4" indent="-279400">
              <a:lnSpc>
                <a:spcPct val="115000"/>
              </a:lnSpc>
              <a:spcBef>
                <a:spcPts val="900"/>
              </a:spcBef>
              <a:spcAft>
                <a:spcPts val="0"/>
              </a:spcAft>
              <a:buClr>
                <a:schemeClr val="dk2"/>
              </a:buClr>
              <a:buSzPts val="800"/>
              <a:buChar char="○"/>
              <a:defRPr sz="800">
                <a:solidFill>
                  <a:schemeClr val="dk2"/>
                </a:solidFill>
              </a:defRPr>
            </a:lvl5pPr>
            <a:lvl6pPr marL="2743200" lvl="5" indent="-279400">
              <a:lnSpc>
                <a:spcPct val="115000"/>
              </a:lnSpc>
              <a:spcBef>
                <a:spcPts val="900"/>
              </a:spcBef>
              <a:spcAft>
                <a:spcPts val="0"/>
              </a:spcAft>
              <a:buClr>
                <a:schemeClr val="dk2"/>
              </a:buClr>
              <a:buSzPts val="800"/>
              <a:buChar char="■"/>
              <a:defRPr sz="800">
                <a:solidFill>
                  <a:schemeClr val="dk2"/>
                </a:solidFill>
              </a:defRPr>
            </a:lvl6pPr>
            <a:lvl7pPr marL="3200400" lvl="6" indent="-279400">
              <a:lnSpc>
                <a:spcPct val="115000"/>
              </a:lnSpc>
              <a:spcBef>
                <a:spcPts val="900"/>
              </a:spcBef>
              <a:spcAft>
                <a:spcPts val="0"/>
              </a:spcAft>
              <a:buClr>
                <a:schemeClr val="dk2"/>
              </a:buClr>
              <a:buSzPts val="800"/>
              <a:buChar char="●"/>
              <a:defRPr sz="800">
                <a:solidFill>
                  <a:schemeClr val="dk2"/>
                </a:solidFill>
              </a:defRPr>
            </a:lvl7pPr>
            <a:lvl8pPr marL="3657600" lvl="7" indent="-279400">
              <a:lnSpc>
                <a:spcPct val="115000"/>
              </a:lnSpc>
              <a:spcBef>
                <a:spcPts val="900"/>
              </a:spcBef>
              <a:spcAft>
                <a:spcPts val="0"/>
              </a:spcAft>
              <a:buClr>
                <a:schemeClr val="dk2"/>
              </a:buClr>
              <a:buSzPts val="800"/>
              <a:buChar char="○"/>
              <a:defRPr sz="800">
                <a:solidFill>
                  <a:schemeClr val="dk2"/>
                </a:solidFill>
              </a:defRPr>
            </a:lvl8pPr>
            <a:lvl9pPr marL="4114800" lvl="8" indent="-279400">
              <a:lnSpc>
                <a:spcPct val="115000"/>
              </a:lnSpc>
              <a:spcBef>
                <a:spcPts val="900"/>
              </a:spcBef>
              <a:spcAft>
                <a:spcPts val="900"/>
              </a:spcAft>
              <a:buClr>
                <a:schemeClr val="dk2"/>
              </a:buClr>
              <a:buSzPts val="800"/>
              <a:buChar char="■"/>
              <a:defRPr sz="800">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49950" tIns="49950" rIns="49950" bIns="49950" anchor="ctr" anchorCtr="0">
            <a:noAutofit/>
          </a:bodyPr>
          <a:lstStyle>
            <a:lvl1pPr lvl="0" algn="r">
              <a:buNone/>
              <a:defRPr sz="500">
                <a:solidFill>
                  <a:schemeClr val="dk2"/>
                </a:solidFill>
              </a:defRPr>
            </a:lvl1pPr>
            <a:lvl2pPr lvl="1" algn="r">
              <a:buNone/>
              <a:defRPr sz="500">
                <a:solidFill>
                  <a:schemeClr val="dk2"/>
                </a:solidFill>
              </a:defRPr>
            </a:lvl2pPr>
            <a:lvl3pPr lvl="2" algn="r">
              <a:buNone/>
              <a:defRPr sz="500">
                <a:solidFill>
                  <a:schemeClr val="dk2"/>
                </a:solidFill>
              </a:defRPr>
            </a:lvl3pPr>
            <a:lvl4pPr lvl="3" algn="r">
              <a:buNone/>
              <a:defRPr sz="500">
                <a:solidFill>
                  <a:schemeClr val="dk2"/>
                </a:solidFill>
              </a:defRPr>
            </a:lvl4pPr>
            <a:lvl5pPr lvl="4" algn="r">
              <a:buNone/>
              <a:defRPr sz="500">
                <a:solidFill>
                  <a:schemeClr val="dk2"/>
                </a:solidFill>
              </a:defRPr>
            </a:lvl5pPr>
            <a:lvl6pPr lvl="5" algn="r">
              <a:buNone/>
              <a:defRPr sz="500">
                <a:solidFill>
                  <a:schemeClr val="dk2"/>
                </a:solidFill>
              </a:defRPr>
            </a:lvl6pPr>
            <a:lvl7pPr lvl="6" algn="r">
              <a:buNone/>
              <a:defRPr sz="500">
                <a:solidFill>
                  <a:schemeClr val="dk2"/>
                </a:solidFill>
              </a:defRPr>
            </a:lvl7pPr>
            <a:lvl8pPr lvl="7" algn="r">
              <a:buNone/>
              <a:defRPr sz="500">
                <a:solidFill>
                  <a:schemeClr val="dk2"/>
                </a:solidFill>
              </a:defRPr>
            </a:lvl8pPr>
            <a:lvl9pPr lvl="8" algn="r">
              <a:buNone/>
              <a:defRPr sz="5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comments" Target="../comments/commen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hyperlink" Target="https://www.newidea.com.au/media/73484/bangladesh-textile-factory-2015.jpg?width=720&amp;center=0.0,0.0" TargetMode="External"/></Relationships>
</file>

<file path=ppt/slides/_rels/slide17.xml.rels><?xml version="1.0" encoding="UTF-8" standalone="yes"?>
<Relationships xmlns="http://schemas.openxmlformats.org/package/2006/relationships"><Relationship Id="rId8" Type="http://schemas.openxmlformats.org/officeDocument/2006/relationships/hyperlink" Target="https://pib.socioambiental.org/en/Povo:Mura" TargetMode="External"/><Relationship Id="rId3" Type="http://schemas.openxmlformats.org/officeDocument/2006/relationships/hyperlink" Target="https://www.businessinsider.com/meat-consumption-linked-to-the-amazon-fires-2019-8?IR=T" TargetMode="External"/><Relationship Id="rId7" Type="http://schemas.openxmlformats.org/officeDocument/2006/relationships/hyperlink" Target="https://www.theoryofknowledge.net/areas-of-knowledge/indigenous-knowledge-systems/how-is-knowledge-acquired-in-indigenous-societies/"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hyperlink" Target="https://www.theoryofknowledge.net/areas-of-knowledge/indigenous-knowledge-systems/" TargetMode="External"/><Relationship Id="rId5" Type="http://schemas.openxmlformats.org/officeDocument/2006/relationships/hyperlink" Target="http://www.bbc.co.uk/ethics/introduction/consequentialism_1.shtml" TargetMode="External"/><Relationship Id="rId10" Type="http://schemas.openxmlformats.org/officeDocument/2006/relationships/hyperlink" Target="https://www.channelnewsasia.com/news/world/brazil-slams-g7-aid-offer-as-amazon-fires-rage-11845194" TargetMode="External"/><Relationship Id="rId4" Type="http://schemas.openxmlformats.org/officeDocument/2006/relationships/hyperlink" Target="http://www.bbc.co.uk/ethics/introduction/duty_1.shtml" TargetMode="External"/><Relationship Id="rId9" Type="http://schemas.openxmlformats.org/officeDocument/2006/relationships/hyperlink" Target="https://www.newidea.com.au/nike-sweatshops-the-truth-about-the-nike-factory-scandal"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www.cnbc.com/2019/09/24/brazils-president-attacks-amazon-rainforest-lies-thanks-trump.html"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hyperlink" Target="https://plato.stanford.edu/entries/consequentialis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5" name="TextBox 4"/>
          <p:cNvSpPr txBox="1"/>
          <p:nvPr/>
        </p:nvSpPr>
        <p:spPr>
          <a:xfrm>
            <a:off x="799648" y="1124675"/>
            <a:ext cx="8032652" cy="584775"/>
          </a:xfrm>
          <a:prstGeom prst="rect">
            <a:avLst/>
          </a:prstGeom>
          <a:solidFill>
            <a:srgbClr val="434343">
              <a:alpha val="56078"/>
            </a:srgbClr>
          </a:solidFill>
        </p:spPr>
        <p:txBody>
          <a:bodyPr wrap="square" rtlCol="0">
            <a:spAutoFit/>
          </a:bodyPr>
          <a:lstStyle/>
          <a:p>
            <a:r>
              <a:rPr lang="en-US" sz="3200" b="1" dirty="0" smtClean="0">
                <a:solidFill>
                  <a:srgbClr val="FFFF00"/>
                </a:solidFill>
                <a:effectLst>
                  <a:outerShdw blurRad="38100" dist="38100" dir="2700000" algn="tl">
                    <a:srgbClr val="000000">
                      <a:alpha val="43137"/>
                    </a:srgbClr>
                  </a:outerShdw>
                </a:effectLst>
              </a:rPr>
              <a:t>Meat Consumption: Reduce or Continue</a:t>
            </a:r>
            <a:endParaRPr lang="en-US" sz="3200" b="1" dirty="0">
              <a:solidFill>
                <a:srgbClr val="FFFF00"/>
              </a:solidFill>
              <a:effectLst>
                <a:outerShdw blurRad="38100" dist="38100" dir="2700000" algn="tl">
                  <a:srgbClr val="000000">
                    <a:alpha val="43137"/>
                  </a:srgbClr>
                </a:outerShdw>
              </a:effectLst>
            </a:endParaRPr>
          </a:p>
        </p:txBody>
      </p:sp>
      <p:sp>
        <p:nvSpPr>
          <p:cNvPr id="11" name="TextBox 10"/>
          <p:cNvSpPr txBox="1"/>
          <p:nvPr/>
        </p:nvSpPr>
        <p:spPr>
          <a:xfrm>
            <a:off x="3259149" y="3134087"/>
            <a:ext cx="1755983" cy="584775"/>
          </a:xfrm>
          <a:prstGeom prst="rect">
            <a:avLst/>
          </a:prstGeom>
          <a:solidFill>
            <a:srgbClr val="434343">
              <a:alpha val="56078"/>
            </a:srgbClr>
          </a:solidFill>
        </p:spPr>
        <p:txBody>
          <a:bodyPr wrap="square" rtlCol="0">
            <a:spAutoFit/>
          </a:bodyPr>
          <a:lstStyle/>
          <a:p>
            <a:r>
              <a:rPr lang="en-US" sz="3200" b="1" dirty="0" err="1" smtClean="0">
                <a:solidFill>
                  <a:srgbClr val="FFFF00"/>
                </a:solidFill>
                <a:effectLst>
                  <a:outerShdw blurRad="38100" dist="38100" dir="2700000" algn="tl">
                    <a:srgbClr val="000000">
                      <a:alpha val="43137"/>
                    </a:srgbClr>
                  </a:outerShdw>
                </a:effectLst>
              </a:rPr>
              <a:t>Dheeraj</a:t>
            </a:r>
            <a:endParaRPr lang="en-US" sz="3200" b="1" dirty="0">
              <a:solidFill>
                <a:srgbClr val="FFFF00"/>
              </a:solidFill>
              <a:effectLst>
                <a:outerShdw blurRad="38100" dist="38100" dir="2700000" algn="tl">
                  <a:srgbClr val="000000">
                    <a:alpha val="43137"/>
                  </a:srgb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3762809656"/>
              </p:ext>
            </p:extLst>
          </p:nvPr>
        </p:nvGraphicFramePr>
        <p:xfrm>
          <a:off x="1019908" y="548640"/>
          <a:ext cx="7962314" cy="43187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Google Shape;103;p16"/>
          <p:cNvSpPr txBox="1">
            <a:spLocks noGrp="1"/>
          </p:cNvSpPr>
          <p:nvPr>
            <p:ph type="title"/>
          </p:nvPr>
        </p:nvSpPr>
        <p:spPr>
          <a:xfrm>
            <a:off x="170325" y="57193"/>
            <a:ext cx="6936900" cy="572700"/>
          </a:xfrm>
          <a:prstGeom prst="rect">
            <a:avLst/>
          </a:prstGeom>
          <a:noFill/>
          <a:ln>
            <a:noFill/>
          </a:ln>
        </p:spPr>
        <p:txBody>
          <a:bodyPr spcFirstLastPara="1" wrap="square" lIns="49950" tIns="49950" rIns="49950" bIns="49950" anchor="t" anchorCtr="0">
            <a:noAutofit/>
          </a:bodyPr>
          <a:lstStyle/>
          <a:p>
            <a:pPr algn="l">
              <a:lnSpc>
                <a:spcPct val="115000"/>
              </a:lnSpc>
              <a:buSzPts val="600"/>
            </a:pPr>
            <a:r>
              <a:rPr lang="en" sz="2400" b="1" dirty="0">
                <a:solidFill>
                  <a:schemeClr val="dk2"/>
                </a:solidFill>
              </a:rPr>
              <a:t>Process</a:t>
            </a:r>
            <a:endParaRPr sz="2400" b="1" dirty="0">
              <a:solidFill>
                <a:schemeClr val="dk2"/>
              </a:solidFill>
            </a:endParaRPr>
          </a:p>
        </p:txBody>
      </p:sp>
    </p:spTree>
    <p:extLst>
      <p:ext uri="{BB962C8B-B14F-4D97-AF65-F5344CB8AC3E}">
        <p14:creationId xmlns:p14="http://schemas.microsoft.com/office/powerpoint/2010/main" val="1824042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0" y="0"/>
            <a:ext cx="4567771" cy="2848708"/>
          </a:xfrm>
          <a:prstGeom prst="rect">
            <a:avLst/>
          </a:prstGeom>
        </p:spPr>
      </p:pic>
      <p:sp>
        <p:nvSpPr>
          <p:cNvPr id="96" name="Google Shape;96;p15"/>
          <p:cNvSpPr txBox="1">
            <a:spLocks noGrp="1"/>
          </p:cNvSpPr>
          <p:nvPr>
            <p:ph type="title"/>
          </p:nvPr>
        </p:nvSpPr>
        <p:spPr>
          <a:xfrm>
            <a:off x="2100" y="0"/>
            <a:ext cx="4572000" cy="501323"/>
          </a:xfrm>
          <a:prstGeom prst="rect">
            <a:avLst/>
          </a:prstGeom>
          <a:solidFill>
            <a:srgbClr val="00CC00">
              <a:alpha val="30196"/>
            </a:srgbClr>
          </a:solidFill>
        </p:spPr>
        <p:txBody>
          <a:bodyPr spcFirstLastPara="1" wrap="square" lIns="49950" tIns="49950" rIns="49950" bIns="49950" anchor="b" anchorCtr="0">
            <a:noAutofit/>
          </a:bodyPr>
          <a:lstStyle/>
          <a:p>
            <a:pPr marL="0" lvl="0" indent="0" algn="ctr" rtl="0">
              <a:spcBef>
                <a:spcPts val="0"/>
              </a:spcBef>
              <a:spcAft>
                <a:spcPts val="0"/>
              </a:spcAft>
              <a:buNone/>
            </a:pPr>
            <a:r>
              <a:rPr lang="en" b="1" dirty="0">
                <a:solidFill>
                  <a:schemeClr val="bg1"/>
                </a:solidFill>
                <a:effectLst>
                  <a:outerShdw blurRad="38100" dist="38100" dir="2700000" algn="tl">
                    <a:srgbClr val="000000">
                      <a:alpha val="43137"/>
                    </a:srgbClr>
                  </a:outerShdw>
                </a:effectLst>
              </a:rPr>
              <a:t>Real-Life </a:t>
            </a:r>
            <a:r>
              <a:rPr lang="en" b="1" dirty="0" smtClean="0">
                <a:solidFill>
                  <a:schemeClr val="bg1"/>
                </a:solidFill>
                <a:effectLst>
                  <a:outerShdw blurRad="38100" dist="38100" dir="2700000" algn="tl">
                    <a:srgbClr val="000000">
                      <a:alpha val="43137"/>
                    </a:srgbClr>
                  </a:outerShdw>
                </a:effectLst>
              </a:rPr>
              <a:t>Situation (</a:t>
            </a:r>
            <a:r>
              <a:rPr lang="en" b="1" dirty="0">
                <a:solidFill>
                  <a:schemeClr val="bg1"/>
                </a:solidFill>
                <a:effectLst>
                  <a:outerShdw blurRad="38100" dist="38100" dir="2700000" algn="tl">
                    <a:srgbClr val="000000">
                      <a:alpha val="43137"/>
                    </a:srgbClr>
                  </a:outerShdw>
                </a:effectLst>
              </a:rPr>
              <a:t>RLS) </a:t>
            </a:r>
            <a:endParaRPr b="1" dirty="0">
              <a:solidFill>
                <a:schemeClr val="bg1"/>
              </a:solidFill>
              <a:effectLst>
                <a:outerShdw blurRad="38100" dist="38100" dir="2700000" algn="tl">
                  <a:srgbClr val="000000">
                    <a:alpha val="43137"/>
                  </a:srgbClr>
                </a:outerShdw>
              </a:effectLst>
            </a:endParaRPr>
          </a:p>
        </p:txBody>
      </p:sp>
      <p:sp>
        <p:nvSpPr>
          <p:cNvPr id="97" name="Google Shape;97;p15"/>
          <p:cNvSpPr txBox="1">
            <a:spLocks noGrp="1"/>
          </p:cNvSpPr>
          <p:nvPr>
            <p:ph type="subTitle" idx="1"/>
          </p:nvPr>
        </p:nvSpPr>
        <p:spPr>
          <a:xfrm>
            <a:off x="4572000" y="82500"/>
            <a:ext cx="4572000" cy="940500"/>
          </a:xfrm>
          <a:prstGeom prst="rect">
            <a:avLst/>
          </a:prstGeom>
        </p:spPr>
        <p:txBody>
          <a:bodyPr spcFirstLastPara="1" wrap="square" lIns="182880" tIns="49950" rIns="54864" bIns="49950" anchor="t" anchorCtr="0">
            <a:noAutofit/>
          </a:bodyPr>
          <a:lstStyle/>
          <a:p>
            <a:pPr marL="0" lvl="0" indent="0" algn="l" rtl="0">
              <a:spcBef>
                <a:spcPts val="0"/>
              </a:spcBef>
              <a:spcAft>
                <a:spcPts val="0"/>
              </a:spcAft>
              <a:buNone/>
            </a:pPr>
            <a:r>
              <a:rPr lang="en" sz="2400" b="1" dirty="0">
                <a:solidFill>
                  <a:schemeClr val="dk1"/>
                </a:solidFill>
              </a:rPr>
              <a:t>Why meat consumption is linked to the Amazon fires?</a:t>
            </a:r>
            <a:endParaRPr sz="2400" b="1" dirty="0">
              <a:solidFill>
                <a:schemeClr val="dk1"/>
              </a:solidFill>
            </a:endParaRPr>
          </a:p>
        </p:txBody>
      </p:sp>
      <p:sp>
        <p:nvSpPr>
          <p:cNvPr id="98" name="Google Shape;98;p15"/>
          <p:cNvSpPr txBox="1">
            <a:spLocks noGrp="1"/>
          </p:cNvSpPr>
          <p:nvPr>
            <p:ph type="body" idx="2"/>
          </p:nvPr>
        </p:nvSpPr>
        <p:spPr>
          <a:xfrm>
            <a:off x="4572000" y="940475"/>
            <a:ext cx="4572000" cy="4102800"/>
          </a:xfrm>
          <a:prstGeom prst="rect">
            <a:avLst/>
          </a:prstGeom>
        </p:spPr>
        <p:txBody>
          <a:bodyPr spcFirstLastPara="1" wrap="square" lIns="182880" tIns="49950" rIns="49950" bIns="49950" anchor="ctr" anchorCtr="0">
            <a:noAutofit/>
          </a:bodyPr>
          <a:lstStyle/>
          <a:p>
            <a:pPr marL="0" lvl="0" indent="0" algn="l" rtl="0">
              <a:spcBef>
                <a:spcPts val="900"/>
              </a:spcBef>
              <a:spcAft>
                <a:spcPts val="0"/>
              </a:spcAft>
              <a:buNone/>
            </a:pPr>
            <a:r>
              <a:rPr lang="en" sz="1600" dirty="0" smtClean="0">
                <a:solidFill>
                  <a:schemeClr val="dk1"/>
                </a:solidFill>
              </a:rPr>
              <a:t>Theme</a:t>
            </a:r>
            <a:r>
              <a:rPr lang="en" sz="1600" dirty="0">
                <a:solidFill>
                  <a:schemeClr val="dk1"/>
                </a:solidFill>
              </a:rPr>
              <a:t>: Changes in meat consumption </a:t>
            </a:r>
            <a:endParaRPr sz="1600" dirty="0">
              <a:solidFill>
                <a:schemeClr val="dk1"/>
              </a:solidFill>
            </a:endParaRPr>
          </a:p>
          <a:p>
            <a:pPr marL="0" lvl="0" indent="0" algn="l" rtl="0">
              <a:spcBef>
                <a:spcPts val="900"/>
              </a:spcBef>
              <a:spcAft>
                <a:spcPts val="0"/>
              </a:spcAft>
              <a:buNone/>
            </a:pPr>
            <a:r>
              <a:rPr lang="en" sz="1600" dirty="0">
                <a:solidFill>
                  <a:schemeClr val="dk1"/>
                </a:solidFill>
              </a:rPr>
              <a:t>Date: August 2019</a:t>
            </a:r>
            <a:endParaRPr sz="1600" dirty="0">
              <a:solidFill>
                <a:schemeClr val="dk1"/>
              </a:solidFill>
            </a:endParaRPr>
          </a:p>
          <a:p>
            <a:pPr marL="0" lvl="0" indent="0" algn="l" rtl="0">
              <a:spcBef>
                <a:spcPts val="900"/>
              </a:spcBef>
              <a:spcAft>
                <a:spcPts val="0"/>
              </a:spcAft>
              <a:buNone/>
            </a:pPr>
            <a:r>
              <a:rPr lang="en" sz="1600" dirty="0">
                <a:solidFill>
                  <a:schemeClr val="dk1"/>
                </a:solidFill>
              </a:rPr>
              <a:t>Location: Amazon rainforest in Brazil</a:t>
            </a:r>
            <a:endParaRPr sz="1600" dirty="0">
              <a:solidFill>
                <a:schemeClr val="dk1"/>
              </a:solidFill>
            </a:endParaRPr>
          </a:p>
          <a:p>
            <a:pPr marL="0" lvl="0" indent="0" algn="l" rtl="0">
              <a:lnSpc>
                <a:spcPct val="100000"/>
              </a:lnSpc>
              <a:spcBef>
                <a:spcPts val="900"/>
              </a:spcBef>
              <a:spcAft>
                <a:spcPts val="0"/>
              </a:spcAft>
              <a:buNone/>
            </a:pPr>
            <a:r>
              <a:rPr lang="en" sz="1600" dirty="0">
                <a:solidFill>
                  <a:schemeClr val="dk1"/>
                </a:solidFill>
              </a:rPr>
              <a:t>Summary:</a:t>
            </a:r>
            <a:endParaRPr sz="1600" dirty="0">
              <a:solidFill>
                <a:schemeClr val="dk1"/>
              </a:solidFill>
            </a:endParaRPr>
          </a:p>
          <a:p>
            <a:pPr marL="254000" lvl="0" indent="-228600" algn="l" rtl="0">
              <a:spcBef>
                <a:spcPts val="0"/>
              </a:spcBef>
              <a:spcAft>
                <a:spcPts val="0"/>
              </a:spcAft>
              <a:buClr>
                <a:schemeClr val="dk1"/>
              </a:buClr>
              <a:buSzPts val="1600"/>
              <a:buChar char="●"/>
            </a:pPr>
            <a:r>
              <a:rPr lang="en" sz="1600" dirty="0">
                <a:solidFill>
                  <a:schemeClr val="dk1"/>
                </a:solidFill>
              </a:rPr>
              <a:t>The international debate on whether meat consumption should be the main cause of the ongoing Amazon forest fires in </a:t>
            </a:r>
            <a:r>
              <a:rPr lang="en" sz="1600" dirty="0" smtClean="0">
                <a:solidFill>
                  <a:schemeClr val="dk1"/>
                </a:solidFill>
              </a:rPr>
              <a:t>Brazil</a:t>
            </a:r>
          </a:p>
          <a:p>
            <a:pPr marL="25400" lvl="0" indent="0" algn="l" rtl="0">
              <a:spcBef>
                <a:spcPts val="0"/>
              </a:spcBef>
              <a:spcAft>
                <a:spcPts val="0"/>
              </a:spcAft>
              <a:buClr>
                <a:schemeClr val="dk1"/>
              </a:buClr>
              <a:buSzPts val="1600"/>
              <a:buNone/>
            </a:pPr>
            <a:endParaRPr sz="1600" dirty="0">
              <a:solidFill>
                <a:schemeClr val="dk1"/>
              </a:solidFill>
            </a:endParaRPr>
          </a:p>
          <a:p>
            <a:pPr marL="254000" lvl="0" indent="-228600" algn="l" rtl="0">
              <a:spcBef>
                <a:spcPts val="0"/>
              </a:spcBef>
              <a:spcAft>
                <a:spcPts val="0"/>
              </a:spcAft>
              <a:buClr>
                <a:schemeClr val="dk1"/>
              </a:buClr>
              <a:buSzPts val="1600"/>
              <a:buChar char="●"/>
            </a:pPr>
            <a:r>
              <a:rPr lang="en" sz="1600" dirty="0">
                <a:solidFill>
                  <a:schemeClr val="dk1"/>
                </a:solidFill>
              </a:rPr>
              <a:t>Stakeholders investigated: Farmers, indigenous tribes, consumers, G7 countries, the Brazilian president and the non-governmental organisations(NGOs)</a:t>
            </a:r>
            <a:endParaRPr sz="1600" dirty="0">
              <a:solidFill>
                <a:schemeClr val="dk1"/>
              </a:solidFill>
            </a:endParaRPr>
          </a:p>
          <a:p>
            <a:pPr marL="0" lvl="0" indent="0" algn="l" rtl="0">
              <a:spcBef>
                <a:spcPts val="900"/>
              </a:spcBef>
              <a:spcAft>
                <a:spcPts val="900"/>
              </a:spcAft>
              <a:buNone/>
            </a:pPr>
            <a:endParaRPr dirty="0"/>
          </a:p>
        </p:txBody>
      </p:sp>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t="29268"/>
          <a:stretch/>
        </p:blipFill>
        <p:spPr>
          <a:xfrm>
            <a:off x="2100" y="2848708"/>
            <a:ext cx="4567771" cy="229479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94698" y="64069"/>
            <a:ext cx="6936900" cy="572700"/>
          </a:xfrm>
          <a:prstGeom prst="rect">
            <a:avLst/>
          </a:prstGeom>
          <a:noFill/>
          <a:ln>
            <a:noFill/>
          </a:ln>
        </p:spPr>
        <p:txBody>
          <a:bodyPr spcFirstLastPara="1" wrap="square" lIns="49950" tIns="49950" rIns="49950" bIns="49950" anchor="t" anchorCtr="0">
            <a:noAutofit/>
          </a:bodyPr>
          <a:lstStyle/>
          <a:p>
            <a:pPr>
              <a:lnSpc>
                <a:spcPct val="115000"/>
              </a:lnSpc>
              <a:buSzPts val="600"/>
            </a:pPr>
            <a:r>
              <a:rPr lang="en" sz="2400" b="1" dirty="0">
                <a:solidFill>
                  <a:schemeClr val="dk2"/>
                </a:solidFill>
              </a:rPr>
              <a:t>Opinions on the stakeholders in the RLS</a:t>
            </a:r>
            <a:endParaRPr sz="2400" b="1" dirty="0">
              <a:solidFill>
                <a:schemeClr val="dk2"/>
              </a:solidFill>
            </a:endParaRPr>
          </a:p>
        </p:txBody>
      </p:sp>
      <p:sp>
        <p:nvSpPr>
          <p:cNvPr id="105" name="Google Shape;105;p16"/>
          <p:cNvSpPr txBox="1"/>
          <p:nvPr/>
        </p:nvSpPr>
        <p:spPr>
          <a:xfrm>
            <a:off x="45872" y="867461"/>
            <a:ext cx="2756928" cy="560262"/>
          </a:xfrm>
          <a:prstGeom prst="rect">
            <a:avLst/>
          </a:prstGeom>
          <a:solidFill>
            <a:srgbClr val="008000"/>
          </a:solidFill>
          <a:ln>
            <a:noFill/>
          </a:ln>
        </p:spPr>
        <p:txBody>
          <a:bodyPr spcFirstLastPara="1" wrap="square" lIns="49950" tIns="49950" rIns="49950" bIns="49950" anchor="ctr" anchorCtr="0">
            <a:noAutofit/>
          </a:bodyPr>
          <a:lstStyle/>
          <a:p>
            <a:pPr marL="0" lvl="0" indent="0" algn="ctr" rtl="0">
              <a:spcBef>
                <a:spcPts val="0"/>
              </a:spcBef>
              <a:spcAft>
                <a:spcPts val="0"/>
              </a:spcAft>
              <a:buNone/>
            </a:pPr>
            <a:r>
              <a:rPr lang="en-US" sz="2800" b="1" dirty="0" smtClean="0">
                <a:solidFill>
                  <a:schemeClr val="bg1"/>
                </a:solidFill>
              </a:rPr>
              <a:t>Farmers</a:t>
            </a:r>
            <a:endParaRPr sz="2800" b="1" dirty="0">
              <a:solidFill>
                <a:schemeClr val="bg1"/>
              </a:solidFill>
            </a:endParaRPr>
          </a:p>
        </p:txBody>
      </p:sp>
      <p:sp>
        <p:nvSpPr>
          <p:cNvPr id="106" name="Google Shape;106;p16"/>
          <p:cNvSpPr/>
          <p:nvPr/>
        </p:nvSpPr>
        <p:spPr>
          <a:xfrm>
            <a:off x="45898" y="867461"/>
            <a:ext cx="2756928" cy="4124278"/>
          </a:xfrm>
          <a:prstGeom prst="rect">
            <a:avLst/>
          </a:prstGeom>
          <a:noFill/>
          <a:ln w="9525" cap="flat" cmpd="sng">
            <a:solidFill>
              <a:schemeClr val="dk1"/>
            </a:solidFill>
            <a:prstDash val="solid"/>
            <a:round/>
            <a:headEnd type="none" w="sm" len="sm"/>
            <a:tailEnd type="none" w="sm" len="sm"/>
          </a:ln>
        </p:spPr>
        <p:txBody>
          <a:bodyPr spcFirstLastPara="1" wrap="square" lIns="49950" tIns="49950" rIns="49950" bIns="49950" anchor="ctr" anchorCtr="0">
            <a:noAutofit/>
          </a:bodyPr>
          <a:lstStyle/>
          <a:p>
            <a:pPr marL="0" lvl="0" indent="0" algn="l" rtl="0">
              <a:spcBef>
                <a:spcPts val="0"/>
              </a:spcBef>
              <a:spcAft>
                <a:spcPts val="0"/>
              </a:spcAft>
              <a:buNone/>
            </a:pPr>
            <a:endParaRPr/>
          </a:p>
        </p:txBody>
      </p:sp>
      <p:sp>
        <p:nvSpPr>
          <p:cNvPr id="108" name="Google Shape;108;p16"/>
          <p:cNvSpPr txBox="1">
            <a:spLocks noGrp="1"/>
          </p:cNvSpPr>
          <p:nvPr>
            <p:ph type="body" idx="4294967295"/>
          </p:nvPr>
        </p:nvSpPr>
        <p:spPr>
          <a:xfrm>
            <a:off x="45122" y="1425753"/>
            <a:ext cx="2750212" cy="3498600"/>
          </a:xfrm>
          <a:prstGeom prst="rect">
            <a:avLst/>
          </a:prstGeom>
        </p:spPr>
        <p:txBody>
          <a:bodyPr spcFirstLastPara="1" wrap="square" lIns="49950" tIns="49950" rIns="49950" bIns="49950" anchor="t" anchorCtr="0">
            <a:noAutofit/>
          </a:bodyPr>
          <a:lstStyle/>
          <a:p>
            <a:pPr marL="254000" lvl="0" indent="-215900" algn="l" rtl="0">
              <a:spcBef>
                <a:spcPts val="0"/>
              </a:spcBef>
              <a:spcAft>
                <a:spcPts val="0"/>
              </a:spcAft>
              <a:buClr>
                <a:schemeClr val="dk1"/>
              </a:buClr>
              <a:buSzPts val="1400"/>
              <a:buChar char="●"/>
            </a:pPr>
            <a:r>
              <a:rPr lang="en" sz="1400" dirty="0">
                <a:solidFill>
                  <a:schemeClr val="dk1"/>
                </a:solidFill>
              </a:rPr>
              <a:t>Slash-and-burn method to create pasture land to grow agriculture. </a:t>
            </a:r>
            <a:endParaRPr lang="en" sz="1400" dirty="0" smtClean="0">
              <a:solidFill>
                <a:schemeClr val="dk1"/>
              </a:solidFill>
            </a:endParaRPr>
          </a:p>
          <a:p>
            <a:pPr marL="38100" lvl="0" indent="0" algn="l" rtl="0">
              <a:spcBef>
                <a:spcPts val="0"/>
              </a:spcBef>
              <a:spcAft>
                <a:spcPts val="0"/>
              </a:spcAft>
              <a:buClr>
                <a:schemeClr val="dk1"/>
              </a:buClr>
              <a:buSzPts val="1400"/>
              <a:buNone/>
            </a:pPr>
            <a:endParaRPr sz="1400" dirty="0">
              <a:solidFill>
                <a:schemeClr val="dk1"/>
              </a:solidFill>
            </a:endParaRPr>
          </a:p>
          <a:p>
            <a:pPr marL="254000" lvl="0" indent="-215900" algn="l" rtl="0">
              <a:spcBef>
                <a:spcPts val="0"/>
              </a:spcBef>
              <a:spcAft>
                <a:spcPts val="0"/>
              </a:spcAft>
              <a:buClr>
                <a:schemeClr val="dk1"/>
              </a:buClr>
              <a:buSzPts val="1400"/>
              <a:buChar char="●"/>
            </a:pPr>
            <a:r>
              <a:rPr lang="en" sz="1400" dirty="0">
                <a:solidFill>
                  <a:schemeClr val="dk1"/>
                </a:solidFill>
              </a:rPr>
              <a:t>The farmers think that  cutting down the trees is a long process and they started a forest fire to earn income faster. These actions were done for their living. Forest fires is seen as something important and the right thing for them. </a:t>
            </a:r>
            <a:endParaRPr sz="1400" dirty="0">
              <a:solidFill>
                <a:schemeClr val="dk1"/>
              </a:solidFill>
            </a:endParaRPr>
          </a:p>
        </p:txBody>
      </p:sp>
      <p:sp>
        <p:nvSpPr>
          <p:cNvPr id="111" name="Google Shape;111;p16"/>
          <p:cNvSpPr/>
          <p:nvPr/>
        </p:nvSpPr>
        <p:spPr>
          <a:xfrm>
            <a:off x="2908868" y="849185"/>
            <a:ext cx="3377348" cy="4160834"/>
          </a:xfrm>
          <a:prstGeom prst="rect">
            <a:avLst/>
          </a:prstGeom>
          <a:noFill/>
          <a:ln w="9525" cap="flat" cmpd="sng">
            <a:solidFill>
              <a:schemeClr val="dk1"/>
            </a:solidFill>
            <a:prstDash val="solid"/>
            <a:round/>
            <a:headEnd type="none" w="sm" len="sm"/>
            <a:tailEnd type="none" w="sm" len="sm"/>
          </a:ln>
        </p:spPr>
        <p:txBody>
          <a:bodyPr spcFirstLastPara="1" wrap="square" lIns="49950" tIns="49950" rIns="49950" bIns="49950" anchor="ctr" anchorCtr="0">
            <a:noAutofit/>
          </a:bodyPr>
          <a:lstStyle/>
          <a:p>
            <a:pPr marL="0" lvl="0" indent="0" algn="l" rtl="0">
              <a:spcBef>
                <a:spcPts val="0"/>
              </a:spcBef>
              <a:spcAft>
                <a:spcPts val="0"/>
              </a:spcAft>
              <a:buNone/>
            </a:pPr>
            <a:endParaRPr/>
          </a:p>
        </p:txBody>
      </p:sp>
      <p:sp>
        <p:nvSpPr>
          <p:cNvPr id="112" name="Google Shape;112;p16"/>
          <p:cNvSpPr txBox="1">
            <a:spLocks noGrp="1"/>
          </p:cNvSpPr>
          <p:nvPr>
            <p:ph type="body" idx="4294967295"/>
          </p:nvPr>
        </p:nvSpPr>
        <p:spPr>
          <a:xfrm>
            <a:off x="2916334" y="849185"/>
            <a:ext cx="3343316" cy="578538"/>
          </a:xfrm>
          <a:prstGeom prst="rect">
            <a:avLst/>
          </a:prstGeom>
          <a:solidFill>
            <a:schemeClr val="tx2">
              <a:lumMod val="50000"/>
            </a:schemeClr>
          </a:solidFill>
          <a:ln>
            <a:noFill/>
          </a:ln>
        </p:spPr>
        <p:txBody>
          <a:bodyPr spcFirstLastPara="1" wrap="square" lIns="49950" tIns="49950" rIns="49950" bIns="49950" anchor="ctr" anchorCtr="0">
            <a:noAutofit/>
          </a:bodyPr>
          <a:lstStyle/>
          <a:p>
            <a:pPr marL="0" indent="0" algn="ctr">
              <a:lnSpc>
                <a:spcPct val="100000"/>
              </a:lnSpc>
              <a:buClr>
                <a:srgbClr val="000000"/>
              </a:buClr>
              <a:buNone/>
            </a:pPr>
            <a:r>
              <a:rPr lang="en" sz="2800" b="1">
                <a:solidFill>
                  <a:schemeClr val="bg1"/>
                </a:solidFill>
              </a:rPr>
              <a:t>Consumers</a:t>
            </a:r>
            <a:endParaRPr sz="2800" b="1">
              <a:solidFill>
                <a:schemeClr val="bg1"/>
              </a:solidFill>
            </a:endParaRPr>
          </a:p>
        </p:txBody>
      </p:sp>
      <p:sp>
        <p:nvSpPr>
          <p:cNvPr id="113" name="Google Shape;113;p16"/>
          <p:cNvSpPr txBox="1">
            <a:spLocks noGrp="1"/>
          </p:cNvSpPr>
          <p:nvPr>
            <p:ph type="body" idx="4294967295"/>
          </p:nvPr>
        </p:nvSpPr>
        <p:spPr>
          <a:xfrm>
            <a:off x="2937000" y="1443799"/>
            <a:ext cx="3239513" cy="3547939"/>
          </a:xfrm>
          <a:prstGeom prst="rect">
            <a:avLst/>
          </a:prstGeom>
        </p:spPr>
        <p:txBody>
          <a:bodyPr spcFirstLastPara="1" wrap="square" lIns="49950" tIns="49950" rIns="49950" bIns="49950" anchor="t" anchorCtr="0">
            <a:noAutofit/>
          </a:bodyPr>
          <a:lstStyle/>
          <a:p>
            <a:pPr marL="254000" indent="-215900">
              <a:buClr>
                <a:schemeClr val="dk1"/>
              </a:buClr>
              <a:buSzPts val="1400"/>
            </a:pPr>
            <a:r>
              <a:rPr lang="en" sz="1400" dirty="0">
                <a:solidFill>
                  <a:schemeClr val="dk1"/>
                </a:solidFill>
              </a:rPr>
              <a:t>Meat such as beef and pork is a staple for these chinese consumers. Since it is a staple, they view meat as something important and therefore view the forest fire with little regard as they are not responsible for it.</a:t>
            </a:r>
            <a:endParaRPr sz="1400" dirty="0">
              <a:solidFill>
                <a:schemeClr val="dk1"/>
              </a:solidFill>
            </a:endParaRPr>
          </a:p>
        </p:txBody>
      </p:sp>
      <p:sp>
        <p:nvSpPr>
          <p:cNvPr id="115" name="Google Shape;115;p16"/>
          <p:cNvSpPr/>
          <p:nvPr/>
        </p:nvSpPr>
        <p:spPr>
          <a:xfrm>
            <a:off x="6399750" y="849361"/>
            <a:ext cx="2628900" cy="4160492"/>
          </a:xfrm>
          <a:prstGeom prst="rect">
            <a:avLst/>
          </a:prstGeom>
          <a:noFill/>
          <a:ln w="9525" cap="flat" cmpd="sng">
            <a:solidFill>
              <a:schemeClr val="dk1"/>
            </a:solidFill>
            <a:prstDash val="solid"/>
            <a:round/>
            <a:headEnd type="none" w="sm" len="sm"/>
            <a:tailEnd type="none" w="sm" len="sm"/>
          </a:ln>
        </p:spPr>
        <p:txBody>
          <a:bodyPr spcFirstLastPara="1" wrap="square" lIns="49950" tIns="49950" rIns="49950" bIns="49950" anchor="ctr" anchorCtr="0">
            <a:noAutofit/>
          </a:bodyPr>
          <a:lstStyle/>
          <a:p>
            <a:pPr marL="0" lvl="0" indent="0" algn="l" rtl="0">
              <a:spcBef>
                <a:spcPts val="0"/>
              </a:spcBef>
              <a:spcAft>
                <a:spcPts val="0"/>
              </a:spcAft>
              <a:buNone/>
            </a:pPr>
            <a:endParaRPr/>
          </a:p>
        </p:txBody>
      </p:sp>
      <p:sp>
        <p:nvSpPr>
          <p:cNvPr id="117" name="Google Shape;117;p16"/>
          <p:cNvSpPr txBox="1">
            <a:spLocks noGrp="1"/>
          </p:cNvSpPr>
          <p:nvPr>
            <p:ph type="body" idx="4294967295"/>
          </p:nvPr>
        </p:nvSpPr>
        <p:spPr>
          <a:xfrm>
            <a:off x="6396900" y="849185"/>
            <a:ext cx="2631750" cy="576568"/>
          </a:xfrm>
          <a:prstGeom prst="rect">
            <a:avLst/>
          </a:prstGeom>
          <a:solidFill>
            <a:srgbClr val="C00000"/>
          </a:solidFill>
          <a:ln>
            <a:noFill/>
          </a:ln>
        </p:spPr>
        <p:txBody>
          <a:bodyPr spcFirstLastPara="1" wrap="square" lIns="49950" tIns="49950" rIns="49950" bIns="49950" anchor="ctr" anchorCtr="0">
            <a:noAutofit/>
          </a:bodyPr>
          <a:lstStyle/>
          <a:p>
            <a:pPr marL="0" indent="0" algn="ctr">
              <a:lnSpc>
                <a:spcPct val="100000"/>
              </a:lnSpc>
              <a:buClr>
                <a:srgbClr val="000000"/>
              </a:buClr>
              <a:buNone/>
            </a:pPr>
            <a:r>
              <a:rPr lang="en" sz="2800" b="1" dirty="0">
                <a:solidFill>
                  <a:schemeClr val="bg1"/>
                </a:solidFill>
              </a:rPr>
              <a:t>G7 countries</a:t>
            </a:r>
            <a:endParaRPr sz="2800" b="1" dirty="0">
              <a:solidFill>
                <a:schemeClr val="bg1"/>
              </a:solidFill>
            </a:endParaRPr>
          </a:p>
        </p:txBody>
      </p:sp>
      <p:sp>
        <p:nvSpPr>
          <p:cNvPr id="118" name="Google Shape;118;p16"/>
          <p:cNvSpPr txBox="1">
            <a:spLocks noGrp="1"/>
          </p:cNvSpPr>
          <p:nvPr>
            <p:ph type="body" idx="4294967295"/>
          </p:nvPr>
        </p:nvSpPr>
        <p:spPr>
          <a:xfrm>
            <a:off x="6396900" y="1466475"/>
            <a:ext cx="2632500" cy="3584100"/>
          </a:xfrm>
          <a:prstGeom prst="rect">
            <a:avLst/>
          </a:prstGeom>
        </p:spPr>
        <p:txBody>
          <a:bodyPr spcFirstLastPara="1" wrap="square" lIns="49950" tIns="49950" rIns="49950" bIns="49950" anchor="t" anchorCtr="0">
            <a:noAutofit/>
          </a:bodyPr>
          <a:lstStyle/>
          <a:p>
            <a:pPr marL="254000" indent="-215900">
              <a:buClr>
                <a:schemeClr val="dk1"/>
              </a:buClr>
              <a:buSzPts val="1400"/>
            </a:pPr>
            <a:r>
              <a:rPr lang="en" sz="1400" dirty="0">
                <a:solidFill>
                  <a:schemeClr val="dk1"/>
                </a:solidFill>
              </a:rPr>
              <a:t>They understand the importance of protecting environment as it leads to unsustainable deforestation of the forest for livestock, agriculture etc. </a:t>
            </a:r>
            <a:endParaRPr lang="en" sz="1400" dirty="0" smtClean="0">
              <a:solidFill>
                <a:schemeClr val="dk1"/>
              </a:solidFill>
            </a:endParaRPr>
          </a:p>
          <a:p>
            <a:pPr marL="38100" indent="0">
              <a:buClr>
                <a:schemeClr val="dk1"/>
              </a:buClr>
              <a:buSzPts val="1400"/>
              <a:buNone/>
            </a:pPr>
            <a:endParaRPr sz="1400" dirty="0">
              <a:solidFill>
                <a:schemeClr val="dk1"/>
              </a:solidFill>
            </a:endParaRPr>
          </a:p>
          <a:p>
            <a:pPr marL="254000" indent="-215900">
              <a:buClr>
                <a:schemeClr val="dk1"/>
              </a:buClr>
              <a:buSzPts val="1400"/>
            </a:pPr>
            <a:r>
              <a:rPr lang="en" sz="1400" dirty="0">
                <a:solidFill>
                  <a:schemeClr val="dk1"/>
                </a:solidFill>
              </a:rPr>
              <a:t>It must be contained to further reduce worldwide impact and help control  the planet’s climate.</a:t>
            </a:r>
            <a:endParaRPr sz="1400" dirty="0">
              <a:solidFill>
                <a:schemeClr val="dk1"/>
              </a:solidFill>
            </a:endParaRPr>
          </a:p>
          <a:p>
            <a:pPr marL="254000" indent="-215900">
              <a:buClr>
                <a:schemeClr val="dk1"/>
              </a:buClr>
              <a:buSzPts val="1400"/>
            </a:pPr>
            <a:endParaRPr sz="1400" dirty="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5" name="Google Shape;125;p17"/>
          <p:cNvSpPr/>
          <p:nvPr/>
        </p:nvSpPr>
        <p:spPr>
          <a:xfrm>
            <a:off x="3802851" y="98829"/>
            <a:ext cx="5271208" cy="4943872"/>
          </a:xfrm>
          <a:prstGeom prst="rect">
            <a:avLst/>
          </a:prstGeom>
          <a:noFill/>
          <a:ln w="9525" cap="flat" cmpd="sng">
            <a:solidFill>
              <a:schemeClr val="dk1"/>
            </a:solidFill>
            <a:prstDash val="solid"/>
            <a:round/>
            <a:headEnd type="none" w="sm" len="sm"/>
            <a:tailEnd type="none" w="sm" len="sm"/>
          </a:ln>
        </p:spPr>
        <p:txBody>
          <a:bodyPr spcFirstLastPara="1" wrap="square" lIns="49950" tIns="49950" rIns="49950" bIns="49950" anchor="ctr" anchorCtr="0">
            <a:noAutofit/>
          </a:bodyPr>
          <a:lstStyle/>
          <a:p>
            <a:pPr marL="254000" lvl="0" indent="-215900" algn="l" rtl="0">
              <a:spcBef>
                <a:spcPts val="0"/>
              </a:spcBef>
              <a:spcAft>
                <a:spcPts val="0"/>
              </a:spcAft>
              <a:buSzPts val="1400"/>
              <a:buChar char="●"/>
            </a:pPr>
            <a:endParaRPr dirty="0"/>
          </a:p>
        </p:txBody>
      </p:sp>
      <p:sp>
        <p:nvSpPr>
          <p:cNvPr id="126" name="Google Shape;126;p17"/>
          <p:cNvSpPr txBox="1">
            <a:spLocks noGrp="1"/>
          </p:cNvSpPr>
          <p:nvPr>
            <p:ph type="body" idx="4294967295"/>
          </p:nvPr>
        </p:nvSpPr>
        <p:spPr>
          <a:xfrm>
            <a:off x="90074" y="823481"/>
            <a:ext cx="3524393" cy="4219208"/>
          </a:xfrm>
          <a:prstGeom prst="rect">
            <a:avLst/>
          </a:prstGeom>
        </p:spPr>
        <p:txBody>
          <a:bodyPr spcFirstLastPara="1" wrap="square" lIns="49950" tIns="49950" rIns="49950" bIns="49950" anchor="t" anchorCtr="0">
            <a:noAutofit/>
          </a:bodyPr>
          <a:lstStyle/>
          <a:p>
            <a:pPr marL="254000" indent="-215900">
              <a:buClr>
                <a:schemeClr val="dk1"/>
              </a:buClr>
              <a:buSzPts val="1400"/>
            </a:pPr>
            <a:r>
              <a:rPr lang="en-US" sz="1400" dirty="0" err="1" smtClean="0">
                <a:solidFill>
                  <a:schemeClr val="dk1"/>
                </a:solidFill>
              </a:rPr>
              <a:t>Mr</a:t>
            </a:r>
            <a:r>
              <a:rPr lang="en-US" sz="1400" dirty="0" smtClean="0">
                <a:solidFill>
                  <a:schemeClr val="dk1"/>
                </a:solidFill>
              </a:rPr>
              <a:t> </a:t>
            </a:r>
            <a:r>
              <a:rPr lang="en-US" sz="1400" dirty="0">
                <a:solidFill>
                  <a:schemeClr val="dk1"/>
                </a:solidFill>
              </a:rPr>
              <a:t>Jair has also deployed several troops to combat the forest </a:t>
            </a:r>
            <a:r>
              <a:rPr lang="en-US" sz="1400" dirty="0" smtClean="0">
                <a:solidFill>
                  <a:schemeClr val="dk1"/>
                </a:solidFill>
              </a:rPr>
              <a:t>fires.</a:t>
            </a:r>
          </a:p>
          <a:p>
            <a:pPr marL="38100" indent="0">
              <a:buClr>
                <a:schemeClr val="dk1"/>
              </a:buClr>
              <a:buSzPts val="1400"/>
              <a:buNone/>
            </a:pPr>
            <a:endParaRPr lang="en-US" sz="1400" dirty="0">
              <a:solidFill>
                <a:schemeClr val="dk1"/>
              </a:solidFill>
            </a:endParaRPr>
          </a:p>
          <a:p>
            <a:pPr marL="254000" indent="-215900">
              <a:buClr>
                <a:schemeClr val="dk1"/>
              </a:buClr>
              <a:buSzPts val="1400"/>
            </a:pPr>
            <a:r>
              <a:rPr lang="en-US" sz="1400" dirty="0" smtClean="0">
                <a:solidFill>
                  <a:schemeClr val="dk1"/>
                </a:solidFill>
              </a:rPr>
              <a:t>He supports the deforestation and forest fires as he believes it will create infrastructure and jobs for his people. He views the economy as a priority instead of the environment despite the recent climate change problems and ignores the 2015 Paris climate change agreement also ignores the importance of Amazon rainforest for the world. </a:t>
            </a:r>
          </a:p>
          <a:p>
            <a:pPr marL="254000" indent="-215900">
              <a:buClr>
                <a:schemeClr val="dk1"/>
              </a:buClr>
              <a:buSzPts val="1400"/>
            </a:pPr>
            <a:endParaRPr sz="1400" dirty="0">
              <a:solidFill>
                <a:schemeClr val="dk1"/>
              </a:solidFill>
            </a:endParaRPr>
          </a:p>
        </p:txBody>
      </p:sp>
      <p:sp>
        <p:nvSpPr>
          <p:cNvPr id="129" name="Google Shape;129;p17"/>
          <p:cNvSpPr/>
          <p:nvPr/>
        </p:nvSpPr>
        <p:spPr>
          <a:xfrm>
            <a:off x="90075" y="85906"/>
            <a:ext cx="3592800" cy="4956783"/>
          </a:xfrm>
          <a:prstGeom prst="rect">
            <a:avLst/>
          </a:prstGeom>
          <a:noFill/>
          <a:ln w="9525" cap="flat" cmpd="sng">
            <a:solidFill>
              <a:schemeClr val="dk1"/>
            </a:solidFill>
            <a:prstDash val="solid"/>
            <a:round/>
            <a:headEnd type="none" w="sm" len="sm"/>
            <a:tailEnd type="none" w="sm" len="sm"/>
          </a:ln>
        </p:spPr>
        <p:txBody>
          <a:bodyPr spcFirstLastPara="1" wrap="square" lIns="49950" tIns="49950" rIns="49950" bIns="49950" anchor="ctr" anchorCtr="0">
            <a:noAutofit/>
          </a:bodyPr>
          <a:lstStyle/>
          <a:p>
            <a:pPr marL="254000" indent="-215900">
              <a:lnSpc>
                <a:spcPct val="115000"/>
              </a:lnSpc>
              <a:buClr>
                <a:schemeClr val="dk1"/>
              </a:buClr>
              <a:buSzPts val="1400"/>
              <a:buFont typeface="Arial"/>
              <a:buChar char="●"/>
            </a:pPr>
            <a:endParaRPr dirty="0">
              <a:solidFill>
                <a:schemeClr val="dk1"/>
              </a:solidFill>
            </a:endParaRPr>
          </a:p>
        </p:txBody>
      </p:sp>
      <p:sp>
        <p:nvSpPr>
          <p:cNvPr id="130" name="Google Shape;130;p17"/>
          <p:cNvSpPr txBox="1">
            <a:spLocks noGrp="1"/>
          </p:cNvSpPr>
          <p:nvPr>
            <p:ph type="body" idx="4294967295"/>
          </p:nvPr>
        </p:nvSpPr>
        <p:spPr>
          <a:xfrm>
            <a:off x="3802851" y="98829"/>
            <a:ext cx="5271208" cy="724652"/>
          </a:xfrm>
          <a:prstGeom prst="rect">
            <a:avLst/>
          </a:prstGeom>
          <a:solidFill>
            <a:srgbClr val="0000CC"/>
          </a:solidFill>
          <a:ln>
            <a:noFill/>
          </a:ln>
        </p:spPr>
        <p:txBody>
          <a:bodyPr spcFirstLastPara="1" wrap="square" lIns="49950" tIns="49950" rIns="49950" bIns="49950" anchor="ctr" anchorCtr="0">
            <a:noAutofit/>
          </a:bodyPr>
          <a:lstStyle/>
          <a:p>
            <a:pPr marL="0" indent="0" algn="ctr">
              <a:lnSpc>
                <a:spcPct val="100000"/>
              </a:lnSpc>
              <a:buClr>
                <a:srgbClr val="000000"/>
              </a:buClr>
              <a:buNone/>
            </a:pPr>
            <a:r>
              <a:rPr lang="en" sz="2800" b="1" dirty="0">
                <a:solidFill>
                  <a:schemeClr val="bg1"/>
                </a:solidFill>
              </a:rPr>
              <a:t>Indigenous tribes</a:t>
            </a:r>
            <a:endParaRPr sz="2800" b="1" dirty="0">
              <a:solidFill>
                <a:schemeClr val="bg1"/>
              </a:solidFill>
            </a:endParaRPr>
          </a:p>
        </p:txBody>
      </p:sp>
      <p:sp>
        <p:nvSpPr>
          <p:cNvPr id="131" name="Google Shape;131;p17"/>
          <p:cNvSpPr txBox="1">
            <a:spLocks noGrp="1"/>
          </p:cNvSpPr>
          <p:nvPr>
            <p:ph type="body" idx="4294967295"/>
          </p:nvPr>
        </p:nvSpPr>
        <p:spPr>
          <a:xfrm>
            <a:off x="90075" y="85906"/>
            <a:ext cx="3592800" cy="737575"/>
          </a:xfrm>
          <a:prstGeom prst="rect">
            <a:avLst/>
          </a:prstGeom>
          <a:solidFill>
            <a:srgbClr val="008000"/>
          </a:solidFill>
          <a:ln>
            <a:noFill/>
          </a:ln>
        </p:spPr>
        <p:txBody>
          <a:bodyPr spcFirstLastPara="1" wrap="square" lIns="49950" tIns="49950" rIns="49950" bIns="49950" anchor="ctr" anchorCtr="0">
            <a:noAutofit/>
          </a:bodyPr>
          <a:lstStyle/>
          <a:p>
            <a:pPr marL="0" indent="0" algn="ctr">
              <a:lnSpc>
                <a:spcPct val="100000"/>
              </a:lnSpc>
              <a:buClr>
                <a:srgbClr val="000000"/>
              </a:buClr>
              <a:buNone/>
            </a:pPr>
            <a:r>
              <a:rPr lang="en" sz="2800" b="1" dirty="0">
                <a:solidFill>
                  <a:schemeClr val="bg1"/>
                </a:solidFill>
              </a:rPr>
              <a:t>Brazilian president</a:t>
            </a:r>
            <a:endParaRPr sz="2800" b="1" dirty="0">
              <a:solidFill>
                <a:schemeClr val="bg1"/>
              </a:solidFill>
            </a:endParaRPr>
          </a:p>
        </p:txBody>
      </p:sp>
      <p:sp>
        <p:nvSpPr>
          <p:cNvPr id="2" name="TextBox 1"/>
          <p:cNvSpPr txBox="1"/>
          <p:nvPr/>
        </p:nvSpPr>
        <p:spPr>
          <a:xfrm>
            <a:off x="3802851" y="823481"/>
            <a:ext cx="5271208" cy="3776418"/>
          </a:xfrm>
          <a:prstGeom prst="rect">
            <a:avLst/>
          </a:prstGeom>
          <a:noFill/>
        </p:spPr>
        <p:txBody>
          <a:bodyPr wrap="square" rtlCol="0">
            <a:spAutoFit/>
          </a:bodyPr>
          <a:lstStyle/>
          <a:p>
            <a:pPr marL="254000" lvl="0" indent="-215900">
              <a:lnSpc>
                <a:spcPct val="115000"/>
              </a:lnSpc>
              <a:buClr>
                <a:schemeClr val="dk1"/>
              </a:buClr>
              <a:buSzPts val="1400"/>
              <a:buFont typeface="Arial"/>
              <a:buChar char="●"/>
            </a:pPr>
            <a:r>
              <a:rPr lang="en-US" dirty="0">
                <a:solidFill>
                  <a:schemeClr val="dk1"/>
                </a:solidFill>
              </a:rPr>
              <a:t>Mura tribe:</a:t>
            </a:r>
          </a:p>
          <a:p>
            <a:pPr marL="495300" lvl="1" indent="-203200">
              <a:lnSpc>
                <a:spcPct val="115000"/>
              </a:lnSpc>
              <a:buClr>
                <a:schemeClr val="dk1"/>
              </a:buClr>
              <a:buSzPts val="1400"/>
              <a:buFont typeface="Arial"/>
              <a:buChar char="○"/>
            </a:pPr>
            <a:r>
              <a:rPr lang="en-US" dirty="0">
                <a:solidFill>
                  <a:schemeClr val="dk1"/>
                </a:solidFill>
              </a:rPr>
              <a:t>Saddened by the disappearance of the forest due to the vast infrastructural development and climate </a:t>
            </a:r>
            <a:r>
              <a:rPr lang="en-US" dirty="0" smtClean="0">
                <a:solidFill>
                  <a:schemeClr val="dk1"/>
                </a:solidFill>
              </a:rPr>
              <a:t>change.</a:t>
            </a:r>
          </a:p>
          <a:p>
            <a:pPr marL="292100" lvl="1">
              <a:lnSpc>
                <a:spcPct val="115000"/>
              </a:lnSpc>
              <a:buClr>
                <a:schemeClr val="dk1"/>
              </a:buClr>
              <a:buSzPts val="1400"/>
            </a:pPr>
            <a:endParaRPr lang="en-US" dirty="0">
              <a:solidFill>
                <a:schemeClr val="dk1"/>
              </a:solidFill>
            </a:endParaRPr>
          </a:p>
          <a:p>
            <a:pPr marL="495300" lvl="1" indent="-215900">
              <a:lnSpc>
                <a:spcPct val="115000"/>
              </a:lnSpc>
              <a:buClr>
                <a:schemeClr val="dk1"/>
              </a:buClr>
              <a:buSzPts val="1400"/>
              <a:buFont typeface="Arial"/>
              <a:buChar char="○"/>
            </a:pPr>
            <a:r>
              <a:rPr lang="en-US" dirty="0">
                <a:solidFill>
                  <a:schemeClr val="dk1"/>
                </a:solidFill>
              </a:rPr>
              <a:t>Worried about the lives of the future generation, such as the children and the grandchildren, who may find it difficult to live in the forest peacefully if deforestation of the Amazon continues. </a:t>
            </a:r>
            <a:endParaRPr lang="en-US" dirty="0" smtClean="0">
              <a:solidFill>
                <a:schemeClr val="dk1"/>
              </a:solidFill>
            </a:endParaRPr>
          </a:p>
          <a:p>
            <a:pPr marL="279400" lvl="1">
              <a:lnSpc>
                <a:spcPct val="115000"/>
              </a:lnSpc>
              <a:buClr>
                <a:schemeClr val="dk1"/>
              </a:buClr>
              <a:buSzPts val="1400"/>
            </a:pPr>
            <a:endParaRPr lang="en-US" dirty="0">
              <a:solidFill>
                <a:schemeClr val="dk1"/>
              </a:solidFill>
            </a:endParaRPr>
          </a:p>
          <a:p>
            <a:pPr marL="495300" lvl="1" indent="-203200">
              <a:lnSpc>
                <a:spcPct val="115000"/>
              </a:lnSpc>
              <a:buClr>
                <a:schemeClr val="dk1"/>
              </a:buClr>
              <a:buSzPts val="1400"/>
              <a:buFont typeface="Arial"/>
              <a:buChar char="○"/>
            </a:pPr>
            <a:r>
              <a:rPr lang="en-US" dirty="0">
                <a:solidFill>
                  <a:schemeClr val="dk1"/>
                </a:solidFill>
              </a:rPr>
              <a:t>The </a:t>
            </a:r>
            <a:r>
              <a:rPr lang="en-US" dirty="0" smtClean="0">
                <a:solidFill>
                  <a:schemeClr val="dk1"/>
                </a:solidFill>
              </a:rPr>
              <a:t>Mura </a:t>
            </a:r>
            <a:r>
              <a:rPr lang="en-US" dirty="0">
                <a:solidFill>
                  <a:schemeClr val="dk1"/>
                </a:solidFill>
              </a:rPr>
              <a:t>tribe value the forest and does not support deforestation and forest fires as the Amazon Forest is their home, source of food, important for their existence and control of climate change. </a:t>
            </a:r>
            <a:r>
              <a:rPr lang="en-US" dirty="0">
                <a:solidFill>
                  <a:schemeClr val="dk1"/>
                </a:solidFill>
              </a:rPr>
              <a:t>Its existence is important for their future generation too.</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2986816686"/>
              </p:ext>
            </p:extLst>
          </p:nvPr>
        </p:nvGraphicFramePr>
        <p:xfrm>
          <a:off x="345058" y="224287"/>
          <a:ext cx="8428008" cy="47876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9"/>
          <p:cNvSpPr txBox="1">
            <a:spLocks noGrp="1"/>
          </p:cNvSpPr>
          <p:nvPr>
            <p:ph type="title"/>
          </p:nvPr>
        </p:nvSpPr>
        <p:spPr>
          <a:xfrm>
            <a:off x="4572000" y="0"/>
            <a:ext cx="4572000" cy="5143500"/>
          </a:xfrm>
          <a:prstGeom prst="rect">
            <a:avLst/>
          </a:prstGeom>
        </p:spPr>
        <p:txBody>
          <a:bodyPr spcFirstLastPara="1" wrap="square" lIns="49950" tIns="49950" rIns="49950" bIns="49950" anchor="ctr" anchorCtr="0">
            <a:noAutofit/>
          </a:bodyPr>
          <a:lstStyle/>
          <a:p>
            <a:pPr marL="0" lvl="0" indent="0" algn="ctr" rtl="0">
              <a:spcBef>
                <a:spcPts val="0"/>
              </a:spcBef>
              <a:spcAft>
                <a:spcPts val="0"/>
              </a:spcAft>
              <a:buNone/>
            </a:pPr>
            <a:r>
              <a:rPr lang="en" sz="3200" dirty="0">
                <a:solidFill>
                  <a:srgbClr val="0000FF"/>
                </a:solidFill>
              </a:rPr>
              <a:t>Analysis on KQ: </a:t>
            </a:r>
            <a:r>
              <a:rPr lang="en" sz="3200" dirty="0" smtClean="0">
                <a:solidFill>
                  <a:srgbClr val="0000FF"/>
                </a:solidFill>
              </a:rPr>
              <a:t/>
            </a:r>
            <a:br>
              <a:rPr lang="en" sz="3200" dirty="0" smtClean="0">
                <a:solidFill>
                  <a:srgbClr val="0000FF"/>
                </a:solidFill>
              </a:rPr>
            </a:br>
            <a:r>
              <a:rPr lang="en" sz="800" dirty="0" smtClean="0">
                <a:solidFill>
                  <a:srgbClr val="0000FF"/>
                </a:solidFill>
              </a:rPr>
              <a:t/>
            </a:r>
            <a:br>
              <a:rPr lang="en" sz="800" dirty="0" smtClean="0">
                <a:solidFill>
                  <a:srgbClr val="0000FF"/>
                </a:solidFill>
              </a:rPr>
            </a:br>
            <a:r>
              <a:rPr lang="en" sz="3200" dirty="0" smtClean="0">
                <a:solidFill>
                  <a:schemeClr val="accent1">
                    <a:lumMod val="50000"/>
                  </a:schemeClr>
                </a:solidFill>
              </a:rPr>
              <a:t>On </a:t>
            </a:r>
            <a:r>
              <a:rPr lang="en" sz="3200" dirty="0">
                <a:solidFill>
                  <a:schemeClr val="accent1">
                    <a:lumMod val="50000"/>
                  </a:schemeClr>
                </a:solidFill>
              </a:rPr>
              <a:t>what basis do we decide what is right or wrong?</a:t>
            </a:r>
            <a:endParaRPr sz="3200" dirty="0">
              <a:solidFill>
                <a:schemeClr val="accent1">
                  <a:lumMod val="50000"/>
                </a:schemeClr>
              </a:solidFill>
            </a:endParaRPr>
          </a:p>
        </p:txBody>
      </p:sp>
      <p:pic>
        <p:nvPicPr>
          <p:cNvPr id="146" name="Google Shape;146;p19"/>
          <p:cNvPicPr preferRelativeResize="0"/>
          <p:nvPr/>
        </p:nvPicPr>
        <p:blipFill>
          <a:blip r:embed="rId3">
            <a:alphaModFix/>
          </a:blip>
          <a:stretch>
            <a:fillRect/>
          </a:stretch>
        </p:blipFill>
        <p:spPr>
          <a:xfrm>
            <a:off x="0" y="0"/>
            <a:ext cx="4572000"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0"/>
          <p:cNvSpPr txBox="1">
            <a:spLocks noGrp="1"/>
          </p:cNvSpPr>
          <p:nvPr>
            <p:ph type="title"/>
          </p:nvPr>
        </p:nvSpPr>
        <p:spPr>
          <a:xfrm>
            <a:off x="193950" y="841925"/>
            <a:ext cx="4188300" cy="1884600"/>
          </a:xfrm>
          <a:prstGeom prst="rect">
            <a:avLst/>
          </a:prstGeom>
        </p:spPr>
        <p:txBody>
          <a:bodyPr spcFirstLastPara="1" wrap="square" lIns="49950" tIns="49950" rIns="49950" bIns="49950" anchor="b" anchorCtr="0">
            <a:noAutofit/>
          </a:bodyPr>
          <a:lstStyle/>
          <a:p>
            <a:pPr marL="0" lvl="0" indent="0" algn="ctr" rtl="0">
              <a:spcBef>
                <a:spcPts val="0"/>
              </a:spcBef>
              <a:spcAft>
                <a:spcPts val="0"/>
              </a:spcAft>
              <a:buNone/>
            </a:pPr>
            <a:r>
              <a:rPr lang="en" sz="3000" dirty="0">
                <a:solidFill>
                  <a:schemeClr val="accent1">
                    <a:lumMod val="50000"/>
                  </a:schemeClr>
                </a:solidFill>
              </a:rPr>
              <a:t>How will I</a:t>
            </a:r>
            <a:endParaRPr sz="3000" dirty="0">
              <a:solidFill>
                <a:schemeClr val="accent1">
                  <a:lumMod val="50000"/>
                </a:schemeClr>
              </a:solidFill>
            </a:endParaRPr>
          </a:p>
          <a:p>
            <a:pPr marL="0" lvl="0" indent="0" algn="ctr" rtl="0">
              <a:spcBef>
                <a:spcPts val="0"/>
              </a:spcBef>
              <a:spcAft>
                <a:spcPts val="0"/>
              </a:spcAft>
              <a:buNone/>
            </a:pPr>
            <a:r>
              <a:rPr lang="en" sz="3000" dirty="0">
                <a:solidFill>
                  <a:schemeClr val="accent1">
                    <a:lumMod val="50000"/>
                  </a:schemeClr>
                </a:solidFill>
              </a:rPr>
              <a:t> be “unlocking” this KQ?</a:t>
            </a:r>
            <a:endParaRPr sz="3000" dirty="0">
              <a:solidFill>
                <a:schemeClr val="accent1">
                  <a:lumMod val="50000"/>
                </a:schemeClr>
              </a:solidFill>
            </a:endParaRPr>
          </a:p>
        </p:txBody>
      </p:sp>
      <p:sp>
        <p:nvSpPr>
          <p:cNvPr id="152" name="Google Shape;152;p20"/>
          <p:cNvSpPr txBox="1">
            <a:spLocks noGrp="1"/>
          </p:cNvSpPr>
          <p:nvPr>
            <p:ph type="subTitle" idx="1"/>
          </p:nvPr>
        </p:nvSpPr>
        <p:spPr>
          <a:xfrm>
            <a:off x="193950" y="2726525"/>
            <a:ext cx="4045200" cy="1235100"/>
          </a:xfrm>
          <a:prstGeom prst="rect">
            <a:avLst/>
          </a:prstGeom>
        </p:spPr>
        <p:txBody>
          <a:bodyPr spcFirstLastPara="1" wrap="square" lIns="49950" tIns="49950" rIns="49950" bIns="49950" anchor="t" anchorCtr="0">
            <a:noAutofit/>
          </a:bodyPr>
          <a:lstStyle/>
          <a:p>
            <a:pPr marL="0" lvl="0" indent="0" algn="ctr" rtl="0">
              <a:spcBef>
                <a:spcPts val="0"/>
              </a:spcBef>
              <a:spcAft>
                <a:spcPts val="0"/>
              </a:spcAft>
              <a:buNone/>
            </a:pPr>
            <a:r>
              <a:rPr lang="en" sz="1600" dirty="0">
                <a:solidFill>
                  <a:srgbClr val="0000CC"/>
                </a:solidFill>
              </a:rPr>
              <a:t>Perspective approach</a:t>
            </a:r>
            <a:endParaRPr sz="1600" dirty="0">
              <a:solidFill>
                <a:srgbClr val="0000CC"/>
              </a:solidFill>
            </a:endParaRPr>
          </a:p>
        </p:txBody>
      </p:sp>
      <p:sp>
        <p:nvSpPr>
          <p:cNvPr id="153" name="Google Shape;153;p20"/>
          <p:cNvSpPr txBox="1">
            <a:spLocks noGrp="1"/>
          </p:cNvSpPr>
          <p:nvPr>
            <p:ph type="body" idx="2"/>
          </p:nvPr>
        </p:nvSpPr>
        <p:spPr>
          <a:xfrm>
            <a:off x="4580658" y="76500"/>
            <a:ext cx="4468452" cy="5067000"/>
          </a:xfrm>
          <a:prstGeom prst="rect">
            <a:avLst/>
          </a:prstGeom>
        </p:spPr>
        <p:txBody>
          <a:bodyPr spcFirstLastPara="1" wrap="square" lIns="182880" tIns="49950" rIns="49950" bIns="49950" anchor="ctr" anchorCtr="0">
            <a:noAutofit/>
          </a:bodyPr>
          <a:lstStyle/>
          <a:p>
            <a:pPr marL="0" lvl="0" indent="0" algn="l" rtl="0">
              <a:spcBef>
                <a:spcPts val="0"/>
              </a:spcBef>
              <a:spcAft>
                <a:spcPts val="0"/>
              </a:spcAft>
              <a:buNone/>
            </a:pPr>
            <a:r>
              <a:rPr lang="en" sz="1600" dirty="0">
                <a:solidFill>
                  <a:srgbClr val="0000CC"/>
                </a:solidFill>
              </a:rPr>
              <a:t>AOKs explored:</a:t>
            </a:r>
            <a:endParaRPr sz="1600" dirty="0">
              <a:solidFill>
                <a:srgbClr val="0000CC"/>
              </a:solidFill>
            </a:endParaRPr>
          </a:p>
          <a:p>
            <a:pPr marL="254000" lvl="0" indent="-228600" algn="l" rtl="0">
              <a:spcBef>
                <a:spcPts val="900"/>
              </a:spcBef>
              <a:spcAft>
                <a:spcPts val="0"/>
              </a:spcAft>
              <a:buClr>
                <a:srgbClr val="0000FF"/>
              </a:buClr>
              <a:buSzPts val="1600"/>
              <a:buChar char="●"/>
            </a:pPr>
            <a:r>
              <a:rPr lang="en" sz="1600" dirty="0">
                <a:solidFill>
                  <a:srgbClr val="0000CC"/>
                </a:solidFill>
              </a:rPr>
              <a:t>Ethics</a:t>
            </a:r>
            <a:endParaRPr sz="1600" dirty="0">
              <a:solidFill>
                <a:srgbClr val="0000CC"/>
              </a:solidFill>
            </a:endParaRPr>
          </a:p>
          <a:p>
            <a:pPr marL="254000" lvl="0" indent="-228600" algn="l" rtl="0">
              <a:spcBef>
                <a:spcPts val="0"/>
              </a:spcBef>
              <a:spcAft>
                <a:spcPts val="0"/>
              </a:spcAft>
              <a:buClr>
                <a:srgbClr val="0000FF"/>
              </a:buClr>
              <a:buSzPts val="1600"/>
              <a:buChar char="●"/>
            </a:pPr>
            <a:r>
              <a:rPr lang="en" sz="1600" dirty="0">
                <a:solidFill>
                  <a:srgbClr val="0000CC"/>
                </a:solidFill>
              </a:rPr>
              <a:t>Indigenou</a:t>
            </a:r>
            <a:r>
              <a:rPr lang="en" sz="1600" dirty="0">
                <a:solidFill>
                  <a:srgbClr val="0000CC"/>
                </a:solidFill>
              </a:rPr>
              <a:t>s knowledge system</a:t>
            </a:r>
            <a:endParaRPr sz="1600" dirty="0">
              <a:solidFill>
                <a:srgbClr val="0000CC"/>
              </a:solidFill>
            </a:endParaRPr>
          </a:p>
          <a:p>
            <a:pPr marL="0" lvl="0" indent="0" algn="l" rtl="0">
              <a:spcBef>
                <a:spcPts val="900"/>
              </a:spcBef>
              <a:spcAft>
                <a:spcPts val="0"/>
              </a:spcAft>
              <a:buNone/>
            </a:pPr>
            <a:r>
              <a:rPr lang="en" sz="1600" dirty="0">
                <a:solidFill>
                  <a:srgbClr val="0000CC"/>
                </a:solidFill>
              </a:rPr>
              <a:t>Ways of knowing(WOKs) explored:</a:t>
            </a:r>
            <a:endParaRPr sz="1600" dirty="0">
              <a:solidFill>
                <a:srgbClr val="0000CC"/>
              </a:solidFill>
            </a:endParaRPr>
          </a:p>
          <a:p>
            <a:pPr marL="254000" lvl="0" indent="-228600" algn="l" rtl="0">
              <a:spcBef>
                <a:spcPts val="900"/>
              </a:spcBef>
              <a:spcAft>
                <a:spcPts val="0"/>
              </a:spcAft>
              <a:buClr>
                <a:srgbClr val="0000FF"/>
              </a:buClr>
              <a:buSzPts val="1600"/>
              <a:buChar char="●"/>
            </a:pPr>
            <a:r>
              <a:rPr lang="en" sz="1600" dirty="0">
                <a:solidFill>
                  <a:srgbClr val="0000CC"/>
                </a:solidFill>
              </a:rPr>
              <a:t>Reasoning</a:t>
            </a:r>
            <a:endParaRPr sz="1600" dirty="0">
              <a:solidFill>
                <a:srgbClr val="0000CC"/>
              </a:solidFill>
            </a:endParaRPr>
          </a:p>
          <a:p>
            <a:pPr marL="254000" lvl="0" indent="-228600" algn="l" rtl="0">
              <a:spcBef>
                <a:spcPts val="0"/>
              </a:spcBef>
              <a:spcAft>
                <a:spcPts val="0"/>
              </a:spcAft>
              <a:buClr>
                <a:srgbClr val="0000FF"/>
              </a:buClr>
              <a:buSzPts val="1600"/>
              <a:buChar char="●"/>
            </a:pPr>
            <a:r>
              <a:rPr lang="en" sz="1600" dirty="0">
                <a:solidFill>
                  <a:srgbClr val="0000CC"/>
                </a:solidFill>
              </a:rPr>
              <a:t>Emotion</a:t>
            </a:r>
            <a:endParaRPr sz="1600" dirty="0">
              <a:solidFill>
                <a:srgbClr val="0000CC"/>
              </a:solidFill>
            </a:endParaRPr>
          </a:p>
          <a:p>
            <a:pPr marL="254000" lvl="0" indent="-228600" algn="l" rtl="0">
              <a:spcBef>
                <a:spcPts val="0"/>
              </a:spcBef>
              <a:spcAft>
                <a:spcPts val="0"/>
              </a:spcAft>
              <a:buClr>
                <a:srgbClr val="0000FF"/>
              </a:buClr>
              <a:buSzPts val="1600"/>
              <a:buChar char="●"/>
            </a:pPr>
            <a:r>
              <a:rPr lang="en" sz="1600" dirty="0">
                <a:solidFill>
                  <a:srgbClr val="0000CC"/>
                </a:solidFill>
              </a:rPr>
              <a:t>Sense perception</a:t>
            </a:r>
            <a:endParaRPr sz="1600" dirty="0">
              <a:solidFill>
                <a:srgbClr val="0000CC"/>
              </a:solidFill>
            </a:endParaRPr>
          </a:p>
          <a:p>
            <a:pPr marL="0" lvl="0" indent="0" algn="l" rtl="0">
              <a:spcBef>
                <a:spcPts val="900"/>
              </a:spcBef>
              <a:spcAft>
                <a:spcPts val="0"/>
              </a:spcAft>
              <a:buNone/>
            </a:pPr>
            <a:r>
              <a:rPr lang="en" sz="1600" dirty="0">
                <a:solidFill>
                  <a:srgbClr val="0000CC"/>
                </a:solidFill>
              </a:rPr>
              <a:t>Types of knowledge:</a:t>
            </a:r>
            <a:endParaRPr sz="1600" dirty="0">
              <a:solidFill>
                <a:srgbClr val="0000CC"/>
              </a:solidFill>
            </a:endParaRPr>
          </a:p>
          <a:p>
            <a:pPr marL="0" lvl="0" indent="0" algn="ctr" rtl="0">
              <a:spcBef>
                <a:spcPts val="900"/>
              </a:spcBef>
              <a:spcAft>
                <a:spcPts val="0"/>
              </a:spcAft>
              <a:buNone/>
            </a:pPr>
            <a:r>
              <a:rPr lang="en" sz="1600" dirty="0">
                <a:solidFill>
                  <a:srgbClr val="0000CC"/>
                </a:solidFill>
              </a:rPr>
              <a:t>Personal knowledge            Shared </a:t>
            </a:r>
            <a:r>
              <a:rPr lang="en" sz="1600" dirty="0" smtClean="0">
                <a:solidFill>
                  <a:srgbClr val="0000CC"/>
                </a:solidFill>
              </a:rPr>
              <a:t>knowledge (</a:t>
            </a:r>
            <a:r>
              <a:rPr lang="en" sz="1600" dirty="0">
                <a:solidFill>
                  <a:srgbClr val="0000CC"/>
                </a:solidFill>
              </a:rPr>
              <a:t>when there is a common similarity between different types of personal </a:t>
            </a:r>
            <a:r>
              <a:rPr lang="en" sz="1600" dirty="0" smtClean="0">
                <a:solidFill>
                  <a:srgbClr val="0000CC"/>
                </a:solidFill>
              </a:rPr>
              <a:t>knowledge</a:t>
            </a:r>
            <a:r>
              <a:rPr lang="en" sz="1600" dirty="0">
                <a:solidFill>
                  <a:srgbClr val="0000CC"/>
                </a:solidFill>
              </a:rPr>
              <a:t>)</a:t>
            </a:r>
            <a:endParaRPr sz="1600" dirty="0">
              <a:solidFill>
                <a:srgbClr val="0000CC"/>
              </a:solidFill>
            </a:endParaRPr>
          </a:p>
          <a:p>
            <a:pPr marL="0" lvl="0" indent="0" algn="l" rtl="0">
              <a:spcBef>
                <a:spcPts val="900"/>
              </a:spcBef>
              <a:spcAft>
                <a:spcPts val="900"/>
              </a:spcAft>
              <a:buNone/>
            </a:pPr>
            <a:endParaRPr dirty="0">
              <a:solidFill>
                <a:srgbClr val="0000CC"/>
              </a:solidFill>
            </a:endParaRPr>
          </a:p>
        </p:txBody>
      </p:sp>
      <p:cxnSp>
        <p:nvCxnSpPr>
          <p:cNvPr id="154" name="Google Shape;154;p20"/>
          <p:cNvCxnSpPr/>
          <p:nvPr/>
        </p:nvCxnSpPr>
        <p:spPr>
          <a:xfrm>
            <a:off x="6749602" y="3534538"/>
            <a:ext cx="352200" cy="0"/>
          </a:xfrm>
          <a:prstGeom prst="straightConnector1">
            <a:avLst/>
          </a:prstGeom>
          <a:noFill/>
          <a:ln w="28575" cap="flat" cmpd="sng">
            <a:solidFill>
              <a:srgbClr val="0000FF"/>
            </a:solidFill>
            <a:prstDash val="solid"/>
            <a:round/>
            <a:headEnd type="none" w="med" len="med"/>
            <a:tailEnd type="triangl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1"/>
          <p:cNvSpPr txBox="1">
            <a:spLocks noGrp="1"/>
          </p:cNvSpPr>
          <p:nvPr>
            <p:ph type="title"/>
          </p:nvPr>
        </p:nvSpPr>
        <p:spPr>
          <a:xfrm>
            <a:off x="311700" y="0"/>
            <a:ext cx="5461200" cy="444900"/>
          </a:xfrm>
          <a:prstGeom prst="rect">
            <a:avLst/>
          </a:prstGeom>
        </p:spPr>
        <p:txBody>
          <a:bodyPr spcFirstLastPara="1" wrap="square" lIns="49950" tIns="49950" rIns="49950" bIns="49950" anchor="t" anchorCtr="0">
            <a:noAutofit/>
          </a:bodyPr>
          <a:lstStyle/>
          <a:p>
            <a:pPr marL="0" lvl="0" indent="0" algn="l" rtl="0">
              <a:spcBef>
                <a:spcPts val="0"/>
              </a:spcBef>
              <a:spcAft>
                <a:spcPts val="0"/>
              </a:spcAft>
              <a:buNone/>
            </a:pPr>
            <a:r>
              <a:rPr lang="en" sz="2400" dirty="0">
                <a:solidFill>
                  <a:srgbClr val="0000CC"/>
                </a:solidFill>
              </a:rPr>
              <a:t>Answering the KQ...</a:t>
            </a:r>
            <a:endParaRPr sz="2400" dirty="0">
              <a:solidFill>
                <a:srgbClr val="0000CC"/>
              </a:solidFill>
            </a:endParaRPr>
          </a:p>
        </p:txBody>
      </p:sp>
      <p:sp>
        <p:nvSpPr>
          <p:cNvPr id="160" name="Google Shape;160;p21"/>
          <p:cNvSpPr txBox="1">
            <a:spLocks noGrp="1"/>
          </p:cNvSpPr>
          <p:nvPr>
            <p:ph type="body" idx="1"/>
          </p:nvPr>
        </p:nvSpPr>
        <p:spPr>
          <a:xfrm>
            <a:off x="29825" y="1017725"/>
            <a:ext cx="9144000" cy="4125900"/>
          </a:xfrm>
          <a:prstGeom prst="rect">
            <a:avLst/>
          </a:prstGeom>
        </p:spPr>
        <p:txBody>
          <a:bodyPr spcFirstLastPara="1" wrap="square" lIns="49950" tIns="49950" rIns="49950" bIns="49950" anchor="t" anchorCtr="0">
            <a:noAutofit/>
          </a:bodyPr>
          <a:lstStyle/>
          <a:p>
            <a:pPr marL="0" lvl="0" indent="0" algn="l" rtl="0">
              <a:spcBef>
                <a:spcPts val="0"/>
              </a:spcBef>
              <a:spcAft>
                <a:spcPts val="0"/>
              </a:spcAft>
              <a:buNone/>
            </a:pPr>
            <a:endParaRPr dirty="0"/>
          </a:p>
          <a:p>
            <a:pPr marL="0" lvl="0" indent="0" algn="l" rtl="0">
              <a:spcBef>
                <a:spcPts val="900"/>
              </a:spcBef>
              <a:spcAft>
                <a:spcPts val="0"/>
              </a:spcAft>
              <a:buNone/>
            </a:pPr>
            <a:r>
              <a:rPr lang="en" dirty="0"/>
              <a:t> </a:t>
            </a:r>
            <a:endParaRPr dirty="0"/>
          </a:p>
          <a:p>
            <a:pPr marL="0" lvl="0" indent="0" algn="l" rtl="0">
              <a:spcBef>
                <a:spcPts val="900"/>
              </a:spcBef>
              <a:spcAft>
                <a:spcPts val="900"/>
              </a:spcAft>
              <a:buNone/>
            </a:pPr>
            <a:endParaRPr dirty="0"/>
          </a:p>
        </p:txBody>
      </p:sp>
      <p:sp>
        <p:nvSpPr>
          <p:cNvPr id="161" name="Google Shape;161;p21"/>
          <p:cNvSpPr txBox="1">
            <a:spLocks noGrp="1"/>
          </p:cNvSpPr>
          <p:nvPr>
            <p:ph type="title"/>
          </p:nvPr>
        </p:nvSpPr>
        <p:spPr>
          <a:xfrm>
            <a:off x="121092" y="531034"/>
            <a:ext cx="8931000" cy="444900"/>
          </a:xfrm>
          <a:prstGeom prst="rect">
            <a:avLst/>
          </a:prstGeom>
        </p:spPr>
        <p:txBody>
          <a:bodyPr spcFirstLastPara="1" wrap="square" lIns="49950" tIns="49950" rIns="49950" bIns="49950" anchor="t" anchorCtr="0">
            <a:noAutofit/>
          </a:bodyPr>
          <a:lstStyle/>
          <a:p>
            <a:pPr marL="0" lvl="0" indent="0" algn="l" rtl="0">
              <a:lnSpc>
                <a:spcPct val="115000"/>
              </a:lnSpc>
              <a:spcBef>
                <a:spcPts val="0"/>
              </a:spcBef>
              <a:spcAft>
                <a:spcPts val="0"/>
              </a:spcAft>
              <a:buClr>
                <a:schemeClr val="dk1"/>
              </a:buClr>
              <a:buSzPts val="600"/>
              <a:buFont typeface="Arial"/>
              <a:buNone/>
            </a:pPr>
            <a:r>
              <a:rPr lang="en" sz="2400" b="1" dirty="0">
                <a:solidFill>
                  <a:schemeClr val="dk2"/>
                </a:solidFill>
              </a:rPr>
              <a:t>Perspective 1: Ethical theories</a:t>
            </a:r>
            <a:endParaRPr sz="2400" dirty="0"/>
          </a:p>
          <a:p>
            <a:pPr marL="0" lvl="0" indent="0" algn="l" rtl="0">
              <a:spcBef>
                <a:spcPts val="900"/>
              </a:spcBef>
              <a:spcAft>
                <a:spcPts val="0"/>
              </a:spcAft>
              <a:buNone/>
            </a:pPr>
            <a:endParaRPr dirty="0"/>
          </a:p>
          <a:p>
            <a:pPr marL="0" lvl="0" indent="0" algn="l" rtl="0">
              <a:spcBef>
                <a:spcPts val="0"/>
              </a:spcBef>
              <a:spcAft>
                <a:spcPts val="0"/>
              </a:spcAft>
              <a:buNone/>
            </a:pPr>
            <a:endParaRPr dirty="0"/>
          </a:p>
        </p:txBody>
      </p:sp>
      <p:sp>
        <p:nvSpPr>
          <p:cNvPr id="162" name="Google Shape;162;p21"/>
          <p:cNvSpPr/>
          <p:nvPr/>
        </p:nvSpPr>
        <p:spPr>
          <a:xfrm>
            <a:off x="109090" y="1187612"/>
            <a:ext cx="2103120" cy="1097280"/>
          </a:xfrm>
          <a:prstGeom prst="rect">
            <a:avLst/>
          </a:prstGeom>
          <a:solidFill>
            <a:schemeClr val="accent1">
              <a:lumMod val="40000"/>
              <a:lumOff val="60000"/>
            </a:schemeClr>
          </a:solidFill>
          <a:ln w="9525" cap="flat" cmpd="sng">
            <a:solidFill>
              <a:schemeClr val="tx1"/>
            </a:solidFill>
            <a:prstDash val="solid"/>
            <a:round/>
            <a:headEnd type="none" w="sm" len="sm"/>
            <a:tailEnd type="none" w="sm" len="sm"/>
          </a:ln>
        </p:spPr>
        <p:txBody>
          <a:bodyPr spcFirstLastPara="1" wrap="square" lIns="182880" tIns="49950" rIns="49950" bIns="49950" anchor="ctr" anchorCtr="0">
            <a:noAutofit/>
          </a:bodyPr>
          <a:lstStyle/>
          <a:p>
            <a:pPr marL="0" lvl="0" indent="0" algn="l" rtl="0">
              <a:spcBef>
                <a:spcPts val="0"/>
              </a:spcBef>
              <a:spcAft>
                <a:spcPts val="0"/>
              </a:spcAft>
              <a:buNone/>
            </a:pPr>
            <a:r>
              <a:rPr lang="en" sz="1200" dirty="0" smtClean="0"/>
              <a:t>Duty-based ethics that determine from the right and wrong, and occur during a person’s action</a:t>
            </a:r>
            <a:endParaRPr sz="1200" dirty="0"/>
          </a:p>
        </p:txBody>
      </p:sp>
      <p:sp>
        <p:nvSpPr>
          <p:cNvPr id="163" name="Google Shape;163;p21"/>
          <p:cNvSpPr/>
          <p:nvPr/>
        </p:nvSpPr>
        <p:spPr>
          <a:xfrm>
            <a:off x="2276634" y="1551025"/>
            <a:ext cx="1167291" cy="4449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49950" tIns="49950" rIns="49950" bIns="49950" anchor="ctr" anchorCtr="0">
            <a:noAutofit/>
          </a:bodyPr>
          <a:lstStyle/>
          <a:p>
            <a:pPr marL="0" lvl="0" indent="0" algn="l" rtl="0">
              <a:spcBef>
                <a:spcPts val="0"/>
              </a:spcBef>
              <a:spcAft>
                <a:spcPts val="0"/>
              </a:spcAft>
              <a:buNone/>
            </a:pPr>
            <a:endParaRPr/>
          </a:p>
        </p:txBody>
      </p:sp>
      <p:sp>
        <p:nvSpPr>
          <p:cNvPr id="164" name="Google Shape;164;p21"/>
          <p:cNvSpPr/>
          <p:nvPr/>
        </p:nvSpPr>
        <p:spPr>
          <a:xfrm>
            <a:off x="3503284" y="1187612"/>
            <a:ext cx="2103120" cy="1097280"/>
          </a:xfrm>
          <a:prstGeom prst="rect">
            <a:avLst/>
          </a:prstGeom>
          <a:solidFill>
            <a:schemeClr val="accent1">
              <a:lumMod val="40000"/>
              <a:lumOff val="60000"/>
            </a:schemeClr>
          </a:solidFill>
          <a:ln w="9525" cap="flat" cmpd="sng">
            <a:solidFill>
              <a:schemeClr val="tx1"/>
            </a:solidFill>
            <a:prstDash val="solid"/>
            <a:round/>
            <a:headEnd type="none" w="sm" len="sm"/>
            <a:tailEnd type="none" w="sm" len="sm"/>
          </a:ln>
        </p:spPr>
        <p:txBody>
          <a:bodyPr spcFirstLastPara="1" wrap="square" lIns="182880" tIns="49950" rIns="49950" bIns="49950" anchor="ctr" anchorCtr="0">
            <a:noAutofit/>
          </a:bodyPr>
          <a:lstStyle/>
          <a:p>
            <a:pPr marL="0" lvl="0" indent="0" algn="l" rtl="0">
              <a:spcBef>
                <a:spcPts val="0"/>
              </a:spcBef>
              <a:spcAft>
                <a:spcPts val="0"/>
              </a:spcAft>
              <a:buNone/>
            </a:pPr>
            <a:r>
              <a:rPr lang="en" sz="1200" dirty="0"/>
              <a:t>Even if the action is considered to be wrong, people still do it because their principles tell them that it is correct to do so.</a:t>
            </a:r>
            <a:endParaRPr sz="1200" dirty="0"/>
          </a:p>
        </p:txBody>
      </p:sp>
      <p:sp>
        <p:nvSpPr>
          <p:cNvPr id="166" name="Google Shape;166;p21"/>
          <p:cNvSpPr/>
          <p:nvPr/>
        </p:nvSpPr>
        <p:spPr>
          <a:xfrm>
            <a:off x="6868748" y="1187612"/>
            <a:ext cx="2103120" cy="1097280"/>
          </a:xfrm>
          <a:prstGeom prst="rect">
            <a:avLst/>
          </a:prstGeom>
          <a:solidFill>
            <a:schemeClr val="accent1">
              <a:lumMod val="40000"/>
              <a:lumOff val="60000"/>
            </a:schemeClr>
          </a:solidFill>
          <a:ln w="9525" cap="flat" cmpd="sng">
            <a:solidFill>
              <a:schemeClr val="tx1"/>
            </a:solidFill>
            <a:prstDash val="solid"/>
            <a:round/>
            <a:headEnd type="none" w="sm" len="sm"/>
            <a:tailEnd type="none" w="sm" len="sm"/>
          </a:ln>
        </p:spPr>
        <p:txBody>
          <a:bodyPr spcFirstLastPara="1" wrap="square" lIns="182880" tIns="49950" rIns="49950" bIns="49950" anchor="ctr" anchorCtr="0">
            <a:noAutofit/>
          </a:bodyPr>
          <a:lstStyle/>
          <a:p>
            <a:pPr marL="0" lvl="0" indent="0" algn="l" rtl="0">
              <a:spcBef>
                <a:spcPts val="0"/>
              </a:spcBef>
              <a:spcAft>
                <a:spcPts val="0"/>
              </a:spcAft>
              <a:buNone/>
            </a:pPr>
            <a:r>
              <a:rPr lang="en" sz="1200" dirty="0">
                <a:highlight>
                  <a:schemeClr val="accent6"/>
                </a:highlight>
              </a:rPr>
              <a:t>The Deontological theories influence our decision making on what is right or wrong.  </a:t>
            </a:r>
            <a:endParaRPr sz="1200" dirty="0">
              <a:highlight>
                <a:schemeClr val="accent6"/>
              </a:highlight>
            </a:endParaRPr>
          </a:p>
        </p:txBody>
      </p:sp>
      <p:sp>
        <p:nvSpPr>
          <p:cNvPr id="169" name="Google Shape;169;p21"/>
          <p:cNvSpPr txBox="1"/>
          <p:nvPr/>
        </p:nvSpPr>
        <p:spPr>
          <a:xfrm>
            <a:off x="97874" y="2836935"/>
            <a:ext cx="2194560" cy="2103120"/>
          </a:xfrm>
          <a:prstGeom prst="rect">
            <a:avLst/>
          </a:prstGeom>
          <a:solidFill>
            <a:schemeClr val="accent1">
              <a:lumMod val="40000"/>
              <a:lumOff val="60000"/>
            </a:schemeClr>
          </a:solidFill>
          <a:ln>
            <a:solidFill>
              <a:schemeClr val="tx1"/>
            </a:solidFill>
          </a:ln>
        </p:spPr>
        <p:txBody>
          <a:bodyPr spcFirstLastPara="1" wrap="square" lIns="91425" tIns="91425" rIns="91425" bIns="91425" anchor="t" anchorCtr="0">
            <a:noAutofit/>
          </a:bodyPr>
          <a:lstStyle/>
          <a:p>
            <a:pPr marL="171450" lvl="0" indent="-171450">
              <a:buClr>
                <a:schemeClr val="dk1"/>
              </a:buClr>
              <a:buSzPct val="150000"/>
              <a:buFont typeface="Arial" panose="020B0604020202020204" pitchFamily="34" charset="0"/>
              <a:buChar char="•"/>
            </a:pPr>
            <a:r>
              <a:rPr lang="en" sz="1200" dirty="0">
                <a:solidFill>
                  <a:schemeClr val="dk1"/>
                </a:solidFill>
              </a:rPr>
              <a:t>Dependent on the scale of the results of each action.</a:t>
            </a:r>
            <a:endParaRPr sz="1200" dirty="0">
              <a:solidFill>
                <a:schemeClr val="dk1"/>
              </a:solidFill>
            </a:endParaRPr>
          </a:p>
          <a:p>
            <a:pPr marL="171450" lvl="0" indent="-171450">
              <a:buClr>
                <a:schemeClr val="dk1"/>
              </a:buClr>
              <a:buSzPct val="150000"/>
              <a:buFont typeface="Arial" panose="020B0604020202020204" pitchFamily="34" charset="0"/>
              <a:buChar char="•"/>
            </a:pPr>
            <a:endParaRPr lang="en" sz="1200" dirty="0">
              <a:solidFill>
                <a:schemeClr val="dk1"/>
              </a:solidFill>
            </a:endParaRPr>
          </a:p>
          <a:p>
            <a:pPr marL="171450" lvl="0" indent="-171450">
              <a:buClr>
                <a:schemeClr val="dk1"/>
              </a:buClr>
              <a:buSzPct val="150000"/>
              <a:buFont typeface="Arial" panose="020B0604020202020204" pitchFamily="34" charset="0"/>
              <a:buChar char="•"/>
            </a:pPr>
            <a:r>
              <a:rPr lang="en" sz="1200" dirty="0">
                <a:solidFill>
                  <a:schemeClr val="dk1"/>
                </a:solidFill>
              </a:rPr>
              <a:t>The </a:t>
            </a:r>
            <a:r>
              <a:rPr lang="en" sz="1200" dirty="0">
                <a:solidFill>
                  <a:schemeClr val="dk1"/>
                </a:solidFill>
              </a:rPr>
              <a:t>scale of each positive or negative consequence determine how appropriate an action is </a:t>
            </a:r>
            <a:endParaRPr sz="1200" dirty="0">
              <a:solidFill>
                <a:schemeClr val="dk1"/>
              </a:solidFill>
            </a:endParaRPr>
          </a:p>
          <a:p>
            <a:pPr marL="171450" lvl="0" indent="-171450">
              <a:buClr>
                <a:schemeClr val="dk1"/>
              </a:buClr>
              <a:buSzPct val="150000"/>
              <a:buFont typeface="Arial" panose="020B0604020202020204" pitchFamily="34" charset="0"/>
              <a:buChar char="•"/>
            </a:pPr>
            <a:endParaRPr sz="1200" dirty="0">
              <a:solidFill>
                <a:schemeClr val="dk1"/>
              </a:solidFill>
            </a:endParaRPr>
          </a:p>
        </p:txBody>
      </p:sp>
      <p:sp>
        <p:nvSpPr>
          <p:cNvPr id="171" name="Google Shape;171;p21"/>
          <p:cNvSpPr txBox="1"/>
          <p:nvPr/>
        </p:nvSpPr>
        <p:spPr>
          <a:xfrm>
            <a:off x="3492068" y="2836935"/>
            <a:ext cx="2194560" cy="2103120"/>
          </a:xfrm>
          <a:prstGeom prst="rect">
            <a:avLst/>
          </a:prstGeom>
          <a:solidFill>
            <a:schemeClr val="accent1">
              <a:lumMod val="40000"/>
              <a:lumOff val="60000"/>
            </a:schemeClr>
          </a:solidFill>
          <a:ln>
            <a:solidFill>
              <a:schemeClr val="tx1"/>
            </a:solidFill>
          </a:ln>
        </p:spPr>
        <p:txBody>
          <a:bodyPr spcFirstLastPara="1" wrap="square" lIns="91425" tIns="91425" rIns="91425" bIns="91425" anchor="t" anchorCtr="0">
            <a:noAutofit/>
          </a:bodyPr>
          <a:lstStyle/>
          <a:p>
            <a:pPr marL="171450" indent="-171450">
              <a:buClr>
                <a:schemeClr val="dk1"/>
              </a:buClr>
              <a:buSzPct val="150000"/>
              <a:buFont typeface="Arial" panose="020B0604020202020204" pitchFamily="34" charset="0"/>
              <a:buChar char="•"/>
            </a:pPr>
            <a:r>
              <a:rPr lang="en" sz="1200" dirty="0">
                <a:solidFill>
                  <a:schemeClr val="dk1"/>
                </a:solidFill>
              </a:rPr>
              <a:t>Utilitarianism- people maximizing their human welfare </a:t>
            </a:r>
          </a:p>
          <a:p>
            <a:pPr marL="171450" indent="-171450">
              <a:buClr>
                <a:schemeClr val="dk1"/>
              </a:buClr>
              <a:buSzPct val="150000"/>
              <a:buFont typeface="Arial" panose="020B0604020202020204" pitchFamily="34" charset="0"/>
              <a:buChar char="•"/>
            </a:pPr>
            <a:endParaRPr sz="1200" dirty="0">
              <a:solidFill>
                <a:schemeClr val="dk1"/>
              </a:solidFill>
            </a:endParaRPr>
          </a:p>
          <a:p>
            <a:pPr marL="171450" indent="-171450">
              <a:buClr>
                <a:schemeClr val="dk1"/>
              </a:buClr>
              <a:buSzPct val="150000"/>
              <a:buFont typeface="Arial" panose="020B0604020202020204" pitchFamily="34" charset="0"/>
              <a:buChar char="•"/>
            </a:pPr>
            <a:r>
              <a:rPr lang="en" sz="1200" dirty="0">
                <a:solidFill>
                  <a:schemeClr val="dk1"/>
                </a:solidFill>
              </a:rPr>
              <a:t>Hedonism- maximising human pleasure</a:t>
            </a:r>
            <a:endParaRPr sz="1200" dirty="0">
              <a:solidFill>
                <a:schemeClr val="dk1"/>
              </a:solidFill>
            </a:endParaRPr>
          </a:p>
          <a:p>
            <a:pPr marL="171450" indent="-171450">
              <a:buClr>
                <a:schemeClr val="dk1"/>
              </a:buClr>
              <a:buSzPct val="150000"/>
              <a:buFont typeface="Arial" panose="020B0604020202020204" pitchFamily="34" charset="0"/>
              <a:buChar char="•"/>
            </a:pPr>
            <a:endParaRPr sz="1200" dirty="0">
              <a:solidFill>
                <a:schemeClr val="dk1"/>
              </a:solidFill>
            </a:endParaRPr>
          </a:p>
        </p:txBody>
      </p:sp>
      <p:sp>
        <p:nvSpPr>
          <p:cNvPr id="174" name="Google Shape;174;p21"/>
          <p:cNvSpPr txBox="1"/>
          <p:nvPr/>
        </p:nvSpPr>
        <p:spPr>
          <a:xfrm>
            <a:off x="6857532" y="2836935"/>
            <a:ext cx="2194560" cy="2103120"/>
          </a:xfrm>
          <a:prstGeom prst="rect">
            <a:avLst/>
          </a:prstGeom>
          <a:solidFill>
            <a:schemeClr val="accent1">
              <a:lumMod val="40000"/>
              <a:lumOff val="60000"/>
            </a:schemeClr>
          </a:solidFill>
          <a:ln>
            <a:solidFill>
              <a:schemeClr val="tx1"/>
            </a:solidFill>
          </a:ln>
        </p:spPr>
        <p:txBody>
          <a:bodyPr spcFirstLastPara="1" wrap="square" lIns="182880" tIns="91425" rIns="91425" bIns="91425" anchor="t" anchorCtr="0">
            <a:noAutofit/>
          </a:bodyPr>
          <a:lstStyle/>
          <a:p>
            <a:pPr marL="171450" lvl="0" indent="-171450">
              <a:buClr>
                <a:schemeClr val="dk1"/>
              </a:buClr>
              <a:buSzPct val="150000"/>
              <a:buFont typeface="Arial" panose="020B0604020202020204" pitchFamily="34" charset="0"/>
              <a:buChar char="•"/>
            </a:pPr>
            <a:r>
              <a:rPr lang="en-US" sz="1200" dirty="0">
                <a:solidFill>
                  <a:schemeClr val="dk1"/>
                </a:solidFill>
              </a:rPr>
              <a:t>Different stakeholders have different moral value, thus, uphold different ethical principles</a:t>
            </a:r>
          </a:p>
          <a:p>
            <a:pPr marL="171450" lvl="0" indent="-171450">
              <a:buClr>
                <a:schemeClr val="dk1"/>
              </a:buClr>
              <a:buSzPct val="150000"/>
              <a:buFont typeface="Arial" panose="020B0604020202020204" pitchFamily="34" charset="0"/>
              <a:buChar char="•"/>
            </a:pPr>
            <a:endParaRPr lang="en-US" sz="1200" dirty="0">
              <a:solidFill>
                <a:schemeClr val="dk1"/>
              </a:solidFill>
            </a:endParaRPr>
          </a:p>
          <a:p>
            <a:pPr>
              <a:buSzPct val="150000"/>
            </a:pPr>
            <a:r>
              <a:rPr lang="en-US" sz="1200" dirty="0">
                <a:highlight>
                  <a:schemeClr val="accent6"/>
                </a:highlight>
              </a:rPr>
              <a:t>The </a:t>
            </a:r>
            <a:r>
              <a:rPr lang="en-US" sz="1200" dirty="0">
                <a:highlight>
                  <a:schemeClr val="accent6"/>
                </a:highlight>
              </a:rPr>
              <a:t>consequentialist theories also influence our decision making on what is right or wrong</a:t>
            </a:r>
          </a:p>
        </p:txBody>
      </p:sp>
      <p:sp>
        <p:nvSpPr>
          <p:cNvPr id="18" name="Google Shape;163;p21"/>
          <p:cNvSpPr/>
          <p:nvPr/>
        </p:nvSpPr>
        <p:spPr>
          <a:xfrm>
            <a:off x="5669281" y="1513802"/>
            <a:ext cx="1127870" cy="4449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49950" tIns="49950" rIns="49950" bIns="49950" anchor="ctr" anchorCtr="0">
            <a:noAutofit/>
          </a:bodyPr>
          <a:lstStyle/>
          <a:p>
            <a:pPr marL="0" lvl="0" indent="0" algn="l" rtl="0">
              <a:spcBef>
                <a:spcPts val="0"/>
              </a:spcBef>
              <a:spcAft>
                <a:spcPts val="0"/>
              </a:spcAft>
              <a:buNone/>
            </a:pPr>
            <a:endParaRPr/>
          </a:p>
        </p:txBody>
      </p:sp>
      <p:sp>
        <p:nvSpPr>
          <p:cNvPr id="20" name="Google Shape;163;p21"/>
          <p:cNvSpPr/>
          <p:nvPr/>
        </p:nvSpPr>
        <p:spPr>
          <a:xfrm>
            <a:off x="2345753" y="3666045"/>
            <a:ext cx="1167291" cy="4449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49950" tIns="49950" rIns="49950" bIns="49950" anchor="ctr" anchorCtr="0">
            <a:noAutofit/>
          </a:bodyPr>
          <a:lstStyle/>
          <a:p>
            <a:pPr marL="0" lvl="0" indent="0" algn="l" rtl="0">
              <a:spcBef>
                <a:spcPts val="0"/>
              </a:spcBef>
              <a:spcAft>
                <a:spcPts val="0"/>
              </a:spcAft>
              <a:buNone/>
            </a:pPr>
            <a:endParaRPr/>
          </a:p>
        </p:txBody>
      </p:sp>
      <p:sp>
        <p:nvSpPr>
          <p:cNvPr id="21" name="Google Shape;163;p21"/>
          <p:cNvSpPr/>
          <p:nvPr/>
        </p:nvSpPr>
        <p:spPr>
          <a:xfrm>
            <a:off x="5738400" y="3666045"/>
            <a:ext cx="1127870" cy="4449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49950" tIns="49950" rIns="49950" bIns="49950" anchor="ctr" anchorCtr="0">
            <a:noAutofit/>
          </a:bodyPr>
          <a:lstStyle/>
          <a:p>
            <a:pPr marL="0" lvl="0" indent="0" algn="l"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graphicFrame>
        <p:nvGraphicFramePr>
          <p:cNvPr id="179" name="Google Shape;179;p22"/>
          <p:cNvGraphicFramePr/>
          <p:nvPr>
            <p:extLst>
              <p:ext uri="{D42A27DB-BD31-4B8C-83A1-F6EECF244321}">
                <p14:modId xmlns:p14="http://schemas.microsoft.com/office/powerpoint/2010/main" val="1711189758"/>
              </p:ext>
            </p:extLst>
          </p:nvPr>
        </p:nvGraphicFramePr>
        <p:xfrm>
          <a:off x="201769" y="250166"/>
          <a:ext cx="8769696" cy="4563374"/>
        </p:xfrm>
        <a:graphic>
          <a:graphicData uri="http://schemas.openxmlformats.org/drawingml/2006/table">
            <a:tbl>
              <a:tblPr>
                <a:noFill/>
                <a:tableStyleId>{955D4D15-6DEB-4B95-89B5-3482897C179A}</a:tableStyleId>
              </a:tblPr>
              <a:tblGrid>
                <a:gridCol w="2266908">
                  <a:extLst>
                    <a:ext uri="{9D8B030D-6E8A-4147-A177-3AD203B41FA5}">
                      <a16:colId xmlns:a16="http://schemas.microsoft.com/office/drawing/2014/main" val="20000"/>
                    </a:ext>
                  </a:extLst>
                </a:gridCol>
                <a:gridCol w="6502788">
                  <a:extLst>
                    <a:ext uri="{9D8B030D-6E8A-4147-A177-3AD203B41FA5}">
                      <a16:colId xmlns:a16="http://schemas.microsoft.com/office/drawing/2014/main" val="20001"/>
                    </a:ext>
                  </a:extLst>
                </a:gridCol>
              </a:tblGrid>
              <a:tr h="776729">
                <a:tc>
                  <a:txBody>
                    <a:bodyPr/>
                    <a:lstStyle/>
                    <a:p>
                      <a:pPr marL="0" lvl="0" indent="0" algn="ctr" rtl="0">
                        <a:spcBef>
                          <a:spcPts val="0"/>
                        </a:spcBef>
                        <a:spcAft>
                          <a:spcPts val="0"/>
                        </a:spcAft>
                        <a:buNone/>
                      </a:pPr>
                      <a:r>
                        <a:rPr lang="en" sz="1800" dirty="0"/>
                        <a:t>Decisions influenced by ethical theories</a:t>
                      </a:r>
                      <a:endParaRPr sz="1800" dirty="0"/>
                    </a:p>
                  </a:txBody>
                  <a:tcPr marL="51600" marR="51600" marT="91425" marB="91425">
                    <a:solidFill>
                      <a:schemeClr val="accent4">
                        <a:lumMod val="60000"/>
                        <a:lumOff val="40000"/>
                      </a:schemeClr>
                    </a:solidFill>
                  </a:tcPr>
                </a:tc>
                <a:tc>
                  <a:txBody>
                    <a:bodyPr/>
                    <a:lstStyle/>
                    <a:p>
                      <a:pPr marL="0" lvl="0" indent="0" algn="ctr" rtl="0">
                        <a:spcBef>
                          <a:spcPts val="0"/>
                        </a:spcBef>
                        <a:spcAft>
                          <a:spcPts val="0"/>
                        </a:spcAft>
                        <a:buNone/>
                      </a:pPr>
                      <a:r>
                        <a:rPr lang="en" sz="1800" dirty="0"/>
                        <a:t>Details</a:t>
                      </a:r>
                      <a:endParaRPr sz="1800" dirty="0"/>
                    </a:p>
                  </a:txBody>
                  <a:tcPr marL="51600" marR="51600" marT="91425" marB="91425">
                    <a:solidFill>
                      <a:schemeClr val="accent4">
                        <a:lumMod val="60000"/>
                        <a:lumOff val="40000"/>
                      </a:schemeClr>
                    </a:solidFill>
                  </a:tcPr>
                </a:tc>
                <a:extLst>
                  <a:ext uri="{0D108BD9-81ED-4DB2-BD59-A6C34878D82A}">
                    <a16:rowId xmlns:a16="http://schemas.microsoft.com/office/drawing/2014/main" val="10000"/>
                  </a:ext>
                </a:extLst>
              </a:tr>
              <a:tr h="2378798">
                <a:tc>
                  <a:txBody>
                    <a:bodyPr/>
                    <a:lstStyle/>
                    <a:p>
                      <a:pPr marL="0" lvl="0" indent="0" algn="l" rtl="0">
                        <a:spcBef>
                          <a:spcPts val="0"/>
                        </a:spcBef>
                        <a:spcAft>
                          <a:spcPts val="0"/>
                        </a:spcAft>
                        <a:buNone/>
                      </a:pPr>
                      <a:r>
                        <a:rPr lang="en" sz="1500" dirty="0"/>
                        <a:t>G7 Countries</a:t>
                      </a:r>
                      <a:endParaRPr sz="1500" dirty="0"/>
                    </a:p>
                  </a:txBody>
                  <a:tcPr marL="182880" marR="182880" marT="91425" marB="91425"/>
                </a:tc>
                <a:tc>
                  <a:txBody>
                    <a:bodyPr/>
                    <a:lstStyle/>
                    <a:p>
                      <a:pPr marL="0" lvl="0" indent="0" algn="l" rtl="0">
                        <a:spcBef>
                          <a:spcPts val="0"/>
                        </a:spcBef>
                        <a:spcAft>
                          <a:spcPts val="0"/>
                        </a:spcAft>
                        <a:buNone/>
                      </a:pPr>
                      <a:r>
                        <a:rPr lang="en" sz="1500" dirty="0"/>
                        <a:t>Deontological theory:</a:t>
                      </a:r>
                      <a:endParaRPr sz="1500" dirty="0"/>
                    </a:p>
                    <a:p>
                      <a:pPr marL="0" lvl="0" indent="0" algn="l" rtl="0">
                        <a:spcBef>
                          <a:spcPts val="0"/>
                        </a:spcBef>
                        <a:spcAft>
                          <a:spcPts val="0"/>
                        </a:spcAft>
                        <a:buNone/>
                      </a:pPr>
                      <a:r>
                        <a:rPr lang="en" sz="1500" dirty="0"/>
                        <a:t>Pledged US$20 million to aid Brazil in combating forest fires as they see it as the </a:t>
                      </a:r>
                      <a:r>
                        <a:rPr lang="en" sz="1500" dirty="0">
                          <a:solidFill>
                            <a:schemeClr val="dk1"/>
                          </a:solidFill>
                        </a:rPr>
                        <a:t>utmost important duty to protect and safeguard</a:t>
                      </a:r>
                      <a:r>
                        <a:rPr lang="en" sz="1500" dirty="0"/>
                        <a:t> the environment, even if that means harming the relationship with Brazil. Moreover they understand the importance of the forest for other stakeholders as well and the action is right by the nature of it.</a:t>
                      </a:r>
                      <a:endParaRPr sz="1500" dirty="0">
                        <a:solidFill>
                          <a:schemeClr val="dk1"/>
                        </a:solidFill>
                      </a:endParaRPr>
                    </a:p>
                    <a:p>
                      <a:pPr marL="0" lvl="0" indent="0" algn="l" rtl="0">
                        <a:spcBef>
                          <a:spcPts val="0"/>
                        </a:spcBef>
                        <a:spcAft>
                          <a:spcPts val="0"/>
                        </a:spcAft>
                        <a:buNone/>
                      </a:pPr>
                      <a:r>
                        <a:rPr lang="en" sz="1500" dirty="0"/>
                        <a:t>Utilitarianism:</a:t>
                      </a:r>
                      <a:endParaRPr sz="1500" dirty="0"/>
                    </a:p>
                    <a:p>
                      <a:pPr marL="0" lvl="0" indent="0" algn="l" rtl="0">
                        <a:spcBef>
                          <a:spcPts val="0"/>
                        </a:spcBef>
                        <a:spcAft>
                          <a:spcPts val="0"/>
                        </a:spcAft>
                        <a:buNone/>
                      </a:pPr>
                      <a:r>
                        <a:rPr lang="en" sz="1500" dirty="0"/>
                        <a:t>maximise people’s welfare all over the world by containing the forest fires, in order to control the planet’s climate. </a:t>
                      </a:r>
                      <a:endParaRPr sz="1500" dirty="0"/>
                    </a:p>
                  </a:txBody>
                  <a:tcPr marL="182880" marR="182880" marT="91425" marB="91425"/>
                </a:tc>
                <a:extLst>
                  <a:ext uri="{0D108BD9-81ED-4DB2-BD59-A6C34878D82A}">
                    <a16:rowId xmlns:a16="http://schemas.microsoft.com/office/drawing/2014/main" val="10001"/>
                  </a:ext>
                </a:extLst>
              </a:tr>
              <a:tr h="1407847">
                <a:tc>
                  <a:txBody>
                    <a:bodyPr/>
                    <a:lstStyle/>
                    <a:p>
                      <a:pPr marL="0" lvl="0" indent="0" algn="l" rtl="0">
                        <a:spcBef>
                          <a:spcPts val="0"/>
                        </a:spcBef>
                        <a:spcAft>
                          <a:spcPts val="0"/>
                        </a:spcAft>
                        <a:buNone/>
                      </a:pPr>
                      <a:r>
                        <a:rPr lang="en" sz="1500" dirty="0"/>
                        <a:t>Farmers</a:t>
                      </a:r>
                      <a:endParaRPr sz="1500" dirty="0"/>
                    </a:p>
                  </a:txBody>
                  <a:tcPr marL="182880" marR="182880" marT="91425" marB="91425"/>
                </a:tc>
                <a:tc>
                  <a:txBody>
                    <a:bodyPr/>
                    <a:lstStyle/>
                    <a:p>
                      <a:pPr marL="0" lvl="0" indent="0" algn="l" rtl="0">
                        <a:spcBef>
                          <a:spcPts val="0"/>
                        </a:spcBef>
                        <a:spcAft>
                          <a:spcPts val="0"/>
                        </a:spcAft>
                        <a:buNone/>
                      </a:pPr>
                      <a:r>
                        <a:rPr lang="en" sz="1500" dirty="0">
                          <a:solidFill>
                            <a:schemeClr val="dk1"/>
                          </a:solidFill>
                        </a:rPr>
                        <a:t>Deontological theory:</a:t>
                      </a:r>
                      <a:endParaRPr sz="1500" dirty="0"/>
                    </a:p>
                    <a:p>
                      <a:pPr marL="0" lvl="0" indent="0" algn="l" rtl="0">
                        <a:spcBef>
                          <a:spcPts val="0"/>
                        </a:spcBef>
                        <a:spcAft>
                          <a:spcPts val="0"/>
                        </a:spcAft>
                        <a:buNone/>
                      </a:pPr>
                      <a:r>
                        <a:rPr lang="en" sz="1500" dirty="0"/>
                        <a:t>Slash-and-burn methods to create pasture land for agriculture and livestock. This could be a source for their living income for family and food for their family and others around the world. It is their duty to look after the family. </a:t>
                      </a:r>
                      <a:endParaRPr sz="1500" dirty="0"/>
                    </a:p>
                  </a:txBody>
                  <a:tcPr marL="182880" marR="182880" marT="91425" marB="91425"/>
                </a:tc>
                <a:extLst>
                  <a:ext uri="{0D108BD9-81ED-4DB2-BD59-A6C34878D82A}">
                    <a16:rowId xmlns:a16="http://schemas.microsoft.com/office/drawing/2014/main" val="10002"/>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graphicFrame>
        <p:nvGraphicFramePr>
          <p:cNvPr id="184" name="Google Shape;184;p23"/>
          <p:cNvGraphicFramePr/>
          <p:nvPr>
            <p:extLst>
              <p:ext uri="{D42A27DB-BD31-4B8C-83A1-F6EECF244321}">
                <p14:modId xmlns:p14="http://schemas.microsoft.com/office/powerpoint/2010/main" val="3222504217"/>
              </p:ext>
            </p:extLst>
          </p:nvPr>
        </p:nvGraphicFramePr>
        <p:xfrm>
          <a:off x="0" y="5969479"/>
          <a:ext cx="9144000" cy="5211960"/>
        </p:xfrm>
        <a:graphic>
          <a:graphicData uri="http://schemas.openxmlformats.org/drawingml/2006/table">
            <a:tbl>
              <a:tblPr>
                <a:noFill/>
                <a:tableStyleId>{955D4D15-6DEB-4B95-89B5-3482897C179A}</a:tableStyleId>
              </a:tblPr>
              <a:tblGrid>
                <a:gridCol w="2048425">
                  <a:extLst>
                    <a:ext uri="{9D8B030D-6E8A-4147-A177-3AD203B41FA5}">
                      <a16:colId xmlns:a16="http://schemas.microsoft.com/office/drawing/2014/main" val="20000"/>
                    </a:ext>
                  </a:extLst>
                </a:gridCol>
                <a:gridCol w="7095575">
                  <a:extLst>
                    <a:ext uri="{9D8B030D-6E8A-4147-A177-3AD203B41FA5}">
                      <a16:colId xmlns:a16="http://schemas.microsoft.com/office/drawing/2014/main" val="20001"/>
                    </a:ext>
                  </a:extLst>
                </a:gridCol>
              </a:tblGrid>
              <a:tr h="583800">
                <a:tc>
                  <a:txBody>
                    <a:bodyPr/>
                    <a:lstStyle/>
                    <a:p>
                      <a:pPr marL="0" lvl="0" indent="0" algn="l" rtl="0">
                        <a:spcBef>
                          <a:spcPts val="0"/>
                        </a:spcBef>
                        <a:spcAft>
                          <a:spcPts val="0"/>
                        </a:spcAft>
                        <a:buNone/>
                      </a:pPr>
                      <a:r>
                        <a:rPr lang="en"/>
                        <a:t>Decisions influenced</a:t>
                      </a:r>
                      <a:r>
                        <a:rPr lang="en" sz="1400"/>
                        <a:t> by </a:t>
                      </a:r>
                      <a:r>
                        <a:rPr lang="en"/>
                        <a:t>ethical </a:t>
                      </a:r>
                      <a:r>
                        <a:rPr lang="en" sz="1400"/>
                        <a:t>theories</a:t>
                      </a:r>
                      <a:endParaRPr sz="1400"/>
                    </a:p>
                  </a:txBody>
                  <a:tcPr marL="51600" marR="51600" marT="91425" marB="91425"/>
                </a:tc>
                <a:tc>
                  <a:txBody>
                    <a:bodyPr/>
                    <a:lstStyle/>
                    <a:p>
                      <a:pPr marL="0" lvl="0" indent="0" algn="l" rtl="0">
                        <a:spcBef>
                          <a:spcPts val="0"/>
                        </a:spcBef>
                        <a:spcAft>
                          <a:spcPts val="0"/>
                        </a:spcAft>
                        <a:buNone/>
                      </a:pPr>
                      <a:r>
                        <a:rPr lang="en" sz="1400"/>
                        <a:t>Details</a:t>
                      </a:r>
                      <a:endParaRPr sz="1400"/>
                    </a:p>
                  </a:txBody>
                  <a:tcPr marL="51600" marR="51600" marT="91425" marB="91425"/>
                </a:tc>
                <a:extLst>
                  <a:ext uri="{0D108BD9-81ED-4DB2-BD59-A6C34878D82A}">
                    <a16:rowId xmlns:a16="http://schemas.microsoft.com/office/drawing/2014/main" val="10000"/>
                  </a:ext>
                </a:extLst>
              </a:tr>
              <a:tr h="1397925">
                <a:tc>
                  <a:txBody>
                    <a:bodyPr/>
                    <a:lstStyle/>
                    <a:p>
                      <a:pPr marL="0" lvl="0" indent="0" algn="l" rtl="0">
                        <a:spcBef>
                          <a:spcPts val="0"/>
                        </a:spcBef>
                        <a:spcAft>
                          <a:spcPts val="0"/>
                        </a:spcAft>
                        <a:buNone/>
                      </a:pPr>
                      <a:r>
                        <a:rPr lang="en" dirty="0"/>
                        <a:t>Brazilian president</a:t>
                      </a:r>
                      <a:endParaRPr dirty="0"/>
                    </a:p>
                    <a:p>
                      <a:pPr marL="0" lvl="0" indent="0" algn="l" rtl="0">
                        <a:spcBef>
                          <a:spcPts val="0"/>
                        </a:spcBef>
                        <a:spcAft>
                          <a:spcPts val="0"/>
                        </a:spcAft>
                        <a:buNone/>
                      </a:pPr>
                      <a:r>
                        <a:rPr lang="en" dirty="0"/>
                        <a:t>Mr Jair Bolsonaro</a:t>
                      </a:r>
                      <a:endParaRPr dirty="0"/>
                    </a:p>
                  </a:txBody>
                  <a:tcPr marL="51600" marR="51600"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dirty="0">
                          <a:solidFill>
                            <a:schemeClr val="dk1"/>
                          </a:solidFill>
                        </a:rPr>
                        <a:t>Deontological theories: </a:t>
                      </a:r>
                      <a:endParaRPr dirty="0">
                        <a:solidFill>
                          <a:schemeClr val="dk1"/>
                        </a:solidFill>
                      </a:endParaRPr>
                    </a:p>
                    <a:p>
                      <a:pPr marL="254000" lvl="0" indent="-215900" algn="l" rtl="0">
                        <a:spcBef>
                          <a:spcPts val="0"/>
                        </a:spcBef>
                        <a:spcAft>
                          <a:spcPts val="0"/>
                        </a:spcAft>
                        <a:buClr>
                          <a:schemeClr val="dk1"/>
                        </a:buClr>
                        <a:buSzPts val="1400"/>
                        <a:buChar char="●"/>
                      </a:pPr>
                      <a:r>
                        <a:rPr lang="en" dirty="0">
                          <a:solidFill>
                            <a:schemeClr val="dk1"/>
                          </a:solidFill>
                        </a:rPr>
                        <a:t>He views the economy as a priority instead of the environment as the forest fires will create jobs for his people despite the recent climate change problems</a:t>
                      </a:r>
                      <a:endParaRPr dirty="0">
                        <a:solidFill>
                          <a:schemeClr val="dk1"/>
                        </a:solidFill>
                      </a:endParaRPr>
                    </a:p>
                    <a:p>
                      <a:pPr marL="0" lvl="0" indent="0" algn="l" rtl="0">
                        <a:spcBef>
                          <a:spcPts val="0"/>
                        </a:spcBef>
                        <a:spcAft>
                          <a:spcPts val="0"/>
                        </a:spcAft>
                        <a:buNone/>
                      </a:pPr>
                      <a:r>
                        <a:rPr lang="en" dirty="0">
                          <a:solidFill>
                            <a:schemeClr val="dk1"/>
                          </a:solidFill>
                        </a:rPr>
                        <a:t>Consequentialist theory and utilitarianism:</a:t>
                      </a:r>
                      <a:endParaRPr dirty="0">
                        <a:solidFill>
                          <a:schemeClr val="dk1"/>
                        </a:solidFill>
                      </a:endParaRPr>
                    </a:p>
                    <a:p>
                      <a:pPr marL="254000" lvl="0" indent="-215900" algn="l" rtl="0">
                        <a:spcBef>
                          <a:spcPts val="0"/>
                        </a:spcBef>
                        <a:spcAft>
                          <a:spcPts val="0"/>
                        </a:spcAft>
                        <a:buClr>
                          <a:schemeClr val="dk1"/>
                        </a:buClr>
                        <a:buSzPts val="1400"/>
                        <a:buChar char="●"/>
                      </a:pPr>
                      <a:r>
                        <a:rPr lang="en" dirty="0">
                          <a:solidFill>
                            <a:schemeClr val="dk1"/>
                          </a:solidFill>
                        </a:rPr>
                        <a:t>He did his duty as a president by providing more jobs for his people, thuis maximising their welfare</a:t>
                      </a:r>
                      <a:endParaRPr dirty="0"/>
                    </a:p>
                  </a:txBody>
                  <a:tcPr marL="51600" marR="51600"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598275">
                <a:tc>
                  <a:txBody>
                    <a:bodyPr/>
                    <a:lstStyle/>
                    <a:p>
                      <a:pPr marL="0" lvl="0" indent="0" algn="l" rtl="0">
                        <a:spcBef>
                          <a:spcPts val="0"/>
                        </a:spcBef>
                        <a:spcAft>
                          <a:spcPts val="0"/>
                        </a:spcAft>
                        <a:buNone/>
                      </a:pPr>
                      <a:r>
                        <a:rPr lang="en" sz="1400" dirty="0"/>
                        <a:t>Consumers</a:t>
                      </a:r>
                      <a:endParaRPr sz="1400" dirty="0"/>
                    </a:p>
                  </a:txBody>
                  <a:tcPr marL="51600" marR="5160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dirty="0"/>
                        <a:t>Hedonism:</a:t>
                      </a:r>
                      <a:endParaRPr dirty="0"/>
                    </a:p>
                    <a:p>
                      <a:pPr marL="0" lvl="0" indent="0" algn="l" rtl="0">
                        <a:spcBef>
                          <a:spcPts val="0"/>
                        </a:spcBef>
                        <a:spcAft>
                          <a:spcPts val="0"/>
                        </a:spcAft>
                        <a:buNone/>
                      </a:pPr>
                      <a:r>
                        <a:rPr lang="en" sz="1400" dirty="0"/>
                        <a:t>The demand for Brazilian meat and commodities, especially by Chinese consumers, would be able to satisfy their cravings and needs </a:t>
                      </a:r>
                      <a:endParaRPr dirty="0"/>
                    </a:p>
                    <a:p>
                      <a:pPr marL="0" lvl="0" indent="0" algn="l" rtl="0">
                        <a:spcBef>
                          <a:spcPts val="0"/>
                        </a:spcBef>
                        <a:spcAft>
                          <a:spcPts val="0"/>
                        </a:spcAft>
                        <a:buNone/>
                      </a:pPr>
                      <a:r>
                        <a:rPr lang="en" dirty="0"/>
                        <a:t>utilitarianism:</a:t>
                      </a:r>
                      <a:endParaRPr dirty="0"/>
                    </a:p>
                    <a:p>
                      <a:pPr marL="0" lvl="0" indent="0" algn="l" rtl="0">
                        <a:spcBef>
                          <a:spcPts val="0"/>
                        </a:spcBef>
                        <a:spcAft>
                          <a:spcPts val="0"/>
                        </a:spcAft>
                        <a:buNone/>
                      </a:pPr>
                      <a:r>
                        <a:rPr lang="en" dirty="0"/>
                        <a:t>E</a:t>
                      </a:r>
                      <a:r>
                        <a:rPr lang="en" sz="1400" dirty="0"/>
                        <a:t>ven if this means greater deforestation back in the Amazon</a:t>
                      </a:r>
                      <a:r>
                        <a:rPr lang="en" dirty="0"/>
                        <a:t>, the consumers feel that they have little involvement with protecting the environment as they are not directly responsible for the forest fires.</a:t>
                      </a:r>
                      <a:endParaRPr sz="1400" dirty="0"/>
                    </a:p>
                    <a:p>
                      <a:pPr marL="0" lvl="0" indent="0" algn="l" rtl="0">
                        <a:spcBef>
                          <a:spcPts val="0"/>
                        </a:spcBef>
                        <a:spcAft>
                          <a:spcPts val="0"/>
                        </a:spcAft>
                        <a:buNone/>
                      </a:pPr>
                      <a:endParaRPr sz="1400" dirty="0"/>
                    </a:p>
                  </a:txBody>
                  <a:tcPr marL="51600" marR="5160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1030350">
                <a:tc>
                  <a:txBody>
                    <a:bodyPr/>
                    <a:lstStyle/>
                    <a:p>
                      <a:pPr marL="0" lvl="0" indent="0" algn="l" rtl="0">
                        <a:spcBef>
                          <a:spcPts val="0"/>
                        </a:spcBef>
                        <a:spcAft>
                          <a:spcPts val="0"/>
                        </a:spcAft>
                        <a:buNone/>
                      </a:pPr>
                      <a:r>
                        <a:rPr lang="en"/>
                        <a:t>Indigenous tribes</a:t>
                      </a:r>
                      <a:endParaRPr sz="1400"/>
                    </a:p>
                  </a:txBody>
                  <a:tcPr marL="51600" marR="5160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dirty="0"/>
                        <a:t>Consequentialist theory and utilitarianism :</a:t>
                      </a:r>
                      <a:endParaRPr dirty="0"/>
                    </a:p>
                    <a:p>
                      <a:pPr marL="0" lvl="0" indent="0" algn="l" rtl="0">
                        <a:spcBef>
                          <a:spcPts val="0"/>
                        </a:spcBef>
                        <a:spcAft>
                          <a:spcPts val="0"/>
                        </a:spcAft>
                        <a:buNone/>
                      </a:pPr>
                      <a:r>
                        <a:rPr lang="en" dirty="0"/>
                        <a:t>Lives of the future generation of the Mura tribe will be affected as</a:t>
                      </a:r>
                      <a:r>
                        <a:rPr lang="en" dirty="0">
                          <a:solidFill>
                            <a:schemeClr val="dk1"/>
                          </a:solidFill>
                        </a:rPr>
                        <a:t> their existence and welfare are  threatened by the forest fires.</a:t>
                      </a:r>
                      <a:r>
                        <a:rPr lang="en" dirty="0"/>
                        <a:t> </a:t>
                      </a:r>
                      <a:r>
                        <a:rPr lang="en" dirty="0">
                          <a:solidFill>
                            <a:schemeClr val="dk1"/>
                          </a:solidFill>
                        </a:rPr>
                        <a:t>The forest provides them shelter and food for them.</a:t>
                      </a:r>
                      <a:r>
                        <a:rPr lang="en" dirty="0"/>
                        <a:t>They want to protect the forest to maximise the welfare of their people and benefit the environment </a:t>
                      </a:r>
                      <a:endParaRPr sz="1400" dirty="0"/>
                    </a:p>
                  </a:txBody>
                  <a:tcPr marL="51600" marR="5160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aphicFrame>
        <p:nvGraphicFramePr>
          <p:cNvPr id="4" name="Google Shape;179;p22"/>
          <p:cNvGraphicFramePr/>
          <p:nvPr>
            <p:extLst>
              <p:ext uri="{D42A27DB-BD31-4B8C-83A1-F6EECF244321}">
                <p14:modId xmlns:p14="http://schemas.microsoft.com/office/powerpoint/2010/main" val="2729415554"/>
              </p:ext>
            </p:extLst>
          </p:nvPr>
        </p:nvGraphicFramePr>
        <p:xfrm>
          <a:off x="201769" y="250166"/>
          <a:ext cx="8769696" cy="4091818"/>
        </p:xfrm>
        <a:graphic>
          <a:graphicData uri="http://schemas.openxmlformats.org/drawingml/2006/table">
            <a:tbl>
              <a:tblPr>
                <a:noFill/>
                <a:tableStyleId>{955D4D15-6DEB-4B95-89B5-3482897C179A}</a:tableStyleId>
              </a:tblPr>
              <a:tblGrid>
                <a:gridCol w="2266908">
                  <a:extLst>
                    <a:ext uri="{9D8B030D-6E8A-4147-A177-3AD203B41FA5}">
                      <a16:colId xmlns:a16="http://schemas.microsoft.com/office/drawing/2014/main" val="20000"/>
                    </a:ext>
                  </a:extLst>
                </a:gridCol>
                <a:gridCol w="6502788">
                  <a:extLst>
                    <a:ext uri="{9D8B030D-6E8A-4147-A177-3AD203B41FA5}">
                      <a16:colId xmlns:a16="http://schemas.microsoft.com/office/drawing/2014/main" val="20001"/>
                    </a:ext>
                  </a:extLst>
                </a:gridCol>
              </a:tblGrid>
              <a:tr h="578021">
                <a:tc>
                  <a:txBody>
                    <a:bodyPr/>
                    <a:lstStyle/>
                    <a:p>
                      <a:pPr marL="0" lvl="0" indent="0" algn="ctr" rtl="0">
                        <a:spcBef>
                          <a:spcPts val="0"/>
                        </a:spcBef>
                        <a:spcAft>
                          <a:spcPts val="0"/>
                        </a:spcAft>
                        <a:buNone/>
                      </a:pPr>
                      <a:r>
                        <a:rPr lang="en" sz="1800" dirty="0"/>
                        <a:t>Decisions influenced by ethical theories</a:t>
                      </a:r>
                      <a:endParaRPr sz="1800" dirty="0"/>
                    </a:p>
                  </a:txBody>
                  <a:tcPr marL="51600" marR="51600" marT="91425" marB="91425">
                    <a:solidFill>
                      <a:schemeClr val="accent4">
                        <a:lumMod val="60000"/>
                        <a:lumOff val="40000"/>
                      </a:schemeClr>
                    </a:solidFill>
                  </a:tcPr>
                </a:tc>
                <a:tc>
                  <a:txBody>
                    <a:bodyPr/>
                    <a:lstStyle/>
                    <a:p>
                      <a:pPr marL="0" lvl="0" indent="0" algn="ctr" rtl="0">
                        <a:spcBef>
                          <a:spcPts val="0"/>
                        </a:spcBef>
                        <a:spcAft>
                          <a:spcPts val="0"/>
                        </a:spcAft>
                        <a:buNone/>
                      </a:pPr>
                      <a:r>
                        <a:rPr lang="en" sz="1800" dirty="0"/>
                        <a:t>Details</a:t>
                      </a:r>
                      <a:endParaRPr sz="1800" dirty="0"/>
                    </a:p>
                  </a:txBody>
                  <a:tcPr marL="51600" marR="51600" marT="91425" marB="91425">
                    <a:solidFill>
                      <a:schemeClr val="accent4">
                        <a:lumMod val="60000"/>
                        <a:lumOff val="40000"/>
                      </a:schemeClr>
                    </a:solidFill>
                  </a:tcPr>
                </a:tc>
                <a:extLst>
                  <a:ext uri="{0D108BD9-81ED-4DB2-BD59-A6C34878D82A}">
                    <a16:rowId xmlns:a16="http://schemas.microsoft.com/office/drawing/2014/main" val="10000"/>
                  </a:ext>
                </a:extLst>
              </a:tr>
              <a:tr h="1424878">
                <a:tc>
                  <a:txBody>
                    <a:bodyPr/>
                    <a:lstStyle/>
                    <a:p>
                      <a:pPr marL="0" lvl="0" indent="0" algn="l" rtl="0">
                        <a:spcBef>
                          <a:spcPts val="0"/>
                        </a:spcBef>
                        <a:spcAft>
                          <a:spcPts val="0"/>
                        </a:spcAft>
                        <a:buNone/>
                      </a:pPr>
                      <a:r>
                        <a:rPr lang="en-US" sz="1500" dirty="0" smtClean="0"/>
                        <a:t>Brazilian president</a:t>
                      </a:r>
                    </a:p>
                    <a:p>
                      <a:pPr marL="0" lvl="0" indent="0" algn="l" rtl="0">
                        <a:spcBef>
                          <a:spcPts val="0"/>
                        </a:spcBef>
                        <a:spcAft>
                          <a:spcPts val="0"/>
                        </a:spcAft>
                        <a:buNone/>
                      </a:pPr>
                      <a:r>
                        <a:rPr lang="en-US" sz="1500" dirty="0" err="1" smtClean="0"/>
                        <a:t>Mr</a:t>
                      </a:r>
                      <a:r>
                        <a:rPr lang="en-US" sz="1500" dirty="0" smtClean="0"/>
                        <a:t> Jair </a:t>
                      </a:r>
                      <a:r>
                        <a:rPr lang="en-US" sz="1500" dirty="0" err="1" smtClean="0"/>
                        <a:t>Bolsonaro</a:t>
                      </a:r>
                      <a:endParaRPr lang="en-US" sz="1500" dirty="0"/>
                    </a:p>
                  </a:txBody>
                  <a:tcPr marL="182880" marR="182880" marT="91425" marB="91425"/>
                </a:tc>
                <a:tc>
                  <a:txBody>
                    <a:bodyPr/>
                    <a:lstStyle/>
                    <a:p>
                      <a:pPr marL="0" lvl="0" indent="0" algn="l" rtl="0">
                        <a:spcBef>
                          <a:spcPts val="0"/>
                        </a:spcBef>
                        <a:spcAft>
                          <a:spcPts val="0"/>
                        </a:spcAft>
                        <a:buNone/>
                      </a:pPr>
                      <a:r>
                        <a:rPr lang="en-US" sz="1500" dirty="0" smtClean="0"/>
                        <a:t>Consequentialist theory and utilitarianism :</a:t>
                      </a:r>
                    </a:p>
                    <a:p>
                      <a:pPr marL="0" lvl="0" indent="0" algn="l" rtl="0">
                        <a:spcBef>
                          <a:spcPts val="0"/>
                        </a:spcBef>
                        <a:spcAft>
                          <a:spcPts val="0"/>
                        </a:spcAft>
                        <a:buNone/>
                      </a:pPr>
                      <a:r>
                        <a:rPr lang="en-US" sz="1500" dirty="0" smtClean="0"/>
                        <a:t>Lives of the future generation of the Mura tribe will be affected as</a:t>
                      </a:r>
                      <a:r>
                        <a:rPr lang="en-US" sz="1500" dirty="0" smtClean="0">
                          <a:solidFill>
                            <a:schemeClr val="dk1"/>
                          </a:solidFill>
                        </a:rPr>
                        <a:t> their existence and welfare are  threatened by the forest fires.</a:t>
                      </a:r>
                      <a:r>
                        <a:rPr lang="en-US" sz="1500" dirty="0" smtClean="0"/>
                        <a:t> </a:t>
                      </a:r>
                      <a:r>
                        <a:rPr lang="en-US" sz="1500" dirty="0" smtClean="0">
                          <a:solidFill>
                            <a:schemeClr val="dk1"/>
                          </a:solidFill>
                        </a:rPr>
                        <a:t>The forest provides them shelter and food for </a:t>
                      </a:r>
                      <a:r>
                        <a:rPr lang="en-US" sz="1500" dirty="0" err="1" smtClean="0">
                          <a:solidFill>
                            <a:schemeClr val="dk1"/>
                          </a:solidFill>
                        </a:rPr>
                        <a:t>them.</a:t>
                      </a:r>
                      <a:r>
                        <a:rPr lang="en-US" sz="1500" dirty="0" err="1" smtClean="0"/>
                        <a:t>They</a:t>
                      </a:r>
                      <a:r>
                        <a:rPr lang="en-US" sz="1500" dirty="0" smtClean="0"/>
                        <a:t> want to protect the forest to </a:t>
                      </a:r>
                      <a:r>
                        <a:rPr lang="en-US" sz="1500" dirty="0" err="1" smtClean="0"/>
                        <a:t>maximise</a:t>
                      </a:r>
                      <a:r>
                        <a:rPr lang="en-US" sz="1500" dirty="0" smtClean="0"/>
                        <a:t> the welfare of their people and benefit the environment </a:t>
                      </a:r>
                      <a:endParaRPr lang="en-US" sz="1500" dirty="0"/>
                    </a:p>
                  </a:txBody>
                  <a:tcPr marL="182880" marR="182880" marT="91425" marB="91425"/>
                </a:tc>
                <a:extLst>
                  <a:ext uri="{0D108BD9-81ED-4DB2-BD59-A6C34878D82A}">
                    <a16:rowId xmlns:a16="http://schemas.microsoft.com/office/drawing/2014/main" val="10001"/>
                  </a:ext>
                </a:extLst>
              </a:tr>
              <a:tr h="1326898">
                <a:tc>
                  <a:txBody>
                    <a:bodyPr/>
                    <a:lstStyle/>
                    <a:p>
                      <a:pPr marL="0" lvl="0" indent="0" algn="l" rtl="0">
                        <a:spcBef>
                          <a:spcPts val="0"/>
                        </a:spcBef>
                        <a:spcAft>
                          <a:spcPts val="0"/>
                        </a:spcAft>
                        <a:buNone/>
                      </a:pPr>
                      <a:r>
                        <a:rPr lang="en-US" sz="1500" dirty="0" smtClean="0"/>
                        <a:t>Consumers</a:t>
                      </a:r>
                      <a:endParaRPr lang="en-US" sz="1500" dirty="0"/>
                    </a:p>
                  </a:txBody>
                  <a:tcPr marL="182880" marR="182880" marT="91425" marB="91425"/>
                </a:tc>
                <a:tc>
                  <a:txBody>
                    <a:bodyPr/>
                    <a:lstStyle/>
                    <a:p>
                      <a:pPr marL="0" lvl="0" indent="0" algn="l" rtl="0">
                        <a:spcBef>
                          <a:spcPts val="0"/>
                        </a:spcBef>
                        <a:spcAft>
                          <a:spcPts val="0"/>
                        </a:spcAft>
                        <a:buNone/>
                      </a:pPr>
                      <a:r>
                        <a:rPr lang="en-US" sz="1500" dirty="0" smtClean="0"/>
                        <a:t>Hedonism:</a:t>
                      </a:r>
                    </a:p>
                    <a:p>
                      <a:pPr marL="0" lvl="0" indent="0" algn="l" rtl="0">
                        <a:spcBef>
                          <a:spcPts val="0"/>
                        </a:spcBef>
                        <a:spcAft>
                          <a:spcPts val="0"/>
                        </a:spcAft>
                        <a:buNone/>
                      </a:pPr>
                      <a:r>
                        <a:rPr lang="en-US" sz="1500" dirty="0" smtClean="0"/>
                        <a:t>The demand for Brazilian meat and commodities, especially by Chinese consumers, would be able to satisfy their cravings and needs </a:t>
                      </a:r>
                    </a:p>
                    <a:p>
                      <a:pPr marL="0" lvl="0" indent="0" algn="l" rtl="0">
                        <a:spcBef>
                          <a:spcPts val="1200"/>
                        </a:spcBef>
                        <a:spcAft>
                          <a:spcPts val="0"/>
                        </a:spcAft>
                        <a:buNone/>
                      </a:pPr>
                      <a:r>
                        <a:rPr lang="en-US" sz="1500" dirty="0" smtClean="0"/>
                        <a:t>Utilitarianism:</a:t>
                      </a:r>
                    </a:p>
                    <a:p>
                      <a:pPr marL="0" lvl="0" indent="0" algn="l" rtl="0">
                        <a:spcBef>
                          <a:spcPts val="0"/>
                        </a:spcBef>
                        <a:spcAft>
                          <a:spcPts val="0"/>
                        </a:spcAft>
                        <a:buNone/>
                      </a:pPr>
                      <a:r>
                        <a:rPr lang="en-US" sz="1500" dirty="0" smtClean="0"/>
                        <a:t>Even if this means greater deforestation back in the Amazon, the consumers feel that they have little involvement with protecting the environment as they are not directly responsible for the forest fires.</a:t>
                      </a:r>
                      <a:endParaRPr lang="en-US" sz="1500" dirty="0"/>
                    </a:p>
                  </a:txBody>
                  <a:tcPr marL="182880" marR="182880" marT="91425" marB="91425"/>
                </a:tc>
                <a:extLst>
                  <a:ext uri="{0D108BD9-81ED-4DB2-BD59-A6C34878D82A}">
                    <a16:rowId xmlns:a16="http://schemas.microsoft.com/office/drawing/2014/main" val="1000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graphicFrame>
        <p:nvGraphicFramePr>
          <p:cNvPr id="4" name="Google Shape;179;p22"/>
          <p:cNvGraphicFramePr/>
          <p:nvPr>
            <p:extLst>
              <p:ext uri="{D42A27DB-BD31-4B8C-83A1-F6EECF244321}">
                <p14:modId xmlns:p14="http://schemas.microsoft.com/office/powerpoint/2010/main" val="1743277789"/>
              </p:ext>
            </p:extLst>
          </p:nvPr>
        </p:nvGraphicFramePr>
        <p:xfrm>
          <a:off x="201769" y="250166"/>
          <a:ext cx="8769696" cy="2514540"/>
        </p:xfrm>
        <a:graphic>
          <a:graphicData uri="http://schemas.openxmlformats.org/drawingml/2006/table">
            <a:tbl>
              <a:tblPr>
                <a:noFill/>
                <a:tableStyleId>{955D4D15-6DEB-4B95-89B5-3482897C179A}</a:tableStyleId>
              </a:tblPr>
              <a:tblGrid>
                <a:gridCol w="2266908">
                  <a:extLst>
                    <a:ext uri="{9D8B030D-6E8A-4147-A177-3AD203B41FA5}">
                      <a16:colId xmlns:a16="http://schemas.microsoft.com/office/drawing/2014/main" val="20000"/>
                    </a:ext>
                  </a:extLst>
                </a:gridCol>
                <a:gridCol w="6502788">
                  <a:extLst>
                    <a:ext uri="{9D8B030D-6E8A-4147-A177-3AD203B41FA5}">
                      <a16:colId xmlns:a16="http://schemas.microsoft.com/office/drawing/2014/main" val="20001"/>
                    </a:ext>
                  </a:extLst>
                </a:gridCol>
              </a:tblGrid>
              <a:tr h="578021">
                <a:tc>
                  <a:txBody>
                    <a:bodyPr/>
                    <a:lstStyle/>
                    <a:p>
                      <a:pPr marL="0" lvl="0" indent="0" algn="ctr" rtl="0">
                        <a:spcBef>
                          <a:spcPts val="0"/>
                        </a:spcBef>
                        <a:spcAft>
                          <a:spcPts val="0"/>
                        </a:spcAft>
                        <a:buNone/>
                      </a:pPr>
                      <a:r>
                        <a:rPr lang="en" sz="1800" dirty="0"/>
                        <a:t>Decisions influenced by ethical theories</a:t>
                      </a:r>
                      <a:endParaRPr sz="1800" dirty="0"/>
                    </a:p>
                  </a:txBody>
                  <a:tcPr marL="51600" marR="51600" marT="91425" marB="91425">
                    <a:solidFill>
                      <a:schemeClr val="accent4">
                        <a:lumMod val="60000"/>
                        <a:lumOff val="40000"/>
                      </a:schemeClr>
                    </a:solidFill>
                  </a:tcPr>
                </a:tc>
                <a:tc>
                  <a:txBody>
                    <a:bodyPr/>
                    <a:lstStyle/>
                    <a:p>
                      <a:pPr marL="0" lvl="0" indent="0" algn="ctr" rtl="0">
                        <a:spcBef>
                          <a:spcPts val="0"/>
                        </a:spcBef>
                        <a:spcAft>
                          <a:spcPts val="0"/>
                        </a:spcAft>
                        <a:buNone/>
                      </a:pPr>
                      <a:r>
                        <a:rPr lang="en" sz="1800" dirty="0"/>
                        <a:t>Details</a:t>
                      </a:r>
                      <a:endParaRPr sz="1800" dirty="0"/>
                    </a:p>
                  </a:txBody>
                  <a:tcPr marL="51600" marR="51600" marT="91425" marB="91425">
                    <a:solidFill>
                      <a:schemeClr val="accent4">
                        <a:lumMod val="60000"/>
                        <a:lumOff val="40000"/>
                      </a:schemeClr>
                    </a:solidFill>
                  </a:tcPr>
                </a:tc>
                <a:extLst>
                  <a:ext uri="{0D108BD9-81ED-4DB2-BD59-A6C34878D82A}">
                    <a16:rowId xmlns:a16="http://schemas.microsoft.com/office/drawing/2014/main" val="10000"/>
                  </a:ext>
                </a:extLst>
              </a:tr>
              <a:tr h="1424878">
                <a:tc>
                  <a:txBody>
                    <a:bodyPr/>
                    <a:lstStyle/>
                    <a:p>
                      <a:pPr marL="0" lvl="0" indent="0" algn="l" rtl="0">
                        <a:spcBef>
                          <a:spcPts val="0"/>
                        </a:spcBef>
                        <a:spcAft>
                          <a:spcPts val="0"/>
                        </a:spcAft>
                        <a:buNone/>
                      </a:pPr>
                      <a:r>
                        <a:rPr lang="en-US" sz="1600" dirty="0" smtClean="0"/>
                        <a:t>Indigenous tribes</a:t>
                      </a:r>
                      <a:endParaRPr lang="en-US" sz="1600" dirty="0"/>
                    </a:p>
                  </a:txBody>
                  <a:tcPr marL="182880" marR="182880" marT="91425" marB="91425"/>
                </a:tc>
                <a:tc>
                  <a:txBody>
                    <a:bodyPr/>
                    <a:lstStyle/>
                    <a:p>
                      <a:pPr marL="0" lvl="0" indent="0" algn="l" rtl="0">
                        <a:spcBef>
                          <a:spcPts val="0"/>
                        </a:spcBef>
                        <a:spcAft>
                          <a:spcPts val="0"/>
                        </a:spcAft>
                        <a:buNone/>
                      </a:pPr>
                      <a:r>
                        <a:rPr lang="en-US" sz="1500" dirty="0" smtClean="0">
                          <a:solidFill>
                            <a:schemeClr val="dk1"/>
                          </a:solidFill>
                        </a:rPr>
                        <a:t>Deontological theories: </a:t>
                      </a:r>
                    </a:p>
                    <a:p>
                      <a:pPr marL="254000" lvl="0" indent="-215900" algn="l" rtl="0">
                        <a:spcBef>
                          <a:spcPts val="0"/>
                        </a:spcBef>
                        <a:spcAft>
                          <a:spcPts val="0"/>
                        </a:spcAft>
                        <a:buClr>
                          <a:schemeClr val="dk1"/>
                        </a:buClr>
                        <a:buSzPts val="1400"/>
                        <a:buChar char="●"/>
                      </a:pPr>
                      <a:r>
                        <a:rPr lang="en-US" sz="1500" dirty="0" smtClean="0">
                          <a:solidFill>
                            <a:schemeClr val="dk1"/>
                          </a:solidFill>
                        </a:rPr>
                        <a:t>He views the economy as a priority instead of the environment as the forest fires will create jobs for his people despite the recent climate change problems</a:t>
                      </a:r>
                    </a:p>
                    <a:p>
                      <a:pPr marL="0" lvl="0" indent="0" algn="l" rtl="0">
                        <a:spcBef>
                          <a:spcPts val="0"/>
                        </a:spcBef>
                        <a:spcAft>
                          <a:spcPts val="0"/>
                        </a:spcAft>
                        <a:buNone/>
                      </a:pPr>
                      <a:r>
                        <a:rPr lang="en-US" sz="1500" dirty="0" smtClean="0">
                          <a:solidFill>
                            <a:schemeClr val="dk1"/>
                          </a:solidFill>
                        </a:rPr>
                        <a:t>Consequentialist theory and utilitarianism:</a:t>
                      </a:r>
                    </a:p>
                    <a:p>
                      <a:pPr marL="254000" lvl="0" indent="-215900" algn="l" rtl="0">
                        <a:spcBef>
                          <a:spcPts val="0"/>
                        </a:spcBef>
                        <a:spcAft>
                          <a:spcPts val="0"/>
                        </a:spcAft>
                        <a:buClr>
                          <a:schemeClr val="dk1"/>
                        </a:buClr>
                        <a:buSzPts val="1400"/>
                        <a:buChar char="●"/>
                      </a:pPr>
                      <a:r>
                        <a:rPr lang="en-US" sz="1500" dirty="0" smtClean="0">
                          <a:solidFill>
                            <a:schemeClr val="dk1"/>
                          </a:solidFill>
                        </a:rPr>
                        <a:t>He did his duty as a president by providing more jobs for his people, thus maximizing their welfare</a:t>
                      </a:r>
                      <a:endParaRPr lang="en-US" sz="1500" dirty="0"/>
                    </a:p>
                  </a:txBody>
                  <a:tcPr marL="182880" marR="182880" marT="91425" marB="91425"/>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9550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4"/>
          <p:cNvSpPr txBox="1">
            <a:spLocks noGrp="1"/>
          </p:cNvSpPr>
          <p:nvPr>
            <p:ph type="title"/>
          </p:nvPr>
        </p:nvSpPr>
        <p:spPr>
          <a:xfrm>
            <a:off x="148139" y="130462"/>
            <a:ext cx="7873800" cy="572700"/>
          </a:xfrm>
          <a:prstGeom prst="rect">
            <a:avLst/>
          </a:prstGeom>
          <a:noFill/>
          <a:ln>
            <a:noFill/>
          </a:ln>
        </p:spPr>
        <p:txBody>
          <a:bodyPr spcFirstLastPara="1" wrap="square" lIns="49950" tIns="49950" rIns="49950" bIns="49950" anchor="t" anchorCtr="0">
            <a:noAutofit/>
          </a:bodyPr>
          <a:lstStyle/>
          <a:p>
            <a:pPr>
              <a:lnSpc>
                <a:spcPct val="115000"/>
              </a:lnSpc>
              <a:buSzPts val="600"/>
            </a:pPr>
            <a:r>
              <a:rPr lang="en" sz="2400" b="1" dirty="0">
                <a:solidFill>
                  <a:schemeClr val="dk2"/>
                </a:solidFill>
              </a:rPr>
              <a:t>Perspective 2:  Indigenous knowledge system</a:t>
            </a:r>
            <a:endParaRPr sz="2400" b="1" dirty="0">
              <a:solidFill>
                <a:schemeClr val="dk2"/>
              </a:solidFill>
            </a:endParaRPr>
          </a:p>
        </p:txBody>
      </p:sp>
      <p:sp>
        <p:nvSpPr>
          <p:cNvPr id="190" name="Google Shape;190;p24"/>
          <p:cNvSpPr/>
          <p:nvPr/>
        </p:nvSpPr>
        <p:spPr>
          <a:xfrm>
            <a:off x="242733" y="781717"/>
            <a:ext cx="1844563" cy="3246819"/>
          </a:xfrm>
          <a:prstGeom prst="rect">
            <a:avLst/>
          </a:prstGeom>
          <a:noFill/>
          <a:ln w="9525" cap="flat" cmpd="sng">
            <a:solidFill>
              <a:schemeClr val="dk2"/>
            </a:solidFill>
            <a:prstDash val="solid"/>
            <a:round/>
            <a:headEnd type="none" w="sm" len="sm"/>
            <a:tailEnd type="none" w="sm" len="sm"/>
          </a:ln>
        </p:spPr>
        <p:txBody>
          <a:bodyPr spcFirstLastPara="1" wrap="square" lIns="182880" tIns="91425" rIns="91425" bIns="91425" anchor="ctr" anchorCtr="0">
            <a:noAutofit/>
          </a:bodyPr>
          <a:lstStyle/>
          <a:p>
            <a:pPr marL="0" lvl="0" indent="0" algn="l" rtl="0">
              <a:spcBef>
                <a:spcPts val="0"/>
              </a:spcBef>
              <a:spcAft>
                <a:spcPts val="0"/>
              </a:spcAft>
              <a:buNone/>
            </a:pPr>
            <a:r>
              <a:rPr lang="en" sz="1600"/>
              <a:t>Unique, traditional, local knowledge existing within and developed around the specific conditions of women and men indigenous to a particular geographic area </a:t>
            </a:r>
            <a:endParaRPr sz="1600"/>
          </a:p>
        </p:txBody>
      </p:sp>
      <p:sp>
        <p:nvSpPr>
          <p:cNvPr id="191" name="Google Shape;191;p24"/>
          <p:cNvSpPr/>
          <p:nvPr/>
        </p:nvSpPr>
        <p:spPr>
          <a:xfrm>
            <a:off x="2476175" y="1368162"/>
            <a:ext cx="995100" cy="4449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49950" tIns="49950" rIns="49950" bIns="49950" anchor="ctr" anchorCtr="0">
            <a:noAutofit/>
          </a:bodyPr>
          <a:lstStyle/>
          <a:p>
            <a:pPr marL="0" lvl="0" indent="0" algn="l" rtl="0">
              <a:spcBef>
                <a:spcPts val="0"/>
              </a:spcBef>
              <a:spcAft>
                <a:spcPts val="0"/>
              </a:spcAft>
              <a:buNone/>
            </a:pPr>
            <a:endParaRPr/>
          </a:p>
        </p:txBody>
      </p:sp>
      <p:sp>
        <p:nvSpPr>
          <p:cNvPr id="192" name="Google Shape;192;p24"/>
          <p:cNvSpPr/>
          <p:nvPr/>
        </p:nvSpPr>
        <p:spPr>
          <a:xfrm rot="5400000">
            <a:off x="5477466" y="2366804"/>
            <a:ext cx="754564" cy="444969"/>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49950" tIns="49950" rIns="49950" bIns="49950" anchor="ctr" anchorCtr="0">
            <a:noAutofit/>
          </a:bodyPr>
          <a:lstStyle/>
          <a:p>
            <a:pPr marL="0" lvl="0" indent="0" algn="l" rtl="0">
              <a:spcBef>
                <a:spcPts val="0"/>
              </a:spcBef>
              <a:spcAft>
                <a:spcPts val="0"/>
              </a:spcAft>
              <a:buNone/>
            </a:pPr>
            <a:endParaRPr/>
          </a:p>
        </p:txBody>
      </p:sp>
      <p:sp>
        <p:nvSpPr>
          <p:cNvPr id="193" name="Google Shape;193;p24"/>
          <p:cNvSpPr txBox="1"/>
          <p:nvPr/>
        </p:nvSpPr>
        <p:spPr>
          <a:xfrm>
            <a:off x="3471274" y="3045126"/>
            <a:ext cx="4766951" cy="1834874"/>
          </a:xfrm>
          <a:prstGeom prst="rect">
            <a:avLst/>
          </a:prstGeom>
          <a:noFill/>
          <a:ln w="9525" cap="flat" cmpd="sng">
            <a:solidFill>
              <a:srgbClr val="000000"/>
            </a:solidFill>
            <a:prstDash val="solid"/>
            <a:round/>
            <a:headEnd type="none" w="sm" len="sm"/>
            <a:tailEnd type="none" w="sm" len="sm"/>
          </a:ln>
        </p:spPr>
        <p:txBody>
          <a:bodyPr spcFirstLastPara="1" wrap="square" lIns="182880" tIns="49950" rIns="49950" bIns="49950" anchor="t" anchorCtr="0">
            <a:noAutofit/>
          </a:bodyPr>
          <a:lstStyle/>
          <a:p>
            <a:pPr marL="0" lvl="0" indent="0" algn="l" rtl="0">
              <a:spcBef>
                <a:spcPts val="0"/>
              </a:spcBef>
              <a:spcAft>
                <a:spcPts val="0"/>
              </a:spcAft>
              <a:buClr>
                <a:schemeClr val="dk1"/>
              </a:buClr>
              <a:buSzPts val="1100"/>
              <a:buFont typeface="Arial"/>
              <a:buNone/>
            </a:pPr>
            <a:r>
              <a:rPr lang="en" sz="1600" b="1" dirty="0"/>
              <a:t>Why are some of their beliefs considered ethical to the tribes?</a:t>
            </a:r>
            <a:endParaRPr sz="1600" b="1" dirty="0"/>
          </a:p>
          <a:p>
            <a:pPr marL="0" lvl="0" indent="0" algn="l" rtl="0">
              <a:spcBef>
                <a:spcPts val="0"/>
              </a:spcBef>
              <a:spcAft>
                <a:spcPts val="0"/>
              </a:spcAft>
              <a:buClr>
                <a:schemeClr val="dk1"/>
              </a:buClr>
              <a:buSzPts val="1100"/>
              <a:buFont typeface="Arial"/>
              <a:buNone/>
            </a:pPr>
            <a:r>
              <a:rPr lang="en" sz="1600" dirty="0"/>
              <a:t>The tribe’s sense perception and history</a:t>
            </a:r>
            <a:endParaRPr sz="1600" dirty="0"/>
          </a:p>
          <a:p>
            <a:pPr marL="0" lvl="0" indent="0" algn="l" rtl="0">
              <a:spcBef>
                <a:spcPts val="0"/>
              </a:spcBef>
              <a:spcAft>
                <a:spcPts val="0"/>
              </a:spcAft>
              <a:buClr>
                <a:schemeClr val="dk1"/>
              </a:buClr>
              <a:buSzPts val="1100"/>
              <a:buFont typeface="Arial"/>
              <a:buNone/>
            </a:pPr>
            <a:r>
              <a:rPr lang="en" sz="1600" dirty="0"/>
              <a:t>Praxis(the established practice or custom of any group skills passed down to the younger generations))</a:t>
            </a:r>
            <a:endParaRPr sz="1600" dirty="0"/>
          </a:p>
          <a:p>
            <a:pPr marL="0" lvl="0" indent="0" algn="l" rtl="0">
              <a:spcBef>
                <a:spcPts val="0"/>
              </a:spcBef>
              <a:spcAft>
                <a:spcPts val="0"/>
              </a:spcAft>
              <a:buClr>
                <a:schemeClr val="dk1"/>
              </a:buClr>
              <a:buSzPts val="1100"/>
              <a:buFont typeface="Arial"/>
              <a:buNone/>
            </a:pPr>
            <a:r>
              <a:rPr lang="en" sz="1600" dirty="0"/>
              <a:t>Faith in the tribes’ beliefs, practices and customs</a:t>
            </a:r>
            <a:endParaRPr sz="1600" dirty="0"/>
          </a:p>
        </p:txBody>
      </p:sp>
      <p:sp>
        <p:nvSpPr>
          <p:cNvPr id="194" name="Google Shape;194;p24"/>
          <p:cNvSpPr txBox="1"/>
          <p:nvPr/>
        </p:nvSpPr>
        <p:spPr>
          <a:xfrm>
            <a:off x="3860154" y="766350"/>
            <a:ext cx="4232701" cy="1367100"/>
          </a:xfrm>
          <a:prstGeom prst="rect">
            <a:avLst/>
          </a:prstGeom>
          <a:noFill/>
          <a:ln w="9525" cap="flat" cmpd="sng">
            <a:solidFill>
              <a:srgbClr val="000000"/>
            </a:solidFill>
            <a:prstDash val="solid"/>
            <a:round/>
            <a:headEnd type="none" w="sm" len="sm"/>
            <a:tailEnd type="none" w="sm" len="sm"/>
          </a:ln>
        </p:spPr>
        <p:txBody>
          <a:bodyPr spcFirstLastPara="1" wrap="square" lIns="182880" tIns="49950" rIns="49950" bIns="49950" anchor="t" anchorCtr="0">
            <a:noAutofit/>
          </a:bodyPr>
          <a:lstStyle/>
          <a:p>
            <a:pPr marL="0" lvl="0" indent="0" algn="l" rtl="0">
              <a:spcBef>
                <a:spcPts val="0"/>
              </a:spcBef>
              <a:spcAft>
                <a:spcPts val="0"/>
              </a:spcAft>
              <a:buClr>
                <a:schemeClr val="dk1"/>
              </a:buClr>
              <a:buSzPts val="1100"/>
              <a:buFont typeface="Arial"/>
              <a:buNone/>
            </a:pPr>
            <a:r>
              <a:rPr lang="en" sz="1600" b="1" dirty="0"/>
              <a:t>How is the knowledge acquired, communicated and passed down?</a:t>
            </a:r>
            <a:endParaRPr sz="1600" b="1" dirty="0"/>
          </a:p>
          <a:p>
            <a:pPr marL="0" lvl="0" indent="0" algn="l" rtl="0">
              <a:spcBef>
                <a:spcPts val="0"/>
              </a:spcBef>
              <a:spcAft>
                <a:spcPts val="0"/>
              </a:spcAft>
              <a:buClr>
                <a:schemeClr val="dk1"/>
              </a:buClr>
              <a:buSzPts val="1100"/>
              <a:buFont typeface="Arial"/>
              <a:buNone/>
            </a:pPr>
            <a:r>
              <a:rPr lang="en" sz="1600" dirty="0"/>
              <a:t>Folklore</a:t>
            </a:r>
            <a:endParaRPr sz="1600" dirty="0"/>
          </a:p>
          <a:p>
            <a:pPr marL="0" lvl="0" indent="0" algn="l" rtl="0">
              <a:spcBef>
                <a:spcPts val="0"/>
              </a:spcBef>
              <a:spcAft>
                <a:spcPts val="0"/>
              </a:spcAft>
              <a:buClr>
                <a:schemeClr val="dk1"/>
              </a:buClr>
              <a:buSzPts val="1100"/>
              <a:buFont typeface="Arial"/>
              <a:buNone/>
            </a:pPr>
            <a:r>
              <a:rPr lang="en" sz="1600" dirty="0" smtClean="0"/>
              <a:t>Natural </a:t>
            </a:r>
            <a:r>
              <a:rPr lang="en" sz="1600" dirty="0"/>
              <a:t>features such as land and sea</a:t>
            </a:r>
            <a:endParaRPr sz="1600" dirty="0"/>
          </a:p>
          <a:p>
            <a:pPr marL="0" lvl="0" indent="0" algn="l" rtl="0">
              <a:spcBef>
                <a:spcPts val="0"/>
              </a:spcBef>
              <a:spcAft>
                <a:spcPts val="0"/>
              </a:spcAft>
              <a:buClr>
                <a:schemeClr val="dk1"/>
              </a:buClr>
              <a:buSzPts val="1100"/>
              <a:buFont typeface="Arial"/>
              <a:buNone/>
            </a:pPr>
            <a:r>
              <a:rPr lang="en" sz="1600" dirty="0"/>
              <a:t>Speac</a:t>
            </a:r>
            <a:endParaRPr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5"/>
          <p:cNvSpPr txBox="1">
            <a:spLocks noGrp="1"/>
          </p:cNvSpPr>
          <p:nvPr>
            <p:ph type="title"/>
          </p:nvPr>
        </p:nvSpPr>
        <p:spPr>
          <a:xfrm>
            <a:off x="188055" y="105457"/>
            <a:ext cx="7301400" cy="572700"/>
          </a:xfrm>
          <a:prstGeom prst="rect">
            <a:avLst/>
          </a:prstGeom>
          <a:noFill/>
          <a:ln>
            <a:noFill/>
          </a:ln>
        </p:spPr>
        <p:txBody>
          <a:bodyPr spcFirstLastPara="1" wrap="square" lIns="49950" tIns="49950" rIns="49950" bIns="49950" anchor="t" anchorCtr="0">
            <a:noAutofit/>
          </a:bodyPr>
          <a:lstStyle/>
          <a:p>
            <a:pPr>
              <a:lnSpc>
                <a:spcPct val="115000"/>
              </a:lnSpc>
              <a:buSzPts val="600"/>
            </a:pPr>
            <a:r>
              <a:rPr lang="en" sz="2400" b="1" dirty="0">
                <a:solidFill>
                  <a:schemeClr val="dk2"/>
                </a:solidFill>
              </a:rPr>
              <a:t>Additional information about Brazil’s tribes</a:t>
            </a:r>
            <a:endParaRPr sz="2400" b="1" dirty="0">
              <a:solidFill>
                <a:schemeClr val="dk2"/>
              </a:solidFill>
            </a:endParaRPr>
          </a:p>
        </p:txBody>
      </p:sp>
      <p:sp>
        <p:nvSpPr>
          <p:cNvPr id="200" name="Google Shape;200;p25"/>
          <p:cNvSpPr txBox="1">
            <a:spLocks noGrp="1"/>
          </p:cNvSpPr>
          <p:nvPr>
            <p:ph type="body" idx="1"/>
          </p:nvPr>
        </p:nvSpPr>
        <p:spPr>
          <a:xfrm>
            <a:off x="188054" y="750100"/>
            <a:ext cx="8688527" cy="4286100"/>
          </a:xfrm>
          <a:prstGeom prst="rect">
            <a:avLst/>
          </a:prstGeom>
        </p:spPr>
        <p:txBody>
          <a:bodyPr spcFirstLastPara="1" wrap="square" lIns="49950" tIns="49950" rIns="49950" bIns="49950" anchor="t" anchorCtr="0">
            <a:noAutofit/>
          </a:bodyPr>
          <a:lstStyle/>
          <a:p>
            <a:pPr marL="0" lvl="0" indent="0" algn="l" rtl="0">
              <a:spcBef>
                <a:spcPts val="0"/>
              </a:spcBef>
              <a:spcAft>
                <a:spcPts val="0"/>
              </a:spcAft>
              <a:buClr>
                <a:schemeClr val="dk1"/>
              </a:buClr>
              <a:buSzPts val="1100"/>
              <a:buFont typeface="Arial"/>
              <a:buNone/>
            </a:pPr>
            <a:r>
              <a:rPr lang="en" sz="1600" dirty="0">
                <a:solidFill>
                  <a:schemeClr val="tx1"/>
                </a:solidFill>
              </a:rPr>
              <a:t>They are a hybrid ethnicity involving influences from Indian and other Latin American ethnicities such as Peruvian</a:t>
            </a:r>
            <a:endParaRPr sz="1600" b="1" dirty="0">
              <a:solidFill>
                <a:schemeClr val="tx1"/>
              </a:solidFill>
            </a:endParaRPr>
          </a:p>
          <a:p>
            <a:pPr marL="630238" lvl="0" indent="-346075" algn="l" rtl="0">
              <a:spcBef>
                <a:spcPts val="900"/>
              </a:spcBef>
              <a:spcAft>
                <a:spcPts val="0"/>
              </a:spcAft>
              <a:buClr>
                <a:schemeClr val="tx1"/>
              </a:buClr>
              <a:buSzPct val="110000"/>
              <a:buFont typeface="Wingdings" panose="05000000000000000000" pitchFamily="2" charset="2"/>
              <a:buChar char="Ø"/>
            </a:pPr>
            <a:r>
              <a:rPr lang="en" sz="1600" dirty="0" smtClean="0">
                <a:solidFill>
                  <a:schemeClr val="tx1"/>
                </a:solidFill>
              </a:rPr>
              <a:t>Location - Amazon </a:t>
            </a:r>
            <a:r>
              <a:rPr lang="en" sz="1600" dirty="0">
                <a:solidFill>
                  <a:schemeClr val="tx1"/>
                </a:solidFill>
              </a:rPr>
              <a:t>rainforest and urban areas in Northern </a:t>
            </a:r>
            <a:r>
              <a:rPr lang="en" sz="1600" dirty="0" smtClean="0">
                <a:solidFill>
                  <a:schemeClr val="tx1"/>
                </a:solidFill>
              </a:rPr>
              <a:t>Brazil</a:t>
            </a:r>
            <a:endParaRPr lang="en" sz="1600" dirty="0">
              <a:solidFill>
                <a:schemeClr val="tx1"/>
              </a:solidFill>
            </a:endParaRPr>
          </a:p>
          <a:p>
            <a:pPr marL="630238" lvl="0" indent="-346075" algn="l" rtl="0">
              <a:spcBef>
                <a:spcPts val="900"/>
              </a:spcBef>
              <a:spcAft>
                <a:spcPts val="0"/>
              </a:spcAft>
              <a:buClr>
                <a:schemeClr val="tx1"/>
              </a:buClr>
              <a:buSzPct val="110000"/>
              <a:buFont typeface="Wingdings" panose="05000000000000000000" pitchFamily="2" charset="2"/>
              <a:buChar char="Ø"/>
            </a:pPr>
            <a:r>
              <a:rPr lang="en" sz="1600" dirty="0" smtClean="0">
                <a:solidFill>
                  <a:schemeClr val="tx1"/>
                </a:solidFill>
              </a:rPr>
              <a:t>Language - Initially </a:t>
            </a:r>
            <a:r>
              <a:rPr lang="en" sz="1600" dirty="0">
                <a:solidFill>
                  <a:schemeClr val="tx1"/>
                </a:solidFill>
              </a:rPr>
              <a:t>Nheengatu(Amazonian tribal language), now </a:t>
            </a:r>
            <a:r>
              <a:rPr lang="en" sz="1600" dirty="0" smtClean="0">
                <a:solidFill>
                  <a:schemeClr val="tx1"/>
                </a:solidFill>
              </a:rPr>
              <a:t>Portuguese</a:t>
            </a:r>
            <a:endParaRPr lang="en" sz="1600" dirty="0">
              <a:solidFill>
                <a:schemeClr val="tx1"/>
              </a:solidFill>
            </a:endParaRPr>
          </a:p>
          <a:p>
            <a:pPr marL="630238" lvl="0" indent="-346075" algn="l" rtl="0">
              <a:spcBef>
                <a:spcPts val="900"/>
              </a:spcBef>
              <a:spcAft>
                <a:spcPts val="0"/>
              </a:spcAft>
              <a:buClr>
                <a:schemeClr val="tx1"/>
              </a:buClr>
              <a:buSzPct val="110000"/>
              <a:buFont typeface="Wingdings" panose="05000000000000000000" pitchFamily="2" charset="2"/>
              <a:buChar char="Ø"/>
            </a:pPr>
            <a:r>
              <a:rPr lang="en" sz="1600" dirty="0" smtClean="0">
                <a:solidFill>
                  <a:schemeClr val="tx1"/>
                </a:solidFill>
              </a:rPr>
              <a:t>Origin - Mura people are called “caboclo” a regional term used by locals in a          despising manner, referred to as “impure”, “cultured” indian. But now, the positive impression is made by indians and “caboclo”. </a:t>
            </a:r>
            <a:endParaRPr sz="1600" dirty="0" smtClean="0">
              <a:solidFill>
                <a:schemeClr val="tx1"/>
              </a:solidFill>
            </a:endParaRPr>
          </a:p>
          <a:p>
            <a:pPr marL="630238" lvl="0" indent="-346075" algn="l" rtl="0">
              <a:spcBef>
                <a:spcPts val="900"/>
              </a:spcBef>
              <a:spcAft>
                <a:spcPts val="0"/>
              </a:spcAft>
              <a:buClr>
                <a:schemeClr val="tx1"/>
              </a:buClr>
              <a:buSzPct val="110000"/>
              <a:buFont typeface="Wingdings" panose="05000000000000000000" pitchFamily="2" charset="2"/>
              <a:buChar char="Ø"/>
            </a:pPr>
            <a:r>
              <a:rPr lang="en" sz="1600" dirty="0" smtClean="0">
                <a:solidFill>
                  <a:schemeClr val="tx1"/>
                </a:solidFill>
              </a:rPr>
              <a:t>Historical background - 17th </a:t>
            </a:r>
            <a:r>
              <a:rPr lang="en" sz="1600" dirty="0">
                <a:solidFill>
                  <a:schemeClr val="tx1"/>
                </a:solidFill>
              </a:rPr>
              <a:t>century- river-based people</a:t>
            </a:r>
            <a:endParaRPr sz="1600" dirty="0">
              <a:solidFill>
                <a:schemeClr val="tx1"/>
              </a:solidFill>
            </a:endParaRPr>
          </a:p>
          <a:p>
            <a:pPr marL="630238" lvl="0" indent="-346075" algn="l" rtl="0">
              <a:spcBef>
                <a:spcPts val="900"/>
              </a:spcBef>
              <a:spcAft>
                <a:spcPts val="0"/>
              </a:spcAft>
              <a:buClr>
                <a:schemeClr val="tx1"/>
              </a:buClr>
              <a:buSzPct val="110000"/>
              <a:buFont typeface="Wingdings" panose="05000000000000000000" pitchFamily="2" charset="2"/>
              <a:buChar char="Ø"/>
            </a:pPr>
            <a:r>
              <a:rPr lang="en" sz="1600" dirty="0" smtClean="0">
                <a:solidFill>
                  <a:schemeClr val="tx1"/>
                </a:solidFill>
              </a:rPr>
              <a:t>Practices/beliefs/traditions - Extractive(discovering </a:t>
            </a:r>
            <a:r>
              <a:rPr lang="en" sz="1600" dirty="0">
                <a:solidFill>
                  <a:schemeClr val="tx1"/>
                </a:solidFill>
              </a:rPr>
              <a:t>natural resources) needed for agriculture, minery and livestock</a:t>
            </a:r>
            <a:endParaRPr sz="1600" dirty="0">
              <a:solidFill>
                <a:schemeClr val="tx1"/>
              </a:solidFill>
            </a:endParaRPr>
          </a:p>
          <a:p>
            <a:pPr marL="630238" lvl="0" indent="-346075" algn="l" rtl="0">
              <a:spcBef>
                <a:spcPts val="900"/>
              </a:spcBef>
              <a:spcAft>
                <a:spcPts val="900"/>
              </a:spcAft>
              <a:buClr>
                <a:schemeClr val="tx1"/>
              </a:buClr>
              <a:buSzPct val="110000"/>
              <a:buFont typeface="Wingdings" panose="05000000000000000000" pitchFamily="2" charset="2"/>
              <a:buChar char="Ø"/>
            </a:pPr>
            <a:r>
              <a:rPr lang="en" sz="1600" dirty="0" smtClean="0">
                <a:solidFill>
                  <a:schemeClr val="tx1"/>
                </a:solidFill>
              </a:rPr>
              <a:t>Source - River </a:t>
            </a:r>
            <a:r>
              <a:rPr lang="en" sz="1600" dirty="0">
                <a:solidFill>
                  <a:schemeClr val="tx1"/>
                </a:solidFill>
              </a:rPr>
              <a:t>and the Amazon forest</a:t>
            </a:r>
            <a:endParaRPr sz="1600" dirty="0">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6"/>
          <p:cNvSpPr txBox="1">
            <a:spLocks noGrp="1"/>
          </p:cNvSpPr>
          <p:nvPr>
            <p:ph type="title"/>
          </p:nvPr>
        </p:nvSpPr>
        <p:spPr>
          <a:xfrm>
            <a:off x="170588" y="151727"/>
            <a:ext cx="2840031" cy="572700"/>
          </a:xfrm>
          <a:prstGeom prst="rect">
            <a:avLst/>
          </a:prstGeom>
          <a:noFill/>
          <a:ln>
            <a:noFill/>
          </a:ln>
        </p:spPr>
        <p:txBody>
          <a:bodyPr spcFirstLastPara="1" wrap="square" lIns="49950" tIns="49950" rIns="49950" bIns="49950" anchor="t" anchorCtr="0">
            <a:noAutofit/>
          </a:bodyPr>
          <a:lstStyle/>
          <a:p>
            <a:pPr>
              <a:lnSpc>
                <a:spcPct val="115000"/>
              </a:lnSpc>
              <a:buSzPts val="600"/>
            </a:pPr>
            <a:r>
              <a:rPr lang="en" sz="2400" b="1" dirty="0">
                <a:solidFill>
                  <a:schemeClr val="dk2"/>
                </a:solidFill>
              </a:rPr>
              <a:t>Conclusion</a:t>
            </a:r>
            <a:endParaRPr sz="2400" b="1" dirty="0">
              <a:solidFill>
                <a:schemeClr val="dk2"/>
              </a:solidFill>
            </a:endParaRPr>
          </a:p>
        </p:txBody>
      </p:sp>
      <p:sp>
        <p:nvSpPr>
          <p:cNvPr id="206" name="Google Shape;206;p26"/>
          <p:cNvSpPr txBox="1">
            <a:spLocks noGrp="1"/>
          </p:cNvSpPr>
          <p:nvPr>
            <p:ph type="body" idx="1"/>
          </p:nvPr>
        </p:nvSpPr>
        <p:spPr>
          <a:xfrm>
            <a:off x="293298" y="859177"/>
            <a:ext cx="8505645" cy="3445404"/>
          </a:xfrm>
          <a:prstGeom prst="rect">
            <a:avLst/>
          </a:prstGeom>
        </p:spPr>
        <p:txBody>
          <a:bodyPr spcFirstLastPara="1" wrap="square" lIns="49950" tIns="49950" rIns="49950" bIns="49950" anchor="t" anchorCtr="0">
            <a:noAutofit/>
          </a:bodyPr>
          <a:lstStyle/>
          <a:p>
            <a:pPr marL="0" lvl="0" indent="0" algn="l" rtl="0">
              <a:spcBef>
                <a:spcPts val="0"/>
              </a:spcBef>
              <a:spcAft>
                <a:spcPts val="0"/>
              </a:spcAft>
              <a:buNone/>
            </a:pPr>
            <a:r>
              <a:rPr lang="en" sz="2000" dirty="0">
                <a:solidFill>
                  <a:srgbClr val="C00000"/>
                </a:solidFill>
              </a:rPr>
              <a:t>Key takeaways: </a:t>
            </a:r>
            <a:endParaRPr lang="en" sz="2000" dirty="0" smtClean="0">
              <a:solidFill>
                <a:srgbClr val="C00000"/>
              </a:solidFill>
            </a:endParaRPr>
          </a:p>
          <a:p>
            <a:pPr lvl="0" indent="0" algn="l" rtl="0">
              <a:spcBef>
                <a:spcPts val="0"/>
              </a:spcBef>
              <a:spcAft>
                <a:spcPts val="0"/>
              </a:spcAft>
              <a:buNone/>
            </a:pPr>
            <a:r>
              <a:rPr lang="en" sz="2000" dirty="0" smtClean="0">
                <a:solidFill>
                  <a:schemeClr val="tx1"/>
                </a:solidFill>
              </a:rPr>
              <a:t>Knowledge </a:t>
            </a:r>
            <a:r>
              <a:rPr lang="en" sz="2000" dirty="0">
                <a:solidFill>
                  <a:schemeClr val="tx1"/>
                </a:solidFill>
              </a:rPr>
              <a:t>can be interpreted by various stakeholders differently</a:t>
            </a:r>
            <a:r>
              <a:rPr lang="en" sz="2000" dirty="0" smtClean="0">
                <a:solidFill>
                  <a:schemeClr val="tx1"/>
                </a:solidFill>
              </a:rPr>
              <a:t>.</a:t>
            </a:r>
          </a:p>
          <a:p>
            <a:pPr marL="0" lvl="0" indent="0" algn="l" rtl="0">
              <a:spcBef>
                <a:spcPts val="1200"/>
              </a:spcBef>
              <a:spcAft>
                <a:spcPts val="0"/>
              </a:spcAft>
              <a:buNone/>
            </a:pPr>
            <a:r>
              <a:rPr lang="en" sz="2000" dirty="0" smtClean="0">
                <a:solidFill>
                  <a:srgbClr val="C00000"/>
                </a:solidFill>
              </a:rPr>
              <a:t>In </a:t>
            </a:r>
            <a:r>
              <a:rPr lang="en" sz="2000" dirty="0">
                <a:solidFill>
                  <a:srgbClr val="C00000"/>
                </a:solidFill>
              </a:rPr>
              <a:t>the RLS: </a:t>
            </a:r>
            <a:endParaRPr sz="2000" dirty="0">
              <a:solidFill>
                <a:srgbClr val="C00000"/>
              </a:solidFill>
            </a:endParaRPr>
          </a:p>
          <a:p>
            <a:pPr marL="457200" lvl="1" indent="0">
              <a:buNone/>
            </a:pPr>
            <a:r>
              <a:rPr lang="en" sz="1800" dirty="0">
                <a:solidFill>
                  <a:schemeClr val="tx1"/>
                </a:solidFill>
              </a:rPr>
              <a:t>Different stakeholders view each other actions as either right or wrong. They have different moral values and perspectives. They are governed by their own ethical principles that they uphold. Their upbringing and environment also affects the decision that they make. One’s background, moral values and immediate stance on the issue affects the decision that they make which might be right or wrong</a:t>
            </a:r>
            <a:r>
              <a:rPr lang="en" sz="1800" dirty="0" smtClean="0">
                <a:solidFill>
                  <a:schemeClr val="tx1"/>
                </a:solidFill>
              </a:rPr>
              <a:t>.</a:t>
            </a:r>
            <a:endParaRPr sz="1800" dirty="0"/>
          </a:p>
          <a:p>
            <a:pPr marL="0" lvl="0" indent="0" algn="l" rtl="0">
              <a:spcBef>
                <a:spcPts val="900"/>
              </a:spcBef>
              <a:spcAft>
                <a:spcPts val="0"/>
              </a:spcAft>
              <a:buNone/>
            </a:pPr>
            <a:endParaRPr sz="2000" dirty="0"/>
          </a:p>
          <a:p>
            <a:pPr marL="0" lvl="0" indent="0" algn="l" rtl="0">
              <a:spcBef>
                <a:spcPts val="900"/>
              </a:spcBef>
              <a:spcAft>
                <a:spcPts val="900"/>
              </a:spcAft>
              <a:buNone/>
            </a:pPr>
            <a:endParaRPr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7"/>
          <p:cNvSpPr txBox="1">
            <a:spLocks noGrp="1"/>
          </p:cNvSpPr>
          <p:nvPr>
            <p:ph type="title"/>
          </p:nvPr>
        </p:nvSpPr>
        <p:spPr>
          <a:xfrm>
            <a:off x="22007" y="115145"/>
            <a:ext cx="4500900" cy="523201"/>
          </a:xfrm>
          <a:prstGeom prst="rect">
            <a:avLst/>
          </a:prstGeom>
          <a:noFill/>
          <a:ln>
            <a:noFill/>
          </a:ln>
        </p:spPr>
        <p:txBody>
          <a:bodyPr spcFirstLastPara="1" wrap="square" lIns="49950" tIns="49950" rIns="49950" bIns="49950" anchor="t" anchorCtr="0">
            <a:noAutofit/>
          </a:bodyPr>
          <a:lstStyle/>
          <a:p>
            <a:pPr>
              <a:lnSpc>
                <a:spcPct val="115000"/>
              </a:lnSpc>
              <a:buSzPts val="600"/>
            </a:pPr>
            <a:r>
              <a:rPr lang="en" sz="2200" b="1" dirty="0">
                <a:solidFill>
                  <a:schemeClr val="dk2"/>
                </a:solidFill>
              </a:rPr>
              <a:t>Other application to the analysis</a:t>
            </a:r>
            <a:endParaRPr sz="2200" b="1" dirty="0">
              <a:solidFill>
                <a:schemeClr val="dk2"/>
              </a:solidFill>
            </a:endParaRPr>
          </a:p>
        </p:txBody>
      </p:sp>
      <p:sp>
        <p:nvSpPr>
          <p:cNvPr id="212" name="Google Shape;212;p27"/>
          <p:cNvSpPr txBox="1">
            <a:spLocks noGrp="1"/>
          </p:cNvSpPr>
          <p:nvPr>
            <p:ph type="body" idx="2"/>
          </p:nvPr>
        </p:nvSpPr>
        <p:spPr>
          <a:xfrm>
            <a:off x="4728950" y="644849"/>
            <a:ext cx="4283700" cy="4289459"/>
          </a:xfrm>
          <a:prstGeom prst="rect">
            <a:avLst/>
          </a:prstGeom>
        </p:spPr>
        <p:txBody>
          <a:bodyPr spcFirstLastPara="1" wrap="square" lIns="182880" tIns="49950" rIns="49950" bIns="49950" anchor="ctr" anchorCtr="0">
            <a:noAutofit/>
          </a:bodyPr>
          <a:lstStyle/>
          <a:p>
            <a:pPr marL="0" lvl="0" indent="0" algn="l" rtl="0">
              <a:spcBef>
                <a:spcPts val="0"/>
              </a:spcBef>
              <a:spcAft>
                <a:spcPts val="0"/>
              </a:spcAft>
              <a:buNone/>
            </a:pPr>
            <a:r>
              <a:rPr lang="en" sz="1600" dirty="0">
                <a:solidFill>
                  <a:srgbClr val="0000CC"/>
                </a:solidFill>
              </a:rPr>
              <a:t>Nike, a company which has prided itself on work ethics, has been criticised by activists in neglecting the safety and well-being of its workers, especially in developing countries such as Bangladesh, India, Cambodia and Thailand. This included providing extremely low wages to workers, and restricting them access to clean water and toilet usage.</a:t>
            </a:r>
            <a:endParaRPr sz="1600" dirty="0">
              <a:solidFill>
                <a:srgbClr val="0000CC"/>
              </a:solidFill>
            </a:endParaRPr>
          </a:p>
          <a:p>
            <a:pPr marL="0" lvl="0" indent="0" algn="l" rtl="0">
              <a:spcBef>
                <a:spcPts val="900"/>
              </a:spcBef>
              <a:spcAft>
                <a:spcPts val="0"/>
              </a:spcAft>
              <a:buNone/>
            </a:pPr>
            <a:r>
              <a:rPr lang="en" sz="1600" dirty="0">
                <a:solidFill>
                  <a:srgbClr val="0000CC"/>
                </a:solidFill>
              </a:rPr>
              <a:t>Examples:</a:t>
            </a:r>
            <a:endParaRPr sz="1600" dirty="0">
              <a:solidFill>
                <a:srgbClr val="0000CC"/>
              </a:solidFill>
            </a:endParaRPr>
          </a:p>
          <a:p>
            <a:pPr marL="0" lvl="0" indent="0" algn="l" rtl="0">
              <a:spcBef>
                <a:spcPts val="900"/>
              </a:spcBef>
              <a:spcAft>
                <a:spcPts val="0"/>
              </a:spcAft>
              <a:buNone/>
            </a:pPr>
            <a:r>
              <a:rPr lang="en" sz="1600" dirty="0">
                <a:solidFill>
                  <a:srgbClr val="0000CC"/>
                </a:solidFill>
              </a:rPr>
              <a:t>1996: A twelve year old Pakistani boy was sewing a Nike soccer ball  </a:t>
            </a:r>
            <a:endParaRPr sz="1600" dirty="0">
              <a:solidFill>
                <a:srgbClr val="0000CC"/>
              </a:solidFill>
            </a:endParaRPr>
          </a:p>
          <a:p>
            <a:pPr marL="0" lvl="0" indent="0" algn="l" rtl="0">
              <a:spcBef>
                <a:spcPts val="900"/>
              </a:spcBef>
              <a:spcAft>
                <a:spcPts val="900"/>
              </a:spcAft>
              <a:buNone/>
            </a:pPr>
            <a:r>
              <a:rPr lang="en" sz="1600" dirty="0">
                <a:solidFill>
                  <a:srgbClr val="0000CC"/>
                </a:solidFill>
              </a:rPr>
              <a:t>2018: Clean Clothes Campaign reported that Nike still pays “poverty” wages to its workers</a:t>
            </a:r>
            <a:endParaRPr sz="1600" dirty="0">
              <a:solidFill>
                <a:srgbClr val="0000CC"/>
              </a:solidFill>
            </a:endParaRPr>
          </a:p>
        </p:txBody>
      </p:sp>
      <p:sp>
        <p:nvSpPr>
          <p:cNvPr id="213" name="Google Shape;213;p27"/>
          <p:cNvSpPr txBox="1">
            <a:spLocks noGrp="1"/>
          </p:cNvSpPr>
          <p:nvPr>
            <p:ph type="subTitle" idx="1"/>
          </p:nvPr>
        </p:nvSpPr>
        <p:spPr>
          <a:xfrm>
            <a:off x="4956573" y="135399"/>
            <a:ext cx="3828454" cy="523201"/>
          </a:xfrm>
          <a:prstGeom prst="rect">
            <a:avLst/>
          </a:prstGeom>
          <a:noFill/>
          <a:ln>
            <a:noFill/>
          </a:ln>
        </p:spPr>
        <p:txBody>
          <a:bodyPr spcFirstLastPara="1" wrap="square" lIns="182880" tIns="49950" rIns="54864" bIns="49950" anchor="t" anchorCtr="0">
            <a:noAutofit/>
          </a:bodyPr>
          <a:lstStyle/>
          <a:p>
            <a:pPr marL="0" indent="0" algn="l"/>
            <a:r>
              <a:rPr lang="en" sz="2400" b="1" i="1" dirty="0">
                <a:solidFill>
                  <a:schemeClr val="dk1"/>
                </a:solidFill>
              </a:rPr>
              <a:t>Nike Sweatshop scandal</a:t>
            </a:r>
            <a:endParaRPr sz="2400" b="1" i="1" dirty="0">
              <a:solidFill>
                <a:schemeClr val="dk1"/>
              </a:solidFill>
            </a:endParaRPr>
          </a:p>
        </p:txBody>
      </p:sp>
      <p:pic>
        <p:nvPicPr>
          <p:cNvPr id="214" name="Google Shape;214;p27"/>
          <p:cNvPicPr preferRelativeResize="0"/>
          <p:nvPr/>
        </p:nvPicPr>
        <p:blipFill>
          <a:blip r:embed="rId3">
            <a:alphaModFix/>
          </a:blip>
          <a:stretch>
            <a:fillRect/>
          </a:stretch>
        </p:blipFill>
        <p:spPr>
          <a:xfrm>
            <a:off x="77139" y="816699"/>
            <a:ext cx="4424150" cy="2814251"/>
          </a:xfrm>
          <a:prstGeom prst="rect">
            <a:avLst/>
          </a:prstGeom>
          <a:noFill/>
          <a:ln>
            <a:noFill/>
          </a:ln>
        </p:spPr>
      </p:pic>
      <p:sp>
        <p:nvSpPr>
          <p:cNvPr id="215" name="Google Shape;215;p27"/>
          <p:cNvSpPr txBox="1"/>
          <p:nvPr/>
        </p:nvSpPr>
        <p:spPr>
          <a:xfrm>
            <a:off x="38764" y="3809303"/>
            <a:ext cx="4500900" cy="59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u="sng" dirty="0">
                <a:solidFill>
                  <a:schemeClr val="hlink"/>
                </a:solidFill>
                <a:hlinkClick r:id="rId4"/>
              </a:rPr>
              <a:t>https://www.newidea.com.au/media/73484/bangladesh-textile-factory-2015.jpg?width=720&amp;center=0.0,0.0</a:t>
            </a:r>
            <a:endParaRPr dirty="0"/>
          </a:p>
          <a:p>
            <a:pPr marL="0" lvl="0" indent="0" algn="l" rtl="0">
              <a:spcBef>
                <a:spcPts val="0"/>
              </a:spcBef>
              <a:spcAft>
                <a:spcPts val="0"/>
              </a:spcAft>
              <a:buNone/>
            </a:pP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8"/>
          <p:cNvSpPr txBox="1">
            <a:spLocks noGrp="1"/>
          </p:cNvSpPr>
          <p:nvPr>
            <p:ph type="title"/>
          </p:nvPr>
        </p:nvSpPr>
        <p:spPr>
          <a:xfrm>
            <a:off x="193765" y="120769"/>
            <a:ext cx="2235000" cy="436500"/>
          </a:xfrm>
          <a:prstGeom prst="rect">
            <a:avLst/>
          </a:prstGeom>
        </p:spPr>
        <p:txBody>
          <a:bodyPr spcFirstLastPara="1" wrap="square" lIns="49950" tIns="49950" rIns="49950" bIns="49950" anchor="t" anchorCtr="0">
            <a:noAutofit/>
          </a:bodyPr>
          <a:lstStyle/>
          <a:p>
            <a:pPr marL="0" lvl="0" indent="0" algn="l" rtl="0">
              <a:spcBef>
                <a:spcPts val="0"/>
              </a:spcBef>
              <a:spcAft>
                <a:spcPts val="0"/>
              </a:spcAft>
              <a:buNone/>
            </a:pPr>
            <a:r>
              <a:rPr lang="en" sz="3000" b="1" dirty="0"/>
              <a:t>References</a:t>
            </a:r>
            <a:endParaRPr sz="3000" b="1" dirty="0"/>
          </a:p>
        </p:txBody>
      </p:sp>
      <p:sp>
        <p:nvSpPr>
          <p:cNvPr id="221" name="Google Shape;221;p28"/>
          <p:cNvSpPr txBox="1">
            <a:spLocks noGrp="1"/>
          </p:cNvSpPr>
          <p:nvPr>
            <p:ph type="body" idx="1"/>
          </p:nvPr>
        </p:nvSpPr>
        <p:spPr>
          <a:xfrm>
            <a:off x="120770" y="737992"/>
            <a:ext cx="8686800" cy="4280100"/>
          </a:xfrm>
          <a:prstGeom prst="rect">
            <a:avLst/>
          </a:prstGeom>
        </p:spPr>
        <p:txBody>
          <a:bodyPr spcFirstLastPara="1" wrap="square" lIns="49950" tIns="49950" rIns="49950" bIns="49950" anchor="t" anchorCtr="0">
            <a:noAutofit/>
          </a:bodyPr>
          <a:lstStyle/>
          <a:p>
            <a:pPr marL="254000" lvl="0" indent="-241300" algn="l" rtl="0">
              <a:spcBef>
                <a:spcPts val="0"/>
              </a:spcBef>
              <a:spcAft>
                <a:spcPts val="0"/>
              </a:spcAft>
              <a:buSzPts val="1800"/>
              <a:buFont typeface="Arial"/>
              <a:buChar char="●"/>
            </a:pPr>
            <a:r>
              <a:rPr lang="en" sz="1800" u="sng" dirty="0">
                <a:solidFill>
                  <a:schemeClr val="hlink"/>
                </a:solidFill>
                <a:latin typeface="Arial"/>
                <a:ea typeface="Arial"/>
                <a:cs typeface="Arial"/>
                <a:sym typeface="Arial"/>
                <a:hlinkClick r:id="rId3"/>
              </a:rPr>
              <a:t>https://www.businessinsider.com/meat-consumption-linked-to-the-amazon-fires-2019-8?IR=T</a:t>
            </a:r>
            <a:r>
              <a:rPr lang="en" sz="1800" dirty="0">
                <a:solidFill>
                  <a:schemeClr val="dk1"/>
                </a:solidFill>
              </a:rPr>
              <a:t> (1st RLS)</a:t>
            </a:r>
            <a:endParaRPr sz="1800" dirty="0">
              <a:solidFill>
                <a:schemeClr val="dk1"/>
              </a:solidFill>
            </a:endParaRPr>
          </a:p>
          <a:p>
            <a:pPr marL="254000" lvl="0" indent="-241300" algn="l" rtl="0">
              <a:spcBef>
                <a:spcPts val="0"/>
              </a:spcBef>
              <a:spcAft>
                <a:spcPts val="0"/>
              </a:spcAft>
              <a:buClr>
                <a:schemeClr val="dk1"/>
              </a:buClr>
              <a:buSzPts val="1800"/>
              <a:buChar char="●"/>
            </a:pPr>
            <a:r>
              <a:rPr lang="en" sz="1800" u="sng" dirty="0">
                <a:solidFill>
                  <a:schemeClr val="hlink"/>
                </a:solidFill>
                <a:hlinkClick r:id="rId4"/>
              </a:rPr>
              <a:t>http://www.bbc.co.uk/ethics/introduction/duty_1.shtml</a:t>
            </a:r>
            <a:endParaRPr sz="1800" dirty="0">
              <a:solidFill>
                <a:schemeClr val="dk1"/>
              </a:solidFill>
            </a:endParaRPr>
          </a:p>
          <a:p>
            <a:pPr marL="254000" lvl="0" indent="-241300" algn="l" rtl="0">
              <a:spcBef>
                <a:spcPts val="0"/>
              </a:spcBef>
              <a:spcAft>
                <a:spcPts val="0"/>
              </a:spcAft>
              <a:buClr>
                <a:schemeClr val="dk1"/>
              </a:buClr>
              <a:buSzPts val="1800"/>
              <a:buChar char="●"/>
            </a:pPr>
            <a:r>
              <a:rPr lang="en" sz="1800" u="sng" dirty="0">
                <a:solidFill>
                  <a:schemeClr val="hlink"/>
                </a:solidFill>
                <a:hlinkClick r:id="rId5"/>
              </a:rPr>
              <a:t>http://www.bbc.co.uk/ethics/introduction/consequentialism_1.shtml</a:t>
            </a:r>
            <a:endParaRPr sz="1800" dirty="0">
              <a:solidFill>
                <a:schemeClr val="dk1"/>
              </a:solidFill>
            </a:endParaRPr>
          </a:p>
          <a:p>
            <a:pPr marL="254000" lvl="0" indent="-241300" algn="l" rtl="0">
              <a:spcBef>
                <a:spcPts val="0"/>
              </a:spcBef>
              <a:spcAft>
                <a:spcPts val="0"/>
              </a:spcAft>
              <a:buClr>
                <a:schemeClr val="dk1"/>
              </a:buClr>
              <a:buSzPts val="1800"/>
              <a:buChar char="●"/>
            </a:pPr>
            <a:r>
              <a:rPr lang="en" sz="1800" u="sng" dirty="0">
                <a:solidFill>
                  <a:schemeClr val="hlink"/>
                </a:solidFill>
                <a:hlinkClick r:id="rId6"/>
              </a:rPr>
              <a:t>https://www.theoryofknowledge.net/areas-of-knowledge/indigenous-knowledge-systems</a:t>
            </a:r>
            <a:r>
              <a:rPr lang="en" sz="1100" u="sng" dirty="0">
                <a:solidFill>
                  <a:schemeClr val="hlink"/>
                </a:solidFill>
                <a:hlinkClick r:id="rId6"/>
              </a:rPr>
              <a:t>/</a:t>
            </a:r>
            <a:r>
              <a:rPr lang="en" sz="1800" dirty="0">
                <a:solidFill>
                  <a:schemeClr val="dk1"/>
                </a:solidFill>
              </a:rPr>
              <a:t>(Indigenous knowledge systems)</a:t>
            </a:r>
            <a:endParaRPr sz="1800" dirty="0">
              <a:solidFill>
                <a:schemeClr val="dk1"/>
              </a:solidFill>
            </a:endParaRPr>
          </a:p>
          <a:p>
            <a:pPr marL="254000" lvl="0" indent="-241300" algn="l" rtl="0">
              <a:spcBef>
                <a:spcPts val="0"/>
              </a:spcBef>
              <a:spcAft>
                <a:spcPts val="0"/>
              </a:spcAft>
              <a:buClr>
                <a:schemeClr val="dk1"/>
              </a:buClr>
              <a:buSzPts val="1800"/>
              <a:buChar char="●"/>
            </a:pPr>
            <a:r>
              <a:rPr lang="en" sz="1800" u="sng" dirty="0">
                <a:solidFill>
                  <a:schemeClr val="hlink"/>
                </a:solidFill>
                <a:hlinkClick r:id="rId7"/>
              </a:rPr>
              <a:t>https://www.theoryofknowledge.net/areas-of-knowledge/indigenous-knowledge-systems/how-is-knowledge-acquired-in-indigenous-societies/</a:t>
            </a:r>
            <a:endParaRPr sz="1800" dirty="0">
              <a:solidFill>
                <a:schemeClr val="dk1"/>
              </a:solidFill>
            </a:endParaRPr>
          </a:p>
          <a:p>
            <a:pPr marL="254000" lvl="0" indent="-241300" algn="l" rtl="0">
              <a:spcBef>
                <a:spcPts val="0"/>
              </a:spcBef>
              <a:spcAft>
                <a:spcPts val="0"/>
              </a:spcAft>
              <a:buClr>
                <a:schemeClr val="dk1"/>
              </a:buClr>
              <a:buSzPts val="1800"/>
              <a:buChar char="●"/>
            </a:pPr>
            <a:r>
              <a:rPr lang="en" sz="1800" u="sng" dirty="0">
                <a:solidFill>
                  <a:schemeClr val="accent5"/>
                </a:solidFill>
                <a:hlinkClick r:id="rId8"/>
              </a:rPr>
              <a:t>https://pib.socioambiental.org/en/Povo:Mura</a:t>
            </a:r>
            <a:endParaRPr sz="1800" dirty="0">
              <a:solidFill>
                <a:schemeClr val="dk1"/>
              </a:solidFill>
            </a:endParaRPr>
          </a:p>
          <a:p>
            <a:pPr marL="254000" lvl="0" indent="-241300" algn="l" rtl="0">
              <a:spcBef>
                <a:spcPts val="0"/>
              </a:spcBef>
              <a:spcAft>
                <a:spcPts val="0"/>
              </a:spcAft>
              <a:buSzPts val="1800"/>
              <a:buFont typeface="Arial"/>
              <a:buChar char="●"/>
            </a:pPr>
            <a:r>
              <a:rPr lang="en" sz="1800" u="sng" dirty="0">
                <a:solidFill>
                  <a:schemeClr val="hlink"/>
                </a:solidFill>
                <a:hlinkClick r:id="rId9"/>
              </a:rPr>
              <a:t>https://www.newidea.com.au/nike-sweatshops-the-truth-about-the-nike-factory-scandal</a:t>
            </a:r>
            <a:r>
              <a:rPr lang="en" sz="1800" dirty="0">
                <a:solidFill>
                  <a:srgbClr val="000000"/>
                </a:solidFill>
              </a:rPr>
              <a:t>(RLS In the conclusion)</a:t>
            </a:r>
            <a:endParaRPr sz="1800" dirty="0">
              <a:solidFill>
                <a:srgbClr val="000000"/>
              </a:solidFill>
            </a:endParaRPr>
          </a:p>
          <a:p>
            <a:pPr marL="254000" lvl="0" indent="-241300" algn="l" rtl="0">
              <a:spcBef>
                <a:spcPts val="0"/>
              </a:spcBef>
              <a:spcAft>
                <a:spcPts val="0"/>
              </a:spcAft>
              <a:buClr>
                <a:srgbClr val="000000"/>
              </a:buClr>
              <a:buSzPts val="1800"/>
              <a:buChar char="●"/>
            </a:pPr>
            <a:r>
              <a:rPr lang="en" sz="1800" u="sng" dirty="0">
                <a:solidFill>
                  <a:schemeClr val="hlink"/>
                </a:solidFill>
                <a:hlinkClick r:id="rId10"/>
              </a:rPr>
              <a:t>https://www.channelnewsasia.com/news/world/brazil-slams-g7-aid-offer-as-amazon-fires-rage-11845194</a:t>
            </a:r>
            <a:endParaRPr sz="1800" dirty="0">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7" name="Google Shape;227;p29"/>
          <p:cNvSpPr txBox="1">
            <a:spLocks noGrp="1"/>
          </p:cNvSpPr>
          <p:nvPr>
            <p:ph type="body" idx="1"/>
          </p:nvPr>
        </p:nvSpPr>
        <p:spPr>
          <a:xfrm>
            <a:off x="150605" y="741600"/>
            <a:ext cx="8708721" cy="2303525"/>
          </a:xfrm>
          <a:prstGeom prst="rect">
            <a:avLst/>
          </a:prstGeom>
        </p:spPr>
        <p:txBody>
          <a:bodyPr spcFirstLastPara="1" wrap="square" lIns="49950" tIns="49950" rIns="49950" bIns="49950" anchor="t" anchorCtr="0">
            <a:noAutofit/>
          </a:bodyPr>
          <a:lstStyle/>
          <a:p>
            <a:pPr marL="233363" lvl="0" indent="-233363" algn="l" rtl="0">
              <a:spcBef>
                <a:spcPts val="0"/>
              </a:spcBef>
              <a:spcAft>
                <a:spcPts val="0"/>
              </a:spcAft>
              <a:buClr>
                <a:schemeClr val="dk1"/>
              </a:buClr>
              <a:buSzPts val="1800"/>
              <a:buChar char="●"/>
            </a:pPr>
            <a:r>
              <a:rPr lang="en" sz="1800" u="sng" dirty="0">
                <a:solidFill>
                  <a:schemeClr val="accent5"/>
                </a:solidFill>
                <a:hlinkClick r:id="rId3"/>
              </a:rPr>
              <a:t>https://www.cnbc.com/2019/09/24/brazils-president-attacks-amazon-rainforest-lies-thanks-trump.html</a:t>
            </a:r>
            <a:endParaRPr sz="1800" dirty="0">
              <a:solidFill>
                <a:schemeClr val="dk1"/>
              </a:solidFill>
            </a:endParaRPr>
          </a:p>
          <a:p>
            <a:pPr marL="233363" lvl="0" indent="-233363" algn="l" rtl="0">
              <a:spcBef>
                <a:spcPts val="0"/>
              </a:spcBef>
              <a:spcAft>
                <a:spcPts val="0"/>
              </a:spcAft>
              <a:buClr>
                <a:schemeClr val="dk1"/>
              </a:buClr>
              <a:buSzPts val="1800"/>
              <a:buChar char="●"/>
            </a:pPr>
            <a:r>
              <a:rPr lang="en" sz="1800" u="sng" dirty="0">
                <a:solidFill>
                  <a:schemeClr val="accent5"/>
                </a:solidFill>
                <a:hlinkClick r:id="rId4"/>
              </a:rPr>
              <a:t>https://plato.stanford.edu/entries/consequentialism/</a:t>
            </a:r>
            <a:endParaRPr sz="1800" dirty="0">
              <a:solidFill>
                <a:schemeClr val="dk1"/>
              </a:solidFill>
            </a:endParaRPr>
          </a:p>
          <a:p>
            <a:pPr marL="233363" lvl="0" indent="-233363" algn="l" rtl="0">
              <a:spcBef>
                <a:spcPts val="0"/>
              </a:spcBef>
              <a:spcAft>
                <a:spcPts val="0"/>
              </a:spcAft>
              <a:buSzPts val="1800"/>
              <a:buChar char="●"/>
            </a:pPr>
            <a:r>
              <a:rPr lang="en" sz="1800" dirty="0">
                <a:solidFill>
                  <a:schemeClr val="dk1"/>
                </a:solidFill>
              </a:rPr>
              <a:t>McMahan, Jeff. </a:t>
            </a:r>
            <a:r>
              <a:rPr lang="en" sz="1800" i="1" dirty="0">
                <a:solidFill>
                  <a:schemeClr val="dk1"/>
                </a:solidFill>
              </a:rPr>
              <a:t>The Stone Reader : Modern Philosophy In 133 arguments</a:t>
            </a:r>
            <a:r>
              <a:rPr lang="en" sz="1800" dirty="0">
                <a:solidFill>
                  <a:schemeClr val="dk1"/>
                </a:solidFill>
              </a:rPr>
              <a:t>. Ed. PETER CATAPANO and SIMON CRITCHLEY. Vol. first edition. New York: Liveright Publishing Corporation, 2016.</a:t>
            </a:r>
            <a:endParaRPr sz="1800" dirty="0">
              <a:solidFill>
                <a:schemeClr val="dk1"/>
              </a:solidFill>
            </a:endParaRPr>
          </a:p>
          <a:p>
            <a:pPr marL="233363" lvl="0" indent="-233363" algn="l" rtl="0">
              <a:spcBef>
                <a:spcPts val="0"/>
              </a:spcBef>
              <a:spcAft>
                <a:spcPts val="0"/>
              </a:spcAft>
              <a:buSzPts val="1800"/>
              <a:buChar char="●"/>
            </a:pPr>
            <a:r>
              <a:rPr lang="en" sz="1800" dirty="0" smtClean="0">
                <a:solidFill>
                  <a:schemeClr val="dk1"/>
                </a:solidFill>
              </a:rPr>
              <a:t>Cave</a:t>
            </a:r>
            <a:r>
              <a:rPr lang="en" sz="1800" dirty="0">
                <a:solidFill>
                  <a:schemeClr val="dk1"/>
                </a:solidFill>
              </a:rPr>
              <a:t>, Peter. </a:t>
            </a:r>
            <a:r>
              <a:rPr lang="en" sz="1800" i="1" dirty="0">
                <a:solidFill>
                  <a:schemeClr val="dk1"/>
                </a:solidFill>
              </a:rPr>
              <a:t>Ethics: A Beginner's Guide</a:t>
            </a:r>
            <a:r>
              <a:rPr lang="en" sz="1800" dirty="0">
                <a:solidFill>
                  <a:schemeClr val="dk1"/>
                </a:solidFill>
              </a:rPr>
              <a:t>. Oneworld Publications, 2015.</a:t>
            </a:r>
            <a:endParaRPr sz="1800" dirty="0">
              <a:solidFill>
                <a:schemeClr val="dk1"/>
              </a:solidFill>
            </a:endParaRPr>
          </a:p>
          <a:p>
            <a:pPr marL="233363" lvl="0" indent="-233363" algn="l" rtl="0">
              <a:spcBef>
                <a:spcPts val="0"/>
              </a:spcBef>
              <a:spcAft>
                <a:spcPts val="0"/>
              </a:spcAft>
              <a:buNone/>
            </a:pPr>
            <a:r>
              <a:rPr lang="en" sz="1800" dirty="0">
                <a:solidFill>
                  <a:schemeClr val="dk1"/>
                </a:solidFill>
              </a:rPr>
              <a:t> </a:t>
            </a:r>
            <a:endParaRPr sz="1800" dirty="0">
              <a:solidFill>
                <a:schemeClr val="dk1"/>
              </a:solidFill>
            </a:endParaRPr>
          </a:p>
        </p:txBody>
      </p:sp>
      <p:sp>
        <p:nvSpPr>
          <p:cNvPr id="5" name="Google Shape;220;p28"/>
          <p:cNvSpPr txBox="1">
            <a:spLocks/>
          </p:cNvSpPr>
          <p:nvPr/>
        </p:nvSpPr>
        <p:spPr>
          <a:xfrm>
            <a:off x="193765" y="120769"/>
            <a:ext cx="2235000" cy="436500"/>
          </a:xfrm>
          <a:prstGeom prst="rect">
            <a:avLst/>
          </a:prstGeom>
          <a:noFill/>
          <a:ln>
            <a:noFill/>
          </a:ln>
        </p:spPr>
        <p:txBody>
          <a:bodyPr spcFirstLastPara="1" wrap="square" lIns="49950" tIns="49950" rIns="49950" bIns="4995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9pPr>
          </a:lstStyle>
          <a:p>
            <a:r>
              <a:rPr lang="en-US" sz="3000" b="1" smtClean="0"/>
              <a:t>References</a:t>
            </a:r>
            <a:endParaRPr lang="en-US" sz="3000" b="1"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TotalTime>
  <Words>1872</Words>
  <Application>Microsoft Office PowerPoint</Application>
  <PresentationFormat>On-screen Show (16:9)</PresentationFormat>
  <Paragraphs>182</Paragraphs>
  <Slides>18</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Wingdings</vt:lpstr>
      <vt:lpstr>Simple Light</vt:lpstr>
      <vt:lpstr>PowerPoint Presentation</vt:lpstr>
      <vt:lpstr>Process</vt:lpstr>
      <vt:lpstr>Real-Life Situation (RLS) </vt:lpstr>
      <vt:lpstr>Opinions on the stakeholders in the RLS</vt:lpstr>
      <vt:lpstr>PowerPoint Presentation</vt:lpstr>
      <vt:lpstr>PowerPoint Presentation</vt:lpstr>
      <vt:lpstr>Analysis on KQ:   On what basis do we decide what is right or wrong?</vt:lpstr>
      <vt:lpstr>How will I  be “unlocking” this KQ?</vt:lpstr>
      <vt:lpstr>Answering the KQ...</vt:lpstr>
      <vt:lpstr>PowerPoint Presentation</vt:lpstr>
      <vt:lpstr>PowerPoint Presentation</vt:lpstr>
      <vt:lpstr>PowerPoint Presentation</vt:lpstr>
      <vt:lpstr>Perspective 2:  Indigenous knowledge system</vt:lpstr>
      <vt:lpstr>Additional information about Brazil’s tribes</vt:lpstr>
      <vt:lpstr>Conclusion</vt:lpstr>
      <vt:lpstr>Other application to the analysis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Meat consumption: Reduce or continue</dc:title>
  <dc:creator>Staff</dc:creator>
  <cp:lastModifiedBy>Thiraviam Jothilingam</cp:lastModifiedBy>
  <cp:revision>15</cp:revision>
  <dcterms:modified xsi:type="dcterms:W3CDTF">2020-02-05T04:48:48Z</dcterms:modified>
</cp:coreProperties>
</file>